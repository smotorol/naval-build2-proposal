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5"/>
  </p:notesMasterIdLst>
  <p:sldIdLst>
    <p:sldId id="601" r:id="rId2"/>
    <p:sldId id="554" r:id="rId3"/>
    <p:sldId id="604" r:id="rId4"/>
    <p:sldId id="599" r:id="rId5"/>
    <p:sldId id="602" r:id="rId6"/>
    <p:sldId id="607" r:id="rId7"/>
    <p:sldId id="561" r:id="rId8"/>
    <p:sldId id="591" r:id="rId9"/>
    <p:sldId id="585" r:id="rId10"/>
    <p:sldId id="586" r:id="rId11"/>
    <p:sldId id="589" r:id="rId12"/>
    <p:sldId id="605" r:id="rId13"/>
    <p:sldId id="597" r:id="rId14"/>
  </p:sldIdLst>
  <p:sldSz cx="7777163" cy="10909300"/>
  <p:notesSz cx="6792913" cy="9925050"/>
  <p:defaultTextStyle>
    <a:defPPr>
      <a:defRPr lang="ko-KR"/>
    </a:defPPr>
    <a:lvl1pPr marL="0" algn="l" defTabSz="913204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615" algn="l" defTabSz="913204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204" algn="l" defTabSz="913204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69819" algn="l" defTabSz="913204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6426" algn="l" defTabSz="913204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026" algn="l" defTabSz="913204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39635" algn="l" defTabSz="913204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6243" algn="l" defTabSz="913204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2847" algn="l" defTabSz="913204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75">
          <p15:clr>
            <a:srgbClr val="A4A3A4"/>
          </p15:clr>
        </p15:guide>
        <p15:guide id="2" orient="horz" pos="872">
          <p15:clr>
            <a:srgbClr val="A4A3A4"/>
          </p15:clr>
        </p15:guide>
        <p15:guide id="3" pos="453">
          <p15:clr>
            <a:srgbClr val="A4A3A4"/>
          </p15:clr>
        </p15:guide>
        <p15:guide id="4" pos="44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696"/>
    <a:srgbClr val="0099FF"/>
    <a:srgbClr val="9DDDF9"/>
    <a:srgbClr val="00CCFF"/>
    <a:srgbClr val="FF7C80"/>
    <a:srgbClr val="C6EAFA"/>
    <a:srgbClr val="0000CC"/>
    <a:srgbClr val="00FFFF"/>
    <a:srgbClr val="00CC00"/>
    <a:srgbClr val="0B6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0714" autoAdjust="0"/>
    <p:restoredTop sz="94660"/>
  </p:normalViewPr>
  <p:slideViewPr>
    <p:cSldViewPr snapToObjects="1">
      <p:cViewPr varScale="1">
        <p:scale>
          <a:sx n="54" d="100"/>
          <a:sy n="54" d="100"/>
        </p:scale>
        <p:origin x="2746" y="62"/>
      </p:cViewPr>
      <p:guideLst>
        <p:guide orient="horz" pos="6475"/>
        <p:guide orient="horz" pos="872"/>
        <p:guide pos="453"/>
        <p:guide pos="44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7745" y="0"/>
            <a:ext cx="2943596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199C1-F6D3-4825-89C0-10D314F04DFF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70100" y="744538"/>
            <a:ext cx="2652713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292" y="4714399"/>
            <a:ext cx="543433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3596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7745" y="9427075"/>
            <a:ext cx="2943596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94E692-143C-409D-8A17-082B663C1F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8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7388158" y="-1"/>
            <a:ext cx="389015" cy="10909300"/>
          </a:xfrm>
          <a:prstGeom prst="rect">
            <a:avLst/>
          </a:prstGeom>
          <a:solidFill>
            <a:srgbClr val="11A0DD">
              <a:alpha val="50196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357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9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  <a:cs typeface="Arial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612217" y="666839"/>
            <a:ext cx="5183476" cy="646748"/>
          </a:xfrm>
          <a:prstGeom prst="rect">
            <a:avLst/>
          </a:prstGeom>
          <a:noFill/>
        </p:spPr>
        <p:txBody>
          <a:bodyPr wrap="square" lIns="101829" tIns="50915" rIns="101829" bIns="50915" rtlCol="0">
            <a:spAutoFit/>
          </a:bodyPr>
          <a:lstStyle/>
          <a:p>
            <a:pPr defTabSz="913663" fontAlgn="base" latinLnBrk="0">
              <a:spcBef>
                <a:spcPts val="200"/>
              </a:spcBef>
              <a:spcAft>
                <a:spcPct val="0"/>
              </a:spcAft>
            </a:pPr>
            <a:r>
              <a:rPr kumimoji="1" lang="en-US" altLang="ko-KR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’</a:t>
            </a:r>
            <a:r>
              <a:rPr kumimoji="1" lang="en-US" altLang="ko-KR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25</a:t>
            </a:r>
            <a:r>
              <a:rPr kumimoji="1" lang="ko-KR" altLang="en-US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 </a:t>
            </a:r>
            <a:r>
              <a:rPr kumimoji="1" lang="en-US" altLang="ko-KR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</a:t>
            </a:r>
            <a:r>
              <a:rPr kumimoji="1" lang="ko-KR" altLang="en-US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분석모의모델 유지관리 용역사업</a:t>
            </a:r>
            <a:br>
              <a:rPr kumimoji="1" lang="en-US" altLang="ko-KR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kumimoji="1" lang="en-US" altLang="ko-KR" sz="800" spc="-50" baseline="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algn="l" defTabSz="913663" rtl="0" eaLnBrk="1" fontAlgn="base" latinLnBrk="0" hangingPunct="1">
              <a:spcBef>
                <a:spcPts val="400"/>
              </a:spcBef>
              <a:spcAft>
                <a:spcPct val="0"/>
              </a:spcAft>
            </a:pPr>
            <a:r>
              <a:rPr kumimoji="1" lang="en-US" altLang="ko-KR" sz="1600" b="1" kern="1200" spc="-10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1797D5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+mn-cs"/>
              </a:rPr>
              <a:t>3. </a:t>
            </a:r>
            <a:r>
              <a:rPr kumimoji="1" lang="ko-KR" altLang="en-US" sz="1600" b="1" kern="1200" spc="-10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1797D5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+mn-cs"/>
              </a:rPr>
              <a:t>사업수행 계획</a:t>
            </a: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7281068" y="1132493"/>
            <a:ext cx="496087" cy="1282402"/>
            <a:chOff x="7279571" y="843656"/>
            <a:chExt cx="495986" cy="1282215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7319766" y="843656"/>
              <a:ext cx="351646" cy="1282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1</a:t>
              </a:r>
            </a:p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2</a:t>
              </a:r>
            </a:p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3</a:t>
              </a:r>
            </a:p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4</a:t>
              </a:r>
            </a:p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5</a:t>
              </a:r>
            </a:p>
          </p:txBody>
        </p:sp>
        <p:grpSp>
          <p:nvGrpSpPr>
            <p:cNvPr id="11" name="그룹 10"/>
            <p:cNvGrpSpPr/>
            <p:nvPr/>
          </p:nvGrpSpPr>
          <p:grpSpPr>
            <a:xfrm>
              <a:off x="7279571" y="1327170"/>
              <a:ext cx="495986" cy="274137"/>
              <a:chOff x="7279571" y="2289750"/>
              <a:chExt cx="495986" cy="310139"/>
            </a:xfrm>
          </p:grpSpPr>
          <p:sp>
            <p:nvSpPr>
              <p:cNvPr id="12" name="대각선 방향의 모서리가 잘린 사각형 11"/>
              <p:cNvSpPr/>
              <p:nvPr/>
            </p:nvSpPr>
            <p:spPr bwMode="auto">
              <a:xfrm>
                <a:off x="7310419" y="2289750"/>
                <a:ext cx="465138" cy="310139"/>
              </a:xfrm>
              <a:prstGeom prst="snip2DiagRect">
                <a:avLst>
                  <a:gd name="adj1" fmla="val 0"/>
                  <a:gd name="adj2" fmla="val 27133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57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charset="0"/>
                </a:endParaRPr>
              </a:p>
            </p:txBody>
          </p:sp>
          <p:sp>
            <p:nvSpPr>
              <p:cNvPr id="19" name="Text Box 5"/>
              <p:cNvSpPr txBox="1">
                <a:spLocks noChangeArrowheads="1"/>
              </p:cNvSpPr>
              <p:nvPr/>
            </p:nvSpPr>
            <p:spPr bwMode="auto">
              <a:xfrm>
                <a:off x="7279571" y="2308521"/>
                <a:ext cx="351647" cy="243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defTabSz="913663" eaLnBrk="1" latinLnBrk="0" hangingPunct="1">
                  <a:spcAft>
                    <a:spcPct val="0"/>
                  </a:spcAft>
                </a:pPr>
                <a:r>
                  <a:rPr lang="en-US" altLang="ko-KR" sz="1400" b="1" spc="-1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038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612217" y="666839"/>
            <a:ext cx="5183476" cy="349046"/>
          </a:xfrm>
          <a:prstGeom prst="rect">
            <a:avLst/>
          </a:prstGeom>
          <a:noFill/>
        </p:spPr>
        <p:txBody>
          <a:bodyPr wrap="square" lIns="101829" tIns="50915" rIns="101829" bIns="50915" rtlCol="0">
            <a:spAutoFit/>
          </a:bodyPr>
          <a:lstStyle/>
          <a:p>
            <a:pPr defTabSz="913663" fontAlgn="base" latinLnBrk="0">
              <a:spcBef>
                <a:spcPts val="200"/>
              </a:spcBef>
              <a:spcAft>
                <a:spcPct val="0"/>
              </a:spcAft>
            </a:pPr>
            <a:r>
              <a:rPr kumimoji="1" lang="en-US" altLang="ko-KR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’</a:t>
            </a:r>
            <a:r>
              <a:rPr kumimoji="1" lang="en-US" altLang="ko-KR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25</a:t>
            </a:r>
            <a:r>
              <a:rPr kumimoji="1" lang="ko-KR" altLang="en-US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 </a:t>
            </a:r>
            <a:r>
              <a:rPr kumimoji="1" lang="en-US" altLang="ko-KR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</a:t>
            </a:r>
            <a:r>
              <a:rPr kumimoji="1" lang="ko-KR" altLang="en-US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분석모의모델 유지관리 용역사업</a:t>
            </a:r>
            <a:br>
              <a:rPr kumimoji="1" lang="en-US" altLang="ko-KR" sz="800" spc="-50" baseline="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kumimoji="1" lang="en-US" altLang="ko-KR" sz="800" spc="-50" baseline="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420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 bwMode="auto">
          <a:xfrm>
            <a:off x="7388137" y="8"/>
            <a:ext cx="389015" cy="10909300"/>
          </a:xfrm>
          <a:prstGeom prst="rect">
            <a:avLst/>
          </a:prstGeom>
          <a:solidFill>
            <a:srgbClr val="11A0DD">
              <a:alpha val="50196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86" tIns="45697" rIns="91386" bIns="45697" numCol="1" rtlCol="0" anchor="t" anchorCtr="0" compatLnSpc="1">
            <a:prstTxWarp prst="textNoShape">
              <a:avLst/>
            </a:prstTxWarp>
          </a:bodyPr>
          <a:lstStyle/>
          <a:p>
            <a:pPr algn="ctr" defTabSz="91384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90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  <a:cs typeface="Arial" charset="0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7281068" y="1132493"/>
            <a:ext cx="496087" cy="1282402"/>
            <a:chOff x="7279571" y="843656"/>
            <a:chExt cx="495986" cy="1282215"/>
          </a:xfrm>
        </p:grpSpPr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7319766" y="843656"/>
              <a:ext cx="351646" cy="1282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1</a:t>
              </a:r>
            </a:p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2</a:t>
              </a:r>
            </a:p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3</a:t>
              </a:r>
            </a:p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4</a:t>
              </a:r>
            </a:p>
            <a:p>
              <a:pPr algn="ctr" defTabSz="913663" eaLnBrk="1" latinLnBrk="0" hangingPunct="1">
                <a:spcBef>
                  <a:spcPts val="1000"/>
                </a:spcBef>
                <a:spcAft>
                  <a:spcPct val="0"/>
                </a:spcAft>
              </a:pPr>
              <a:r>
                <a:rPr lang="en-US" altLang="ko-KR" sz="10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5</a:t>
              </a:r>
            </a:p>
          </p:txBody>
        </p:sp>
        <p:grpSp>
          <p:nvGrpSpPr>
            <p:cNvPr id="13" name="그룹 12"/>
            <p:cNvGrpSpPr/>
            <p:nvPr/>
          </p:nvGrpSpPr>
          <p:grpSpPr>
            <a:xfrm>
              <a:off x="7279571" y="1327170"/>
              <a:ext cx="495986" cy="274137"/>
              <a:chOff x="7279571" y="2289751"/>
              <a:chExt cx="495986" cy="310139"/>
            </a:xfrm>
          </p:grpSpPr>
          <p:sp>
            <p:nvSpPr>
              <p:cNvPr id="15" name="대각선 방향의 모서리가 잘린 사각형 14"/>
              <p:cNvSpPr/>
              <p:nvPr/>
            </p:nvSpPr>
            <p:spPr bwMode="auto">
              <a:xfrm>
                <a:off x="7310419" y="2289751"/>
                <a:ext cx="465138" cy="310139"/>
              </a:xfrm>
              <a:prstGeom prst="snip2DiagRect">
                <a:avLst>
                  <a:gd name="adj1" fmla="val 0"/>
                  <a:gd name="adj2" fmla="val 27133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57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charset="0"/>
                </a:endParaRPr>
              </a:p>
            </p:txBody>
          </p:sp>
          <p:sp>
            <p:nvSpPr>
              <p:cNvPr id="16" name="Text Box 5"/>
              <p:cNvSpPr txBox="1">
                <a:spLocks noChangeArrowheads="1"/>
              </p:cNvSpPr>
              <p:nvPr/>
            </p:nvSpPr>
            <p:spPr bwMode="auto">
              <a:xfrm>
                <a:off x="7279571" y="2308522"/>
                <a:ext cx="351647" cy="243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defTabSz="913663" eaLnBrk="1" latinLnBrk="0" hangingPunct="1">
                  <a:spcAft>
                    <a:spcPct val="0"/>
                  </a:spcAft>
                </a:pPr>
                <a:r>
                  <a:rPr lang="en-US" altLang="ko-KR" sz="1400" b="1" spc="-1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294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07972" y="107975"/>
            <a:ext cx="7559632" cy="10690193"/>
          </a:xfrm>
          <a:prstGeom prst="rect">
            <a:avLst/>
          </a:prstGeom>
          <a:noFill/>
          <a:ln w="3175">
            <a:noFill/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68" tIns="45689" rIns="91368" bIns="45689" anchor="ctr"/>
          <a:lstStyle>
            <a:lvl1pPr eaLnBrk="0" hangingPunct="0">
              <a:defRPr kumimoji="1" sz="12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defRPr>
            </a:lvl1pPr>
            <a:lvl2pPr marL="742950" indent="-285750" eaLnBrk="0" hangingPunct="0">
              <a:defRPr kumimoji="1" sz="12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defRPr>
            </a:lvl2pPr>
            <a:lvl3pPr marL="1143000" indent="-228600" eaLnBrk="0" hangingPunct="0">
              <a:defRPr kumimoji="1" sz="12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defRPr>
            </a:lvl3pPr>
            <a:lvl4pPr marL="1600200" indent="-228600" eaLnBrk="0" hangingPunct="0">
              <a:defRPr kumimoji="1" sz="12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defRPr>
            </a:lvl4pPr>
            <a:lvl5pPr marL="2057400" indent="-228600" eaLnBrk="0" hangingPunct="0">
              <a:defRPr kumimoji="1" sz="12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defRPr>
            </a:lvl9pPr>
          </a:lstStyle>
          <a:p>
            <a:pPr algn="ctr" defTabSz="913572" eaLnBrk="1" fontAlgn="base" latinLnBrk="0" hangingPunct="1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FFFFFF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" y="0"/>
            <a:ext cx="7778751" cy="10910887"/>
            <a:chOff x="0" y="0"/>
            <a:chExt cx="7777163" cy="10909300"/>
          </a:xfrm>
        </p:grpSpPr>
        <p:sp>
          <p:nvSpPr>
            <p:cNvPr id="14" name="Line 20"/>
            <p:cNvSpPr>
              <a:spLocks noChangeShapeType="1"/>
            </p:cNvSpPr>
            <p:nvPr userDrawn="1"/>
          </p:nvSpPr>
          <p:spPr bwMode="auto">
            <a:xfrm>
              <a:off x="7056438" y="0"/>
              <a:ext cx="0" cy="10909300"/>
            </a:xfrm>
            <a:prstGeom prst="line">
              <a:avLst/>
            </a:prstGeom>
            <a:noFill/>
            <a:ln w="3175">
              <a:noFill/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3572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 userDrawn="1"/>
          </p:nvSpPr>
          <p:spPr bwMode="auto">
            <a:xfrm>
              <a:off x="720725" y="0"/>
              <a:ext cx="0" cy="10909300"/>
            </a:xfrm>
            <a:prstGeom prst="line">
              <a:avLst/>
            </a:prstGeom>
            <a:noFill/>
            <a:ln w="3175">
              <a:noFill/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3572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grpSp>
          <p:nvGrpSpPr>
            <p:cNvPr id="16" name="Group 26"/>
            <p:cNvGrpSpPr>
              <a:grpSpLocks/>
            </p:cNvGrpSpPr>
            <p:nvPr userDrawn="1"/>
          </p:nvGrpSpPr>
          <p:grpSpPr bwMode="auto">
            <a:xfrm>
              <a:off x="0" y="1374775"/>
              <a:ext cx="7777163" cy="300038"/>
              <a:chOff x="0" y="775"/>
              <a:chExt cx="4899" cy="189"/>
            </a:xfrm>
          </p:grpSpPr>
          <p:sp>
            <p:nvSpPr>
              <p:cNvPr id="17" name="Line 15"/>
              <p:cNvSpPr>
                <a:spLocks noChangeShapeType="1"/>
              </p:cNvSpPr>
              <p:nvPr userDrawn="1"/>
            </p:nvSpPr>
            <p:spPr bwMode="auto">
              <a:xfrm>
                <a:off x="0" y="964"/>
                <a:ext cx="4899" cy="0"/>
              </a:xfrm>
              <a:prstGeom prst="line">
                <a:avLst/>
              </a:prstGeom>
              <a:noFill/>
              <a:ln w="3175">
                <a:noFill/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913572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endParaRPr>
              </a:p>
            </p:txBody>
          </p:sp>
          <p:sp>
            <p:nvSpPr>
              <p:cNvPr id="18" name="Line 16"/>
              <p:cNvSpPr>
                <a:spLocks noChangeShapeType="1"/>
              </p:cNvSpPr>
              <p:nvPr userDrawn="1"/>
            </p:nvSpPr>
            <p:spPr bwMode="auto">
              <a:xfrm>
                <a:off x="0" y="775"/>
                <a:ext cx="4899" cy="0"/>
              </a:xfrm>
              <a:prstGeom prst="line">
                <a:avLst/>
              </a:prstGeom>
              <a:noFill/>
              <a:ln w="3175">
                <a:noFill/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913572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endParaRPr>
              </a:p>
            </p:txBody>
          </p:sp>
        </p:grpSp>
        <p:sp>
          <p:nvSpPr>
            <p:cNvPr id="19" name="Line 18"/>
            <p:cNvSpPr>
              <a:spLocks noChangeShapeType="1"/>
            </p:cNvSpPr>
            <p:nvPr userDrawn="1"/>
          </p:nvSpPr>
          <p:spPr bwMode="auto">
            <a:xfrm>
              <a:off x="0" y="10279063"/>
              <a:ext cx="7777163" cy="0"/>
            </a:xfrm>
            <a:prstGeom prst="line">
              <a:avLst/>
            </a:prstGeom>
            <a:noFill/>
            <a:ln w="3175">
              <a:noFill/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3572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3590685" y="10410502"/>
            <a:ext cx="6014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031" rtl="0"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1200" spc="-50" baseline="0" dirty="0">
                <a:solidFill>
                  <a:srgbClr val="5F5F5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+mn-cs"/>
              </a:rPr>
              <a:t>Ⅲ - </a:t>
            </a:r>
            <a:fld id="{46BD56C6-0F24-4555-A597-A8953F96F01F}" type="slidenum">
              <a:rPr kumimoji="1" lang="en-US" altLang="ko-KR" sz="900" kern="1200" spc="-50" baseline="0" smtClean="0">
                <a:solidFill>
                  <a:srgbClr val="5F5F5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+mn-cs"/>
              </a:rPr>
              <a:t>‹#›</a:t>
            </a:fld>
            <a:endParaRPr kumimoji="1" lang="ko-KR" altLang="en-US" sz="900" kern="1200" spc="-50" baseline="0" dirty="0">
              <a:solidFill>
                <a:srgbClr val="5F5F5F"/>
              </a:solidFill>
              <a:latin typeface="HY신명조" panose="02030600000101010101" pitchFamily="18" charset="-127"/>
              <a:ea typeface="HY신명조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83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hf hdr="0" ftr="0" dt="0"/>
  <p:txStyles>
    <p:titleStyle>
      <a:lvl1pPr algn="l" defTabSz="913663" rtl="0" eaLnBrk="1" latinLnBrk="1" hangingPunct="1">
        <a:lnSpc>
          <a:spcPct val="90000"/>
        </a:lnSpc>
        <a:spcBef>
          <a:spcPct val="0"/>
        </a:spcBef>
        <a:buNone/>
        <a:defRPr kumimoji="1" lang="ko-KR" altLang="en-US" sz="13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416" indent="-228416" algn="l" defTabSz="913663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lang="ko-KR" altLang="en-US" sz="11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257" indent="-228416" algn="l" defTabSz="913663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lang="ko-KR" altLang="en-US" sz="11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2082" indent="-228416" algn="l" defTabSz="913663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lang="ko-KR" altLang="en-US" sz="11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598920" indent="-228416" algn="l" defTabSz="913663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lang="ko-KR" altLang="en-US" sz="11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5760" indent="-228416" algn="l" defTabSz="913663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lang="ko-KR" altLang="en-US" sz="11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512583" indent="-228416" algn="l" defTabSz="91366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424" indent="-228416" algn="l" defTabSz="91366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259" indent="-228416" algn="l" defTabSz="91366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091" indent="-228416" algn="l" defTabSz="91366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36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41" algn="l" defTabSz="9136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663" algn="l" defTabSz="9136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504" algn="l" defTabSz="9136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336" algn="l" defTabSz="9136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172" algn="l" defTabSz="9136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004" algn="l" defTabSz="9136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840" algn="l" defTabSz="9136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677" algn="l" defTabSz="9136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5.wmf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oleObject" Target="../embeddings/oleObject1.bin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11.emf"/><Relationship Id="rId3" Type="http://schemas.microsoft.com/office/2007/relationships/hdphoto" Target="../media/hdphoto1.wdp"/><Relationship Id="rId21" Type="http://schemas.openxmlformats.org/officeDocument/2006/relationships/image" Target="../media/image29.png"/><Relationship Id="rId7" Type="http://schemas.openxmlformats.org/officeDocument/2006/relationships/image" Target="../media/image15.jpeg"/><Relationship Id="rId12" Type="http://schemas.openxmlformats.org/officeDocument/2006/relationships/image" Target="../media/image20.jpeg"/><Relationship Id="rId17" Type="http://schemas.openxmlformats.org/officeDocument/2006/relationships/image" Target="../media/image25.jpeg"/><Relationship Id="rId25" Type="http://schemas.openxmlformats.org/officeDocument/2006/relationships/image" Target="../media/image8.pn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7.emf"/><Relationship Id="rId4" Type="http://schemas.openxmlformats.org/officeDocument/2006/relationships/image" Target="../media/image12.jpe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35.jpe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11.emf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microsoft.com/office/2007/relationships/hdphoto" Target="../media/hdphoto1.wdp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18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17.png"/><Relationship Id="rId5" Type="http://schemas.openxmlformats.org/officeDocument/2006/relationships/image" Target="../media/image38.png"/><Relationship Id="rId10" Type="http://schemas.openxmlformats.org/officeDocument/2006/relationships/image" Target="../media/image48.png"/><Relationship Id="rId4" Type="http://schemas.microsoft.com/office/2007/relationships/hdphoto" Target="../media/hdphoto1.wdp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emf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microsoft.com/office/2007/relationships/hdphoto" Target="../media/hdphoto1.wdp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11.emf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47.png"/><Relationship Id="rId18" Type="http://schemas.openxmlformats.org/officeDocument/2006/relationships/image" Target="../media/image62.png"/><Relationship Id="rId3" Type="http://schemas.microsoft.com/office/2007/relationships/hdphoto" Target="../media/hdphoto1.wdp"/><Relationship Id="rId21" Type="http://schemas.openxmlformats.org/officeDocument/2006/relationships/image" Target="../media/image38.png"/><Relationship Id="rId7" Type="http://schemas.openxmlformats.org/officeDocument/2006/relationships/image" Target="../media/image43.png"/><Relationship Id="rId12" Type="http://schemas.openxmlformats.org/officeDocument/2006/relationships/image" Target="../media/image46.png"/><Relationship Id="rId17" Type="http://schemas.openxmlformats.org/officeDocument/2006/relationships/image" Target="../media/image45.png"/><Relationship Id="rId25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44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11" Type="http://schemas.openxmlformats.org/officeDocument/2006/relationships/image" Target="../media/image59.png"/><Relationship Id="rId24" Type="http://schemas.openxmlformats.org/officeDocument/2006/relationships/image" Target="../media/image36.jpeg"/><Relationship Id="rId5" Type="http://schemas.openxmlformats.org/officeDocument/2006/relationships/image" Target="../media/image41.png"/><Relationship Id="rId15" Type="http://schemas.openxmlformats.org/officeDocument/2006/relationships/image" Target="../media/image61.png"/><Relationship Id="rId23" Type="http://schemas.openxmlformats.org/officeDocument/2006/relationships/image" Target="../media/image35.jpeg"/><Relationship Id="rId10" Type="http://schemas.openxmlformats.org/officeDocument/2006/relationships/image" Target="../media/image58.png"/><Relationship Id="rId19" Type="http://schemas.openxmlformats.org/officeDocument/2006/relationships/image" Target="../media/image63.png"/><Relationship Id="rId4" Type="http://schemas.openxmlformats.org/officeDocument/2006/relationships/image" Target="../media/image40.png"/><Relationship Id="rId9" Type="http://schemas.openxmlformats.org/officeDocument/2006/relationships/image" Target="../media/image34.png"/><Relationship Id="rId14" Type="http://schemas.openxmlformats.org/officeDocument/2006/relationships/image" Target="../media/image60.png"/><Relationship Id="rId22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8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jpe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7416675" y="0"/>
            <a:ext cx="7387646" cy="1090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사다리꼴 147"/>
          <p:cNvSpPr/>
          <p:nvPr/>
        </p:nvSpPr>
        <p:spPr>
          <a:xfrm>
            <a:off x="-6516574" y="9231086"/>
            <a:ext cx="13556374" cy="1056280"/>
          </a:xfrm>
          <a:prstGeom prst="trapezoid">
            <a:avLst>
              <a:gd name="adj" fmla="val 86772"/>
            </a:avLst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defTabSz="913663" fontAlgn="base" latinLnBrk="0">
              <a:spcBef>
                <a:spcPts val="500"/>
              </a:spcBef>
              <a:spcAft>
                <a:spcPct val="0"/>
              </a:spcAft>
            </a:pPr>
            <a:endParaRPr kumimoji="1" lang="ko-KR" altLang="en-US" sz="1100" b="1" spc="-5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4" name="Rectangle 546"/>
          <p:cNvSpPr>
            <a:spLocks noChangeArrowheads="1"/>
          </p:cNvSpPr>
          <p:nvPr/>
        </p:nvSpPr>
        <p:spPr bwMode="auto">
          <a:xfrm>
            <a:off x="-10504" y="2427184"/>
            <a:ext cx="7040385" cy="786018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5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427280" y="1011951"/>
            <a:ext cx="2664840" cy="225935"/>
          </a:xfrm>
          <a:prstGeom prst="rect">
            <a:avLst/>
          </a:prstGeom>
          <a:noFill/>
        </p:spPr>
        <p:txBody>
          <a:bodyPr wrap="square" lIns="101829" tIns="50915" rIns="101829" bIns="50915" rtlCol="0" anchor="t">
            <a:spAutoFit/>
          </a:bodyPr>
          <a:lstStyle/>
          <a:p>
            <a:pPr algn="r" defTabSz="913663" fontAlgn="base" latinLnBrk="0">
              <a:spcBef>
                <a:spcPts val="200"/>
              </a:spcBef>
              <a:spcAft>
                <a:spcPct val="0"/>
              </a:spcAft>
            </a:pPr>
            <a:r>
              <a:rPr kumimoji="1" lang="en-US" altLang="ko-KR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3.1 </a:t>
            </a:r>
            <a:r>
              <a:rPr kumimoji="1" lang="ko-KR" altLang="en-US" sz="800" spc="-50" dirty="0" err="1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대상사업의</a:t>
            </a:r>
            <a:r>
              <a:rPr kumimoji="1" lang="ko-KR" altLang="en-US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개요</a:t>
            </a:r>
            <a:r>
              <a:rPr kumimoji="1" lang="en-US" altLang="ko-KR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kumimoji="1" lang="ko-KR" altLang="en-US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사업의 필요성 및 사업범위</a:t>
            </a:r>
            <a:r>
              <a:rPr kumimoji="1" lang="en-US" altLang="ko-KR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kumimoji="1" lang="ko-KR" altLang="en-US" sz="800" spc="-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147" name="그룹 146"/>
          <p:cNvGrpSpPr/>
          <p:nvPr/>
        </p:nvGrpSpPr>
        <p:grpSpPr>
          <a:xfrm>
            <a:off x="761851" y="5418646"/>
            <a:ext cx="6330269" cy="169302"/>
            <a:chOff x="761696" y="5435378"/>
            <a:chExt cx="6328976" cy="169277"/>
          </a:xfrm>
        </p:grpSpPr>
        <p:sp>
          <p:nvSpPr>
            <p:cNvPr id="149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en-US" altLang="ko-KR" sz="1100" b="1" spc="-50" dirty="0">
                  <a:ln w="0"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SW </a:t>
              </a:r>
              <a:r>
                <a:rPr lang="ko-KR" altLang="en-US" sz="1100" b="1" spc="-50" dirty="0">
                  <a:ln w="0"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형상 구성</a:t>
              </a:r>
            </a:p>
          </p:txBody>
        </p:sp>
        <p:grpSp>
          <p:nvGrpSpPr>
            <p:cNvPr id="150" name="그룹 149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151" name="타원 150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152" name="Picture 132" descr="ㅇ"/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156" name="그룹 155"/>
          <p:cNvGrpSpPr/>
          <p:nvPr/>
        </p:nvGrpSpPr>
        <p:grpSpPr>
          <a:xfrm>
            <a:off x="826294" y="3016429"/>
            <a:ext cx="6124575" cy="2078181"/>
            <a:chOff x="971550" y="4246089"/>
            <a:chExt cx="6124575" cy="2078181"/>
          </a:xfrm>
        </p:grpSpPr>
        <p:sp>
          <p:nvSpPr>
            <p:cNvPr id="157" name="왼쪽 대괄호 156"/>
            <p:cNvSpPr/>
            <p:nvPr/>
          </p:nvSpPr>
          <p:spPr>
            <a:xfrm rot="5400000">
              <a:off x="3871108" y="3929637"/>
              <a:ext cx="166654" cy="1143688"/>
            </a:xfrm>
            <a:prstGeom prst="leftBracket">
              <a:avLst>
                <a:gd name="adj" fmla="val 0"/>
              </a:avLst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>
              <a:off x="3003724" y="4343450"/>
              <a:ext cx="3755216" cy="1980820"/>
              <a:chOff x="3552857" y="7740410"/>
              <a:chExt cx="3333717" cy="1050749"/>
            </a:xfrm>
          </p:grpSpPr>
          <p:sp>
            <p:nvSpPr>
              <p:cNvPr id="380" name="직사각형 379"/>
              <p:cNvSpPr/>
              <p:nvPr/>
            </p:nvSpPr>
            <p:spPr>
              <a:xfrm>
                <a:off x="3552857" y="7740410"/>
                <a:ext cx="3333717" cy="1050749"/>
              </a:xfrm>
              <a:prstGeom prst="rect">
                <a:avLst/>
              </a:prstGeom>
              <a:noFill/>
              <a:ln w="38100">
                <a:solidFill>
                  <a:srgbClr val="B4D23A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9" tIns="45725" rIns="91449" bIns="45725"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endParaRPr lang="ko-KR" altLang="en-US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381" name="직사각형 380"/>
              <p:cNvSpPr/>
              <p:nvPr/>
            </p:nvSpPr>
            <p:spPr>
              <a:xfrm>
                <a:off x="3552857" y="7740410"/>
                <a:ext cx="3333717" cy="1050749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9" tIns="45725" rIns="91449" bIns="45725"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endParaRPr lang="ko-KR" altLang="en-US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</a:endParaRPr>
              </a:p>
            </p:txBody>
          </p:sp>
        </p:grpSp>
        <p:cxnSp>
          <p:nvCxnSpPr>
            <p:cNvPr id="160" name="꺾인 연결선 159"/>
            <p:cNvCxnSpPr>
              <a:stCxn id="329" idx="0"/>
              <a:endCxn id="371" idx="2"/>
            </p:cNvCxnSpPr>
            <p:nvPr/>
          </p:nvCxnSpPr>
          <p:spPr bwMode="auto">
            <a:xfrm rot="16200000" flipV="1">
              <a:off x="2400774" y="5032615"/>
              <a:ext cx="301383" cy="377901"/>
            </a:xfrm>
            <a:prstGeom prst="bentConnector3">
              <a:avLst>
                <a:gd name="adj1" fmla="val 50000"/>
              </a:avLst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1" name="TextBox 185"/>
            <p:cNvSpPr txBox="1">
              <a:spLocks noChangeArrowheads="1"/>
            </p:cNvSpPr>
            <p:nvPr/>
          </p:nvSpPr>
          <p:spPr bwMode="auto">
            <a:xfrm>
              <a:off x="1334393" y="5629436"/>
              <a:ext cx="381245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kern="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PC #1</a:t>
              </a:r>
              <a:endParaRPr lang="ko-KR" altLang="en-US" sz="700" b="0" kern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endParaRPr>
            </a:p>
          </p:txBody>
        </p:sp>
        <p:sp>
          <p:nvSpPr>
            <p:cNvPr id="162" name="TextBox 185"/>
            <p:cNvSpPr txBox="1">
              <a:spLocks noChangeArrowheads="1"/>
            </p:cNvSpPr>
            <p:nvPr/>
          </p:nvSpPr>
          <p:spPr bwMode="auto">
            <a:xfrm>
              <a:off x="1731835" y="5629436"/>
              <a:ext cx="381245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kern="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PC </a:t>
              </a:r>
              <a:r>
                <a:rPr lang="en-US" altLang="ko-KR" sz="700" b="0" kern="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#2</a:t>
              </a:r>
              <a:endParaRPr lang="ko-KR" altLang="en-US" sz="700" b="0" kern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endParaRPr>
            </a:p>
          </p:txBody>
        </p:sp>
        <p:sp>
          <p:nvSpPr>
            <p:cNvPr id="163" name="TextBox 185"/>
            <p:cNvSpPr txBox="1">
              <a:spLocks noChangeArrowheads="1"/>
            </p:cNvSpPr>
            <p:nvPr/>
          </p:nvSpPr>
          <p:spPr bwMode="auto">
            <a:xfrm>
              <a:off x="2129277" y="5629436"/>
              <a:ext cx="381245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kern="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PC #3</a:t>
              </a:r>
              <a:endParaRPr lang="ko-KR" altLang="en-US" sz="700" b="0" kern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endParaRPr>
            </a:p>
          </p:txBody>
        </p:sp>
        <p:sp>
          <p:nvSpPr>
            <p:cNvPr id="164" name="TextBox 185"/>
            <p:cNvSpPr txBox="1">
              <a:spLocks noChangeArrowheads="1"/>
            </p:cNvSpPr>
            <p:nvPr/>
          </p:nvSpPr>
          <p:spPr bwMode="auto">
            <a:xfrm>
              <a:off x="2526720" y="5629436"/>
              <a:ext cx="381245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kern="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PC #4</a:t>
              </a:r>
              <a:endParaRPr lang="ko-KR" altLang="en-US" sz="700" b="0" kern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endParaRPr>
            </a:p>
          </p:txBody>
        </p:sp>
        <p:cxnSp>
          <p:nvCxnSpPr>
            <p:cNvPr id="165" name="꺾인 연결선 16"/>
            <p:cNvCxnSpPr>
              <a:stCxn id="371" idx="2"/>
              <a:endCxn id="327" idx="0"/>
            </p:cNvCxnSpPr>
            <p:nvPr/>
          </p:nvCxnSpPr>
          <p:spPr bwMode="auto">
            <a:xfrm rot="5400000">
              <a:off x="1995641" y="5005383"/>
              <a:ext cx="301383" cy="432365"/>
            </a:xfrm>
            <a:prstGeom prst="bentConnector3">
              <a:avLst>
                <a:gd name="adj1" fmla="val 50000"/>
              </a:avLst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6" name="직선 연결선 165"/>
            <p:cNvCxnSpPr>
              <a:stCxn id="374" idx="2"/>
              <a:endCxn id="336" idx="0"/>
            </p:cNvCxnSpPr>
            <p:nvPr/>
          </p:nvCxnSpPr>
          <p:spPr bwMode="auto">
            <a:xfrm>
              <a:off x="3382593" y="5072620"/>
              <a:ext cx="362326" cy="196139"/>
            </a:xfrm>
            <a:prstGeom prst="line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167" name="Picture 70" descr="webserver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1949" y="5698684"/>
              <a:ext cx="257951" cy="325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TextBox 163"/>
            <p:cNvSpPr txBox="1">
              <a:spLocks noChangeArrowheads="1"/>
            </p:cNvSpPr>
            <p:nvPr/>
          </p:nvSpPr>
          <p:spPr bwMode="auto">
            <a:xfrm>
              <a:off x="3295265" y="6064164"/>
              <a:ext cx="71522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b="0" kern="0" spc="-2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SAN</a:t>
              </a:r>
            </a:p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b="0" kern="0" spc="-2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(Storage)</a:t>
              </a:r>
            </a:p>
          </p:txBody>
        </p:sp>
        <p:pic>
          <p:nvPicPr>
            <p:cNvPr id="170" name="그림 16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4506" y="5680156"/>
              <a:ext cx="426101" cy="426101"/>
            </a:xfrm>
            <a:prstGeom prst="rect">
              <a:avLst/>
            </a:prstGeom>
          </p:spPr>
        </p:pic>
        <p:sp>
          <p:nvSpPr>
            <p:cNvPr id="171" name="TextBox 163"/>
            <p:cNvSpPr txBox="1">
              <a:spLocks noChangeArrowheads="1"/>
            </p:cNvSpPr>
            <p:nvPr/>
          </p:nvSpPr>
          <p:spPr bwMode="auto">
            <a:xfrm>
              <a:off x="4011883" y="6064164"/>
              <a:ext cx="574363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b="0" kern="0" spc="-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백업장치</a:t>
              </a:r>
              <a:endParaRPr lang="en-US" altLang="ko-KR" sz="700" b="0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endParaRPr>
            </a:p>
          </p:txBody>
        </p:sp>
        <p:cxnSp>
          <p:nvCxnSpPr>
            <p:cNvPr id="174" name="직선 연결선 173"/>
            <p:cNvCxnSpPr>
              <a:stCxn id="336" idx="2"/>
              <a:endCxn id="167" idx="0"/>
            </p:cNvCxnSpPr>
            <p:nvPr/>
          </p:nvCxnSpPr>
          <p:spPr bwMode="auto">
            <a:xfrm flipH="1">
              <a:off x="3650925" y="5486255"/>
              <a:ext cx="93994" cy="212429"/>
            </a:xfrm>
            <a:prstGeom prst="line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직선 연결선 174"/>
            <p:cNvCxnSpPr>
              <a:stCxn id="336" idx="2"/>
            </p:cNvCxnSpPr>
            <p:nvPr/>
          </p:nvCxnSpPr>
          <p:spPr bwMode="auto">
            <a:xfrm>
              <a:off x="3744919" y="5486255"/>
              <a:ext cx="554145" cy="276522"/>
            </a:xfrm>
            <a:prstGeom prst="line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6" name="꺾인 연결선 67"/>
            <p:cNvCxnSpPr/>
            <p:nvPr/>
          </p:nvCxnSpPr>
          <p:spPr bwMode="auto">
            <a:xfrm>
              <a:off x="2358289" y="4259877"/>
              <a:ext cx="0" cy="283767"/>
            </a:xfrm>
            <a:prstGeom prst="straightConnector1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7" name="꺾인 연결선 16"/>
            <p:cNvCxnSpPr>
              <a:stCxn id="371" idx="2"/>
              <a:endCxn id="328" idx="0"/>
            </p:cNvCxnSpPr>
            <p:nvPr/>
          </p:nvCxnSpPr>
          <p:spPr bwMode="auto">
            <a:xfrm rot="5400000">
              <a:off x="2198207" y="5207949"/>
              <a:ext cx="301383" cy="27232"/>
            </a:xfrm>
            <a:prstGeom prst="bentConnector3">
              <a:avLst>
                <a:gd name="adj1" fmla="val 50000"/>
              </a:avLst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8" name="꺾인 연결선 16"/>
            <p:cNvCxnSpPr/>
            <p:nvPr/>
          </p:nvCxnSpPr>
          <p:spPr bwMode="auto">
            <a:xfrm>
              <a:off x="971550" y="4246090"/>
              <a:ext cx="6124575" cy="0"/>
            </a:xfrm>
            <a:prstGeom prst="straightConnector1">
              <a:avLst/>
            </a:prstGeom>
            <a:noFill/>
            <a:ln w="19050" algn="ctr">
              <a:solidFill>
                <a:schemeClr val="tx1">
                  <a:lumMod val="50000"/>
                  <a:lumOff val="50000"/>
                </a:schemeClr>
              </a:solidFill>
              <a:round/>
              <a:headEnd type="oval"/>
              <a:tailEnd type="oval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4" name="꺾인 연결선 67"/>
            <p:cNvCxnSpPr/>
            <p:nvPr/>
          </p:nvCxnSpPr>
          <p:spPr bwMode="auto">
            <a:xfrm>
              <a:off x="1498417" y="4259877"/>
              <a:ext cx="0" cy="283767"/>
            </a:xfrm>
            <a:prstGeom prst="straightConnector1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3" name="꺾인 연결선 67"/>
            <p:cNvCxnSpPr/>
            <p:nvPr/>
          </p:nvCxnSpPr>
          <p:spPr bwMode="auto">
            <a:xfrm>
              <a:off x="3936367" y="4246089"/>
              <a:ext cx="0" cy="173511"/>
            </a:xfrm>
            <a:prstGeom prst="straightConnector1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4" name="직선 연결선 233"/>
            <p:cNvCxnSpPr>
              <a:stCxn id="377" idx="2"/>
              <a:endCxn id="336" idx="0"/>
            </p:cNvCxnSpPr>
            <p:nvPr/>
          </p:nvCxnSpPr>
          <p:spPr bwMode="auto">
            <a:xfrm flipH="1">
              <a:off x="3744919" y="5072620"/>
              <a:ext cx="781206" cy="196139"/>
            </a:xfrm>
            <a:prstGeom prst="line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" name="직선 연결선 285"/>
            <p:cNvCxnSpPr>
              <a:stCxn id="167" idx="0"/>
              <a:endCxn id="335" idx="2"/>
            </p:cNvCxnSpPr>
            <p:nvPr/>
          </p:nvCxnSpPr>
          <p:spPr bwMode="auto">
            <a:xfrm flipV="1">
              <a:off x="3650925" y="5486255"/>
              <a:ext cx="514462" cy="212429"/>
            </a:xfrm>
            <a:prstGeom prst="line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7" name="직선 연결선 286"/>
            <p:cNvCxnSpPr>
              <a:endCxn id="335" idx="2"/>
            </p:cNvCxnSpPr>
            <p:nvPr/>
          </p:nvCxnSpPr>
          <p:spPr bwMode="auto">
            <a:xfrm flipH="1" flipV="1">
              <a:off x="4165387" y="5486255"/>
              <a:ext cx="133678" cy="276524"/>
            </a:xfrm>
            <a:prstGeom prst="line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8" name="직선 연결선 287"/>
            <p:cNvCxnSpPr>
              <a:stCxn id="377" idx="2"/>
              <a:endCxn id="335" idx="0"/>
            </p:cNvCxnSpPr>
            <p:nvPr/>
          </p:nvCxnSpPr>
          <p:spPr bwMode="auto">
            <a:xfrm flipH="1">
              <a:off x="4165387" y="5072620"/>
              <a:ext cx="360738" cy="196139"/>
            </a:xfrm>
            <a:prstGeom prst="line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9" name="직선 연결선 288"/>
            <p:cNvCxnSpPr>
              <a:stCxn id="374" idx="2"/>
              <a:endCxn id="335" idx="0"/>
            </p:cNvCxnSpPr>
            <p:nvPr/>
          </p:nvCxnSpPr>
          <p:spPr bwMode="auto">
            <a:xfrm>
              <a:off x="3382593" y="5072620"/>
              <a:ext cx="782794" cy="196139"/>
            </a:xfrm>
            <a:prstGeom prst="line">
              <a:avLst/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2" name="Freeform 405"/>
            <p:cNvSpPr>
              <a:spLocks/>
            </p:cNvSpPr>
            <p:nvPr/>
          </p:nvSpPr>
          <p:spPr bwMode="auto">
            <a:xfrm rot="10572005" flipH="1" flipV="1">
              <a:off x="3629841" y="5196881"/>
              <a:ext cx="562321" cy="673352"/>
            </a:xfrm>
            <a:custGeom>
              <a:avLst/>
              <a:gdLst>
                <a:gd name="T0" fmla="*/ 0 w 1459"/>
                <a:gd name="T1" fmla="*/ 2147483647 h 1039"/>
                <a:gd name="T2" fmla="*/ 2147483647 w 1459"/>
                <a:gd name="T3" fmla="*/ 2147483647 h 1039"/>
                <a:gd name="T4" fmla="*/ 2147483647 w 1459"/>
                <a:gd name="T5" fmla="*/ 2147483647 h 1039"/>
                <a:gd name="T6" fmla="*/ 2147483647 w 1459"/>
                <a:gd name="T7" fmla="*/ 2147483647 h 10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9"/>
                <a:gd name="T13" fmla="*/ 0 h 1039"/>
                <a:gd name="T14" fmla="*/ 1459 w 1459"/>
                <a:gd name="T15" fmla="*/ 1039 h 1039"/>
                <a:gd name="connsiteX0" fmla="*/ 0 w 8222"/>
                <a:gd name="connsiteY0" fmla="*/ 8214 h 9523"/>
                <a:gd name="connsiteX1" fmla="*/ 4976 w 8222"/>
                <a:gd name="connsiteY1" fmla="*/ 139 h 9523"/>
                <a:gd name="connsiteX2" fmla="*/ 7928 w 8222"/>
                <a:gd name="connsiteY2" fmla="*/ 3577 h 9523"/>
                <a:gd name="connsiteX3" fmla="*/ 7149 w 8222"/>
                <a:gd name="connsiteY3" fmla="*/ 9523 h 9523"/>
                <a:gd name="connsiteX0" fmla="*/ 0 w 11351"/>
                <a:gd name="connsiteY0" fmla="*/ 8625 h 10242"/>
                <a:gd name="connsiteX1" fmla="*/ 6052 w 11351"/>
                <a:gd name="connsiteY1" fmla="*/ 146 h 10242"/>
                <a:gd name="connsiteX2" fmla="*/ 9642 w 11351"/>
                <a:gd name="connsiteY2" fmla="*/ 3756 h 10242"/>
                <a:gd name="connsiteX3" fmla="*/ 10727 w 11351"/>
                <a:gd name="connsiteY3" fmla="*/ 10242 h 10242"/>
                <a:gd name="connsiteX0" fmla="*/ 0 w 11494"/>
                <a:gd name="connsiteY0" fmla="*/ 8713 h 10330"/>
                <a:gd name="connsiteX1" fmla="*/ 6052 w 11494"/>
                <a:gd name="connsiteY1" fmla="*/ 234 h 10330"/>
                <a:gd name="connsiteX2" fmla="*/ 10335 w 11494"/>
                <a:gd name="connsiteY2" fmla="*/ 3037 h 10330"/>
                <a:gd name="connsiteX3" fmla="*/ 10727 w 11494"/>
                <a:gd name="connsiteY3" fmla="*/ 10330 h 10330"/>
                <a:gd name="connsiteX0" fmla="*/ 0 w 10797"/>
                <a:gd name="connsiteY0" fmla="*/ 8713 h 10330"/>
                <a:gd name="connsiteX1" fmla="*/ 6052 w 10797"/>
                <a:gd name="connsiteY1" fmla="*/ 234 h 10330"/>
                <a:gd name="connsiteX2" fmla="*/ 10335 w 10797"/>
                <a:gd name="connsiteY2" fmla="*/ 3037 h 10330"/>
                <a:gd name="connsiteX3" fmla="*/ 10727 w 10797"/>
                <a:gd name="connsiteY3" fmla="*/ 10330 h 10330"/>
                <a:gd name="connsiteX0" fmla="*/ 0 w 9911"/>
                <a:gd name="connsiteY0" fmla="*/ 8871 h 10339"/>
                <a:gd name="connsiteX1" fmla="*/ 5166 w 9911"/>
                <a:gd name="connsiteY1" fmla="*/ 243 h 10339"/>
                <a:gd name="connsiteX2" fmla="*/ 9449 w 9911"/>
                <a:gd name="connsiteY2" fmla="*/ 3046 h 10339"/>
                <a:gd name="connsiteX3" fmla="*/ 9841 w 9911"/>
                <a:gd name="connsiteY3" fmla="*/ 10339 h 10339"/>
                <a:gd name="connsiteX0" fmla="*/ 0 w 10000"/>
                <a:gd name="connsiteY0" fmla="*/ 8580 h 10000"/>
                <a:gd name="connsiteX1" fmla="*/ 5212 w 10000"/>
                <a:gd name="connsiteY1" fmla="*/ 235 h 10000"/>
                <a:gd name="connsiteX2" fmla="*/ 9534 w 10000"/>
                <a:gd name="connsiteY2" fmla="*/ 2946 h 10000"/>
                <a:gd name="connsiteX3" fmla="*/ 9929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8580"/>
                  </a:moveTo>
                  <a:cubicBezTo>
                    <a:pt x="597" y="4801"/>
                    <a:pt x="3623" y="1174"/>
                    <a:pt x="5212" y="235"/>
                  </a:cubicBezTo>
                  <a:cubicBezTo>
                    <a:pt x="6802" y="-704"/>
                    <a:pt x="9088" y="1363"/>
                    <a:pt x="9534" y="2946"/>
                  </a:cubicBezTo>
                  <a:cubicBezTo>
                    <a:pt x="9980" y="4529"/>
                    <a:pt x="10094" y="5900"/>
                    <a:pt x="9929" y="10000"/>
                  </a:cubicBezTo>
                </a:path>
              </a:pathLst>
            </a:custGeom>
            <a:ln w="28575">
              <a:solidFill>
                <a:schemeClr val="accent5">
                  <a:lumMod val="75000"/>
                  <a:alpha val="50000"/>
                </a:schemeClr>
              </a:solidFill>
              <a:prstDash val="solid"/>
              <a:headEnd type="oval" w="sm" len="sm"/>
              <a:tailEnd type="stealth" w="sm" len="med"/>
            </a:ln>
            <a:effectLst>
              <a:outerShdw dist="38100" sx="1000" sy="1000" algn="tl" rotWithShape="0">
                <a:prstClr val="black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latinLnBrk="0">
                <a:defRPr/>
              </a:pPr>
              <a:endParaRPr lang="ko-KR" altLang="en-US" sz="2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pic>
          <p:nvPicPr>
            <p:cNvPr id="326" name="Picture 159" descr="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364877" y="5372257"/>
              <a:ext cx="320277" cy="232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" name="Picture 159" descr="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770010" y="5372257"/>
              <a:ext cx="320277" cy="232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8" name="Picture 159" descr="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175143" y="5372257"/>
              <a:ext cx="320277" cy="232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9" name="Picture 159" descr="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580276" y="5372257"/>
              <a:ext cx="320277" cy="232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30" name="꺾인 연결선 16"/>
            <p:cNvCxnSpPr>
              <a:stCxn id="371" idx="2"/>
              <a:endCxn id="326" idx="0"/>
            </p:cNvCxnSpPr>
            <p:nvPr/>
          </p:nvCxnSpPr>
          <p:spPr bwMode="auto">
            <a:xfrm rot="5400000">
              <a:off x="1793074" y="4802816"/>
              <a:ext cx="301383" cy="837498"/>
            </a:xfrm>
            <a:prstGeom prst="bentConnector3">
              <a:avLst>
                <a:gd name="adj1" fmla="val 50000"/>
              </a:avLst>
            </a:prstGeom>
            <a:noFill/>
            <a:ln w="635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31" name="그룹 330"/>
            <p:cNvGrpSpPr/>
            <p:nvPr/>
          </p:nvGrpSpPr>
          <p:grpSpPr>
            <a:xfrm>
              <a:off x="1232490" y="4259877"/>
              <a:ext cx="5362544" cy="812743"/>
              <a:chOff x="1232490" y="4259877"/>
              <a:chExt cx="5362544" cy="812743"/>
            </a:xfrm>
          </p:grpSpPr>
          <p:grpSp>
            <p:nvGrpSpPr>
              <p:cNvPr id="339" name="그룹 338"/>
              <p:cNvGrpSpPr/>
              <p:nvPr/>
            </p:nvGrpSpPr>
            <p:grpSpPr>
              <a:xfrm>
                <a:off x="1232490" y="4502380"/>
                <a:ext cx="3606159" cy="570240"/>
                <a:chOff x="1232490" y="4502380"/>
                <a:chExt cx="3606159" cy="570240"/>
              </a:xfrm>
            </p:grpSpPr>
            <p:grpSp>
              <p:nvGrpSpPr>
                <p:cNvPr id="364" name="그룹 363"/>
                <p:cNvGrpSpPr/>
                <p:nvPr/>
              </p:nvGrpSpPr>
              <p:grpSpPr>
                <a:xfrm>
                  <a:off x="4212617" y="4502380"/>
                  <a:ext cx="626032" cy="570240"/>
                  <a:chOff x="10447949" y="3406629"/>
                  <a:chExt cx="626032" cy="570240"/>
                </a:xfrm>
              </p:grpSpPr>
              <p:sp>
                <p:nvSpPr>
                  <p:cNvPr id="377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10479412" y="3406629"/>
                    <a:ext cx="564090" cy="570240"/>
                  </a:xfrm>
                  <a:prstGeom prst="roundRect">
                    <a:avLst>
                      <a:gd name="adj" fmla="val 3463"/>
                    </a:avLst>
                  </a:prstGeom>
                  <a:solidFill>
                    <a:schemeClr val="bg1"/>
                  </a:solidFill>
                  <a:ln w="9525">
                    <a:solidFill>
                      <a:srgbClr val="97D9F7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0" tIns="0" rIns="0" bIns="0" anchor="ctr" anchorCtr="0"/>
                  <a:lstStyle/>
                  <a:p>
                    <a:endParaRPr lang="ko-KR" altLang="en-US">
                      <a:ln>
                        <a:solidFill>
                          <a:schemeClr val="bg1">
                            <a:lumMod val="65000"/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pic>
                <p:nvPicPr>
                  <p:cNvPr id="378" name="Picture 276" descr="MCj04289710000[1]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646877" y="3462271"/>
                    <a:ext cx="223759" cy="27528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79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447949" y="3767070"/>
                    <a:ext cx="626032" cy="9780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t">
                    <a:noAutofit/>
                  </a:bodyPr>
                  <a:lstStyle>
                    <a:defPPr>
                      <a:defRPr lang="ko-KR"/>
                    </a:defPPr>
                    <a:lvl1pPr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1pPr>
                    <a:lvl2pPr marL="509504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2pPr>
                    <a:lvl3pPr marL="1019007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3pPr>
                    <a:lvl4pPr marL="1528511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4pPr>
                    <a:lvl5pPr marL="2038015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5pPr>
                    <a:lvl6pPr marL="2547518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6pPr>
                    <a:lvl7pPr marL="3057022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7pPr>
                    <a:lvl8pPr marL="3566526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8pPr>
                    <a:lvl9pPr marL="4076029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9pPr>
                  </a:lstStyle>
                  <a:p>
                    <a:r>
                      <a:rPr lang="en-US" altLang="ko-KR" sz="800" spc="-5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DB</a:t>
                    </a:r>
                    <a:r>
                      <a:rPr lang="en-US" altLang="ko-KR" sz="800" spc="-5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/</a:t>
                    </a:r>
                    <a:r>
                      <a:rPr lang="ko-KR" altLang="en-US" sz="800" spc="-5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백업서버</a:t>
                    </a:r>
                    <a:endParaRPr lang="ko-KR" altLang="en-US" sz="800" spc="-50" dirty="0">
                      <a:ln>
                        <a:solidFill>
                          <a:schemeClr val="bg1">
                            <a:lumMod val="65000"/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  <a:sym typeface="Monotype Sorts"/>
                    </a:endParaRPr>
                  </a:p>
                </p:txBody>
              </p:sp>
            </p:grpSp>
            <p:grpSp>
              <p:nvGrpSpPr>
                <p:cNvPr id="365" name="그룹 364"/>
                <p:cNvGrpSpPr/>
                <p:nvPr/>
              </p:nvGrpSpPr>
              <p:grpSpPr>
                <a:xfrm>
                  <a:off x="3103834" y="4502380"/>
                  <a:ext cx="556534" cy="570240"/>
                  <a:chOff x="10482698" y="3406629"/>
                  <a:chExt cx="556534" cy="570240"/>
                </a:xfrm>
              </p:grpSpPr>
              <p:sp>
                <p:nvSpPr>
                  <p:cNvPr id="374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10486055" y="3406629"/>
                    <a:ext cx="550803" cy="570240"/>
                  </a:xfrm>
                  <a:prstGeom prst="roundRect">
                    <a:avLst>
                      <a:gd name="adj" fmla="val 3463"/>
                    </a:avLst>
                  </a:prstGeom>
                  <a:solidFill>
                    <a:schemeClr val="bg1"/>
                  </a:solidFill>
                  <a:ln w="9525">
                    <a:solidFill>
                      <a:srgbClr val="97D9F7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0" tIns="0" rIns="0" bIns="0" anchor="ctr" anchorCtr="0"/>
                  <a:lstStyle/>
                  <a:p>
                    <a:endParaRPr lang="ko-KR" altLang="en-US">
                      <a:ln>
                        <a:solidFill>
                          <a:schemeClr val="bg1">
                            <a:lumMod val="65000"/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pic>
                <p:nvPicPr>
                  <p:cNvPr id="375" name="Picture 276" descr="MCj04289710000[1]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646877" y="3462271"/>
                    <a:ext cx="223759" cy="27528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76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482698" y="3730164"/>
                    <a:ext cx="556534" cy="141131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t">
                    <a:noAutofit/>
                  </a:bodyPr>
                  <a:lstStyle>
                    <a:defPPr>
                      <a:defRPr lang="ko-KR"/>
                    </a:defPPr>
                    <a:lvl1pPr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1pPr>
                    <a:lvl2pPr marL="509504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2pPr>
                    <a:lvl3pPr marL="1019007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3pPr>
                    <a:lvl4pPr marL="1528511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4pPr>
                    <a:lvl5pPr marL="2038015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5pPr>
                    <a:lvl6pPr marL="2547518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6pPr>
                    <a:lvl7pPr marL="3057022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7pPr>
                    <a:lvl8pPr marL="3566526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8pPr>
                    <a:lvl9pPr marL="4076029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9pPr>
                  </a:lstStyle>
                  <a:p>
                    <a:r>
                      <a:rPr lang="ko-KR" altLang="en-US" sz="800" spc="-5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분석서버</a:t>
                    </a:r>
                  </a:p>
                </p:txBody>
              </p:sp>
            </p:grpSp>
            <p:grpSp>
              <p:nvGrpSpPr>
                <p:cNvPr id="366" name="그룹 365"/>
                <p:cNvGrpSpPr/>
                <p:nvPr/>
              </p:nvGrpSpPr>
              <p:grpSpPr>
                <a:xfrm>
                  <a:off x="2096586" y="4502460"/>
                  <a:ext cx="531855" cy="568414"/>
                  <a:chOff x="3144263" y="8812461"/>
                  <a:chExt cx="463262" cy="495107"/>
                </a:xfrm>
              </p:grpSpPr>
              <p:sp>
                <p:nvSpPr>
                  <p:cNvPr id="371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144263" y="8812461"/>
                    <a:ext cx="463262" cy="495107"/>
                  </a:xfrm>
                  <a:prstGeom prst="roundRect">
                    <a:avLst>
                      <a:gd name="adj" fmla="val 3463"/>
                    </a:avLst>
                  </a:prstGeom>
                  <a:solidFill>
                    <a:schemeClr val="bg1"/>
                  </a:solidFill>
                  <a:ln w="9525">
                    <a:solidFill>
                      <a:srgbClr val="97D9F7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0" tIns="0" rIns="0" bIns="0" anchor="ctr" anchorCtr="0"/>
                  <a:lstStyle/>
                  <a:p>
                    <a:pPr lvl="1"/>
                    <a:endParaRPr lang="ko-KR" altLang="en-US">
                      <a:ln>
                        <a:solidFill>
                          <a:schemeClr val="bg1">
                            <a:lumMod val="65000"/>
                            <a:alpha val="0"/>
                          </a:schemeClr>
                        </a:solidFill>
                      </a:ln>
                      <a:sym typeface="Monotype Sorts"/>
                    </a:endParaRPr>
                  </a:p>
                </p:txBody>
              </p:sp>
              <p:sp>
                <p:nvSpPr>
                  <p:cNvPr id="372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76127" y="9112797"/>
                    <a:ext cx="396019" cy="1593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ctr" anchorCtr="1">
                    <a:noAutofit/>
                  </a:bodyPr>
                  <a:lstStyle>
                    <a:defPPr>
                      <a:defRPr lang="ko-KR"/>
                    </a:defPPr>
                    <a:lvl1pPr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1pPr>
                    <a:lvl2pPr marL="509504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2pPr>
                    <a:lvl3pPr marL="1019007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3pPr>
                    <a:lvl4pPr marL="1528511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4pPr>
                    <a:lvl5pPr marL="2038015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5pPr>
                    <a:lvl6pPr marL="2547518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6pPr>
                    <a:lvl7pPr marL="3057022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7pPr>
                    <a:lvl8pPr marL="3566526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8pPr>
                    <a:lvl9pPr marL="4076029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9pPr>
                  </a:lstStyle>
                  <a:p>
                    <a:r>
                      <a:rPr lang="ko-KR" altLang="en-US" sz="800" spc="-5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공유기</a:t>
                    </a:r>
                  </a:p>
                </p:txBody>
              </p:sp>
              <p:pic>
                <p:nvPicPr>
                  <p:cNvPr id="373" name="Picture 51" descr="하드웨어_44"/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277782" y="8853204"/>
                    <a:ext cx="201519" cy="2727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67" name="그룹 366"/>
                <p:cNvGrpSpPr/>
                <p:nvPr/>
              </p:nvGrpSpPr>
              <p:grpSpPr>
                <a:xfrm>
                  <a:off x="1232490" y="4502458"/>
                  <a:ext cx="531855" cy="568415"/>
                  <a:chOff x="3144263" y="8812460"/>
                  <a:chExt cx="463262" cy="495108"/>
                </a:xfrm>
              </p:grpSpPr>
              <p:sp>
                <p:nvSpPr>
                  <p:cNvPr id="369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144263" y="8812460"/>
                    <a:ext cx="463262" cy="495108"/>
                  </a:xfrm>
                  <a:prstGeom prst="roundRect">
                    <a:avLst>
                      <a:gd name="adj" fmla="val 3463"/>
                    </a:avLst>
                  </a:prstGeom>
                  <a:solidFill>
                    <a:schemeClr val="bg1"/>
                  </a:solidFill>
                  <a:ln w="9525">
                    <a:solidFill>
                      <a:srgbClr val="97D9F7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0" tIns="0" rIns="0" bIns="0" anchor="ctr" anchorCtr="0"/>
                  <a:lstStyle/>
                  <a:p>
                    <a:pPr lvl="1"/>
                    <a:endParaRPr lang="ko-KR" altLang="en-US">
                      <a:ln>
                        <a:solidFill>
                          <a:schemeClr val="bg1">
                            <a:lumMod val="65000"/>
                            <a:alpha val="0"/>
                          </a:schemeClr>
                        </a:solidFill>
                      </a:ln>
                      <a:sym typeface="Monotype Sorts"/>
                    </a:endParaRPr>
                  </a:p>
                </p:txBody>
              </p:sp>
              <p:sp>
                <p:nvSpPr>
                  <p:cNvPr id="370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76127" y="9067396"/>
                    <a:ext cx="396019" cy="1593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ctr" anchorCtr="1">
                    <a:noAutofit/>
                  </a:bodyPr>
                  <a:lstStyle>
                    <a:defPPr>
                      <a:defRPr lang="ko-KR"/>
                    </a:defPPr>
                    <a:lvl1pPr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1pPr>
                    <a:lvl2pPr marL="509504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2pPr>
                    <a:lvl3pPr marL="1019007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3pPr>
                    <a:lvl4pPr marL="1528511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4pPr>
                    <a:lvl5pPr marL="2038015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5pPr>
                    <a:lvl6pPr marL="2547518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6pPr>
                    <a:lvl7pPr marL="3057022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7pPr>
                    <a:lvl8pPr marL="3566526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8pPr>
                    <a:lvl9pPr marL="4076029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9pPr>
                  </a:lstStyle>
                  <a:p>
                    <a:r>
                      <a:rPr lang="ko-KR" altLang="en-US" sz="800" spc="-5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분석처리</a:t>
                    </a:r>
                  </a:p>
                  <a:p>
                    <a:r>
                      <a:rPr lang="ko-KR" altLang="en-US" sz="800" spc="-5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프린터</a:t>
                    </a:r>
                  </a:p>
                </p:txBody>
              </p:sp>
            </p:grpSp>
            <p:pic>
              <p:nvPicPr>
                <p:cNvPr id="368" name="Picture 4" descr="C:\Program Files\Microsoft Resource DVD Artwork\DVD_ART\Artwork_Imagery\HARDWARE_IMAGERY\Illustration - Misc Hardware\Windows Vista Illustration Icons\Fax Scan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1359874" y="4513061"/>
                  <a:ext cx="261734" cy="2200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340" name="그룹 339"/>
              <p:cNvGrpSpPr/>
              <p:nvPr/>
            </p:nvGrpSpPr>
            <p:grpSpPr>
              <a:xfrm>
                <a:off x="4915361" y="4259877"/>
                <a:ext cx="531855" cy="810997"/>
                <a:chOff x="4915361" y="4259877"/>
                <a:chExt cx="531855" cy="810997"/>
              </a:xfrm>
            </p:grpSpPr>
            <p:cxnSp>
              <p:nvCxnSpPr>
                <p:cNvPr id="357" name="꺾인 연결선 67"/>
                <p:cNvCxnSpPr/>
                <p:nvPr/>
              </p:nvCxnSpPr>
              <p:spPr bwMode="auto">
                <a:xfrm>
                  <a:off x="5181288" y="4259877"/>
                  <a:ext cx="0" cy="283767"/>
                </a:xfrm>
                <a:prstGeom prst="straightConnector1">
                  <a:avLst/>
                </a:prstGeom>
                <a:noFill/>
                <a:ln w="6350" algn="ctr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grpSp>
              <p:nvGrpSpPr>
                <p:cNvPr id="358" name="그룹 357"/>
                <p:cNvGrpSpPr/>
                <p:nvPr/>
              </p:nvGrpSpPr>
              <p:grpSpPr>
                <a:xfrm>
                  <a:off x="4915361" y="4502460"/>
                  <a:ext cx="531855" cy="568414"/>
                  <a:chOff x="3144263" y="8812461"/>
                  <a:chExt cx="463262" cy="495107"/>
                </a:xfrm>
              </p:grpSpPr>
              <p:sp>
                <p:nvSpPr>
                  <p:cNvPr id="362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144263" y="8812461"/>
                    <a:ext cx="463262" cy="495107"/>
                  </a:xfrm>
                  <a:prstGeom prst="roundRect">
                    <a:avLst>
                      <a:gd name="adj" fmla="val 3463"/>
                    </a:avLst>
                  </a:prstGeom>
                  <a:solidFill>
                    <a:schemeClr val="bg1"/>
                  </a:solidFill>
                  <a:ln w="9525">
                    <a:solidFill>
                      <a:srgbClr val="97D9F7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0" tIns="0" rIns="0" bIns="0" anchor="ctr" anchorCtr="0"/>
                  <a:lstStyle/>
                  <a:p>
                    <a:pPr lvl="1"/>
                    <a:endParaRPr lang="ko-KR" altLang="en-US">
                      <a:ln>
                        <a:solidFill>
                          <a:schemeClr val="bg1">
                            <a:lumMod val="65000"/>
                            <a:alpha val="0"/>
                          </a:schemeClr>
                        </a:solidFill>
                      </a:ln>
                      <a:sym typeface="Monotype Sorts"/>
                    </a:endParaRPr>
                  </a:p>
                </p:txBody>
              </p:sp>
              <p:sp>
                <p:nvSpPr>
                  <p:cNvPr id="363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76127" y="9112797"/>
                    <a:ext cx="396019" cy="1593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ctr" anchorCtr="1">
                    <a:noAutofit/>
                  </a:bodyPr>
                  <a:lstStyle>
                    <a:defPPr>
                      <a:defRPr lang="ko-KR"/>
                    </a:defPPr>
                    <a:lvl1pPr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1pPr>
                    <a:lvl2pPr marL="509504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2pPr>
                    <a:lvl3pPr marL="1019007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3pPr>
                    <a:lvl4pPr marL="1528511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4pPr>
                    <a:lvl5pPr marL="2038015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5pPr>
                    <a:lvl6pPr marL="2547518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6pPr>
                    <a:lvl7pPr marL="3057022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7pPr>
                    <a:lvl8pPr marL="3566526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8pPr>
                    <a:lvl9pPr marL="4076029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9pPr>
                  </a:lstStyle>
                  <a:p>
                    <a:r>
                      <a:rPr lang="en-US" altLang="ko-KR" sz="800" spc="-5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PC </a:t>
                    </a:r>
                    <a:r>
                      <a:rPr lang="ko-KR" altLang="en-US" sz="800" spc="-5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보안</a:t>
                    </a:r>
                  </a:p>
                </p:txBody>
              </p:sp>
            </p:grpSp>
            <p:grpSp>
              <p:nvGrpSpPr>
                <p:cNvPr id="359" name="그룹 358"/>
                <p:cNvGrpSpPr/>
                <p:nvPr/>
              </p:nvGrpSpPr>
              <p:grpSpPr>
                <a:xfrm>
                  <a:off x="5027920" y="4557672"/>
                  <a:ext cx="306737" cy="296241"/>
                  <a:chOff x="6444865" y="4664379"/>
                  <a:chExt cx="306737" cy="296241"/>
                </a:xfrm>
              </p:grpSpPr>
              <p:pic>
                <p:nvPicPr>
                  <p:cNvPr id="360" name="Picture 276" descr="MCj04289710000[1]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grayscl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444865" y="4664379"/>
                    <a:ext cx="222148" cy="27528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61" name="Picture 5"/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grayscl/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582423" y="4767115"/>
                    <a:ext cx="169179" cy="19350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  <p:grpSp>
            <p:nvGrpSpPr>
              <p:cNvPr id="341" name="그룹 340"/>
              <p:cNvGrpSpPr/>
              <p:nvPr/>
            </p:nvGrpSpPr>
            <p:grpSpPr>
              <a:xfrm>
                <a:off x="5491288" y="4259877"/>
                <a:ext cx="541960" cy="810994"/>
                <a:chOff x="4915359" y="4259877"/>
                <a:chExt cx="541960" cy="810994"/>
              </a:xfrm>
            </p:grpSpPr>
            <p:cxnSp>
              <p:nvCxnSpPr>
                <p:cNvPr id="350" name="꺾인 연결선 67"/>
                <p:cNvCxnSpPr/>
                <p:nvPr/>
              </p:nvCxnSpPr>
              <p:spPr bwMode="auto">
                <a:xfrm>
                  <a:off x="5181288" y="4259877"/>
                  <a:ext cx="0" cy="283767"/>
                </a:xfrm>
                <a:prstGeom prst="straightConnector1">
                  <a:avLst/>
                </a:prstGeom>
                <a:noFill/>
                <a:ln w="6350" algn="ctr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grpSp>
              <p:nvGrpSpPr>
                <p:cNvPr id="351" name="그룹 350"/>
                <p:cNvGrpSpPr/>
                <p:nvPr/>
              </p:nvGrpSpPr>
              <p:grpSpPr>
                <a:xfrm>
                  <a:off x="4915359" y="4502456"/>
                  <a:ext cx="541960" cy="568415"/>
                  <a:chOff x="3144263" y="8812460"/>
                  <a:chExt cx="472064" cy="495108"/>
                </a:xfrm>
              </p:grpSpPr>
              <p:sp>
                <p:nvSpPr>
                  <p:cNvPr id="355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144263" y="8812460"/>
                    <a:ext cx="463262" cy="495108"/>
                  </a:xfrm>
                  <a:prstGeom prst="roundRect">
                    <a:avLst>
                      <a:gd name="adj" fmla="val 3463"/>
                    </a:avLst>
                  </a:prstGeom>
                  <a:solidFill>
                    <a:schemeClr val="bg1"/>
                  </a:solidFill>
                  <a:ln w="9525">
                    <a:solidFill>
                      <a:srgbClr val="97D9F7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0" tIns="0" rIns="0" bIns="0" anchor="ctr" anchorCtr="0"/>
                  <a:lstStyle/>
                  <a:p>
                    <a:pPr lvl="1"/>
                    <a:endParaRPr lang="ko-KR" altLang="en-US">
                      <a:ln>
                        <a:solidFill>
                          <a:schemeClr val="bg1">
                            <a:lumMod val="65000"/>
                            <a:alpha val="0"/>
                          </a:schemeClr>
                        </a:solidFill>
                      </a:ln>
                      <a:sym typeface="Monotype Sorts"/>
                    </a:endParaRPr>
                  </a:p>
                </p:txBody>
              </p:sp>
              <p:sp>
                <p:nvSpPr>
                  <p:cNvPr id="356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45221" y="9120323"/>
                    <a:ext cx="471106" cy="14430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ctr" anchorCtr="1">
                    <a:noAutofit/>
                  </a:bodyPr>
                  <a:lstStyle>
                    <a:defPPr>
                      <a:defRPr lang="ko-KR"/>
                    </a:defPPr>
                    <a:lvl1pPr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1pPr>
                    <a:lvl2pPr marL="509504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2pPr>
                    <a:lvl3pPr marL="1019007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3pPr>
                    <a:lvl4pPr marL="1528511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4pPr>
                    <a:lvl5pPr marL="2038015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5pPr>
                    <a:lvl6pPr marL="2547518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6pPr>
                    <a:lvl7pPr marL="3057022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7pPr>
                    <a:lvl8pPr marL="3566526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8pPr>
                    <a:lvl9pPr marL="4076029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9pPr>
                  </a:lstStyle>
                  <a:p>
                    <a:pPr latinLnBrk="0">
                      <a:lnSpc>
                        <a:spcPts val="800"/>
                      </a:lnSpc>
                    </a:pPr>
                    <a:r>
                      <a:rPr lang="en-US" altLang="ko-KR" sz="800" spc="-7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DB </a:t>
                    </a:r>
                    <a:r>
                      <a:rPr lang="ko-KR" altLang="en-US" sz="800" spc="-7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접근제어</a:t>
                    </a:r>
                  </a:p>
                  <a:p>
                    <a:pPr latinLnBrk="0">
                      <a:lnSpc>
                        <a:spcPts val="800"/>
                      </a:lnSpc>
                    </a:pPr>
                    <a:r>
                      <a:rPr lang="ko-KR" altLang="en-US" sz="800" spc="-7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게이트웨이</a:t>
                    </a:r>
                  </a:p>
                </p:txBody>
              </p:sp>
            </p:grpSp>
            <p:grpSp>
              <p:nvGrpSpPr>
                <p:cNvPr id="352" name="그룹 351"/>
                <p:cNvGrpSpPr/>
                <p:nvPr/>
              </p:nvGrpSpPr>
              <p:grpSpPr>
                <a:xfrm>
                  <a:off x="5027920" y="4557672"/>
                  <a:ext cx="306737" cy="296241"/>
                  <a:chOff x="6444865" y="4664379"/>
                  <a:chExt cx="306737" cy="296241"/>
                </a:xfrm>
              </p:grpSpPr>
              <p:pic>
                <p:nvPicPr>
                  <p:cNvPr id="353" name="Picture 276" descr="MCj04289710000[1]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grayscl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444865" y="4664379"/>
                    <a:ext cx="222148" cy="27528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54" name="Picture 5"/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grayscl/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582423" y="4767115"/>
                    <a:ext cx="169179" cy="19350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  <p:grpSp>
            <p:nvGrpSpPr>
              <p:cNvPr id="342" name="그룹 341"/>
              <p:cNvGrpSpPr/>
              <p:nvPr/>
            </p:nvGrpSpPr>
            <p:grpSpPr>
              <a:xfrm>
                <a:off x="6063179" y="4259877"/>
                <a:ext cx="531855" cy="810997"/>
                <a:chOff x="4915361" y="4259877"/>
                <a:chExt cx="531855" cy="810997"/>
              </a:xfrm>
            </p:grpSpPr>
            <p:cxnSp>
              <p:nvCxnSpPr>
                <p:cNvPr id="343" name="꺾인 연결선 67"/>
                <p:cNvCxnSpPr/>
                <p:nvPr/>
              </p:nvCxnSpPr>
              <p:spPr bwMode="auto">
                <a:xfrm>
                  <a:off x="5181288" y="4259877"/>
                  <a:ext cx="0" cy="283767"/>
                </a:xfrm>
                <a:prstGeom prst="straightConnector1">
                  <a:avLst/>
                </a:prstGeom>
                <a:noFill/>
                <a:ln w="6350" algn="ctr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grpSp>
              <p:nvGrpSpPr>
                <p:cNvPr id="344" name="그룹 343"/>
                <p:cNvGrpSpPr/>
                <p:nvPr/>
              </p:nvGrpSpPr>
              <p:grpSpPr>
                <a:xfrm>
                  <a:off x="4915361" y="4502460"/>
                  <a:ext cx="531855" cy="568414"/>
                  <a:chOff x="3144263" y="8812461"/>
                  <a:chExt cx="463262" cy="495107"/>
                </a:xfrm>
              </p:grpSpPr>
              <p:sp>
                <p:nvSpPr>
                  <p:cNvPr id="348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144263" y="8812461"/>
                    <a:ext cx="463262" cy="495107"/>
                  </a:xfrm>
                  <a:prstGeom prst="roundRect">
                    <a:avLst>
                      <a:gd name="adj" fmla="val 3463"/>
                    </a:avLst>
                  </a:prstGeom>
                  <a:solidFill>
                    <a:schemeClr val="bg1"/>
                  </a:solidFill>
                  <a:ln w="9525">
                    <a:solidFill>
                      <a:srgbClr val="97D9F7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0" tIns="0" rIns="0" bIns="0" anchor="ctr" anchorCtr="0"/>
                  <a:lstStyle/>
                  <a:p>
                    <a:pPr lvl="1"/>
                    <a:endParaRPr lang="ko-KR" altLang="en-US">
                      <a:ln>
                        <a:solidFill>
                          <a:schemeClr val="bg1">
                            <a:lumMod val="65000"/>
                            <a:alpha val="0"/>
                          </a:schemeClr>
                        </a:solidFill>
                      </a:ln>
                      <a:sym typeface="Monotype Sorts"/>
                    </a:endParaRPr>
                  </a:p>
                </p:txBody>
              </p:sp>
              <p:sp>
                <p:nvSpPr>
                  <p:cNvPr id="349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76127" y="9112797"/>
                    <a:ext cx="396019" cy="1593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ctr" anchorCtr="1">
                    <a:noAutofit/>
                  </a:bodyPr>
                  <a:lstStyle>
                    <a:defPPr>
                      <a:defRPr lang="ko-KR"/>
                    </a:defPPr>
                    <a:lvl1pPr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1pPr>
                    <a:lvl2pPr marL="509504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2pPr>
                    <a:lvl3pPr marL="1019007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3pPr>
                    <a:lvl4pPr marL="1528511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4pPr>
                    <a:lvl5pPr marL="2038015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5pPr>
                    <a:lvl6pPr marL="2547518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6pPr>
                    <a:lvl7pPr marL="3057022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7pPr>
                    <a:lvl8pPr marL="3566526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8pPr>
                    <a:lvl9pPr marL="4076029" algn="l" defTabSz="1019007" rtl="0" eaLnBrk="1" latinLnBrk="1" hangingPunct="1">
                      <a:defRPr kumimoji="1" sz="1114" kern="1200">
                        <a:solidFill>
                          <a:srgbClr val="000000"/>
                        </a:solidFill>
                        <a:latin typeface="KoPub돋움체 Medium" panose="02020603020101020101" pitchFamily="18" charset="-127"/>
                        <a:ea typeface="굴림" panose="020B0600000101010101" pitchFamily="50" charset="-127"/>
                        <a:cs typeface="+mn-cs"/>
                      </a:defRPr>
                    </a:lvl9pPr>
                  </a:lstStyle>
                  <a:p>
                    <a:pPr latinLnBrk="0">
                      <a:lnSpc>
                        <a:spcPts val="800"/>
                      </a:lnSpc>
                    </a:pPr>
                    <a:r>
                      <a:rPr lang="ko-KR" altLang="en-US" sz="800" spc="-7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sym typeface="Monotype Sorts"/>
                      </a:rPr>
                      <a:t>서버 접근제어</a:t>
                    </a:r>
                  </a:p>
                </p:txBody>
              </p:sp>
            </p:grpSp>
            <p:grpSp>
              <p:nvGrpSpPr>
                <p:cNvPr id="345" name="그룹 344"/>
                <p:cNvGrpSpPr/>
                <p:nvPr/>
              </p:nvGrpSpPr>
              <p:grpSpPr>
                <a:xfrm>
                  <a:off x="5027920" y="4557672"/>
                  <a:ext cx="306737" cy="296241"/>
                  <a:chOff x="6444865" y="4664379"/>
                  <a:chExt cx="306737" cy="296241"/>
                </a:xfrm>
              </p:grpSpPr>
              <p:pic>
                <p:nvPicPr>
                  <p:cNvPr id="346" name="Picture 276" descr="MCj04289710000[1]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grayscl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444865" y="4664379"/>
                    <a:ext cx="222148" cy="27528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47" name="Picture 5"/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grayscl/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582423" y="4767115"/>
                    <a:ext cx="169179" cy="19350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</p:grpSp>
        </p:grpSp>
        <p:sp>
          <p:nvSpPr>
            <p:cNvPr id="332" name="타원 331"/>
            <p:cNvSpPr/>
            <p:nvPr/>
          </p:nvSpPr>
          <p:spPr>
            <a:xfrm>
              <a:off x="6431280" y="5455920"/>
              <a:ext cx="655320" cy="65532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A2B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3" name="TextBox 107"/>
            <p:cNvSpPr txBox="1">
              <a:spLocks noChangeArrowheads="1"/>
            </p:cNvSpPr>
            <p:nvPr/>
          </p:nvSpPr>
          <p:spPr bwMode="auto">
            <a:xfrm>
              <a:off x="6579792" y="5956814"/>
              <a:ext cx="358184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900" kern="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UPS</a:t>
              </a:r>
              <a:endParaRPr lang="ko-KR" altLang="en-US" sz="900" kern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endParaRPr>
            </a:p>
          </p:txBody>
        </p:sp>
        <p:graphicFrame>
          <p:nvGraphicFramePr>
            <p:cNvPr id="334" name="개체 3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2742874"/>
                </p:ext>
              </p:extLst>
            </p:nvPr>
          </p:nvGraphicFramePr>
          <p:xfrm>
            <a:off x="6606265" y="5486384"/>
            <a:ext cx="289836" cy="4799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사진" r:id="rId11" imgW="2171888" imgH="4717189" progId="MSPhotoEd.3">
                    <p:embed/>
                  </p:oleObj>
                </mc:Choice>
                <mc:Fallback>
                  <p:oleObj name="Photo Editor 사진" r:id="rId11" imgW="2171888" imgH="4717189" progId="MSPhotoEd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6265" y="5486384"/>
                          <a:ext cx="289836" cy="4799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35" name="Picture 56" descr="하드웨어_49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5474" y="5268759"/>
              <a:ext cx="279826" cy="2174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6" name="Picture 56" descr="하드웨어_49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5006" y="5268759"/>
              <a:ext cx="279826" cy="2174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7" name="TextBox 107"/>
            <p:cNvSpPr txBox="1">
              <a:spLocks noChangeArrowheads="1"/>
            </p:cNvSpPr>
            <p:nvPr/>
          </p:nvSpPr>
          <p:spPr bwMode="auto">
            <a:xfrm>
              <a:off x="3013602" y="5215940"/>
              <a:ext cx="648758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b="0" kern="0" spc="-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SAN </a:t>
              </a:r>
              <a:r>
                <a:rPr lang="ko-KR" altLang="en-US" sz="700" b="0" kern="0" spc="-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스위치 </a:t>
              </a:r>
              <a:r>
                <a:rPr lang="en-US" altLang="ko-KR" sz="700" b="0" kern="0" spc="-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#1</a:t>
              </a:r>
              <a:endParaRPr lang="ko-KR" altLang="en-US" sz="700" b="0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endParaRPr>
            </a:p>
          </p:txBody>
        </p:sp>
        <p:sp>
          <p:nvSpPr>
            <p:cNvPr id="338" name="TextBox 107"/>
            <p:cNvSpPr txBox="1">
              <a:spLocks noChangeArrowheads="1"/>
            </p:cNvSpPr>
            <p:nvPr/>
          </p:nvSpPr>
          <p:spPr bwMode="auto">
            <a:xfrm>
              <a:off x="4257526" y="5215940"/>
              <a:ext cx="61535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839694"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b="0" kern="0" spc="-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SAN </a:t>
              </a:r>
              <a:r>
                <a:rPr lang="ko-KR" altLang="en-US" sz="700" b="0" kern="0" spc="-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스위치</a:t>
              </a:r>
              <a:r>
                <a:rPr lang="en-US" altLang="ko-KR" sz="700" b="0" kern="0" spc="-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pitchFamily="34" charset="0"/>
                </a:rPr>
                <a:t> #2</a:t>
              </a:r>
              <a:endParaRPr lang="ko-KR" altLang="en-US" sz="700" b="0" kern="0" spc="-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endParaRPr>
            </a:p>
          </p:txBody>
        </p:sp>
      </p:grpSp>
      <p:grpSp>
        <p:nvGrpSpPr>
          <p:cNvPr id="382" name="그룹 381"/>
          <p:cNvGrpSpPr/>
          <p:nvPr/>
        </p:nvGrpSpPr>
        <p:grpSpPr>
          <a:xfrm>
            <a:off x="761851" y="2584381"/>
            <a:ext cx="6330269" cy="169302"/>
            <a:chOff x="761696" y="5435378"/>
            <a:chExt cx="6328976" cy="169277"/>
          </a:xfrm>
        </p:grpSpPr>
        <p:sp>
          <p:nvSpPr>
            <p:cNvPr id="383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체계 </a:t>
              </a:r>
              <a:r>
                <a:rPr lang="en-US" altLang="ko-KR" sz="1100" b="1" spc="-50" dirty="0">
                  <a:ln w="0"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HW/NW </a:t>
              </a:r>
              <a:r>
                <a:rPr lang="ko-KR" altLang="en-US" sz="1100" b="1" spc="-50" dirty="0">
                  <a:ln w="0"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물리적 구성</a:t>
              </a:r>
            </a:p>
          </p:txBody>
        </p:sp>
        <p:grpSp>
          <p:nvGrpSpPr>
            <p:cNvPr id="384" name="그룹 383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385" name="타원 384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386" name="Picture 132" descr="ㅇ"/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2" name="직사각형 1"/>
          <p:cNvSpPr/>
          <p:nvPr/>
        </p:nvSpPr>
        <p:spPr>
          <a:xfrm>
            <a:off x="766834" y="5778686"/>
            <a:ext cx="2095037" cy="432048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2902309" y="5778686"/>
            <a:ext cx="2594241" cy="432048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5530601" y="5778686"/>
            <a:ext cx="1310308" cy="432048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832955" y="5842320"/>
            <a:ext cx="1962794" cy="836466"/>
          </a:xfrm>
          <a:prstGeom prst="roundRect">
            <a:avLst>
              <a:gd name="adj" fmla="val 8352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77373" y="5828748"/>
            <a:ext cx="873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시스템관리</a:t>
            </a: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5581268" y="5898948"/>
            <a:ext cx="1187633" cy="1751946"/>
          </a:xfrm>
          <a:prstGeom prst="roundRect">
            <a:avLst>
              <a:gd name="adj" fmla="val 8352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832955" y="6719106"/>
            <a:ext cx="1962794" cy="2129076"/>
          </a:xfrm>
          <a:prstGeom prst="roundRect">
            <a:avLst>
              <a:gd name="adj" fmla="val 5246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832955" y="8907780"/>
            <a:ext cx="1962794" cy="1119378"/>
          </a:xfrm>
          <a:prstGeom prst="roundRect">
            <a:avLst>
              <a:gd name="adj" fmla="val 8352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2970039" y="5922702"/>
            <a:ext cx="2441922" cy="1512168"/>
          </a:xfrm>
          <a:prstGeom prst="roundRect">
            <a:avLst>
              <a:gd name="adj" fmla="val 8352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2977597" y="7542881"/>
            <a:ext cx="1200511" cy="1296145"/>
          </a:xfrm>
          <a:prstGeom prst="roundRect">
            <a:avLst>
              <a:gd name="adj" fmla="val 8352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4254309" y="7542882"/>
            <a:ext cx="1157651" cy="1584176"/>
          </a:xfrm>
          <a:prstGeom prst="roundRect">
            <a:avLst>
              <a:gd name="adj" fmla="val 8352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/>
          <p:cNvSpPr txBox="1"/>
          <p:nvPr/>
        </p:nvSpPr>
        <p:spPr>
          <a:xfrm>
            <a:off x="1497597" y="6693075"/>
            <a:ext cx="6335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DB</a:t>
            </a:r>
            <a:r>
              <a:rPr lang="ko-KR" altLang="en-US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관리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46302" y="8882650"/>
            <a:ext cx="7360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운용통제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40873" y="7542882"/>
            <a:ext cx="8739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시스템관리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65084" y="7542882"/>
            <a:ext cx="7360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모의엔진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1910" y="5938935"/>
            <a:ext cx="7360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운용통제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2977598" y="9231087"/>
            <a:ext cx="2441922" cy="796072"/>
          </a:xfrm>
          <a:prstGeom prst="roundRect">
            <a:avLst>
              <a:gd name="adj" fmla="val 8352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3878057" y="9232780"/>
            <a:ext cx="6335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DB</a:t>
            </a:r>
            <a:r>
              <a:rPr lang="ko-KR" altLang="en-US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관리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17705" y="5898948"/>
            <a:ext cx="7360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00CCFF"/>
                </a:solidFill>
                <a:latin typeface="HY헤드라인M" pitchFamily="18" charset="-127"/>
                <a:ea typeface="HY헤드라인M" pitchFamily="18" charset="-127"/>
              </a:rPr>
              <a:t>사후분석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5617573" y="6174454"/>
            <a:ext cx="1114315" cy="1404432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/>
          <p:cNvSpPr txBox="1"/>
          <p:nvPr/>
        </p:nvSpPr>
        <p:spPr>
          <a:xfrm>
            <a:off x="5798218" y="6179080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>
                <a:latin typeface="HY헤드라인M" pitchFamily="18" charset="-127"/>
                <a:ea typeface="HY헤드라인M" pitchFamily="18" charset="-127"/>
              </a:rPr>
              <a:t>사후분석기</a:t>
            </a:r>
            <a:endParaRPr lang="ko-KR" altLang="en-US" sz="900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54169" y="6400336"/>
            <a:ext cx="1031523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5654169" y="6686855"/>
            <a:ext cx="1031523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5654169" y="6973374"/>
            <a:ext cx="1031523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5654169" y="7259893"/>
            <a:ext cx="1031523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3002013" y="6179080"/>
            <a:ext cx="904799" cy="859746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/>
          <p:cNvSpPr txBox="1"/>
          <p:nvPr/>
        </p:nvSpPr>
        <p:spPr>
          <a:xfrm>
            <a:off x="3134452" y="6184966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모의통제</a:t>
            </a: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3035668" y="6432587"/>
            <a:ext cx="824147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3035668" y="6719106"/>
            <a:ext cx="824147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0" name="모서리가 둥근 직사각형 129"/>
          <p:cNvSpPr/>
          <p:nvPr/>
        </p:nvSpPr>
        <p:spPr>
          <a:xfrm>
            <a:off x="3941918" y="6174454"/>
            <a:ext cx="1432531" cy="1152404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TextBox 130"/>
          <p:cNvSpPr txBox="1"/>
          <p:nvPr/>
        </p:nvSpPr>
        <p:spPr>
          <a:xfrm>
            <a:off x="4167506" y="6174454"/>
            <a:ext cx="9813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전장상황가시화</a:t>
            </a:r>
          </a:p>
        </p:txBody>
      </p:sp>
      <p:sp>
        <p:nvSpPr>
          <p:cNvPr id="132" name="모서리가 둥근 직사각형 131"/>
          <p:cNvSpPr/>
          <p:nvPr/>
        </p:nvSpPr>
        <p:spPr>
          <a:xfrm>
            <a:off x="3979707" y="6432587"/>
            <a:ext cx="648072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3979707" y="6719106"/>
            <a:ext cx="648072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4" name="모서리가 둥근 직사각형 133"/>
          <p:cNvSpPr/>
          <p:nvPr/>
        </p:nvSpPr>
        <p:spPr>
          <a:xfrm>
            <a:off x="4658185" y="6432587"/>
            <a:ext cx="682979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4658185" y="6719106"/>
            <a:ext cx="682979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3973378" y="7007004"/>
            <a:ext cx="1367785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3027750" y="7799877"/>
            <a:ext cx="1114799" cy="925309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TextBox 138"/>
          <p:cNvSpPr txBox="1"/>
          <p:nvPr/>
        </p:nvSpPr>
        <p:spPr>
          <a:xfrm>
            <a:off x="3037562" y="7799878"/>
            <a:ext cx="10951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모델운용성능추적</a:t>
            </a:r>
          </a:p>
        </p:txBody>
      </p:sp>
      <p:sp>
        <p:nvSpPr>
          <p:cNvPr id="140" name="모서리가 둥근 직사각형 139"/>
          <p:cNvSpPr/>
          <p:nvPr/>
        </p:nvSpPr>
        <p:spPr>
          <a:xfrm>
            <a:off x="3056635" y="8082942"/>
            <a:ext cx="498618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1" name="모서리가 둥근 직사각형 140"/>
          <p:cNvSpPr/>
          <p:nvPr/>
        </p:nvSpPr>
        <p:spPr>
          <a:xfrm>
            <a:off x="3056635" y="8369461"/>
            <a:ext cx="498618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3577851" y="8082942"/>
            <a:ext cx="525475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3577851" y="8369461"/>
            <a:ext cx="525475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4297415" y="7799877"/>
            <a:ext cx="1064459" cy="152345"/>
          </a:xfrm>
          <a:prstGeom prst="roundRect">
            <a:avLst>
              <a:gd name="adj" fmla="val 18379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4297415" y="7979069"/>
            <a:ext cx="1064459" cy="152345"/>
          </a:xfrm>
          <a:prstGeom prst="roundRect">
            <a:avLst>
              <a:gd name="adj" fmla="val 18379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297415" y="8158261"/>
            <a:ext cx="1064459" cy="152345"/>
          </a:xfrm>
          <a:prstGeom prst="roundRect">
            <a:avLst>
              <a:gd name="adj" fmla="val 18379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4297415" y="8337453"/>
            <a:ext cx="1064459" cy="152345"/>
          </a:xfrm>
          <a:prstGeom prst="roundRect">
            <a:avLst>
              <a:gd name="adj" fmla="val 18379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297415" y="8516645"/>
            <a:ext cx="1064459" cy="152345"/>
          </a:xfrm>
          <a:prstGeom prst="roundRect">
            <a:avLst>
              <a:gd name="adj" fmla="val 18379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4297415" y="8695837"/>
            <a:ext cx="1064459" cy="152345"/>
          </a:xfrm>
          <a:prstGeom prst="roundRect">
            <a:avLst>
              <a:gd name="adj" fmla="val 18379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4297415" y="8875030"/>
            <a:ext cx="1064459" cy="152345"/>
          </a:xfrm>
          <a:prstGeom prst="roundRect">
            <a:avLst>
              <a:gd name="adj" fmla="val 18379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4408445" y="7750448"/>
            <a:ext cx="8675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모델링서비스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466808" y="7942970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모의서비스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267738" y="8118946"/>
            <a:ext cx="11224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모의객체런타임</a:t>
            </a:r>
            <a:r>
              <a:rPr lang="en-US" altLang="ko-KR" sz="900" b="1" dirty="0">
                <a:latin typeface="HY헤드라인M" pitchFamily="18" charset="-127"/>
                <a:ea typeface="HY헤드라인M" pitchFamily="18" charset="-127"/>
              </a:rPr>
              <a:t>DB</a:t>
            </a:r>
            <a:endParaRPr lang="ko-KR" altLang="en-US" sz="900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4411754" y="8298966"/>
            <a:ext cx="8675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전장환경추론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279198" y="8476878"/>
            <a:ext cx="10951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데이터수집서비스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225384" y="8644198"/>
            <a:ext cx="1208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 err="1">
                <a:latin typeface="HY헤드라인M" pitchFamily="18" charset="-127"/>
                <a:ea typeface="HY헤드라인M" pitchFamily="18" charset="-127"/>
              </a:rPr>
              <a:t>런타임가시화서비스</a:t>
            </a:r>
            <a:endParaRPr lang="ko-KR" altLang="en-US" sz="900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4401954" y="8839026"/>
            <a:ext cx="8675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모델운용추적</a:t>
            </a:r>
          </a:p>
        </p:txBody>
      </p:sp>
      <p:sp>
        <p:nvSpPr>
          <p:cNvPr id="186" name="모서리가 둥근 직사각형 185"/>
          <p:cNvSpPr/>
          <p:nvPr/>
        </p:nvSpPr>
        <p:spPr>
          <a:xfrm>
            <a:off x="3027750" y="9497894"/>
            <a:ext cx="2334123" cy="462654"/>
          </a:xfrm>
          <a:prstGeom prst="roundRect">
            <a:avLst>
              <a:gd name="adj" fmla="val 12924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TextBox 186"/>
          <p:cNvSpPr txBox="1"/>
          <p:nvPr/>
        </p:nvSpPr>
        <p:spPr>
          <a:xfrm>
            <a:off x="3643413" y="9497894"/>
            <a:ext cx="10951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모델운용성능추적</a:t>
            </a: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3058339" y="9687276"/>
            <a:ext cx="1141620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4225384" y="9687276"/>
            <a:ext cx="1089235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874322" y="6098406"/>
            <a:ext cx="1883971" cy="536307"/>
          </a:xfrm>
          <a:prstGeom prst="roundRect">
            <a:avLst>
              <a:gd name="adj" fmla="val 12924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TextBox 190"/>
          <p:cNvSpPr txBox="1"/>
          <p:nvPr/>
        </p:nvSpPr>
        <p:spPr>
          <a:xfrm>
            <a:off x="1372281" y="6102722"/>
            <a:ext cx="883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사용자관리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900738" y="6328328"/>
            <a:ext cx="921451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1858193" y="6328328"/>
            <a:ext cx="879168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874322" y="9127058"/>
            <a:ext cx="1883971" cy="8342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TextBox 194"/>
          <p:cNvSpPr txBox="1"/>
          <p:nvPr/>
        </p:nvSpPr>
        <p:spPr>
          <a:xfrm>
            <a:off x="1308882" y="9127058"/>
            <a:ext cx="9813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시나리오편집기</a:t>
            </a:r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900648" y="9355099"/>
            <a:ext cx="921541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00648" y="9641618"/>
            <a:ext cx="921541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1858193" y="9355099"/>
            <a:ext cx="879168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9" name="모서리가 둥근 직사각형 198"/>
          <p:cNvSpPr/>
          <p:nvPr/>
        </p:nvSpPr>
        <p:spPr>
          <a:xfrm>
            <a:off x="1858193" y="9641618"/>
            <a:ext cx="879168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874322" y="6930814"/>
            <a:ext cx="1883971" cy="504056"/>
          </a:xfrm>
          <a:prstGeom prst="roundRect">
            <a:avLst>
              <a:gd name="adj" fmla="val 12924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TextBox 204"/>
          <p:cNvSpPr txBox="1"/>
          <p:nvPr/>
        </p:nvSpPr>
        <p:spPr>
          <a:xfrm>
            <a:off x="1357580" y="6916006"/>
            <a:ext cx="883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자료관리기</a:t>
            </a:r>
          </a:p>
        </p:txBody>
      </p:sp>
      <p:sp>
        <p:nvSpPr>
          <p:cNvPr id="206" name="모서리가 둥근 직사각형 205"/>
          <p:cNvSpPr/>
          <p:nvPr/>
        </p:nvSpPr>
        <p:spPr>
          <a:xfrm>
            <a:off x="874322" y="7470874"/>
            <a:ext cx="1883971" cy="508195"/>
          </a:xfrm>
          <a:prstGeom prst="roundRect">
            <a:avLst>
              <a:gd name="adj" fmla="val 12924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TextBox 206"/>
          <p:cNvSpPr txBox="1"/>
          <p:nvPr/>
        </p:nvSpPr>
        <p:spPr>
          <a:xfrm>
            <a:off x="1258453" y="7456066"/>
            <a:ext cx="10822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환경</a:t>
            </a:r>
            <a:r>
              <a:rPr lang="en-US" altLang="ko-KR" sz="900" b="1" dirty="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지형</a:t>
            </a:r>
            <a:r>
              <a:rPr lang="en-US" altLang="ko-KR" sz="900" b="1" dirty="0"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900" b="1" dirty="0">
                <a:latin typeface="HY헤드라인M" pitchFamily="18" charset="-127"/>
                <a:ea typeface="HY헤드라인M" pitchFamily="18" charset="-127"/>
              </a:rPr>
              <a:t>편집기</a:t>
            </a: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874322" y="8010934"/>
            <a:ext cx="1883971" cy="792088"/>
          </a:xfrm>
          <a:prstGeom prst="roundRect">
            <a:avLst>
              <a:gd name="adj" fmla="val 12924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TextBox 208"/>
          <p:cNvSpPr txBox="1"/>
          <p:nvPr/>
        </p:nvSpPr>
        <p:spPr>
          <a:xfrm>
            <a:off x="1258453" y="8012726"/>
            <a:ext cx="10822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>
                <a:latin typeface="HY헤드라인M" pitchFamily="18" charset="-127"/>
                <a:ea typeface="HY헤드라인M" pitchFamily="18" charset="-127"/>
              </a:rPr>
              <a:t>모델생성기</a:t>
            </a:r>
            <a:endParaRPr lang="ko-KR" altLang="en-US" sz="900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10" name="모서리가 둥근 직사각형 209"/>
          <p:cNvSpPr/>
          <p:nvPr/>
        </p:nvSpPr>
        <p:spPr>
          <a:xfrm>
            <a:off x="925086" y="7146838"/>
            <a:ext cx="498618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11" name="모서리가 둥근 직사각형 210"/>
          <p:cNvSpPr/>
          <p:nvPr/>
        </p:nvSpPr>
        <p:spPr>
          <a:xfrm>
            <a:off x="1446302" y="7146838"/>
            <a:ext cx="736099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12" name="모서리가 둥근 직사각형 211"/>
          <p:cNvSpPr/>
          <p:nvPr/>
        </p:nvSpPr>
        <p:spPr>
          <a:xfrm>
            <a:off x="2196814" y="7146838"/>
            <a:ext cx="525475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924335" y="7686898"/>
            <a:ext cx="430290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14" name="모서리가 둥근 직사각형 213"/>
          <p:cNvSpPr/>
          <p:nvPr/>
        </p:nvSpPr>
        <p:spPr>
          <a:xfrm>
            <a:off x="1368722" y="7686898"/>
            <a:ext cx="453467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1836774" y="7686898"/>
            <a:ext cx="453467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922089" y="6354750"/>
            <a:ext cx="883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>
                <a:latin typeface="HY헤드라인M" pitchFamily="18" charset="-127"/>
                <a:ea typeface="HY헤드라인M" pitchFamily="18" charset="-127"/>
              </a:rPr>
              <a:t>사용자정보관리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1865700" y="6354750"/>
            <a:ext cx="883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권한관리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98695" y="7170233"/>
            <a:ext cx="5586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부대자료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428245" y="7172333"/>
            <a:ext cx="770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제원</a:t>
            </a:r>
            <a:r>
              <a:rPr lang="en-US" altLang="ko-KR" sz="700" dirty="0">
                <a:latin typeface="HY헤드라인M" pitchFamily="18" charset="-127"/>
                <a:ea typeface="HY헤드라인M" pitchFamily="18" charset="-127"/>
              </a:rPr>
              <a:t>/</a:t>
            </a:r>
            <a:r>
              <a:rPr lang="ko-KR" altLang="en-US" sz="700" dirty="0" err="1">
                <a:latin typeface="HY헤드라인M" pitchFamily="18" charset="-127"/>
                <a:ea typeface="HY헤드라인M" pitchFamily="18" charset="-127"/>
              </a:rPr>
              <a:t>파리미터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2182118" y="7170233"/>
            <a:ext cx="5586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>
                <a:latin typeface="HY헤드라인M" pitchFamily="18" charset="-127"/>
                <a:ea typeface="HY헤드라인M" pitchFamily="18" charset="-127"/>
              </a:rPr>
              <a:t>DB</a:t>
            </a:r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검증</a:t>
            </a:r>
          </a:p>
        </p:txBody>
      </p:sp>
      <p:sp>
        <p:nvSpPr>
          <p:cNvPr id="224" name="모서리가 둥근 직사각형 223"/>
          <p:cNvSpPr/>
          <p:nvPr/>
        </p:nvSpPr>
        <p:spPr>
          <a:xfrm>
            <a:off x="2304826" y="7686898"/>
            <a:ext cx="432535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953143" y="7655657"/>
            <a:ext cx="372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지형</a:t>
            </a:r>
            <a:endParaRPr lang="en-US" altLang="ko-KR" sz="700" dirty="0"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추출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409118" y="7650894"/>
            <a:ext cx="372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지형</a:t>
            </a:r>
            <a:endParaRPr lang="en-US" altLang="ko-KR" sz="700" dirty="0"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편집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883568" y="7655657"/>
            <a:ext cx="372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속성</a:t>
            </a:r>
            <a:endParaRPr lang="en-US" altLang="ko-KR" sz="700" dirty="0"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편집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237285" y="7655657"/>
            <a:ext cx="576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그래픽</a:t>
            </a:r>
            <a:endParaRPr lang="en-US" altLang="ko-KR" sz="700" dirty="0"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기호작성</a:t>
            </a:r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912564" y="8250248"/>
            <a:ext cx="430290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1356951" y="8250248"/>
            <a:ext cx="453467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1825003" y="8250248"/>
            <a:ext cx="453467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2293055" y="8250248"/>
            <a:ext cx="432535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41372" y="8219007"/>
            <a:ext cx="372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행위모델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397347" y="8214244"/>
            <a:ext cx="372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물리모델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871797" y="8219007"/>
            <a:ext cx="372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개체모델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306116" y="8219007"/>
            <a:ext cx="40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부대</a:t>
            </a:r>
            <a:endParaRPr lang="en-US" altLang="ko-KR" sz="700" dirty="0"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모델</a:t>
            </a: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912475" y="8520775"/>
            <a:ext cx="857545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40" name="모서리가 둥근 직사각형 239"/>
          <p:cNvSpPr/>
          <p:nvPr/>
        </p:nvSpPr>
        <p:spPr>
          <a:xfrm>
            <a:off x="1781792" y="8520775"/>
            <a:ext cx="387999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41" name="모서리가 둥근 직사각형 240"/>
          <p:cNvSpPr/>
          <p:nvPr/>
        </p:nvSpPr>
        <p:spPr>
          <a:xfrm>
            <a:off x="2184204" y="8520775"/>
            <a:ext cx="525475" cy="242446"/>
          </a:xfrm>
          <a:prstGeom prst="roundRect">
            <a:avLst/>
          </a:prstGeom>
          <a:solidFill>
            <a:srgbClr val="9DDDF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42" name="TextBox 241"/>
          <p:cNvSpPr txBox="1"/>
          <p:nvPr/>
        </p:nvSpPr>
        <p:spPr>
          <a:xfrm>
            <a:off x="987132" y="8540995"/>
            <a:ext cx="7270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소스코드생성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789360" y="8543095"/>
            <a:ext cx="37620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err="1">
                <a:latin typeface="HY헤드라인M" pitchFamily="18" charset="-127"/>
                <a:ea typeface="HY헤드라인M" pitchFamily="18" charset="-127"/>
              </a:rPr>
              <a:t>빌드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2178943" y="8541469"/>
            <a:ext cx="5460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모델관리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93482" y="9375911"/>
            <a:ext cx="7270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부대정보편집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90275" y="9662813"/>
            <a:ext cx="7270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작전명령작성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944157" y="9375911"/>
            <a:ext cx="7270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err="1">
                <a:latin typeface="HY헤드라인M" pitchFamily="18" charset="-127"/>
                <a:ea typeface="HY헤드라인M" pitchFamily="18" charset="-127"/>
              </a:rPr>
              <a:t>파라메터설정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1947267" y="9659198"/>
            <a:ext cx="7270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오류검증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265626" y="9708471"/>
            <a:ext cx="7270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>
                <a:latin typeface="HY헤드라인M" pitchFamily="18" charset="-127"/>
                <a:ea typeface="HY헤드라인M" pitchFamily="18" charset="-127"/>
              </a:rPr>
              <a:t>접근권한통제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50" name="TextBox 249"/>
          <p:cNvSpPr txBox="1"/>
          <p:nvPr/>
        </p:nvSpPr>
        <p:spPr>
          <a:xfrm>
            <a:off x="4335313" y="9708471"/>
            <a:ext cx="86937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>
                <a:latin typeface="HY헤드라인M" pitchFamily="18" charset="-127"/>
                <a:ea typeface="HY헤드라인M" pitchFamily="18" charset="-127"/>
              </a:rPr>
              <a:t>DB</a:t>
            </a:r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입출력관리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3032903" y="8104137"/>
            <a:ext cx="5460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>
                <a:latin typeface="HY헤드라인M" pitchFamily="18" charset="-127"/>
                <a:ea typeface="HY헤드라인M" pitchFamily="18" charset="-127"/>
              </a:rPr>
              <a:t>프로세스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3567547" y="8098911"/>
            <a:ext cx="5460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서비스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032903" y="8389770"/>
            <a:ext cx="5460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성능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568331" y="8389770"/>
            <a:ext cx="5460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네트워크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005760" y="6453782"/>
            <a:ext cx="883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모의실행설정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005796" y="6740301"/>
            <a:ext cx="883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실행통제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970586" y="6453782"/>
            <a:ext cx="6642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상황도 전시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970622" y="6740301"/>
            <a:ext cx="6642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상황도 제어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669721" y="6449551"/>
            <a:ext cx="6642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지형분석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669757" y="6736070"/>
            <a:ext cx="6642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투명도 관리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215289" y="7028199"/>
            <a:ext cx="883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좌표체계 관리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727948" y="6421531"/>
            <a:ext cx="883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척도좌표조회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743774" y="6708050"/>
            <a:ext cx="883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비정형자료조회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5743772" y="6997906"/>
            <a:ext cx="883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err="1">
                <a:latin typeface="HY헤드라인M" pitchFamily="18" charset="-127"/>
                <a:ea typeface="HY헤드라인M" pitchFamily="18" charset="-127"/>
              </a:rPr>
              <a:t>상황재시현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5727949" y="7281088"/>
            <a:ext cx="883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동영상녹화</a:t>
            </a:r>
          </a:p>
        </p:txBody>
      </p:sp>
    </p:spTree>
    <p:extLst>
      <p:ext uri="{BB962C8B-B14F-4D97-AF65-F5344CB8AC3E}">
        <p14:creationId xmlns:p14="http://schemas.microsoft.com/office/powerpoint/2010/main" val="1507711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2"/>
          <p:cNvSpPr txBox="1">
            <a:spLocks noChangeArrowheads="1"/>
          </p:cNvSpPr>
          <p:nvPr/>
        </p:nvSpPr>
        <p:spPr bwMode="auto">
          <a:xfrm>
            <a:off x="720883" y="135117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3.2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 추진방향 및 추진계획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7" name="Rectangle 3"/>
          <p:cNvSpPr txBox="1">
            <a:spLocks noChangeArrowheads="1"/>
          </p:cNvSpPr>
          <p:nvPr/>
        </p:nvSpPr>
        <p:spPr bwMode="auto">
          <a:xfrm>
            <a:off x="720873" y="1638226"/>
            <a:ext cx="6337006" cy="21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91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27138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5125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300"/>
              </a:spcBef>
            </a:pP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본 사업의 제안요청서의 내용을 분석한 결과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C4ISR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 자체와 모델을 활용하는 분석업무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그리고 모델 실행환경인 기반체계에 대한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 부분의 요구사항으로 묶여져 있습니다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따라서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 부분에 대해서 아래와 같은 방향으로 유지관리를 수행하겠습니다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748623" y="2271719"/>
            <a:ext cx="6352126" cy="971699"/>
            <a:chOff x="748470" y="5561868"/>
            <a:chExt cx="6350829" cy="971558"/>
          </a:xfrm>
        </p:grpSpPr>
        <p:grpSp>
          <p:nvGrpSpPr>
            <p:cNvPr id="58" name="그룹 57"/>
            <p:cNvGrpSpPr/>
            <p:nvPr/>
          </p:nvGrpSpPr>
          <p:grpSpPr>
            <a:xfrm>
              <a:off x="748470" y="5561868"/>
              <a:ext cx="6350829" cy="971558"/>
              <a:chOff x="9427" y="3100820"/>
              <a:chExt cx="7057102" cy="971558"/>
            </a:xfrm>
          </p:grpSpPr>
          <p:sp>
            <p:nvSpPr>
              <p:cNvPr id="60" name="한쪽 모서리가 잘린 사각형 59"/>
              <p:cNvSpPr/>
              <p:nvPr/>
            </p:nvSpPr>
            <p:spPr bwMode="auto">
              <a:xfrm flipV="1">
                <a:off x="1268423" y="3100820"/>
                <a:ext cx="5761993" cy="971558"/>
              </a:xfrm>
              <a:prstGeom prst="snip1Rect">
                <a:avLst>
                  <a:gd name="adj" fmla="val 0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38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 b="1" spc="-50" dirty="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charset="0"/>
                </a:endParaRPr>
              </a:p>
            </p:txBody>
          </p:sp>
          <p:grpSp>
            <p:nvGrpSpPr>
              <p:cNvPr id="61" name="그룹 60"/>
              <p:cNvGrpSpPr/>
              <p:nvPr/>
            </p:nvGrpSpPr>
            <p:grpSpPr>
              <a:xfrm>
                <a:off x="425603" y="3676887"/>
                <a:ext cx="919328" cy="358934"/>
                <a:chOff x="3549812" y="2059684"/>
                <a:chExt cx="919328" cy="358934"/>
              </a:xfrm>
            </p:grpSpPr>
            <p:sp>
              <p:nvSpPr>
                <p:cNvPr id="66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549812" y="2203174"/>
                  <a:ext cx="919328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defTabSz="913479" eaLnBrk="1" latinLnBrk="0" hangingPunct="1">
                    <a:spcAft>
                      <a:spcPct val="0"/>
                    </a:spcAft>
                  </a:pPr>
                  <a:r>
                    <a:rPr lang="en-US" altLang="ko-KR" sz="1400" b="1" spc="-50" dirty="0">
                      <a:ln w="0"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1A0DD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Message</a:t>
                  </a:r>
                </a:p>
              </p:txBody>
            </p:sp>
            <p:sp>
              <p:nvSpPr>
                <p:cNvPr id="67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567703" y="2059684"/>
                  <a:ext cx="478673" cy="169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defTabSz="913479" eaLnBrk="1" latinLnBrk="0" hangingPunct="1">
                    <a:spcAft>
                      <a:spcPct val="0"/>
                    </a:spcAft>
                  </a:pPr>
                  <a:r>
                    <a:rPr lang="en-US" altLang="ko-KR" sz="1100" b="1" spc="-50" dirty="0">
                      <a:ln w="0"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1A0DD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Key</a:t>
                  </a:r>
                </a:p>
              </p:txBody>
            </p:sp>
          </p:grpSp>
          <p:cxnSp>
            <p:nvCxnSpPr>
              <p:cNvPr id="62" name="직선 연결선 61"/>
              <p:cNvCxnSpPr/>
              <p:nvPr/>
            </p:nvCxnSpPr>
            <p:spPr>
              <a:xfrm>
                <a:off x="9427" y="4058729"/>
                <a:ext cx="1225484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 Box 5"/>
              <p:cNvSpPr txBox="1">
                <a:spLocks noChangeArrowheads="1"/>
              </p:cNvSpPr>
              <p:nvPr/>
            </p:nvSpPr>
            <p:spPr bwMode="auto">
              <a:xfrm>
                <a:off x="1483750" y="3195797"/>
                <a:ext cx="5307414" cy="7924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130032" indent="-130032" defTabSz="913479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유지관리 추진방향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285694" indent="-120626" defTabSz="913847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100000"/>
                  <a:buFontTx/>
                  <a:buChar char="‒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기능개선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형상변경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결함제거로 모델 안정화</a:t>
                </a:r>
              </a:p>
              <a:p>
                <a:pPr marL="285694" indent="-120626" defTabSz="913847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100000"/>
                  <a:buFontTx/>
                  <a:buChar char="‒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분석준비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분석실행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사후분석 단계별 분석업무 지원</a:t>
                </a:r>
              </a:p>
              <a:p>
                <a:pPr marL="285694" indent="-120626" defTabSz="913847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100000"/>
                  <a:buFontTx/>
                  <a:buChar char="‒"/>
                </a:pP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HW,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상용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SW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등 모델 기반체계 유지관리</a:t>
                </a:r>
              </a:p>
            </p:txBody>
          </p:sp>
          <p:sp>
            <p:nvSpPr>
              <p:cNvPr id="64" name="직각 삼각형 63"/>
              <p:cNvSpPr/>
              <p:nvPr/>
            </p:nvSpPr>
            <p:spPr bwMode="auto">
              <a:xfrm rot="10800000" flipV="1">
                <a:off x="6704974" y="3671449"/>
                <a:ext cx="361555" cy="397105"/>
              </a:xfrm>
              <a:prstGeom prst="rtTriangl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38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 spc="-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Arial" charset="0"/>
                </a:endParaRPr>
              </a:p>
            </p:txBody>
          </p:sp>
          <p:cxnSp>
            <p:nvCxnSpPr>
              <p:cNvPr id="65" name="직선 연결선 64"/>
              <p:cNvCxnSpPr/>
              <p:nvPr/>
            </p:nvCxnSpPr>
            <p:spPr>
              <a:xfrm>
                <a:off x="9427" y="3114242"/>
                <a:ext cx="1225485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9" name="그림 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9560" y="5609068"/>
              <a:ext cx="431054" cy="429077"/>
            </a:xfrm>
            <a:prstGeom prst="rect">
              <a:avLst/>
            </a:prstGeom>
          </p:spPr>
        </p:pic>
      </p:grpSp>
      <p:cxnSp>
        <p:nvCxnSpPr>
          <p:cNvPr id="34" name="직선 연결선 33"/>
          <p:cNvCxnSpPr/>
          <p:nvPr/>
        </p:nvCxnSpPr>
        <p:spPr>
          <a:xfrm>
            <a:off x="760671" y="3731207"/>
            <a:ext cx="6289915" cy="0"/>
          </a:xfrm>
          <a:prstGeom prst="line">
            <a:avLst/>
          </a:prstGeom>
          <a:solidFill>
            <a:srgbClr val="969696"/>
          </a:solidFill>
          <a:ln w="19050" algn="ctr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직사각형 34"/>
          <p:cNvSpPr/>
          <p:nvPr/>
        </p:nvSpPr>
        <p:spPr>
          <a:xfrm>
            <a:off x="709245" y="3721101"/>
            <a:ext cx="1272937" cy="2008421"/>
          </a:xfrm>
          <a:prstGeom prst="rect">
            <a:avLst/>
          </a:prstGeom>
          <a:solidFill>
            <a:srgbClr val="969696"/>
          </a:solidFill>
          <a:ln w="9525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3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6" name="이등변 삼각형 35"/>
          <p:cNvSpPr/>
          <p:nvPr/>
        </p:nvSpPr>
        <p:spPr>
          <a:xfrm rot="5400000">
            <a:off x="1924073" y="4658290"/>
            <a:ext cx="214340" cy="134042"/>
          </a:xfrm>
          <a:prstGeom prst="triangle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3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7" name="TextBox 117"/>
          <p:cNvSpPr txBox="1">
            <a:spLocks noChangeArrowheads="1"/>
          </p:cNvSpPr>
          <p:nvPr/>
        </p:nvSpPr>
        <p:spPr bwMode="auto">
          <a:xfrm>
            <a:off x="807538" y="4407899"/>
            <a:ext cx="10593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sz="1100" b="1" spc="-100">
                <a:latin typeface="HY신명조" panose="02030600000101010101" pitchFamily="18" charset="-127"/>
                <a:ea typeface="HY신명조" panose="02030600000101010101" pitchFamily="18" charset="-127"/>
                <a:cs typeface="산돌고딕 L"/>
              </a:defRPr>
            </a:lvl1pPr>
            <a:lvl2pPr marL="742950" indent="-285750">
              <a:defRPr>
                <a:latin typeface="산돌고딕 L"/>
                <a:ea typeface="산돌고딕 L"/>
                <a:cs typeface="산돌고딕 L"/>
              </a:defRPr>
            </a:lvl2pPr>
            <a:lvl3pPr marL="1143000" indent="-228600">
              <a:defRPr>
                <a:latin typeface="산돌고딕 L"/>
                <a:ea typeface="산돌고딕 L"/>
                <a:cs typeface="산돌고딕 L"/>
              </a:defRPr>
            </a:lvl3pPr>
            <a:lvl4pPr marL="1600200" indent="-228600">
              <a:defRPr>
                <a:latin typeface="산돌고딕 L"/>
                <a:ea typeface="산돌고딕 L"/>
                <a:cs typeface="산돌고딕 L"/>
              </a:defRPr>
            </a:lvl4pPr>
            <a:lvl5pPr marL="2057400" indent="-228600">
              <a:defRPr>
                <a:latin typeface="산돌고딕 L"/>
                <a:ea typeface="산돌고딕 L"/>
                <a:cs typeface="산돌고딕 L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9pPr>
          </a:lstStyle>
          <a:p>
            <a:pPr defTabSz="913479">
              <a:spcAft>
                <a:spcPct val="0"/>
              </a:spcAft>
            </a:pPr>
            <a:r>
              <a:rPr kumimoji="1" lang="en-US" altLang="ko-KR" sz="14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cs typeface="+mn-cs"/>
              </a:rPr>
              <a:t>C4ISR </a:t>
            </a:r>
            <a:r>
              <a:rPr kumimoji="1" lang="ko-KR" altLang="en-US" sz="14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cs typeface="+mn-cs"/>
              </a:rPr>
              <a:t>분석모델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760671" y="5993722"/>
            <a:ext cx="6289915" cy="0"/>
          </a:xfrm>
          <a:prstGeom prst="line">
            <a:avLst/>
          </a:prstGeom>
          <a:ln w="19050">
            <a:solidFill>
              <a:srgbClr val="11A0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709245" y="5983616"/>
            <a:ext cx="1272937" cy="2008421"/>
          </a:xfrm>
          <a:prstGeom prst="rect">
            <a:avLst/>
          </a:prstGeom>
          <a:solidFill>
            <a:srgbClr val="11A0DD"/>
          </a:solidFill>
          <a:ln>
            <a:noFill/>
          </a:ln>
          <a:effectLst/>
        </p:spPr>
        <p:txBody>
          <a:bodyPr wrap="none" anchor="ctr"/>
          <a:lstStyle/>
          <a:p>
            <a:pPr algn="ctr" defTabSz="9143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0" name="이등변 삼각형 39"/>
          <p:cNvSpPr/>
          <p:nvPr/>
        </p:nvSpPr>
        <p:spPr>
          <a:xfrm rot="5400000">
            <a:off x="1924073" y="6920805"/>
            <a:ext cx="214340" cy="134042"/>
          </a:xfrm>
          <a:prstGeom prst="triangle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3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1" name="TextBox 117"/>
          <p:cNvSpPr txBox="1">
            <a:spLocks noChangeArrowheads="1"/>
          </p:cNvSpPr>
          <p:nvPr/>
        </p:nvSpPr>
        <p:spPr bwMode="auto">
          <a:xfrm>
            <a:off x="807538" y="6836074"/>
            <a:ext cx="105936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sz="1100" b="1" spc="-100">
                <a:latin typeface="HY신명조" panose="02030600000101010101" pitchFamily="18" charset="-127"/>
                <a:ea typeface="HY신명조" panose="02030600000101010101" pitchFamily="18" charset="-127"/>
                <a:cs typeface="산돌고딕 L"/>
              </a:defRPr>
            </a:lvl1pPr>
            <a:lvl2pPr marL="742950" indent="-285750">
              <a:defRPr>
                <a:latin typeface="산돌고딕 L"/>
                <a:ea typeface="산돌고딕 L"/>
                <a:cs typeface="산돌고딕 L"/>
              </a:defRPr>
            </a:lvl2pPr>
            <a:lvl3pPr marL="1143000" indent="-228600">
              <a:defRPr>
                <a:latin typeface="산돌고딕 L"/>
                <a:ea typeface="산돌고딕 L"/>
                <a:cs typeface="산돌고딕 L"/>
              </a:defRPr>
            </a:lvl3pPr>
            <a:lvl4pPr marL="1600200" indent="-228600">
              <a:defRPr>
                <a:latin typeface="산돌고딕 L"/>
                <a:ea typeface="산돌고딕 L"/>
                <a:cs typeface="산돌고딕 L"/>
              </a:defRPr>
            </a:lvl4pPr>
            <a:lvl5pPr marL="2057400" indent="-228600">
              <a:defRPr>
                <a:latin typeface="산돌고딕 L"/>
                <a:ea typeface="산돌고딕 L"/>
                <a:cs typeface="산돌고딕 L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9pPr>
          </a:lstStyle>
          <a:p>
            <a:pPr defTabSz="913479">
              <a:spcAft>
                <a:spcPct val="0"/>
              </a:spcAft>
            </a:pPr>
            <a:r>
              <a:rPr kumimoji="1" lang="ko-KR" altLang="en-US" sz="14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cs typeface="+mn-cs"/>
              </a:rPr>
              <a:t>분석업무</a:t>
            </a:r>
          </a:p>
        </p:txBody>
      </p:sp>
      <p:cxnSp>
        <p:nvCxnSpPr>
          <p:cNvPr id="42" name="직선 연결선 41"/>
          <p:cNvCxnSpPr/>
          <p:nvPr/>
        </p:nvCxnSpPr>
        <p:spPr>
          <a:xfrm>
            <a:off x="760671" y="8256238"/>
            <a:ext cx="6289915" cy="0"/>
          </a:xfrm>
          <a:prstGeom prst="line">
            <a:avLst/>
          </a:prstGeom>
          <a:ln w="19050">
            <a:solidFill>
              <a:srgbClr val="0B69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709245" y="8246132"/>
            <a:ext cx="1272937" cy="2008421"/>
          </a:xfrm>
          <a:prstGeom prst="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45713" anchor="ctr"/>
          <a:lstStyle/>
          <a:p>
            <a:pPr algn="ctr" defTabSz="9143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4" name="이등변 삼각형 43"/>
          <p:cNvSpPr/>
          <p:nvPr/>
        </p:nvSpPr>
        <p:spPr>
          <a:xfrm rot="5400000">
            <a:off x="1924073" y="9183321"/>
            <a:ext cx="214340" cy="134042"/>
          </a:xfrm>
          <a:prstGeom prst="triangle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45713" anchor="ctr"/>
          <a:lstStyle/>
          <a:p>
            <a:pPr algn="ctr" defTabSz="914307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5" name="TextBox 117"/>
          <p:cNvSpPr txBox="1">
            <a:spLocks noChangeArrowheads="1"/>
          </p:cNvSpPr>
          <p:nvPr/>
        </p:nvSpPr>
        <p:spPr bwMode="auto">
          <a:xfrm>
            <a:off x="792298" y="9086409"/>
            <a:ext cx="108984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sz="1100" b="1" spc="-100">
                <a:latin typeface="HY신명조" panose="02030600000101010101" pitchFamily="18" charset="-127"/>
                <a:ea typeface="HY신명조" panose="02030600000101010101" pitchFamily="18" charset="-127"/>
                <a:cs typeface="산돌고딕 L"/>
              </a:defRPr>
            </a:lvl1pPr>
            <a:lvl2pPr marL="742950" indent="-285750">
              <a:defRPr>
                <a:latin typeface="산돌고딕 L"/>
                <a:ea typeface="산돌고딕 L"/>
                <a:cs typeface="산돌고딕 L"/>
              </a:defRPr>
            </a:lvl2pPr>
            <a:lvl3pPr marL="1143000" indent="-228600">
              <a:defRPr>
                <a:latin typeface="산돌고딕 L"/>
                <a:ea typeface="산돌고딕 L"/>
                <a:cs typeface="산돌고딕 L"/>
              </a:defRPr>
            </a:lvl3pPr>
            <a:lvl4pPr marL="1600200" indent="-228600">
              <a:defRPr>
                <a:latin typeface="산돌고딕 L"/>
                <a:ea typeface="산돌고딕 L"/>
                <a:cs typeface="산돌고딕 L"/>
              </a:defRPr>
            </a:lvl4pPr>
            <a:lvl5pPr marL="2057400" indent="-228600">
              <a:defRPr>
                <a:latin typeface="산돌고딕 L"/>
                <a:ea typeface="산돌고딕 L"/>
                <a:cs typeface="산돌고딕 L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산돌고딕 L"/>
                <a:ea typeface="산돌고딕 L"/>
                <a:cs typeface="산돌고딕 L"/>
              </a:defRPr>
            </a:lvl9pPr>
          </a:lstStyle>
          <a:p>
            <a:pPr defTabSz="913479">
              <a:spcAft>
                <a:spcPct val="0"/>
              </a:spcAft>
            </a:pPr>
            <a:r>
              <a:rPr kumimoji="1" lang="ko-KR" altLang="en-US" sz="14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cs typeface="+mn-cs"/>
              </a:rPr>
              <a:t> 기반체계</a:t>
            </a:r>
          </a:p>
        </p:txBody>
      </p:sp>
      <p:sp>
        <p:nvSpPr>
          <p:cNvPr id="47" name="모서리가 둥근 직사각형 46"/>
          <p:cNvSpPr/>
          <p:nvPr/>
        </p:nvSpPr>
        <p:spPr>
          <a:xfrm>
            <a:off x="2195948" y="3942482"/>
            <a:ext cx="1495470" cy="578053"/>
          </a:xfrm>
          <a:prstGeom prst="roundRect">
            <a:avLst>
              <a:gd name="adj" fmla="val 9857"/>
            </a:avLst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기능개선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3829463" y="3942482"/>
            <a:ext cx="1495470" cy="578053"/>
          </a:xfrm>
          <a:prstGeom prst="roundRect">
            <a:avLst>
              <a:gd name="adj" fmla="val 11219"/>
            </a:avLst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형상변경</a:t>
            </a:r>
          </a:p>
        </p:txBody>
      </p:sp>
      <p:sp>
        <p:nvSpPr>
          <p:cNvPr id="49" name="모서리가 둥근 직사각형 48"/>
          <p:cNvSpPr/>
          <p:nvPr/>
        </p:nvSpPr>
        <p:spPr>
          <a:xfrm>
            <a:off x="5462978" y="3942482"/>
            <a:ext cx="1495470" cy="578053"/>
          </a:xfrm>
          <a:prstGeom prst="roundRect">
            <a:avLst>
              <a:gd name="adj" fmla="val 9857"/>
            </a:avLst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결함제거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3829464" y="5022602"/>
            <a:ext cx="1496028" cy="578053"/>
          </a:xfrm>
          <a:prstGeom prst="roundRect">
            <a:avLst>
              <a:gd name="adj" fmla="val 8494"/>
            </a:avLst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안정화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761851" y="3427824"/>
            <a:ext cx="6330269" cy="169302"/>
            <a:chOff x="761696" y="5435378"/>
            <a:chExt cx="6328976" cy="169277"/>
          </a:xfrm>
        </p:grpSpPr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479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유지관리 추진방향</a:t>
              </a:r>
            </a:p>
          </p:txBody>
        </p:sp>
        <p:grpSp>
          <p:nvGrpSpPr>
            <p:cNvPr id="31" name="그룹 30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32" name="타원 31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479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33" name="Picture 132" descr="ㅇ"/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그룹 21"/>
          <p:cNvGrpSpPr/>
          <p:nvPr/>
        </p:nvGrpSpPr>
        <p:grpSpPr>
          <a:xfrm>
            <a:off x="1592380" y="7590178"/>
            <a:ext cx="325092" cy="393936"/>
            <a:chOff x="4486004" y="281194"/>
            <a:chExt cx="325092" cy="393936"/>
          </a:xfrm>
          <a:solidFill>
            <a:schemeClr val="bg1"/>
          </a:solidFill>
        </p:grpSpPr>
        <p:sp>
          <p:nvSpPr>
            <p:cNvPr id="28" name="Freeform 784"/>
            <p:cNvSpPr>
              <a:spLocks noEditPoints="1"/>
            </p:cNvSpPr>
            <p:nvPr/>
          </p:nvSpPr>
          <p:spPr bwMode="auto">
            <a:xfrm>
              <a:off x="4486004" y="281194"/>
              <a:ext cx="325092" cy="89241"/>
            </a:xfrm>
            <a:custGeom>
              <a:avLst/>
              <a:gdLst>
                <a:gd name="T0" fmla="*/ 255 w 255"/>
                <a:gd name="T1" fmla="*/ 45 h 70"/>
                <a:gd name="T2" fmla="*/ 173 w 255"/>
                <a:gd name="T3" fmla="*/ 45 h 70"/>
                <a:gd name="T4" fmla="*/ 173 w 255"/>
                <a:gd name="T5" fmla="*/ 45 h 70"/>
                <a:gd name="T6" fmla="*/ 173 w 255"/>
                <a:gd name="T7" fmla="*/ 44 h 70"/>
                <a:gd name="T8" fmla="*/ 173 w 255"/>
                <a:gd name="T9" fmla="*/ 44 h 70"/>
                <a:gd name="T10" fmla="*/ 171 w 255"/>
                <a:gd name="T11" fmla="*/ 35 h 70"/>
                <a:gd name="T12" fmla="*/ 170 w 255"/>
                <a:gd name="T13" fmla="*/ 26 h 70"/>
                <a:gd name="T14" fmla="*/ 164 w 255"/>
                <a:gd name="T15" fmla="*/ 19 h 70"/>
                <a:gd name="T16" fmla="*/ 159 w 255"/>
                <a:gd name="T17" fmla="*/ 12 h 70"/>
                <a:gd name="T18" fmla="*/ 152 w 255"/>
                <a:gd name="T19" fmla="*/ 7 h 70"/>
                <a:gd name="T20" fmla="*/ 145 w 255"/>
                <a:gd name="T21" fmla="*/ 3 h 70"/>
                <a:gd name="T22" fmla="*/ 136 w 255"/>
                <a:gd name="T23" fmla="*/ 0 h 70"/>
                <a:gd name="T24" fmla="*/ 128 w 255"/>
                <a:gd name="T25" fmla="*/ 0 h 70"/>
                <a:gd name="T26" fmla="*/ 128 w 255"/>
                <a:gd name="T27" fmla="*/ 0 h 70"/>
                <a:gd name="T28" fmla="*/ 119 w 255"/>
                <a:gd name="T29" fmla="*/ 0 h 70"/>
                <a:gd name="T30" fmla="*/ 110 w 255"/>
                <a:gd name="T31" fmla="*/ 3 h 70"/>
                <a:gd name="T32" fmla="*/ 103 w 255"/>
                <a:gd name="T33" fmla="*/ 7 h 70"/>
                <a:gd name="T34" fmla="*/ 96 w 255"/>
                <a:gd name="T35" fmla="*/ 12 h 70"/>
                <a:gd name="T36" fmla="*/ 91 w 255"/>
                <a:gd name="T37" fmla="*/ 19 h 70"/>
                <a:gd name="T38" fmla="*/ 88 w 255"/>
                <a:gd name="T39" fmla="*/ 26 h 70"/>
                <a:gd name="T40" fmla="*/ 84 w 255"/>
                <a:gd name="T41" fmla="*/ 35 h 70"/>
                <a:gd name="T42" fmla="*/ 84 w 255"/>
                <a:gd name="T43" fmla="*/ 44 h 70"/>
                <a:gd name="T44" fmla="*/ 84 w 255"/>
                <a:gd name="T45" fmla="*/ 44 h 70"/>
                <a:gd name="T46" fmla="*/ 84 w 255"/>
                <a:gd name="T47" fmla="*/ 45 h 70"/>
                <a:gd name="T48" fmla="*/ 0 w 255"/>
                <a:gd name="T49" fmla="*/ 45 h 70"/>
                <a:gd name="T50" fmla="*/ 0 w 255"/>
                <a:gd name="T51" fmla="*/ 70 h 70"/>
                <a:gd name="T52" fmla="*/ 255 w 255"/>
                <a:gd name="T53" fmla="*/ 70 h 70"/>
                <a:gd name="T54" fmla="*/ 255 w 255"/>
                <a:gd name="T55" fmla="*/ 45 h 70"/>
                <a:gd name="T56" fmla="*/ 145 w 255"/>
                <a:gd name="T57" fmla="*/ 45 h 70"/>
                <a:gd name="T58" fmla="*/ 110 w 255"/>
                <a:gd name="T59" fmla="*/ 45 h 70"/>
                <a:gd name="T60" fmla="*/ 110 w 255"/>
                <a:gd name="T61" fmla="*/ 45 h 70"/>
                <a:gd name="T62" fmla="*/ 110 w 255"/>
                <a:gd name="T63" fmla="*/ 44 h 70"/>
                <a:gd name="T64" fmla="*/ 110 w 255"/>
                <a:gd name="T65" fmla="*/ 44 h 70"/>
                <a:gd name="T66" fmla="*/ 112 w 255"/>
                <a:gd name="T67" fmla="*/ 38 h 70"/>
                <a:gd name="T68" fmla="*/ 115 w 255"/>
                <a:gd name="T69" fmla="*/ 31 h 70"/>
                <a:gd name="T70" fmla="*/ 121 w 255"/>
                <a:gd name="T71" fmla="*/ 28 h 70"/>
                <a:gd name="T72" fmla="*/ 128 w 255"/>
                <a:gd name="T73" fmla="*/ 26 h 70"/>
                <a:gd name="T74" fmla="*/ 128 w 255"/>
                <a:gd name="T75" fmla="*/ 26 h 70"/>
                <a:gd name="T76" fmla="*/ 135 w 255"/>
                <a:gd name="T77" fmla="*/ 28 h 70"/>
                <a:gd name="T78" fmla="*/ 140 w 255"/>
                <a:gd name="T79" fmla="*/ 31 h 70"/>
                <a:gd name="T80" fmla="*/ 143 w 255"/>
                <a:gd name="T81" fmla="*/ 38 h 70"/>
                <a:gd name="T82" fmla="*/ 145 w 255"/>
                <a:gd name="T83" fmla="*/ 44 h 70"/>
                <a:gd name="T84" fmla="*/ 145 w 255"/>
                <a:gd name="T85" fmla="*/ 44 h 70"/>
                <a:gd name="T86" fmla="*/ 145 w 255"/>
                <a:gd name="T87" fmla="*/ 45 h 70"/>
                <a:gd name="T88" fmla="*/ 145 w 255"/>
                <a:gd name="T89" fmla="*/ 4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5" h="70">
                  <a:moveTo>
                    <a:pt x="255" y="45"/>
                  </a:moveTo>
                  <a:lnTo>
                    <a:pt x="173" y="45"/>
                  </a:lnTo>
                  <a:lnTo>
                    <a:pt x="173" y="4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1" y="35"/>
                  </a:lnTo>
                  <a:lnTo>
                    <a:pt x="170" y="26"/>
                  </a:lnTo>
                  <a:lnTo>
                    <a:pt x="164" y="19"/>
                  </a:lnTo>
                  <a:lnTo>
                    <a:pt x="159" y="12"/>
                  </a:lnTo>
                  <a:lnTo>
                    <a:pt x="152" y="7"/>
                  </a:lnTo>
                  <a:lnTo>
                    <a:pt x="145" y="3"/>
                  </a:lnTo>
                  <a:lnTo>
                    <a:pt x="136" y="0"/>
                  </a:lnTo>
                  <a:lnTo>
                    <a:pt x="128" y="0"/>
                  </a:lnTo>
                  <a:lnTo>
                    <a:pt x="128" y="0"/>
                  </a:lnTo>
                  <a:lnTo>
                    <a:pt x="119" y="0"/>
                  </a:lnTo>
                  <a:lnTo>
                    <a:pt x="110" y="3"/>
                  </a:lnTo>
                  <a:lnTo>
                    <a:pt x="103" y="7"/>
                  </a:lnTo>
                  <a:lnTo>
                    <a:pt x="96" y="12"/>
                  </a:lnTo>
                  <a:lnTo>
                    <a:pt x="91" y="19"/>
                  </a:lnTo>
                  <a:lnTo>
                    <a:pt x="88" y="26"/>
                  </a:lnTo>
                  <a:lnTo>
                    <a:pt x="84" y="35"/>
                  </a:lnTo>
                  <a:lnTo>
                    <a:pt x="84" y="44"/>
                  </a:lnTo>
                  <a:lnTo>
                    <a:pt x="84" y="44"/>
                  </a:lnTo>
                  <a:lnTo>
                    <a:pt x="84" y="45"/>
                  </a:lnTo>
                  <a:lnTo>
                    <a:pt x="0" y="45"/>
                  </a:lnTo>
                  <a:lnTo>
                    <a:pt x="0" y="70"/>
                  </a:lnTo>
                  <a:lnTo>
                    <a:pt x="255" y="70"/>
                  </a:lnTo>
                  <a:lnTo>
                    <a:pt x="255" y="45"/>
                  </a:lnTo>
                  <a:close/>
                  <a:moveTo>
                    <a:pt x="145" y="45"/>
                  </a:moveTo>
                  <a:lnTo>
                    <a:pt x="110" y="45"/>
                  </a:lnTo>
                  <a:lnTo>
                    <a:pt x="110" y="45"/>
                  </a:lnTo>
                  <a:lnTo>
                    <a:pt x="110" y="44"/>
                  </a:lnTo>
                  <a:lnTo>
                    <a:pt x="110" y="44"/>
                  </a:lnTo>
                  <a:lnTo>
                    <a:pt x="112" y="38"/>
                  </a:lnTo>
                  <a:lnTo>
                    <a:pt x="115" y="31"/>
                  </a:lnTo>
                  <a:lnTo>
                    <a:pt x="121" y="28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35" y="28"/>
                  </a:lnTo>
                  <a:lnTo>
                    <a:pt x="140" y="31"/>
                  </a:lnTo>
                  <a:lnTo>
                    <a:pt x="143" y="38"/>
                  </a:lnTo>
                  <a:lnTo>
                    <a:pt x="145" y="44"/>
                  </a:lnTo>
                  <a:lnTo>
                    <a:pt x="145" y="44"/>
                  </a:lnTo>
                  <a:lnTo>
                    <a:pt x="145" y="45"/>
                  </a:lnTo>
                  <a:lnTo>
                    <a:pt x="14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785"/>
            <p:cNvSpPr>
              <a:spLocks noEditPoints="1"/>
            </p:cNvSpPr>
            <p:nvPr/>
          </p:nvSpPr>
          <p:spPr bwMode="auto">
            <a:xfrm>
              <a:off x="4519150" y="392108"/>
              <a:ext cx="258799" cy="283022"/>
            </a:xfrm>
            <a:custGeom>
              <a:avLst/>
              <a:gdLst>
                <a:gd name="T0" fmla="*/ 194 w 203"/>
                <a:gd name="T1" fmla="*/ 213 h 222"/>
                <a:gd name="T2" fmla="*/ 203 w 203"/>
                <a:gd name="T3" fmla="*/ 213 h 222"/>
                <a:gd name="T4" fmla="*/ 203 w 203"/>
                <a:gd name="T5" fmla="*/ 0 h 222"/>
                <a:gd name="T6" fmla="*/ 0 w 203"/>
                <a:gd name="T7" fmla="*/ 0 h 222"/>
                <a:gd name="T8" fmla="*/ 0 w 203"/>
                <a:gd name="T9" fmla="*/ 213 h 222"/>
                <a:gd name="T10" fmla="*/ 9 w 203"/>
                <a:gd name="T11" fmla="*/ 213 h 222"/>
                <a:gd name="T12" fmla="*/ 9 w 203"/>
                <a:gd name="T13" fmla="*/ 222 h 222"/>
                <a:gd name="T14" fmla="*/ 194 w 203"/>
                <a:gd name="T15" fmla="*/ 222 h 222"/>
                <a:gd name="T16" fmla="*/ 194 w 203"/>
                <a:gd name="T17" fmla="*/ 213 h 222"/>
                <a:gd name="T18" fmla="*/ 182 w 203"/>
                <a:gd name="T19" fmla="*/ 196 h 222"/>
                <a:gd name="T20" fmla="*/ 23 w 203"/>
                <a:gd name="T21" fmla="*/ 196 h 222"/>
                <a:gd name="T22" fmla="*/ 23 w 203"/>
                <a:gd name="T23" fmla="*/ 26 h 222"/>
                <a:gd name="T24" fmla="*/ 182 w 203"/>
                <a:gd name="T25" fmla="*/ 26 h 222"/>
                <a:gd name="T26" fmla="*/ 182 w 203"/>
                <a:gd name="T27" fmla="*/ 196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3" h="222">
                  <a:moveTo>
                    <a:pt x="194" y="213"/>
                  </a:moveTo>
                  <a:lnTo>
                    <a:pt x="203" y="213"/>
                  </a:lnTo>
                  <a:lnTo>
                    <a:pt x="203" y="0"/>
                  </a:lnTo>
                  <a:lnTo>
                    <a:pt x="0" y="0"/>
                  </a:lnTo>
                  <a:lnTo>
                    <a:pt x="0" y="213"/>
                  </a:lnTo>
                  <a:lnTo>
                    <a:pt x="9" y="213"/>
                  </a:lnTo>
                  <a:lnTo>
                    <a:pt x="9" y="222"/>
                  </a:lnTo>
                  <a:lnTo>
                    <a:pt x="194" y="222"/>
                  </a:lnTo>
                  <a:lnTo>
                    <a:pt x="194" y="213"/>
                  </a:lnTo>
                  <a:close/>
                  <a:moveTo>
                    <a:pt x="182" y="196"/>
                  </a:moveTo>
                  <a:lnTo>
                    <a:pt x="23" y="196"/>
                  </a:lnTo>
                  <a:lnTo>
                    <a:pt x="23" y="26"/>
                  </a:lnTo>
                  <a:lnTo>
                    <a:pt x="182" y="26"/>
                  </a:lnTo>
                  <a:lnTo>
                    <a:pt x="182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3" name="Freeform 869"/>
          <p:cNvSpPr>
            <a:spLocks noEditPoints="1"/>
          </p:cNvSpPr>
          <p:nvPr/>
        </p:nvSpPr>
        <p:spPr bwMode="auto">
          <a:xfrm>
            <a:off x="1523539" y="5347349"/>
            <a:ext cx="393935" cy="393935"/>
          </a:xfrm>
          <a:custGeom>
            <a:avLst/>
            <a:gdLst>
              <a:gd name="T0" fmla="*/ 113 w 309"/>
              <a:gd name="T1" fmla="*/ 225 h 309"/>
              <a:gd name="T2" fmla="*/ 146 w 309"/>
              <a:gd name="T3" fmla="*/ 220 h 309"/>
              <a:gd name="T4" fmla="*/ 176 w 309"/>
              <a:gd name="T5" fmla="*/ 206 h 309"/>
              <a:gd name="T6" fmla="*/ 276 w 309"/>
              <a:gd name="T7" fmla="*/ 306 h 309"/>
              <a:gd name="T8" fmla="*/ 288 w 309"/>
              <a:gd name="T9" fmla="*/ 309 h 309"/>
              <a:gd name="T10" fmla="*/ 300 w 309"/>
              <a:gd name="T11" fmla="*/ 300 h 309"/>
              <a:gd name="T12" fmla="*/ 305 w 309"/>
              <a:gd name="T13" fmla="*/ 295 h 309"/>
              <a:gd name="T14" fmla="*/ 307 w 309"/>
              <a:gd name="T15" fmla="*/ 281 h 309"/>
              <a:gd name="T16" fmla="*/ 206 w 309"/>
              <a:gd name="T17" fmla="*/ 176 h 309"/>
              <a:gd name="T18" fmla="*/ 214 w 309"/>
              <a:gd name="T19" fmla="*/ 162 h 309"/>
              <a:gd name="T20" fmla="*/ 225 w 309"/>
              <a:gd name="T21" fmla="*/ 131 h 309"/>
              <a:gd name="T22" fmla="*/ 227 w 309"/>
              <a:gd name="T23" fmla="*/ 112 h 309"/>
              <a:gd name="T24" fmla="*/ 225 w 309"/>
              <a:gd name="T25" fmla="*/ 89 h 309"/>
              <a:gd name="T26" fmla="*/ 218 w 309"/>
              <a:gd name="T27" fmla="*/ 68 h 309"/>
              <a:gd name="T28" fmla="*/ 207 w 309"/>
              <a:gd name="T29" fmla="*/ 49 h 309"/>
              <a:gd name="T30" fmla="*/ 176 w 309"/>
              <a:gd name="T31" fmla="*/ 19 h 309"/>
              <a:gd name="T32" fmla="*/ 157 w 309"/>
              <a:gd name="T33" fmla="*/ 9 h 309"/>
              <a:gd name="T34" fmla="*/ 136 w 309"/>
              <a:gd name="T35" fmla="*/ 2 h 309"/>
              <a:gd name="T36" fmla="*/ 113 w 309"/>
              <a:gd name="T37" fmla="*/ 0 h 309"/>
              <a:gd name="T38" fmla="*/ 103 w 309"/>
              <a:gd name="T39" fmla="*/ 0 h 309"/>
              <a:gd name="T40" fmla="*/ 80 w 309"/>
              <a:gd name="T41" fmla="*/ 5 h 309"/>
              <a:gd name="T42" fmla="*/ 59 w 309"/>
              <a:gd name="T43" fmla="*/ 14 h 309"/>
              <a:gd name="T44" fmla="*/ 33 w 309"/>
              <a:gd name="T45" fmla="*/ 33 h 309"/>
              <a:gd name="T46" fmla="*/ 14 w 309"/>
              <a:gd name="T47" fmla="*/ 59 h 309"/>
              <a:gd name="T48" fmla="*/ 5 w 309"/>
              <a:gd name="T49" fmla="*/ 78 h 309"/>
              <a:gd name="T50" fmla="*/ 1 w 309"/>
              <a:gd name="T51" fmla="*/ 101 h 309"/>
              <a:gd name="T52" fmla="*/ 0 w 309"/>
              <a:gd name="T53" fmla="*/ 112 h 309"/>
              <a:gd name="T54" fmla="*/ 3 w 309"/>
              <a:gd name="T55" fmla="*/ 134 h 309"/>
              <a:gd name="T56" fmla="*/ 10 w 309"/>
              <a:gd name="T57" fmla="*/ 157 h 309"/>
              <a:gd name="T58" fmla="*/ 21 w 309"/>
              <a:gd name="T59" fmla="*/ 176 h 309"/>
              <a:gd name="T60" fmla="*/ 50 w 309"/>
              <a:gd name="T61" fmla="*/ 206 h 309"/>
              <a:gd name="T62" fmla="*/ 70 w 309"/>
              <a:gd name="T63" fmla="*/ 216 h 309"/>
              <a:gd name="T64" fmla="*/ 90 w 309"/>
              <a:gd name="T65" fmla="*/ 223 h 309"/>
              <a:gd name="T66" fmla="*/ 113 w 309"/>
              <a:gd name="T67" fmla="*/ 225 h 309"/>
              <a:gd name="T68" fmla="*/ 113 w 309"/>
              <a:gd name="T69" fmla="*/ 35 h 309"/>
              <a:gd name="T70" fmla="*/ 129 w 309"/>
              <a:gd name="T71" fmla="*/ 37 h 309"/>
              <a:gd name="T72" fmla="*/ 157 w 309"/>
              <a:gd name="T73" fmla="*/ 49 h 309"/>
              <a:gd name="T74" fmla="*/ 178 w 309"/>
              <a:gd name="T75" fmla="*/ 70 h 309"/>
              <a:gd name="T76" fmla="*/ 190 w 309"/>
              <a:gd name="T77" fmla="*/ 96 h 309"/>
              <a:gd name="T78" fmla="*/ 192 w 309"/>
              <a:gd name="T79" fmla="*/ 112 h 309"/>
              <a:gd name="T80" fmla="*/ 185 w 309"/>
              <a:gd name="T81" fmla="*/ 143 h 309"/>
              <a:gd name="T82" fmla="*/ 169 w 309"/>
              <a:gd name="T83" fmla="*/ 168 h 309"/>
              <a:gd name="T84" fmla="*/ 143 w 309"/>
              <a:gd name="T85" fmla="*/ 183 h 309"/>
              <a:gd name="T86" fmla="*/ 113 w 309"/>
              <a:gd name="T87" fmla="*/ 190 h 309"/>
              <a:gd name="T88" fmla="*/ 97 w 309"/>
              <a:gd name="T89" fmla="*/ 188 h 309"/>
              <a:gd name="T90" fmla="*/ 70 w 309"/>
              <a:gd name="T91" fmla="*/ 176 h 309"/>
              <a:gd name="T92" fmla="*/ 49 w 309"/>
              <a:gd name="T93" fmla="*/ 155 h 309"/>
              <a:gd name="T94" fmla="*/ 38 w 309"/>
              <a:gd name="T95" fmla="*/ 127 h 309"/>
              <a:gd name="T96" fmla="*/ 36 w 309"/>
              <a:gd name="T97" fmla="*/ 112 h 309"/>
              <a:gd name="T98" fmla="*/ 42 w 309"/>
              <a:gd name="T99" fmla="*/ 82 h 309"/>
              <a:gd name="T100" fmla="*/ 59 w 309"/>
              <a:gd name="T101" fmla="*/ 57 h 309"/>
              <a:gd name="T102" fmla="*/ 83 w 309"/>
              <a:gd name="T103" fmla="*/ 40 h 309"/>
              <a:gd name="T104" fmla="*/ 113 w 309"/>
              <a:gd name="T105" fmla="*/ 35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09" h="309">
                <a:moveTo>
                  <a:pt x="113" y="225"/>
                </a:moveTo>
                <a:lnTo>
                  <a:pt x="113" y="225"/>
                </a:lnTo>
                <a:lnTo>
                  <a:pt x="131" y="223"/>
                </a:lnTo>
                <a:lnTo>
                  <a:pt x="146" y="220"/>
                </a:lnTo>
                <a:lnTo>
                  <a:pt x="162" y="215"/>
                </a:lnTo>
                <a:lnTo>
                  <a:pt x="176" y="206"/>
                </a:lnTo>
                <a:lnTo>
                  <a:pt x="276" y="306"/>
                </a:lnTo>
                <a:lnTo>
                  <a:pt x="276" y="306"/>
                </a:lnTo>
                <a:lnTo>
                  <a:pt x="281" y="307"/>
                </a:lnTo>
                <a:lnTo>
                  <a:pt x="288" y="309"/>
                </a:lnTo>
                <a:lnTo>
                  <a:pt x="295" y="306"/>
                </a:lnTo>
                <a:lnTo>
                  <a:pt x="300" y="300"/>
                </a:lnTo>
                <a:lnTo>
                  <a:pt x="300" y="300"/>
                </a:lnTo>
                <a:lnTo>
                  <a:pt x="305" y="295"/>
                </a:lnTo>
                <a:lnTo>
                  <a:pt x="309" y="288"/>
                </a:lnTo>
                <a:lnTo>
                  <a:pt x="307" y="281"/>
                </a:lnTo>
                <a:lnTo>
                  <a:pt x="305" y="276"/>
                </a:lnTo>
                <a:lnTo>
                  <a:pt x="206" y="176"/>
                </a:lnTo>
                <a:lnTo>
                  <a:pt x="206" y="176"/>
                </a:lnTo>
                <a:lnTo>
                  <a:pt x="214" y="162"/>
                </a:lnTo>
                <a:lnTo>
                  <a:pt x="221" y="147"/>
                </a:lnTo>
                <a:lnTo>
                  <a:pt x="225" y="131"/>
                </a:lnTo>
                <a:lnTo>
                  <a:pt x="227" y="112"/>
                </a:lnTo>
                <a:lnTo>
                  <a:pt x="227" y="112"/>
                </a:lnTo>
                <a:lnTo>
                  <a:pt x="227" y="101"/>
                </a:lnTo>
                <a:lnTo>
                  <a:pt x="225" y="89"/>
                </a:lnTo>
                <a:lnTo>
                  <a:pt x="221" y="78"/>
                </a:lnTo>
                <a:lnTo>
                  <a:pt x="218" y="68"/>
                </a:lnTo>
                <a:lnTo>
                  <a:pt x="213" y="59"/>
                </a:lnTo>
                <a:lnTo>
                  <a:pt x="207" y="49"/>
                </a:lnTo>
                <a:lnTo>
                  <a:pt x="194" y="33"/>
                </a:lnTo>
                <a:lnTo>
                  <a:pt x="176" y="19"/>
                </a:lnTo>
                <a:lnTo>
                  <a:pt x="167" y="14"/>
                </a:lnTo>
                <a:lnTo>
                  <a:pt x="157" y="9"/>
                </a:lnTo>
                <a:lnTo>
                  <a:pt x="146" y="5"/>
                </a:lnTo>
                <a:lnTo>
                  <a:pt x="136" y="2"/>
                </a:lnTo>
                <a:lnTo>
                  <a:pt x="125" y="0"/>
                </a:lnTo>
                <a:lnTo>
                  <a:pt x="113" y="0"/>
                </a:lnTo>
                <a:lnTo>
                  <a:pt x="113" y="0"/>
                </a:lnTo>
                <a:lnTo>
                  <a:pt x="103" y="0"/>
                </a:lnTo>
                <a:lnTo>
                  <a:pt x="90" y="2"/>
                </a:lnTo>
                <a:lnTo>
                  <a:pt x="80" y="5"/>
                </a:lnTo>
                <a:lnTo>
                  <a:pt x="70" y="9"/>
                </a:lnTo>
                <a:lnTo>
                  <a:pt x="59" y="14"/>
                </a:lnTo>
                <a:lnTo>
                  <a:pt x="50" y="19"/>
                </a:lnTo>
                <a:lnTo>
                  <a:pt x="33" y="33"/>
                </a:lnTo>
                <a:lnTo>
                  <a:pt x="21" y="49"/>
                </a:lnTo>
                <a:lnTo>
                  <a:pt x="14" y="59"/>
                </a:lnTo>
                <a:lnTo>
                  <a:pt x="10" y="68"/>
                </a:lnTo>
                <a:lnTo>
                  <a:pt x="5" y="78"/>
                </a:lnTo>
                <a:lnTo>
                  <a:pt x="3" y="89"/>
                </a:lnTo>
                <a:lnTo>
                  <a:pt x="1" y="101"/>
                </a:lnTo>
                <a:lnTo>
                  <a:pt x="0" y="112"/>
                </a:lnTo>
                <a:lnTo>
                  <a:pt x="0" y="112"/>
                </a:lnTo>
                <a:lnTo>
                  <a:pt x="1" y="124"/>
                </a:lnTo>
                <a:lnTo>
                  <a:pt x="3" y="134"/>
                </a:lnTo>
                <a:lnTo>
                  <a:pt x="5" y="147"/>
                </a:lnTo>
                <a:lnTo>
                  <a:pt x="10" y="157"/>
                </a:lnTo>
                <a:lnTo>
                  <a:pt x="14" y="166"/>
                </a:lnTo>
                <a:lnTo>
                  <a:pt x="21" y="176"/>
                </a:lnTo>
                <a:lnTo>
                  <a:pt x="33" y="192"/>
                </a:lnTo>
                <a:lnTo>
                  <a:pt x="50" y="206"/>
                </a:lnTo>
                <a:lnTo>
                  <a:pt x="59" y="211"/>
                </a:lnTo>
                <a:lnTo>
                  <a:pt x="70" y="216"/>
                </a:lnTo>
                <a:lnTo>
                  <a:pt x="80" y="220"/>
                </a:lnTo>
                <a:lnTo>
                  <a:pt x="90" y="223"/>
                </a:lnTo>
                <a:lnTo>
                  <a:pt x="103" y="225"/>
                </a:lnTo>
                <a:lnTo>
                  <a:pt x="113" y="225"/>
                </a:lnTo>
                <a:lnTo>
                  <a:pt x="113" y="225"/>
                </a:lnTo>
                <a:close/>
                <a:moveTo>
                  <a:pt x="113" y="35"/>
                </a:moveTo>
                <a:lnTo>
                  <a:pt x="113" y="35"/>
                </a:lnTo>
                <a:lnTo>
                  <a:pt x="129" y="37"/>
                </a:lnTo>
                <a:lnTo>
                  <a:pt x="143" y="40"/>
                </a:lnTo>
                <a:lnTo>
                  <a:pt x="157" y="49"/>
                </a:lnTo>
                <a:lnTo>
                  <a:pt x="169" y="57"/>
                </a:lnTo>
                <a:lnTo>
                  <a:pt x="178" y="70"/>
                </a:lnTo>
                <a:lnTo>
                  <a:pt x="185" y="82"/>
                </a:lnTo>
                <a:lnTo>
                  <a:pt x="190" y="96"/>
                </a:lnTo>
                <a:lnTo>
                  <a:pt x="192" y="112"/>
                </a:lnTo>
                <a:lnTo>
                  <a:pt x="192" y="112"/>
                </a:lnTo>
                <a:lnTo>
                  <a:pt x="190" y="127"/>
                </a:lnTo>
                <a:lnTo>
                  <a:pt x="185" y="143"/>
                </a:lnTo>
                <a:lnTo>
                  <a:pt x="178" y="155"/>
                </a:lnTo>
                <a:lnTo>
                  <a:pt x="169" y="168"/>
                </a:lnTo>
                <a:lnTo>
                  <a:pt x="157" y="176"/>
                </a:lnTo>
                <a:lnTo>
                  <a:pt x="143" y="183"/>
                </a:lnTo>
                <a:lnTo>
                  <a:pt x="129" y="188"/>
                </a:lnTo>
                <a:lnTo>
                  <a:pt x="113" y="190"/>
                </a:lnTo>
                <a:lnTo>
                  <a:pt x="113" y="190"/>
                </a:lnTo>
                <a:lnTo>
                  <a:pt x="97" y="188"/>
                </a:lnTo>
                <a:lnTo>
                  <a:pt x="83" y="183"/>
                </a:lnTo>
                <a:lnTo>
                  <a:pt x="70" y="176"/>
                </a:lnTo>
                <a:lnTo>
                  <a:pt x="59" y="168"/>
                </a:lnTo>
                <a:lnTo>
                  <a:pt x="49" y="155"/>
                </a:lnTo>
                <a:lnTo>
                  <a:pt x="42" y="143"/>
                </a:lnTo>
                <a:lnTo>
                  <a:pt x="38" y="127"/>
                </a:lnTo>
                <a:lnTo>
                  <a:pt x="36" y="112"/>
                </a:lnTo>
                <a:lnTo>
                  <a:pt x="36" y="112"/>
                </a:lnTo>
                <a:lnTo>
                  <a:pt x="38" y="96"/>
                </a:lnTo>
                <a:lnTo>
                  <a:pt x="42" y="82"/>
                </a:lnTo>
                <a:lnTo>
                  <a:pt x="49" y="70"/>
                </a:lnTo>
                <a:lnTo>
                  <a:pt x="59" y="57"/>
                </a:lnTo>
                <a:lnTo>
                  <a:pt x="70" y="49"/>
                </a:lnTo>
                <a:lnTo>
                  <a:pt x="83" y="40"/>
                </a:lnTo>
                <a:lnTo>
                  <a:pt x="97" y="37"/>
                </a:lnTo>
                <a:lnTo>
                  <a:pt x="113" y="35"/>
                </a:lnTo>
                <a:lnTo>
                  <a:pt x="113" y="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22" tIns="45712" rIns="91422" bIns="45712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499962" y="9812058"/>
            <a:ext cx="417512" cy="371475"/>
            <a:chOff x="2884682" y="5795963"/>
            <a:chExt cx="417512" cy="371475"/>
          </a:xfrm>
          <a:solidFill>
            <a:schemeClr val="bg1"/>
          </a:solidFill>
        </p:grpSpPr>
        <p:sp>
          <p:nvSpPr>
            <p:cNvPr id="25" name="Freeform 740"/>
            <p:cNvSpPr>
              <a:spLocks noEditPoints="1"/>
            </p:cNvSpPr>
            <p:nvPr/>
          </p:nvSpPr>
          <p:spPr bwMode="auto">
            <a:xfrm>
              <a:off x="2884682" y="5795963"/>
              <a:ext cx="309562" cy="309563"/>
            </a:xfrm>
            <a:custGeom>
              <a:avLst/>
              <a:gdLst>
                <a:gd name="T0" fmla="*/ 58 w 195"/>
                <a:gd name="T1" fmla="*/ 183 h 195"/>
                <a:gd name="T2" fmla="*/ 63 w 195"/>
                <a:gd name="T3" fmla="*/ 188 h 195"/>
                <a:gd name="T4" fmla="*/ 93 w 195"/>
                <a:gd name="T5" fmla="*/ 195 h 195"/>
                <a:gd name="T6" fmla="*/ 98 w 195"/>
                <a:gd name="T7" fmla="*/ 189 h 195"/>
                <a:gd name="T8" fmla="*/ 111 w 195"/>
                <a:gd name="T9" fmla="*/ 176 h 195"/>
                <a:gd name="T10" fmla="*/ 126 w 195"/>
                <a:gd name="T11" fmla="*/ 184 h 195"/>
                <a:gd name="T12" fmla="*/ 133 w 195"/>
                <a:gd name="T13" fmla="*/ 187 h 195"/>
                <a:gd name="T14" fmla="*/ 160 w 195"/>
                <a:gd name="T15" fmla="*/ 171 h 195"/>
                <a:gd name="T16" fmla="*/ 163 w 195"/>
                <a:gd name="T17" fmla="*/ 165 h 195"/>
                <a:gd name="T18" fmla="*/ 157 w 195"/>
                <a:gd name="T19" fmla="*/ 153 h 195"/>
                <a:gd name="T20" fmla="*/ 180 w 195"/>
                <a:gd name="T21" fmla="*/ 137 h 195"/>
                <a:gd name="T22" fmla="*/ 186 w 195"/>
                <a:gd name="T23" fmla="*/ 136 h 195"/>
                <a:gd name="T24" fmla="*/ 195 w 195"/>
                <a:gd name="T25" fmla="*/ 103 h 195"/>
                <a:gd name="T26" fmla="*/ 193 w 195"/>
                <a:gd name="T27" fmla="*/ 98 h 195"/>
                <a:gd name="T28" fmla="*/ 180 w 195"/>
                <a:gd name="T29" fmla="*/ 94 h 195"/>
                <a:gd name="T30" fmla="*/ 178 w 195"/>
                <a:gd name="T31" fmla="*/ 72 h 195"/>
                <a:gd name="T32" fmla="*/ 187 w 195"/>
                <a:gd name="T33" fmla="*/ 67 h 195"/>
                <a:gd name="T34" fmla="*/ 187 w 195"/>
                <a:gd name="T35" fmla="*/ 59 h 195"/>
                <a:gd name="T36" fmla="*/ 170 w 195"/>
                <a:gd name="T37" fmla="*/ 33 h 195"/>
                <a:gd name="T38" fmla="*/ 162 w 195"/>
                <a:gd name="T39" fmla="*/ 31 h 195"/>
                <a:gd name="T40" fmla="*/ 148 w 195"/>
                <a:gd name="T41" fmla="*/ 26 h 195"/>
                <a:gd name="T42" fmla="*/ 137 w 195"/>
                <a:gd name="T43" fmla="*/ 14 h 195"/>
                <a:gd name="T44" fmla="*/ 135 w 195"/>
                <a:gd name="T45" fmla="*/ 7 h 195"/>
                <a:gd name="T46" fmla="*/ 105 w 195"/>
                <a:gd name="T47" fmla="*/ 0 h 195"/>
                <a:gd name="T48" fmla="*/ 97 w 195"/>
                <a:gd name="T49" fmla="*/ 3 h 195"/>
                <a:gd name="T50" fmla="*/ 96 w 195"/>
                <a:gd name="T51" fmla="*/ 9 h 195"/>
                <a:gd name="T52" fmla="*/ 68 w 195"/>
                <a:gd name="T53" fmla="*/ 9 h 195"/>
                <a:gd name="T54" fmla="*/ 64 w 195"/>
                <a:gd name="T55" fmla="*/ 7 h 195"/>
                <a:gd name="T56" fmla="*/ 34 w 195"/>
                <a:gd name="T57" fmla="*/ 22 h 195"/>
                <a:gd name="T58" fmla="*/ 32 w 195"/>
                <a:gd name="T59" fmla="*/ 26 h 195"/>
                <a:gd name="T60" fmla="*/ 36 w 195"/>
                <a:gd name="T61" fmla="*/ 35 h 195"/>
                <a:gd name="T62" fmla="*/ 20 w 195"/>
                <a:gd name="T63" fmla="*/ 58 h 195"/>
                <a:gd name="T64" fmla="*/ 12 w 195"/>
                <a:gd name="T65" fmla="*/ 56 h 195"/>
                <a:gd name="T66" fmla="*/ 7 w 195"/>
                <a:gd name="T67" fmla="*/ 61 h 195"/>
                <a:gd name="T68" fmla="*/ 0 w 195"/>
                <a:gd name="T69" fmla="*/ 93 h 195"/>
                <a:gd name="T70" fmla="*/ 6 w 195"/>
                <a:gd name="T71" fmla="*/ 98 h 195"/>
                <a:gd name="T72" fmla="*/ 15 w 195"/>
                <a:gd name="T73" fmla="*/ 111 h 195"/>
                <a:gd name="T74" fmla="*/ 9 w 195"/>
                <a:gd name="T75" fmla="*/ 125 h 195"/>
                <a:gd name="T76" fmla="*/ 7 w 195"/>
                <a:gd name="T77" fmla="*/ 132 h 195"/>
                <a:gd name="T78" fmla="*/ 23 w 195"/>
                <a:gd name="T79" fmla="*/ 159 h 195"/>
                <a:gd name="T80" fmla="*/ 29 w 195"/>
                <a:gd name="T81" fmla="*/ 162 h 195"/>
                <a:gd name="T82" fmla="*/ 41 w 195"/>
                <a:gd name="T83" fmla="*/ 157 h 195"/>
                <a:gd name="T84" fmla="*/ 58 w 195"/>
                <a:gd name="T85" fmla="*/ 180 h 195"/>
                <a:gd name="T86" fmla="*/ 54 w 195"/>
                <a:gd name="T87" fmla="*/ 108 h 195"/>
                <a:gd name="T88" fmla="*/ 53 w 195"/>
                <a:gd name="T89" fmla="*/ 82 h 195"/>
                <a:gd name="T90" fmla="*/ 66 w 195"/>
                <a:gd name="T91" fmla="*/ 60 h 195"/>
                <a:gd name="T92" fmla="*/ 81 w 195"/>
                <a:gd name="T93" fmla="*/ 51 h 195"/>
                <a:gd name="T94" fmla="*/ 107 w 195"/>
                <a:gd name="T95" fmla="*/ 50 h 195"/>
                <a:gd name="T96" fmla="*/ 130 w 195"/>
                <a:gd name="T97" fmla="*/ 63 h 195"/>
                <a:gd name="T98" fmla="*/ 140 w 195"/>
                <a:gd name="T99" fmla="*/ 77 h 195"/>
                <a:gd name="T100" fmla="*/ 141 w 195"/>
                <a:gd name="T101" fmla="*/ 103 h 195"/>
                <a:gd name="T102" fmla="*/ 128 w 195"/>
                <a:gd name="T103" fmla="*/ 127 h 195"/>
                <a:gd name="T104" fmla="*/ 113 w 195"/>
                <a:gd name="T105" fmla="*/ 136 h 195"/>
                <a:gd name="T106" fmla="*/ 86 w 195"/>
                <a:gd name="T107" fmla="*/ 137 h 195"/>
                <a:gd name="T108" fmla="*/ 64 w 195"/>
                <a:gd name="T109" fmla="*/ 124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5" h="195">
                  <a:moveTo>
                    <a:pt x="58" y="180"/>
                  </a:moveTo>
                  <a:lnTo>
                    <a:pt x="58" y="180"/>
                  </a:lnTo>
                  <a:lnTo>
                    <a:pt x="58" y="183"/>
                  </a:lnTo>
                  <a:lnTo>
                    <a:pt x="58" y="184"/>
                  </a:lnTo>
                  <a:lnTo>
                    <a:pt x="60" y="187"/>
                  </a:lnTo>
                  <a:lnTo>
                    <a:pt x="63" y="188"/>
                  </a:lnTo>
                  <a:lnTo>
                    <a:pt x="90" y="195"/>
                  </a:lnTo>
                  <a:lnTo>
                    <a:pt x="90" y="195"/>
                  </a:lnTo>
                  <a:lnTo>
                    <a:pt x="93" y="195"/>
                  </a:lnTo>
                  <a:lnTo>
                    <a:pt x="96" y="193"/>
                  </a:lnTo>
                  <a:lnTo>
                    <a:pt x="98" y="191"/>
                  </a:lnTo>
                  <a:lnTo>
                    <a:pt x="98" y="189"/>
                  </a:lnTo>
                  <a:lnTo>
                    <a:pt x="101" y="178"/>
                  </a:lnTo>
                  <a:lnTo>
                    <a:pt x="101" y="178"/>
                  </a:lnTo>
                  <a:lnTo>
                    <a:pt x="111" y="176"/>
                  </a:lnTo>
                  <a:lnTo>
                    <a:pt x="120" y="174"/>
                  </a:lnTo>
                  <a:lnTo>
                    <a:pt x="126" y="184"/>
                  </a:lnTo>
                  <a:lnTo>
                    <a:pt x="126" y="184"/>
                  </a:lnTo>
                  <a:lnTo>
                    <a:pt x="128" y="187"/>
                  </a:lnTo>
                  <a:lnTo>
                    <a:pt x="131" y="187"/>
                  </a:lnTo>
                  <a:lnTo>
                    <a:pt x="133" y="187"/>
                  </a:lnTo>
                  <a:lnTo>
                    <a:pt x="136" y="187"/>
                  </a:lnTo>
                  <a:lnTo>
                    <a:pt x="160" y="171"/>
                  </a:lnTo>
                  <a:lnTo>
                    <a:pt x="160" y="171"/>
                  </a:lnTo>
                  <a:lnTo>
                    <a:pt x="162" y="170"/>
                  </a:lnTo>
                  <a:lnTo>
                    <a:pt x="163" y="167"/>
                  </a:lnTo>
                  <a:lnTo>
                    <a:pt x="163" y="165"/>
                  </a:lnTo>
                  <a:lnTo>
                    <a:pt x="162" y="162"/>
                  </a:lnTo>
                  <a:lnTo>
                    <a:pt x="157" y="153"/>
                  </a:lnTo>
                  <a:lnTo>
                    <a:pt x="157" y="153"/>
                  </a:lnTo>
                  <a:lnTo>
                    <a:pt x="163" y="144"/>
                  </a:lnTo>
                  <a:lnTo>
                    <a:pt x="170" y="135"/>
                  </a:lnTo>
                  <a:lnTo>
                    <a:pt x="180" y="137"/>
                  </a:lnTo>
                  <a:lnTo>
                    <a:pt x="180" y="137"/>
                  </a:lnTo>
                  <a:lnTo>
                    <a:pt x="183" y="137"/>
                  </a:lnTo>
                  <a:lnTo>
                    <a:pt x="186" y="136"/>
                  </a:lnTo>
                  <a:lnTo>
                    <a:pt x="187" y="135"/>
                  </a:lnTo>
                  <a:lnTo>
                    <a:pt x="188" y="132"/>
                  </a:lnTo>
                  <a:lnTo>
                    <a:pt x="195" y="103"/>
                  </a:lnTo>
                  <a:lnTo>
                    <a:pt x="195" y="103"/>
                  </a:lnTo>
                  <a:lnTo>
                    <a:pt x="195" y="101"/>
                  </a:lnTo>
                  <a:lnTo>
                    <a:pt x="193" y="98"/>
                  </a:lnTo>
                  <a:lnTo>
                    <a:pt x="192" y="97"/>
                  </a:lnTo>
                  <a:lnTo>
                    <a:pt x="190" y="95"/>
                  </a:lnTo>
                  <a:lnTo>
                    <a:pt x="180" y="94"/>
                  </a:lnTo>
                  <a:lnTo>
                    <a:pt x="180" y="94"/>
                  </a:lnTo>
                  <a:lnTo>
                    <a:pt x="180" y="82"/>
                  </a:lnTo>
                  <a:lnTo>
                    <a:pt x="178" y="72"/>
                  </a:lnTo>
                  <a:lnTo>
                    <a:pt x="184" y="68"/>
                  </a:lnTo>
                  <a:lnTo>
                    <a:pt x="184" y="68"/>
                  </a:lnTo>
                  <a:lnTo>
                    <a:pt x="187" y="67"/>
                  </a:lnTo>
                  <a:lnTo>
                    <a:pt x="188" y="64"/>
                  </a:lnTo>
                  <a:lnTo>
                    <a:pt x="188" y="61"/>
                  </a:lnTo>
                  <a:lnTo>
                    <a:pt x="187" y="59"/>
                  </a:lnTo>
                  <a:lnTo>
                    <a:pt x="173" y="34"/>
                  </a:lnTo>
                  <a:lnTo>
                    <a:pt x="173" y="34"/>
                  </a:lnTo>
                  <a:lnTo>
                    <a:pt x="170" y="33"/>
                  </a:lnTo>
                  <a:lnTo>
                    <a:pt x="167" y="31"/>
                  </a:lnTo>
                  <a:lnTo>
                    <a:pt x="165" y="31"/>
                  </a:lnTo>
                  <a:lnTo>
                    <a:pt x="162" y="31"/>
                  </a:lnTo>
                  <a:lnTo>
                    <a:pt x="158" y="35"/>
                  </a:lnTo>
                  <a:lnTo>
                    <a:pt x="158" y="35"/>
                  </a:lnTo>
                  <a:lnTo>
                    <a:pt x="148" y="26"/>
                  </a:lnTo>
                  <a:lnTo>
                    <a:pt x="136" y="18"/>
                  </a:lnTo>
                  <a:lnTo>
                    <a:pt x="137" y="14"/>
                  </a:lnTo>
                  <a:lnTo>
                    <a:pt x="137" y="14"/>
                  </a:lnTo>
                  <a:lnTo>
                    <a:pt x="137" y="11"/>
                  </a:lnTo>
                  <a:lnTo>
                    <a:pt x="136" y="9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05" y="0"/>
                  </a:lnTo>
                  <a:lnTo>
                    <a:pt x="105" y="0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7" y="3"/>
                  </a:lnTo>
                  <a:lnTo>
                    <a:pt x="96" y="5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83" y="11"/>
                  </a:lnTo>
                  <a:lnTo>
                    <a:pt x="71" y="13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67" y="8"/>
                  </a:lnTo>
                  <a:lnTo>
                    <a:pt x="64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3" y="24"/>
                  </a:lnTo>
                  <a:lnTo>
                    <a:pt x="32" y="26"/>
                  </a:lnTo>
                  <a:lnTo>
                    <a:pt x="32" y="29"/>
                  </a:lnTo>
                  <a:lnTo>
                    <a:pt x="33" y="31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6" y="47"/>
                  </a:lnTo>
                  <a:lnTo>
                    <a:pt x="20" y="58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2" y="56"/>
                  </a:lnTo>
                  <a:lnTo>
                    <a:pt x="9" y="58"/>
                  </a:lnTo>
                  <a:lnTo>
                    <a:pt x="8" y="59"/>
                  </a:lnTo>
                  <a:lnTo>
                    <a:pt x="7" y="61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2" y="95"/>
                  </a:lnTo>
                  <a:lnTo>
                    <a:pt x="3" y="97"/>
                  </a:lnTo>
                  <a:lnTo>
                    <a:pt x="6" y="98"/>
                  </a:lnTo>
                  <a:lnTo>
                    <a:pt x="13" y="99"/>
                  </a:lnTo>
                  <a:lnTo>
                    <a:pt x="13" y="99"/>
                  </a:lnTo>
                  <a:lnTo>
                    <a:pt x="15" y="111"/>
                  </a:lnTo>
                  <a:lnTo>
                    <a:pt x="17" y="121"/>
                  </a:lnTo>
                  <a:lnTo>
                    <a:pt x="9" y="125"/>
                  </a:lnTo>
                  <a:lnTo>
                    <a:pt x="9" y="125"/>
                  </a:lnTo>
                  <a:lnTo>
                    <a:pt x="8" y="128"/>
                  </a:lnTo>
                  <a:lnTo>
                    <a:pt x="7" y="129"/>
                  </a:lnTo>
                  <a:lnTo>
                    <a:pt x="7" y="132"/>
                  </a:lnTo>
                  <a:lnTo>
                    <a:pt x="8" y="135"/>
                  </a:lnTo>
                  <a:lnTo>
                    <a:pt x="23" y="159"/>
                  </a:lnTo>
                  <a:lnTo>
                    <a:pt x="23" y="159"/>
                  </a:lnTo>
                  <a:lnTo>
                    <a:pt x="25" y="162"/>
                  </a:lnTo>
                  <a:lnTo>
                    <a:pt x="26" y="162"/>
                  </a:lnTo>
                  <a:lnTo>
                    <a:pt x="29" y="162"/>
                  </a:lnTo>
                  <a:lnTo>
                    <a:pt x="32" y="162"/>
                  </a:lnTo>
                  <a:lnTo>
                    <a:pt x="41" y="157"/>
                  </a:lnTo>
                  <a:lnTo>
                    <a:pt x="41" y="157"/>
                  </a:lnTo>
                  <a:lnTo>
                    <a:pt x="50" y="163"/>
                  </a:lnTo>
                  <a:lnTo>
                    <a:pt x="60" y="168"/>
                  </a:lnTo>
                  <a:lnTo>
                    <a:pt x="58" y="180"/>
                  </a:lnTo>
                  <a:close/>
                  <a:moveTo>
                    <a:pt x="58" y="116"/>
                  </a:moveTo>
                  <a:lnTo>
                    <a:pt x="58" y="116"/>
                  </a:lnTo>
                  <a:lnTo>
                    <a:pt x="54" y="108"/>
                  </a:lnTo>
                  <a:lnTo>
                    <a:pt x="53" y="99"/>
                  </a:lnTo>
                  <a:lnTo>
                    <a:pt x="51" y="91"/>
                  </a:lnTo>
                  <a:lnTo>
                    <a:pt x="53" y="82"/>
                  </a:lnTo>
                  <a:lnTo>
                    <a:pt x="55" y="75"/>
                  </a:lnTo>
                  <a:lnTo>
                    <a:pt x="60" y="67"/>
                  </a:lnTo>
                  <a:lnTo>
                    <a:pt x="66" y="60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81" y="51"/>
                  </a:lnTo>
                  <a:lnTo>
                    <a:pt x="90" y="48"/>
                  </a:lnTo>
                  <a:lnTo>
                    <a:pt x="98" y="48"/>
                  </a:lnTo>
                  <a:lnTo>
                    <a:pt x="107" y="50"/>
                  </a:lnTo>
                  <a:lnTo>
                    <a:pt x="115" y="52"/>
                  </a:lnTo>
                  <a:lnTo>
                    <a:pt x="123" y="56"/>
                  </a:lnTo>
                  <a:lnTo>
                    <a:pt x="130" y="63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140" y="77"/>
                  </a:lnTo>
                  <a:lnTo>
                    <a:pt x="141" y="86"/>
                  </a:lnTo>
                  <a:lnTo>
                    <a:pt x="143" y="95"/>
                  </a:lnTo>
                  <a:lnTo>
                    <a:pt x="141" y="103"/>
                  </a:lnTo>
                  <a:lnTo>
                    <a:pt x="137" y="112"/>
                  </a:lnTo>
                  <a:lnTo>
                    <a:pt x="133" y="119"/>
                  </a:lnTo>
                  <a:lnTo>
                    <a:pt x="128" y="127"/>
                  </a:lnTo>
                  <a:lnTo>
                    <a:pt x="120" y="132"/>
                  </a:lnTo>
                  <a:lnTo>
                    <a:pt x="120" y="132"/>
                  </a:lnTo>
                  <a:lnTo>
                    <a:pt x="113" y="136"/>
                  </a:lnTo>
                  <a:lnTo>
                    <a:pt x="103" y="138"/>
                  </a:lnTo>
                  <a:lnTo>
                    <a:pt x="94" y="138"/>
                  </a:lnTo>
                  <a:lnTo>
                    <a:pt x="86" y="137"/>
                  </a:lnTo>
                  <a:lnTo>
                    <a:pt x="79" y="135"/>
                  </a:lnTo>
                  <a:lnTo>
                    <a:pt x="71" y="129"/>
                  </a:lnTo>
                  <a:lnTo>
                    <a:pt x="64" y="124"/>
                  </a:lnTo>
                  <a:lnTo>
                    <a:pt x="58" y="116"/>
                  </a:lnTo>
                  <a:lnTo>
                    <a:pt x="5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741"/>
            <p:cNvSpPr>
              <a:spLocks noEditPoints="1"/>
            </p:cNvSpPr>
            <p:nvPr/>
          </p:nvSpPr>
          <p:spPr bwMode="auto">
            <a:xfrm>
              <a:off x="3138682" y="6003925"/>
              <a:ext cx="163512" cy="163513"/>
            </a:xfrm>
            <a:custGeom>
              <a:avLst/>
              <a:gdLst>
                <a:gd name="T0" fmla="*/ 93 w 103"/>
                <a:gd name="T1" fmla="*/ 36 h 103"/>
                <a:gd name="T2" fmla="*/ 91 w 103"/>
                <a:gd name="T3" fmla="*/ 23 h 103"/>
                <a:gd name="T4" fmla="*/ 79 w 103"/>
                <a:gd name="T5" fmla="*/ 7 h 103"/>
                <a:gd name="T6" fmla="*/ 74 w 103"/>
                <a:gd name="T7" fmla="*/ 9 h 103"/>
                <a:gd name="T8" fmla="*/ 66 w 103"/>
                <a:gd name="T9" fmla="*/ 7 h 103"/>
                <a:gd name="T10" fmla="*/ 58 w 103"/>
                <a:gd name="T11" fmla="*/ 4 h 103"/>
                <a:gd name="T12" fmla="*/ 40 w 103"/>
                <a:gd name="T13" fmla="*/ 1 h 103"/>
                <a:gd name="T14" fmla="*/ 36 w 103"/>
                <a:gd name="T15" fmla="*/ 5 h 103"/>
                <a:gd name="T16" fmla="*/ 31 w 103"/>
                <a:gd name="T17" fmla="*/ 10 h 103"/>
                <a:gd name="T18" fmla="*/ 23 w 103"/>
                <a:gd name="T19" fmla="*/ 13 h 103"/>
                <a:gd name="T20" fmla="*/ 9 w 103"/>
                <a:gd name="T21" fmla="*/ 24 h 103"/>
                <a:gd name="T22" fmla="*/ 9 w 103"/>
                <a:gd name="T23" fmla="*/ 28 h 103"/>
                <a:gd name="T24" fmla="*/ 7 w 103"/>
                <a:gd name="T25" fmla="*/ 37 h 103"/>
                <a:gd name="T26" fmla="*/ 3 w 103"/>
                <a:gd name="T27" fmla="*/ 44 h 103"/>
                <a:gd name="T28" fmla="*/ 1 w 103"/>
                <a:gd name="T29" fmla="*/ 64 h 103"/>
                <a:gd name="T30" fmla="*/ 5 w 103"/>
                <a:gd name="T31" fmla="*/ 66 h 103"/>
                <a:gd name="T32" fmla="*/ 15 w 103"/>
                <a:gd name="T33" fmla="*/ 77 h 103"/>
                <a:gd name="T34" fmla="*/ 11 w 103"/>
                <a:gd name="T35" fmla="*/ 82 h 103"/>
                <a:gd name="T36" fmla="*/ 24 w 103"/>
                <a:gd name="T37" fmla="*/ 95 h 103"/>
                <a:gd name="T38" fmla="*/ 32 w 103"/>
                <a:gd name="T39" fmla="*/ 90 h 103"/>
                <a:gd name="T40" fmla="*/ 44 w 103"/>
                <a:gd name="T41" fmla="*/ 94 h 103"/>
                <a:gd name="T42" fmla="*/ 45 w 103"/>
                <a:gd name="T43" fmla="*/ 101 h 103"/>
                <a:gd name="T44" fmla="*/ 63 w 103"/>
                <a:gd name="T45" fmla="*/ 101 h 103"/>
                <a:gd name="T46" fmla="*/ 66 w 103"/>
                <a:gd name="T47" fmla="*/ 91 h 103"/>
                <a:gd name="T48" fmla="*/ 80 w 103"/>
                <a:gd name="T49" fmla="*/ 91 h 103"/>
                <a:gd name="T50" fmla="*/ 84 w 103"/>
                <a:gd name="T51" fmla="*/ 91 h 103"/>
                <a:gd name="T52" fmla="*/ 96 w 103"/>
                <a:gd name="T53" fmla="*/ 77 h 103"/>
                <a:gd name="T54" fmla="*/ 90 w 103"/>
                <a:gd name="T55" fmla="*/ 70 h 103"/>
                <a:gd name="T56" fmla="*/ 100 w 103"/>
                <a:gd name="T57" fmla="*/ 58 h 103"/>
                <a:gd name="T58" fmla="*/ 103 w 103"/>
                <a:gd name="T59" fmla="*/ 54 h 103"/>
                <a:gd name="T60" fmla="*/ 100 w 103"/>
                <a:gd name="T61" fmla="*/ 37 h 103"/>
                <a:gd name="T62" fmla="*/ 69 w 103"/>
                <a:gd name="T63" fmla="*/ 65 h 103"/>
                <a:gd name="T64" fmla="*/ 61 w 103"/>
                <a:gd name="T65" fmla="*/ 71 h 103"/>
                <a:gd name="T66" fmla="*/ 48 w 103"/>
                <a:gd name="T67" fmla="*/ 74 h 103"/>
                <a:gd name="T68" fmla="*/ 35 w 103"/>
                <a:gd name="T69" fmla="*/ 67 h 103"/>
                <a:gd name="T70" fmla="*/ 30 w 103"/>
                <a:gd name="T71" fmla="*/ 60 h 103"/>
                <a:gd name="T72" fmla="*/ 27 w 103"/>
                <a:gd name="T73" fmla="*/ 47 h 103"/>
                <a:gd name="T74" fmla="*/ 32 w 103"/>
                <a:gd name="T75" fmla="*/ 34 h 103"/>
                <a:gd name="T76" fmla="*/ 40 w 103"/>
                <a:gd name="T77" fmla="*/ 28 h 103"/>
                <a:gd name="T78" fmla="*/ 53 w 103"/>
                <a:gd name="T79" fmla="*/ 26 h 103"/>
                <a:gd name="T80" fmla="*/ 66 w 103"/>
                <a:gd name="T81" fmla="*/ 32 h 103"/>
                <a:gd name="T82" fmla="*/ 73 w 103"/>
                <a:gd name="T83" fmla="*/ 39 h 103"/>
                <a:gd name="T84" fmla="*/ 74 w 103"/>
                <a:gd name="T85" fmla="*/ 53 h 103"/>
                <a:gd name="T86" fmla="*/ 69 w 103"/>
                <a:gd name="T87" fmla="*/ 6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103">
                  <a:moveTo>
                    <a:pt x="97" y="36"/>
                  </a:moveTo>
                  <a:lnTo>
                    <a:pt x="93" y="36"/>
                  </a:lnTo>
                  <a:lnTo>
                    <a:pt x="93" y="36"/>
                  </a:lnTo>
                  <a:lnTo>
                    <a:pt x="88" y="26"/>
                  </a:lnTo>
                  <a:lnTo>
                    <a:pt x="91" y="23"/>
                  </a:lnTo>
                  <a:lnTo>
                    <a:pt x="91" y="23"/>
                  </a:lnTo>
                  <a:lnTo>
                    <a:pt x="92" y="20"/>
                  </a:lnTo>
                  <a:lnTo>
                    <a:pt x="91" y="18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7"/>
                  </a:lnTo>
                  <a:lnTo>
                    <a:pt x="74" y="9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66" y="7"/>
                  </a:lnTo>
                  <a:lnTo>
                    <a:pt x="58" y="6"/>
                  </a:lnTo>
                  <a:lnTo>
                    <a:pt x="58" y="4"/>
                  </a:lnTo>
                  <a:lnTo>
                    <a:pt x="58" y="4"/>
                  </a:lnTo>
                  <a:lnTo>
                    <a:pt x="57" y="1"/>
                  </a:lnTo>
                  <a:lnTo>
                    <a:pt x="54" y="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37" y="2"/>
                  </a:lnTo>
                  <a:lnTo>
                    <a:pt x="36" y="5"/>
                  </a:lnTo>
                  <a:lnTo>
                    <a:pt x="36" y="7"/>
                  </a:lnTo>
                  <a:lnTo>
                    <a:pt x="36" y="7"/>
                  </a:lnTo>
                  <a:lnTo>
                    <a:pt x="31" y="10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7" y="27"/>
                  </a:lnTo>
                  <a:lnTo>
                    <a:pt x="9" y="28"/>
                  </a:lnTo>
                  <a:lnTo>
                    <a:pt x="10" y="31"/>
                  </a:lnTo>
                  <a:lnTo>
                    <a:pt x="10" y="31"/>
                  </a:lnTo>
                  <a:lnTo>
                    <a:pt x="7" y="37"/>
                  </a:lnTo>
                  <a:lnTo>
                    <a:pt x="6" y="44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1" y="45"/>
                  </a:lnTo>
                  <a:lnTo>
                    <a:pt x="0" y="48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2" y="66"/>
                  </a:lnTo>
                  <a:lnTo>
                    <a:pt x="5" y="66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1" y="82"/>
                  </a:lnTo>
                  <a:lnTo>
                    <a:pt x="13" y="84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7" y="96"/>
                  </a:lnTo>
                  <a:lnTo>
                    <a:pt x="30" y="95"/>
                  </a:lnTo>
                  <a:lnTo>
                    <a:pt x="32" y="90"/>
                  </a:lnTo>
                  <a:lnTo>
                    <a:pt x="32" y="90"/>
                  </a:lnTo>
                  <a:lnTo>
                    <a:pt x="39" y="92"/>
                  </a:lnTo>
                  <a:lnTo>
                    <a:pt x="44" y="94"/>
                  </a:lnTo>
                  <a:lnTo>
                    <a:pt x="44" y="100"/>
                  </a:lnTo>
                  <a:lnTo>
                    <a:pt x="44" y="100"/>
                  </a:lnTo>
                  <a:lnTo>
                    <a:pt x="45" y="101"/>
                  </a:lnTo>
                  <a:lnTo>
                    <a:pt x="48" y="103"/>
                  </a:lnTo>
                  <a:lnTo>
                    <a:pt x="63" y="101"/>
                  </a:lnTo>
                  <a:lnTo>
                    <a:pt x="63" y="101"/>
                  </a:lnTo>
                  <a:lnTo>
                    <a:pt x="66" y="100"/>
                  </a:lnTo>
                  <a:lnTo>
                    <a:pt x="67" y="97"/>
                  </a:lnTo>
                  <a:lnTo>
                    <a:pt x="66" y="91"/>
                  </a:lnTo>
                  <a:lnTo>
                    <a:pt x="66" y="91"/>
                  </a:lnTo>
                  <a:lnTo>
                    <a:pt x="75" y="87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83" y="92"/>
                  </a:lnTo>
                  <a:lnTo>
                    <a:pt x="84" y="91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6" y="77"/>
                  </a:lnTo>
                  <a:lnTo>
                    <a:pt x="95" y="74"/>
                  </a:lnTo>
                  <a:lnTo>
                    <a:pt x="90" y="70"/>
                  </a:lnTo>
                  <a:lnTo>
                    <a:pt x="90" y="70"/>
                  </a:lnTo>
                  <a:lnTo>
                    <a:pt x="92" y="65"/>
                  </a:lnTo>
                  <a:lnTo>
                    <a:pt x="93" y="58"/>
                  </a:lnTo>
                  <a:lnTo>
                    <a:pt x="100" y="58"/>
                  </a:lnTo>
                  <a:lnTo>
                    <a:pt x="100" y="58"/>
                  </a:lnTo>
                  <a:lnTo>
                    <a:pt x="101" y="57"/>
                  </a:lnTo>
                  <a:lnTo>
                    <a:pt x="103" y="54"/>
                  </a:lnTo>
                  <a:lnTo>
                    <a:pt x="101" y="40"/>
                  </a:lnTo>
                  <a:lnTo>
                    <a:pt x="101" y="40"/>
                  </a:lnTo>
                  <a:lnTo>
                    <a:pt x="100" y="37"/>
                  </a:lnTo>
                  <a:lnTo>
                    <a:pt x="97" y="36"/>
                  </a:lnTo>
                  <a:lnTo>
                    <a:pt x="97" y="36"/>
                  </a:lnTo>
                  <a:close/>
                  <a:moveTo>
                    <a:pt x="69" y="65"/>
                  </a:moveTo>
                  <a:lnTo>
                    <a:pt x="69" y="65"/>
                  </a:lnTo>
                  <a:lnTo>
                    <a:pt x="65" y="69"/>
                  </a:lnTo>
                  <a:lnTo>
                    <a:pt x="61" y="71"/>
                  </a:lnTo>
                  <a:lnTo>
                    <a:pt x="57" y="73"/>
                  </a:lnTo>
                  <a:lnTo>
                    <a:pt x="52" y="74"/>
                  </a:lnTo>
                  <a:lnTo>
                    <a:pt x="48" y="74"/>
                  </a:lnTo>
                  <a:lnTo>
                    <a:pt x="43" y="73"/>
                  </a:lnTo>
                  <a:lnTo>
                    <a:pt x="39" y="70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2" y="65"/>
                  </a:lnTo>
                  <a:lnTo>
                    <a:pt x="30" y="60"/>
                  </a:lnTo>
                  <a:lnTo>
                    <a:pt x="27" y="56"/>
                  </a:lnTo>
                  <a:lnTo>
                    <a:pt x="27" y="52"/>
                  </a:lnTo>
                  <a:lnTo>
                    <a:pt x="27" y="47"/>
                  </a:lnTo>
                  <a:lnTo>
                    <a:pt x="28" y="43"/>
                  </a:lnTo>
                  <a:lnTo>
                    <a:pt x="30" y="37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36" y="31"/>
                  </a:lnTo>
                  <a:lnTo>
                    <a:pt x="40" y="28"/>
                  </a:lnTo>
                  <a:lnTo>
                    <a:pt x="44" y="27"/>
                  </a:lnTo>
                  <a:lnTo>
                    <a:pt x="49" y="26"/>
                  </a:lnTo>
                  <a:lnTo>
                    <a:pt x="53" y="26"/>
                  </a:lnTo>
                  <a:lnTo>
                    <a:pt x="58" y="27"/>
                  </a:lnTo>
                  <a:lnTo>
                    <a:pt x="62" y="28"/>
                  </a:lnTo>
                  <a:lnTo>
                    <a:pt x="66" y="32"/>
                  </a:lnTo>
                  <a:lnTo>
                    <a:pt x="66" y="32"/>
                  </a:lnTo>
                  <a:lnTo>
                    <a:pt x="70" y="35"/>
                  </a:lnTo>
                  <a:lnTo>
                    <a:pt x="73" y="39"/>
                  </a:lnTo>
                  <a:lnTo>
                    <a:pt x="74" y="44"/>
                  </a:lnTo>
                  <a:lnTo>
                    <a:pt x="74" y="48"/>
                  </a:lnTo>
                  <a:lnTo>
                    <a:pt x="74" y="53"/>
                  </a:lnTo>
                  <a:lnTo>
                    <a:pt x="74" y="57"/>
                  </a:lnTo>
                  <a:lnTo>
                    <a:pt x="71" y="61"/>
                  </a:lnTo>
                  <a:lnTo>
                    <a:pt x="69" y="65"/>
                  </a:lnTo>
                  <a:lnTo>
                    <a:pt x="69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742"/>
            <p:cNvSpPr>
              <a:spLocks noEditPoints="1"/>
            </p:cNvSpPr>
            <p:nvPr/>
          </p:nvSpPr>
          <p:spPr bwMode="auto">
            <a:xfrm>
              <a:off x="3084707" y="6094413"/>
              <a:ext cx="58737" cy="58738"/>
            </a:xfrm>
            <a:custGeom>
              <a:avLst/>
              <a:gdLst>
                <a:gd name="T0" fmla="*/ 36 w 37"/>
                <a:gd name="T1" fmla="*/ 21 h 37"/>
                <a:gd name="T2" fmla="*/ 37 w 37"/>
                <a:gd name="T3" fmla="*/ 14 h 37"/>
                <a:gd name="T4" fmla="*/ 35 w 37"/>
                <a:gd name="T5" fmla="*/ 13 h 37"/>
                <a:gd name="T6" fmla="*/ 34 w 37"/>
                <a:gd name="T7" fmla="*/ 13 h 37"/>
                <a:gd name="T8" fmla="*/ 34 w 37"/>
                <a:gd name="T9" fmla="*/ 8 h 37"/>
                <a:gd name="T10" fmla="*/ 32 w 37"/>
                <a:gd name="T11" fmla="*/ 7 h 37"/>
                <a:gd name="T12" fmla="*/ 28 w 37"/>
                <a:gd name="T13" fmla="*/ 3 h 37"/>
                <a:gd name="T14" fmla="*/ 26 w 37"/>
                <a:gd name="T15" fmla="*/ 4 h 37"/>
                <a:gd name="T16" fmla="*/ 22 w 37"/>
                <a:gd name="T17" fmla="*/ 3 h 37"/>
                <a:gd name="T18" fmla="*/ 22 w 37"/>
                <a:gd name="T19" fmla="*/ 1 h 37"/>
                <a:gd name="T20" fmla="*/ 14 w 37"/>
                <a:gd name="T21" fmla="*/ 0 h 37"/>
                <a:gd name="T22" fmla="*/ 13 w 37"/>
                <a:gd name="T23" fmla="*/ 1 h 37"/>
                <a:gd name="T24" fmla="*/ 13 w 37"/>
                <a:gd name="T25" fmla="*/ 3 h 37"/>
                <a:gd name="T26" fmla="*/ 9 w 37"/>
                <a:gd name="T27" fmla="*/ 4 h 37"/>
                <a:gd name="T28" fmla="*/ 6 w 37"/>
                <a:gd name="T29" fmla="*/ 4 h 37"/>
                <a:gd name="T30" fmla="*/ 4 w 37"/>
                <a:gd name="T31" fmla="*/ 8 h 37"/>
                <a:gd name="T32" fmla="*/ 4 w 37"/>
                <a:gd name="T33" fmla="*/ 10 h 37"/>
                <a:gd name="T34" fmla="*/ 4 w 37"/>
                <a:gd name="T35" fmla="*/ 10 h 37"/>
                <a:gd name="T36" fmla="*/ 1 w 37"/>
                <a:gd name="T37" fmla="*/ 16 h 37"/>
                <a:gd name="T38" fmla="*/ 0 w 37"/>
                <a:gd name="T39" fmla="*/ 17 h 37"/>
                <a:gd name="T40" fmla="*/ 1 w 37"/>
                <a:gd name="T41" fmla="*/ 22 h 37"/>
                <a:gd name="T42" fmla="*/ 4 w 37"/>
                <a:gd name="T43" fmla="*/ 24 h 37"/>
                <a:gd name="T44" fmla="*/ 5 w 37"/>
                <a:gd name="T45" fmla="*/ 27 h 37"/>
                <a:gd name="T46" fmla="*/ 5 w 37"/>
                <a:gd name="T47" fmla="*/ 29 h 37"/>
                <a:gd name="T48" fmla="*/ 9 w 37"/>
                <a:gd name="T49" fmla="*/ 34 h 37"/>
                <a:gd name="T50" fmla="*/ 10 w 37"/>
                <a:gd name="T51" fmla="*/ 34 h 37"/>
                <a:gd name="T52" fmla="*/ 11 w 37"/>
                <a:gd name="T53" fmla="*/ 33 h 37"/>
                <a:gd name="T54" fmla="*/ 17 w 37"/>
                <a:gd name="T55" fmla="*/ 37 h 37"/>
                <a:gd name="T56" fmla="*/ 18 w 37"/>
                <a:gd name="T57" fmla="*/ 37 h 37"/>
                <a:gd name="T58" fmla="*/ 23 w 37"/>
                <a:gd name="T59" fmla="*/ 37 h 37"/>
                <a:gd name="T60" fmla="*/ 24 w 37"/>
                <a:gd name="T61" fmla="*/ 33 h 37"/>
                <a:gd name="T62" fmla="*/ 27 w 37"/>
                <a:gd name="T63" fmla="*/ 31 h 37"/>
                <a:gd name="T64" fmla="*/ 30 w 37"/>
                <a:gd name="T65" fmla="*/ 33 h 37"/>
                <a:gd name="T66" fmla="*/ 35 w 37"/>
                <a:gd name="T67" fmla="*/ 29 h 37"/>
                <a:gd name="T68" fmla="*/ 35 w 37"/>
                <a:gd name="T69" fmla="*/ 26 h 37"/>
                <a:gd name="T70" fmla="*/ 32 w 37"/>
                <a:gd name="T71" fmla="*/ 25 h 37"/>
                <a:gd name="T72" fmla="*/ 36 w 37"/>
                <a:gd name="T73" fmla="*/ 21 h 37"/>
                <a:gd name="T74" fmla="*/ 24 w 37"/>
                <a:gd name="T75" fmla="*/ 24 h 37"/>
                <a:gd name="T76" fmla="*/ 19 w 37"/>
                <a:gd name="T77" fmla="*/ 26 h 37"/>
                <a:gd name="T78" fmla="*/ 13 w 37"/>
                <a:gd name="T79" fmla="*/ 25 h 37"/>
                <a:gd name="T80" fmla="*/ 10 w 37"/>
                <a:gd name="T81" fmla="*/ 22 h 37"/>
                <a:gd name="T82" fmla="*/ 10 w 37"/>
                <a:gd name="T83" fmla="*/ 16 h 37"/>
                <a:gd name="T84" fmla="*/ 11 w 37"/>
                <a:gd name="T85" fmla="*/ 12 h 37"/>
                <a:gd name="T86" fmla="*/ 18 w 37"/>
                <a:gd name="T87" fmla="*/ 9 h 37"/>
                <a:gd name="T88" fmla="*/ 24 w 37"/>
                <a:gd name="T89" fmla="*/ 12 h 37"/>
                <a:gd name="T90" fmla="*/ 26 w 37"/>
                <a:gd name="T91" fmla="*/ 14 h 37"/>
                <a:gd name="T92" fmla="*/ 27 w 37"/>
                <a:gd name="T93" fmla="*/ 21 h 37"/>
                <a:gd name="T94" fmla="*/ 24 w 37"/>
                <a:gd name="T95" fmla="*/ 2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7" h="37">
                  <a:moveTo>
                    <a:pt x="36" y="21"/>
                  </a:moveTo>
                  <a:lnTo>
                    <a:pt x="36" y="21"/>
                  </a:lnTo>
                  <a:lnTo>
                    <a:pt x="37" y="20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5" y="13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32" y="9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32" y="7"/>
                  </a:lnTo>
                  <a:lnTo>
                    <a:pt x="28" y="3"/>
                  </a:lnTo>
                  <a:lnTo>
                    <a:pt x="28" y="3"/>
                  </a:lnTo>
                  <a:lnTo>
                    <a:pt x="27" y="3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2" y="3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6" y="4"/>
                  </a:lnTo>
                  <a:lnTo>
                    <a:pt x="4" y="8"/>
                  </a:lnTo>
                  <a:lnTo>
                    <a:pt x="4" y="8"/>
                  </a:lnTo>
                  <a:lnTo>
                    <a:pt x="2" y="9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16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2" y="24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0"/>
                  </a:lnTo>
                  <a:lnTo>
                    <a:pt x="9" y="34"/>
                  </a:lnTo>
                  <a:lnTo>
                    <a:pt x="9" y="34"/>
                  </a:lnTo>
                  <a:lnTo>
                    <a:pt x="10" y="34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7" y="34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18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7" y="31"/>
                  </a:lnTo>
                  <a:lnTo>
                    <a:pt x="30" y="33"/>
                  </a:lnTo>
                  <a:lnTo>
                    <a:pt x="30" y="33"/>
                  </a:lnTo>
                  <a:lnTo>
                    <a:pt x="31" y="33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6"/>
                  </a:lnTo>
                  <a:lnTo>
                    <a:pt x="32" y="25"/>
                  </a:lnTo>
                  <a:lnTo>
                    <a:pt x="32" y="25"/>
                  </a:lnTo>
                  <a:lnTo>
                    <a:pt x="34" y="21"/>
                  </a:lnTo>
                  <a:lnTo>
                    <a:pt x="36" y="21"/>
                  </a:lnTo>
                  <a:close/>
                  <a:moveTo>
                    <a:pt x="24" y="24"/>
                  </a:moveTo>
                  <a:lnTo>
                    <a:pt x="24" y="24"/>
                  </a:lnTo>
                  <a:lnTo>
                    <a:pt x="22" y="26"/>
                  </a:lnTo>
                  <a:lnTo>
                    <a:pt x="19" y="26"/>
                  </a:lnTo>
                  <a:lnTo>
                    <a:pt x="15" y="26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10" y="22"/>
                  </a:lnTo>
                  <a:lnTo>
                    <a:pt x="10" y="18"/>
                  </a:lnTo>
                  <a:lnTo>
                    <a:pt x="10" y="16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4" y="10"/>
                  </a:lnTo>
                  <a:lnTo>
                    <a:pt x="18" y="9"/>
                  </a:lnTo>
                  <a:lnTo>
                    <a:pt x="20" y="9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6" y="14"/>
                  </a:lnTo>
                  <a:lnTo>
                    <a:pt x="27" y="17"/>
                  </a:lnTo>
                  <a:lnTo>
                    <a:pt x="27" y="21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279468"/>
              </p:ext>
            </p:extLst>
          </p:nvPr>
        </p:nvGraphicFramePr>
        <p:xfrm>
          <a:off x="2184686" y="8358963"/>
          <a:ext cx="4753343" cy="1872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7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HW</a:t>
                      </a:r>
                      <a:endParaRPr kumimoji="1" lang="ko-KR" altLang="en-US" sz="9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상용</a:t>
                      </a:r>
                      <a:endParaRPr kumimoji="1" lang="en-US" altLang="ko-KR" sz="9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endParaRPr kumimoji="1" lang="ko-KR" altLang="en-US" sz="9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203315"/>
              </p:ext>
            </p:extLst>
          </p:nvPr>
        </p:nvGraphicFramePr>
        <p:xfrm>
          <a:off x="2168202" y="6132141"/>
          <a:ext cx="4769826" cy="1859896"/>
        </p:xfrm>
        <a:graphic>
          <a:graphicData uri="http://schemas.openxmlformats.org/drawingml/2006/table">
            <a:tbl>
              <a:tblPr/>
              <a:tblGrid>
                <a:gridCol w="1589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9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0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9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kern="1200" spc="-10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분석준비</a:t>
                      </a:r>
                      <a:endParaRPr kumimoji="1" lang="en-US" altLang="ko-KR" sz="900" b="1" kern="1200" spc="-100" baseline="0" dirty="0">
                        <a:ln w="0"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36000" marR="36000" marT="36005" marB="36005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9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kern="1200" spc="-10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분석실행</a:t>
                      </a:r>
                      <a:endParaRPr kumimoji="1" lang="en-US" altLang="ko-KR" sz="900" b="1" kern="1200" spc="-100" baseline="0" dirty="0">
                        <a:ln w="0"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36000" marR="36000" marT="36005" marB="36005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9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kern="1200" spc="-10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/>
                        </a:rPr>
                        <a:t>사후분석</a:t>
                      </a:r>
                    </a:p>
                  </a:txBody>
                  <a:tcPr marL="36000" marR="36000" marT="36005" marB="36005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1875"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ts val="900"/>
                        </a:lnSpc>
                        <a:spcBef>
                          <a:spcPct val="1000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en-US" altLang="ko-KR" sz="900" kern="1200" spc="-100" baseline="0" noProof="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36000" marR="36000" marT="36005" marB="3600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ts val="900"/>
                        </a:lnSpc>
                        <a:spcBef>
                          <a:spcPct val="1000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en-US" altLang="ko-KR" sz="900" kern="1200" spc="-100" baseline="0" noProof="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36000" marR="36000" marT="36005" marB="3600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2332" rtl="0" eaLnBrk="1" fontAlgn="base" latinLnBrk="0" hangingPunct="1">
                        <a:lnSpc>
                          <a:spcPts val="900"/>
                        </a:lnSpc>
                        <a:spcBef>
                          <a:spcPct val="10000"/>
                        </a:spcBef>
                        <a:spcAft>
                          <a:spcPts val="30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en-US" altLang="ko-KR" sz="900" kern="1200" spc="-100" baseline="0" noProof="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/>
                      </a:endParaRPr>
                    </a:p>
                  </a:txBody>
                  <a:tcPr marL="36000" marR="36000" marT="36005" marB="3600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모서리가 둥근 직사각형 50"/>
          <p:cNvSpPr/>
          <p:nvPr/>
        </p:nvSpPr>
        <p:spPr>
          <a:xfrm>
            <a:off x="2222872" y="6609938"/>
            <a:ext cx="1495470" cy="500896"/>
          </a:xfrm>
          <a:prstGeom prst="roundRect">
            <a:avLst>
              <a:gd name="adj" fmla="val 9857"/>
            </a:avLst>
          </a:prstGeom>
          <a:solidFill>
            <a:srgbClr val="BCE7FA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모의논리 및 </a:t>
            </a:r>
            <a:r>
              <a:rPr kumimoji="1"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DB  </a:t>
            </a: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구축</a:t>
            </a:r>
          </a:p>
        </p:txBody>
      </p:sp>
      <p:sp>
        <p:nvSpPr>
          <p:cNvPr id="52" name="모서리가 둥근 직사각형 51"/>
          <p:cNvSpPr/>
          <p:nvPr/>
        </p:nvSpPr>
        <p:spPr>
          <a:xfrm>
            <a:off x="3797267" y="6943796"/>
            <a:ext cx="1495470" cy="500896"/>
          </a:xfrm>
          <a:prstGeom prst="roundRect">
            <a:avLst>
              <a:gd name="adj" fmla="val 9857"/>
            </a:avLst>
          </a:prstGeom>
          <a:solidFill>
            <a:srgbClr val="BCE7FA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시뮬레이션 진행</a:t>
            </a:r>
          </a:p>
        </p:txBody>
      </p:sp>
      <p:sp>
        <p:nvSpPr>
          <p:cNvPr id="53" name="모서리가 둥근 직사각형 52"/>
          <p:cNvSpPr/>
          <p:nvPr/>
        </p:nvSpPr>
        <p:spPr>
          <a:xfrm>
            <a:off x="2222872" y="7294014"/>
            <a:ext cx="1495470" cy="500896"/>
          </a:xfrm>
          <a:prstGeom prst="roundRect">
            <a:avLst>
              <a:gd name="adj" fmla="val 9857"/>
            </a:avLst>
          </a:prstGeom>
          <a:solidFill>
            <a:srgbClr val="BCE7FA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시나리오 타당성 확인</a:t>
            </a:r>
          </a:p>
        </p:txBody>
      </p:sp>
      <p:sp>
        <p:nvSpPr>
          <p:cNvPr id="54" name="모서리가 둥근 직사각형 53"/>
          <p:cNvSpPr/>
          <p:nvPr/>
        </p:nvSpPr>
        <p:spPr>
          <a:xfrm>
            <a:off x="3017390" y="8550994"/>
            <a:ext cx="725391" cy="499539"/>
          </a:xfrm>
          <a:prstGeom prst="roundRect">
            <a:avLst>
              <a:gd name="adj" fmla="val 8494"/>
            </a:avLst>
          </a:prstGeom>
          <a:solidFill>
            <a:srgbClr val="41BBF1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외부청소</a:t>
            </a:r>
            <a:endParaRPr kumimoji="1"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5400749" y="6498766"/>
            <a:ext cx="1495470" cy="420221"/>
          </a:xfrm>
          <a:prstGeom prst="roundRect">
            <a:avLst>
              <a:gd name="adj" fmla="val 9857"/>
            </a:avLst>
          </a:prstGeom>
          <a:solidFill>
            <a:srgbClr val="BCE7FA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성능척도 확인</a:t>
            </a: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5400749" y="6991145"/>
            <a:ext cx="1495470" cy="420221"/>
          </a:xfrm>
          <a:prstGeom prst="roundRect">
            <a:avLst>
              <a:gd name="adj" fmla="val 9857"/>
            </a:avLst>
          </a:prstGeom>
          <a:solidFill>
            <a:srgbClr val="BCE7FA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효과척도 확인</a:t>
            </a: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5400749" y="7483523"/>
            <a:ext cx="1495470" cy="420221"/>
          </a:xfrm>
          <a:prstGeom prst="roundRect">
            <a:avLst>
              <a:gd name="adj" fmla="val 9857"/>
            </a:avLst>
          </a:prstGeom>
          <a:solidFill>
            <a:srgbClr val="BCE7FA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기여척도 확인</a:t>
            </a: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3990093" y="8550994"/>
            <a:ext cx="725391" cy="499539"/>
          </a:xfrm>
          <a:prstGeom prst="roundRect">
            <a:avLst>
              <a:gd name="adj" fmla="val 8494"/>
            </a:avLst>
          </a:prstGeom>
          <a:solidFill>
            <a:srgbClr val="41BBF1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상태확인</a:t>
            </a:r>
            <a:endParaRPr kumimoji="1"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962796" y="8550994"/>
            <a:ext cx="725391" cy="499539"/>
          </a:xfrm>
          <a:prstGeom prst="roundRect">
            <a:avLst>
              <a:gd name="adj" fmla="val 8494"/>
            </a:avLst>
          </a:prstGeom>
          <a:solidFill>
            <a:srgbClr val="41BBF1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보안설정</a:t>
            </a:r>
            <a:endParaRPr kumimoji="1"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5935498" y="8550994"/>
            <a:ext cx="725391" cy="499539"/>
          </a:xfrm>
          <a:prstGeom prst="roundRect">
            <a:avLst>
              <a:gd name="adj" fmla="val 8494"/>
            </a:avLst>
          </a:prstGeom>
          <a:solidFill>
            <a:srgbClr val="41BBF1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HW </a:t>
            </a: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정비</a:t>
            </a:r>
            <a:endParaRPr kumimoji="1"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5" name="꺾인 연결선 4"/>
          <p:cNvCxnSpPr>
            <a:stCxn id="47" idx="2"/>
            <a:endCxn id="49" idx="2"/>
          </p:cNvCxnSpPr>
          <p:nvPr/>
        </p:nvCxnSpPr>
        <p:spPr>
          <a:xfrm rot="16200000" flipH="1">
            <a:off x="4577198" y="2887020"/>
            <a:ext cx="12700" cy="326703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stCxn id="48" idx="2"/>
            <a:endCxn id="50" idx="0"/>
          </p:cNvCxnSpPr>
          <p:nvPr/>
        </p:nvCxnSpPr>
        <p:spPr>
          <a:xfrm>
            <a:off x="4577198" y="4520535"/>
            <a:ext cx="280" cy="502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7"/>
          <p:cNvSpPr/>
          <p:nvPr/>
        </p:nvSpPr>
        <p:spPr>
          <a:xfrm>
            <a:off x="3017390" y="9519653"/>
            <a:ext cx="725391" cy="499539"/>
          </a:xfrm>
          <a:prstGeom prst="roundRect">
            <a:avLst>
              <a:gd name="adj" fmla="val 8494"/>
            </a:avLst>
          </a:prstGeom>
          <a:solidFill>
            <a:srgbClr val="41BBF1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인스톨</a:t>
            </a:r>
            <a:endParaRPr kumimoji="1"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3990093" y="9519653"/>
            <a:ext cx="725391" cy="499539"/>
          </a:xfrm>
          <a:prstGeom prst="roundRect">
            <a:avLst>
              <a:gd name="adj" fmla="val 8494"/>
            </a:avLst>
          </a:prstGeom>
          <a:solidFill>
            <a:srgbClr val="41BBF1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업데이트</a:t>
            </a:r>
            <a:endParaRPr kumimoji="1"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4962796" y="9519653"/>
            <a:ext cx="725391" cy="499539"/>
          </a:xfrm>
          <a:prstGeom prst="roundRect">
            <a:avLst>
              <a:gd name="adj" fmla="val 8494"/>
            </a:avLst>
          </a:prstGeom>
          <a:solidFill>
            <a:srgbClr val="41BBF1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보안패치</a:t>
            </a:r>
            <a:endParaRPr kumimoji="1"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5935498" y="9519653"/>
            <a:ext cx="725391" cy="499539"/>
          </a:xfrm>
          <a:prstGeom prst="roundRect">
            <a:avLst>
              <a:gd name="adj" fmla="val 8494"/>
            </a:avLst>
          </a:prstGeom>
          <a:solidFill>
            <a:srgbClr val="41BBF1"/>
          </a:solidFill>
          <a:ln>
            <a:noFill/>
          </a:ln>
          <a:effectLst/>
        </p:spPr>
        <p:txBody>
          <a:bodyPr wrap="square" lIns="0" tIns="0" rIns="0" bIns="0" anchor="ctr"/>
          <a:lstStyle/>
          <a:p>
            <a:pPr algn="ctr" defTabSz="111102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환경설정</a:t>
            </a:r>
            <a:endParaRPr kumimoji="1"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483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2"/>
          <p:cNvSpPr txBox="1">
            <a:spLocks noChangeArrowheads="1"/>
          </p:cNvSpPr>
          <p:nvPr/>
        </p:nvSpPr>
        <p:spPr bwMode="auto">
          <a:xfrm>
            <a:off x="720883" y="135117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3.3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유지관리 계획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3.3.1 C4ISR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 최적화 관리 및 보완 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요구사항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-001)</a:t>
            </a:r>
          </a:p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3.3.1.1 C4ISR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 응용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유지관리 대상 식별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761851" y="3161112"/>
            <a:ext cx="6330269" cy="169302"/>
            <a:chOff x="761696" y="5435378"/>
            <a:chExt cx="6328976" cy="169277"/>
          </a:xfrm>
        </p:grpSpPr>
        <p:sp>
          <p:nvSpPr>
            <p:cNvPr id="29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응용</a:t>
              </a:r>
              <a:r>
                <a:rPr lang="en-US" altLang="ko-KR" sz="1100" b="1" spc="-5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SW </a:t>
              </a:r>
              <a:r>
                <a:rPr lang="ko-KR" altLang="en-US" sz="1100" b="1" spc="-5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유지관리 대상 </a:t>
              </a:r>
              <a:r>
                <a:rPr lang="ko-KR" altLang="en-US" sz="1100" b="1" spc="-50" dirty="0" err="1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구성품</a:t>
              </a:r>
              <a:endParaRPr lang="ko-KR" altLang="en-US" sz="1100" b="1" spc="-5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grpSp>
          <p:nvGrpSpPr>
            <p:cNvPr id="30" name="그룹 29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36" name="타원 35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37" name="Picture 132" descr="ㅇ"/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8" name="자유형 37"/>
          <p:cNvSpPr/>
          <p:nvPr/>
        </p:nvSpPr>
        <p:spPr>
          <a:xfrm flipH="1">
            <a:off x="6400800" y="8971806"/>
            <a:ext cx="655320" cy="220980"/>
          </a:xfrm>
          <a:custGeom>
            <a:avLst/>
            <a:gdLst>
              <a:gd name="connsiteX0" fmla="*/ 0 w 655320"/>
              <a:gd name="connsiteY0" fmla="*/ 243840 h 320040"/>
              <a:gd name="connsiteX1" fmla="*/ 327660 w 655320"/>
              <a:gd name="connsiteY1" fmla="*/ 0 h 320040"/>
              <a:gd name="connsiteX2" fmla="*/ 655320 w 655320"/>
              <a:gd name="connsiteY2" fmla="*/ 320040 h 32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5320" h="320040">
                <a:moveTo>
                  <a:pt x="0" y="243840"/>
                </a:moveTo>
                <a:lnTo>
                  <a:pt x="327660" y="0"/>
                </a:lnTo>
                <a:lnTo>
                  <a:pt x="655320" y="320040"/>
                </a:lnTo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9" name="자유형 38"/>
          <p:cNvSpPr/>
          <p:nvPr/>
        </p:nvSpPr>
        <p:spPr>
          <a:xfrm>
            <a:off x="701040" y="8971806"/>
            <a:ext cx="655320" cy="220980"/>
          </a:xfrm>
          <a:custGeom>
            <a:avLst/>
            <a:gdLst>
              <a:gd name="connsiteX0" fmla="*/ 0 w 655320"/>
              <a:gd name="connsiteY0" fmla="*/ 243840 h 320040"/>
              <a:gd name="connsiteX1" fmla="*/ 327660 w 655320"/>
              <a:gd name="connsiteY1" fmla="*/ 0 h 320040"/>
              <a:gd name="connsiteX2" fmla="*/ 655320 w 655320"/>
              <a:gd name="connsiteY2" fmla="*/ 320040 h 32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5320" h="320040">
                <a:moveTo>
                  <a:pt x="0" y="243840"/>
                </a:moveTo>
                <a:lnTo>
                  <a:pt x="327660" y="0"/>
                </a:lnTo>
                <a:lnTo>
                  <a:pt x="655320" y="320040"/>
                </a:lnTo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0" name="모서리가 둥근 직사각형 3"/>
          <p:cNvSpPr>
            <a:spLocks noChangeArrowheads="1"/>
          </p:cNvSpPr>
          <p:nvPr/>
        </p:nvSpPr>
        <p:spPr bwMode="auto">
          <a:xfrm>
            <a:off x="1007110" y="8816914"/>
            <a:ext cx="5751830" cy="575025"/>
          </a:xfrm>
          <a:prstGeom prst="roundRect">
            <a:avLst>
              <a:gd name="adj" fmla="val 7605"/>
            </a:avLst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1" name="AutoShape 36"/>
          <p:cNvSpPr>
            <a:spLocks noChangeArrowheads="1"/>
          </p:cNvSpPr>
          <p:nvPr/>
        </p:nvSpPr>
        <p:spPr bwMode="auto">
          <a:xfrm>
            <a:off x="712055" y="9178075"/>
            <a:ext cx="6336000" cy="1198405"/>
          </a:xfrm>
          <a:prstGeom prst="roundRect">
            <a:avLst>
              <a:gd name="adj" fmla="val 27"/>
            </a:avLst>
          </a:prstGeom>
          <a:solidFill>
            <a:schemeClr val="bg1"/>
          </a:solidFill>
          <a:ln w="1905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45713" anchor="ctr"/>
          <a:lstStyle/>
          <a:p>
            <a:pPr defTabSz="914491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100" spc="-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2" name="모서리가 둥근 직사각형 3"/>
          <p:cNvSpPr>
            <a:spLocks noChangeArrowheads="1"/>
          </p:cNvSpPr>
          <p:nvPr/>
        </p:nvSpPr>
        <p:spPr bwMode="auto">
          <a:xfrm>
            <a:off x="712055" y="9082296"/>
            <a:ext cx="6336000" cy="289195"/>
          </a:xfrm>
          <a:prstGeom prst="roundRect">
            <a:avLst>
              <a:gd name="adj" fmla="val 0"/>
            </a:avLst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pc="-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3" name="직사각형 6"/>
          <p:cNvSpPr>
            <a:spLocks noChangeArrowheads="1"/>
          </p:cNvSpPr>
          <p:nvPr/>
        </p:nvSpPr>
        <p:spPr bwMode="auto">
          <a:xfrm>
            <a:off x="1094966" y="9102825"/>
            <a:ext cx="1245443" cy="253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2" tIns="45713" rIns="91422" bIns="45713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분석프로젝트 관리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3527800" y="8828960"/>
            <a:ext cx="710451" cy="295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311964"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3271AA"/>
              </a:buClr>
              <a:buSzPct val="140000"/>
              <a:tabLst>
                <a:tab pos="5186760" algn="l"/>
              </a:tabLst>
            </a:pPr>
            <a:r>
              <a:rPr kumimoji="1"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공통기능</a:t>
            </a:r>
          </a:p>
        </p:txBody>
      </p:sp>
      <p:grpSp>
        <p:nvGrpSpPr>
          <p:cNvPr id="45" name="그룹 44"/>
          <p:cNvGrpSpPr/>
          <p:nvPr/>
        </p:nvGrpSpPr>
        <p:grpSpPr>
          <a:xfrm>
            <a:off x="1099319" y="8902150"/>
            <a:ext cx="291369" cy="162494"/>
            <a:chOff x="12069763" y="696913"/>
            <a:chExt cx="825500" cy="460375"/>
          </a:xfrm>
          <a:solidFill>
            <a:schemeClr val="bg1"/>
          </a:solidFill>
        </p:grpSpPr>
        <p:sp>
          <p:nvSpPr>
            <p:cNvPr id="46" name="Freeform 102"/>
            <p:cNvSpPr>
              <a:spLocks noEditPoints="1"/>
            </p:cNvSpPr>
            <p:nvPr/>
          </p:nvSpPr>
          <p:spPr bwMode="auto">
            <a:xfrm>
              <a:off x="12069763" y="1074738"/>
              <a:ext cx="558800" cy="82550"/>
            </a:xfrm>
            <a:custGeom>
              <a:avLst/>
              <a:gdLst>
                <a:gd name="T0" fmla="*/ 352 w 352"/>
                <a:gd name="T1" fmla="*/ 24 h 52"/>
                <a:gd name="T2" fmla="*/ 352 w 352"/>
                <a:gd name="T3" fmla="*/ 24 h 52"/>
                <a:gd name="T4" fmla="*/ 346 w 352"/>
                <a:gd name="T5" fmla="*/ 0 h 52"/>
                <a:gd name="T6" fmla="*/ 8 w 352"/>
                <a:gd name="T7" fmla="*/ 0 h 52"/>
                <a:gd name="T8" fmla="*/ 2 w 352"/>
                <a:gd name="T9" fmla="*/ 24 h 52"/>
                <a:gd name="T10" fmla="*/ 0 w 352"/>
                <a:gd name="T11" fmla="*/ 24 h 52"/>
                <a:gd name="T12" fmla="*/ 0 w 352"/>
                <a:gd name="T13" fmla="*/ 52 h 52"/>
                <a:gd name="T14" fmla="*/ 352 w 352"/>
                <a:gd name="T15" fmla="*/ 52 h 52"/>
                <a:gd name="T16" fmla="*/ 352 w 352"/>
                <a:gd name="T17" fmla="*/ 24 h 52"/>
                <a:gd name="T18" fmla="*/ 232 w 352"/>
                <a:gd name="T19" fmla="*/ 40 h 52"/>
                <a:gd name="T20" fmla="*/ 120 w 352"/>
                <a:gd name="T21" fmla="*/ 40 h 52"/>
                <a:gd name="T22" fmla="*/ 120 w 352"/>
                <a:gd name="T23" fmla="*/ 26 h 52"/>
                <a:gd name="T24" fmla="*/ 232 w 352"/>
                <a:gd name="T25" fmla="*/ 26 h 52"/>
                <a:gd name="T26" fmla="*/ 232 w 352"/>
                <a:gd name="T27" fmla="*/ 4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2" h="52">
                  <a:moveTo>
                    <a:pt x="352" y="24"/>
                  </a:moveTo>
                  <a:lnTo>
                    <a:pt x="352" y="24"/>
                  </a:lnTo>
                  <a:lnTo>
                    <a:pt x="346" y="0"/>
                  </a:lnTo>
                  <a:lnTo>
                    <a:pt x="8" y="0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0" y="52"/>
                  </a:lnTo>
                  <a:lnTo>
                    <a:pt x="352" y="52"/>
                  </a:lnTo>
                  <a:lnTo>
                    <a:pt x="352" y="24"/>
                  </a:lnTo>
                  <a:close/>
                  <a:moveTo>
                    <a:pt x="232" y="40"/>
                  </a:moveTo>
                  <a:lnTo>
                    <a:pt x="120" y="40"/>
                  </a:lnTo>
                  <a:lnTo>
                    <a:pt x="120" y="26"/>
                  </a:lnTo>
                  <a:lnTo>
                    <a:pt x="232" y="26"/>
                  </a:lnTo>
                  <a:lnTo>
                    <a:pt x="232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47" name="Rectangle 103"/>
            <p:cNvSpPr>
              <a:spLocks noChangeArrowheads="1"/>
            </p:cNvSpPr>
            <p:nvPr/>
          </p:nvSpPr>
          <p:spPr bwMode="auto">
            <a:xfrm>
              <a:off x="12184063" y="798513"/>
              <a:ext cx="215900" cy="349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48" name="Rectangle 104"/>
            <p:cNvSpPr>
              <a:spLocks noChangeArrowheads="1"/>
            </p:cNvSpPr>
            <p:nvPr/>
          </p:nvSpPr>
          <p:spPr bwMode="auto">
            <a:xfrm>
              <a:off x="12184063" y="871538"/>
              <a:ext cx="215900" cy="349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49" name="Rectangle 105"/>
            <p:cNvSpPr>
              <a:spLocks noChangeArrowheads="1"/>
            </p:cNvSpPr>
            <p:nvPr/>
          </p:nvSpPr>
          <p:spPr bwMode="auto">
            <a:xfrm>
              <a:off x="12184063" y="947738"/>
              <a:ext cx="215900" cy="381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50" name="Freeform 106"/>
            <p:cNvSpPr>
              <a:spLocks/>
            </p:cNvSpPr>
            <p:nvPr/>
          </p:nvSpPr>
          <p:spPr bwMode="auto">
            <a:xfrm>
              <a:off x="12111038" y="696913"/>
              <a:ext cx="473075" cy="368300"/>
            </a:xfrm>
            <a:custGeom>
              <a:avLst/>
              <a:gdLst>
                <a:gd name="T0" fmla="*/ 298 w 298"/>
                <a:gd name="T1" fmla="*/ 226 h 232"/>
                <a:gd name="T2" fmla="*/ 298 w 298"/>
                <a:gd name="T3" fmla="*/ 226 h 232"/>
                <a:gd name="T4" fmla="*/ 282 w 298"/>
                <a:gd name="T5" fmla="*/ 224 h 232"/>
                <a:gd name="T6" fmla="*/ 268 w 298"/>
                <a:gd name="T7" fmla="*/ 220 h 232"/>
                <a:gd name="T8" fmla="*/ 254 w 298"/>
                <a:gd name="T9" fmla="*/ 214 h 232"/>
                <a:gd name="T10" fmla="*/ 240 w 298"/>
                <a:gd name="T11" fmla="*/ 206 h 232"/>
                <a:gd name="T12" fmla="*/ 26 w 298"/>
                <a:gd name="T13" fmla="*/ 206 h 232"/>
                <a:gd name="T14" fmla="*/ 26 w 298"/>
                <a:gd name="T15" fmla="*/ 26 h 232"/>
                <a:gd name="T16" fmla="*/ 252 w 298"/>
                <a:gd name="T17" fmla="*/ 26 h 232"/>
                <a:gd name="T18" fmla="*/ 252 w 298"/>
                <a:gd name="T19" fmla="*/ 26 h 232"/>
                <a:gd name="T20" fmla="*/ 264 w 298"/>
                <a:gd name="T21" fmla="*/ 22 h 232"/>
                <a:gd name="T22" fmla="*/ 274 w 298"/>
                <a:gd name="T23" fmla="*/ 18 h 232"/>
                <a:gd name="T24" fmla="*/ 284 w 298"/>
                <a:gd name="T25" fmla="*/ 16 h 232"/>
                <a:gd name="T26" fmla="*/ 296 w 298"/>
                <a:gd name="T27" fmla="*/ 16 h 232"/>
                <a:gd name="T28" fmla="*/ 296 w 298"/>
                <a:gd name="T29" fmla="*/ 16 h 232"/>
                <a:gd name="T30" fmla="*/ 298 w 298"/>
                <a:gd name="T31" fmla="*/ 16 h 232"/>
                <a:gd name="T32" fmla="*/ 298 w 298"/>
                <a:gd name="T33" fmla="*/ 0 h 232"/>
                <a:gd name="T34" fmla="*/ 0 w 298"/>
                <a:gd name="T35" fmla="*/ 0 h 232"/>
                <a:gd name="T36" fmla="*/ 0 w 298"/>
                <a:gd name="T37" fmla="*/ 232 h 232"/>
                <a:gd name="T38" fmla="*/ 298 w 298"/>
                <a:gd name="T39" fmla="*/ 232 h 232"/>
                <a:gd name="T40" fmla="*/ 298 w 298"/>
                <a:gd name="T41" fmla="*/ 22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8" h="232">
                  <a:moveTo>
                    <a:pt x="298" y="226"/>
                  </a:moveTo>
                  <a:lnTo>
                    <a:pt x="298" y="226"/>
                  </a:lnTo>
                  <a:lnTo>
                    <a:pt x="282" y="224"/>
                  </a:lnTo>
                  <a:lnTo>
                    <a:pt x="268" y="220"/>
                  </a:lnTo>
                  <a:lnTo>
                    <a:pt x="254" y="214"/>
                  </a:lnTo>
                  <a:lnTo>
                    <a:pt x="240" y="206"/>
                  </a:lnTo>
                  <a:lnTo>
                    <a:pt x="26" y="206"/>
                  </a:lnTo>
                  <a:lnTo>
                    <a:pt x="26" y="26"/>
                  </a:lnTo>
                  <a:lnTo>
                    <a:pt x="252" y="26"/>
                  </a:lnTo>
                  <a:lnTo>
                    <a:pt x="252" y="26"/>
                  </a:lnTo>
                  <a:lnTo>
                    <a:pt x="264" y="22"/>
                  </a:lnTo>
                  <a:lnTo>
                    <a:pt x="274" y="18"/>
                  </a:lnTo>
                  <a:lnTo>
                    <a:pt x="284" y="16"/>
                  </a:lnTo>
                  <a:lnTo>
                    <a:pt x="296" y="16"/>
                  </a:lnTo>
                  <a:lnTo>
                    <a:pt x="296" y="16"/>
                  </a:lnTo>
                  <a:lnTo>
                    <a:pt x="298" y="16"/>
                  </a:lnTo>
                  <a:lnTo>
                    <a:pt x="298" y="0"/>
                  </a:lnTo>
                  <a:lnTo>
                    <a:pt x="0" y="0"/>
                  </a:lnTo>
                  <a:lnTo>
                    <a:pt x="0" y="232"/>
                  </a:lnTo>
                  <a:lnTo>
                    <a:pt x="298" y="232"/>
                  </a:lnTo>
                  <a:lnTo>
                    <a:pt x="298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51" name="Freeform 107"/>
            <p:cNvSpPr>
              <a:spLocks noEditPoints="1"/>
            </p:cNvSpPr>
            <p:nvPr/>
          </p:nvSpPr>
          <p:spPr bwMode="auto">
            <a:xfrm>
              <a:off x="12431713" y="735013"/>
              <a:ext cx="463550" cy="393700"/>
            </a:xfrm>
            <a:custGeom>
              <a:avLst/>
              <a:gdLst>
                <a:gd name="T0" fmla="*/ 194 w 292"/>
                <a:gd name="T1" fmla="*/ 132 h 248"/>
                <a:gd name="T2" fmla="*/ 188 w 292"/>
                <a:gd name="T3" fmla="*/ 128 h 248"/>
                <a:gd name="T4" fmla="*/ 192 w 292"/>
                <a:gd name="T5" fmla="*/ 110 h 248"/>
                <a:gd name="T6" fmla="*/ 188 w 292"/>
                <a:gd name="T7" fmla="*/ 72 h 248"/>
                <a:gd name="T8" fmla="*/ 182 w 292"/>
                <a:gd name="T9" fmla="*/ 54 h 248"/>
                <a:gd name="T10" fmla="*/ 158 w 292"/>
                <a:gd name="T11" fmla="*/ 24 h 248"/>
                <a:gd name="T12" fmla="*/ 126 w 292"/>
                <a:gd name="T13" fmla="*/ 4 h 248"/>
                <a:gd name="T14" fmla="*/ 90 w 292"/>
                <a:gd name="T15" fmla="*/ 0 h 248"/>
                <a:gd name="T16" fmla="*/ 52 w 292"/>
                <a:gd name="T17" fmla="*/ 8 h 248"/>
                <a:gd name="T18" fmla="*/ 36 w 292"/>
                <a:gd name="T19" fmla="*/ 20 h 248"/>
                <a:gd name="T20" fmla="*/ 12 w 292"/>
                <a:gd name="T21" fmla="*/ 48 h 248"/>
                <a:gd name="T22" fmla="*/ 2 w 292"/>
                <a:gd name="T23" fmla="*/ 82 h 248"/>
                <a:gd name="T24" fmla="*/ 4 w 292"/>
                <a:gd name="T25" fmla="*/ 120 h 248"/>
                <a:gd name="T26" fmla="*/ 12 w 292"/>
                <a:gd name="T27" fmla="*/ 140 h 248"/>
                <a:gd name="T28" fmla="*/ 34 w 292"/>
                <a:gd name="T29" fmla="*/ 170 h 248"/>
                <a:gd name="T30" fmla="*/ 68 w 292"/>
                <a:gd name="T31" fmla="*/ 188 h 248"/>
                <a:gd name="T32" fmla="*/ 104 w 292"/>
                <a:gd name="T33" fmla="*/ 194 h 248"/>
                <a:gd name="T34" fmla="*/ 140 w 292"/>
                <a:gd name="T35" fmla="*/ 184 h 248"/>
                <a:gd name="T36" fmla="*/ 156 w 292"/>
                <a:gd name="T37" fmla="*/ 174 h 248"/>
                <a:gd name="T38" fmla="*/ 160 w 292"/>
                <a:gd name="T39" fmla="*/ 178 h 248"/>
                <a:gd name="T40" fmla="*/ 248 w 292"/>
                <a:gd name="T41" fmla="*/ 242 h 248"/>
                <a:gd name="T42" fmla="*/ 266 w 292"/>
                <a:gd name="T43" fmla="*/ 248 h 248"/>
                <a:gd name="T44" fmla="*/ 282 w 292"/>
                <a:gd name="T45" fmla="*/ 238 h 248"/>
                <a:gd name="T46" fmla="*/ 288 w 292"/>
                <a:gd name="T47" fmla="*/ 230 h 248"/>
                <a:gd name="T48" fmla="*/ 292 w 292"/>
                <a:gd name="T49" fmla="*/ 212 h 248"/>
                <a:gd name="T50" fmla="*/ 282 w 292"/>
                <a:gd name="T51" fmla="*/ 196 h 248"/>
                <a:gd name="T52" fmla="*/ 126 w 292"/>
                <a:gd name="T53" fmla="*/ 156 h 248"/>
                <a:gd name="T54" fmla="*/ 114 w 292"/>
                <a:gd name="T55" fmla="*/ 162 h 248"/>
                <a:gd name="T56" fmla="*/ 88 w 292"/>
                <a:gd name="T57" fmla="*/ 162 h 248"/>
                <a:gd name="T58" fmla="*/ 66 w 292"/>
                <a:gd name="T59" fmla="*/ 154 h 248"/>
                <a:gd name="T60" fmla="*/ 46 w 292"/>
                <a:gd name="T61" fmla="*/ 138 h 248"/>
                <a:gd name="T62" fmla="*/ 38 w 292"/>
                <a:gd name="T63" fmla="*/ 126 h 248"/>
                <a:gd name="T64" fmla="*/ 32 w 292"/>
                <a:gd name="T65" fmla="*/ 100 h 248"/>
                <a:gd name="T66" fmla="*/ 34 w 292"/>
                <a:gd name="T67" fmla="*/ 74 h 248"/>
                <a:gd name="T68" fmla="*/ 46 w 292"/>
                <a:gd name="T69" fmla="*/ 52 h 248"/>
                <a:gd name="T70" fmla="*/ 66 w 292"/>
                <a:gd name="T71" fmla="*/ 36 h 248"/>
                <a:gd name="T72" fmla="*/ 78 w 292"/>
                <a:gd name="T73" fmla="*/ 32 h 248"/>
                <a:gd name="T74" fmla="*/ 104 w 292"/>
                <a:gd name="T75" fmla="*/ 30 h 248"/>
                <a:gd name="T76" fmla="*/ 128 w 292"/>
                <a:gd name="T77" fmla="*/ 38 h 248"/>
                <a:gd name="T78" fmla="*/ 146 w 292"/>
                <a:gd name="T79" fmla="*/ 56 h 248"/>
                <a:gd name="T80" fmla="*/ 154 w 292"/>
                <a:gd name="T81" fmla="*/ 68 h 248"/>
                <a:gd name="T82" fmla="*/ 162 w 292"/>
                <a:gd name="T83" fmla="*/ 94 h 248"/>
                <a:gd name="T84" fmla="*/ 158 w 292"/>
                <a:gd name="T85" fmla="*/ 118 h 248"/>
                <a:gd name="T86" fmla="*/ 146 w 292"/>
                <a:gd name="T87" fmla="*/ 140 h 248"/>
                <a:gd name="T88" fmla="*/ 126 w 292"/>
                <a:gd name="T89" fmla="*/ 15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2" h="248">
                  <a:moveTo>
                    <a:pt x="282" y="196"/>
                  </a:moveTo>
                  <a:lnTo>
                    <a:pt x="194" y="132"/>
                  </a:lnTo>
                  <a:lnTo>
                    <a:pt x="194" y="132"/>
                  </a:lnTo>
                  <a:lnTo>
                    <a:pt x="188" y="128"/>
                  </a:lnTo>
                  <a:lnTo>
                    <a:pt x="188" y="128"/>
                  </a:lnTo>
                  <a:lnTo>
                    <a:pt x="192" y="110"/>
                  </a:lnTo>
                  <a:lnTo>
                    <a:pt x="192" y="92"/>
                  </a:lnTo>
                  <a:lnTo>
                    <a:pt x="188" y="72"/>
                  </a:lnTo>
                  <a:lnTo>
                    <a:pt x="182" y="54"/>
                  </a:lnTo>
                  <a:lnTo>
                    <a:pt x="182" y="54"/>
                  </a:lnTo>
                  <a:lnTo>
                    <a:pt x="172" y="38"/>
                  </a:lnTo>
                  <a:lnTo>
                    <a:pt x="158" y="24"/>
                  </a:lnTo>
                  <a:lnTo>
                    <a:pt x="142" y="12"/>
                  </a:lnTo>
                  <a:lnTo>
                    <a:pt x="126" y="4"/>
                  </a:lnTo>
                  <a:lnTo>
                    <a:pt x="108" y="0"/>
                  </a:lnTo>
                  <a:lnTo>
                    <a:pt x="90" y="0"/>
                  </a:lnTo>
                  <a:lnTo>
                    <a:pt x="70" y="2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36" y="20"/>
                  </a:lnTo>
                  <a:lnTo>
                    <a:pt x="22" y="32"/>
                  </a:lnTo>
                  <a:lnTo>
                    <a:pt x="12" y="48"/>
                  </a:lnTo>
                  <a:lnTo>
                    <a:pt x="6" y="64"/>
                  </a:lnTo>
                  <a:lnTo>
                    <a:pt x="2" y="82"/>
                  </a:lnTo>
                  <a:lnTo>
                    <a:pt x="0" y="102"/>
                  </a:lnTo>
                  <a:lnTo>
                    <a:pt x="4" y="120"/>
                  </a:lnTo>
                  <a:lnTo>
                    <a:pt x="12" y="140"/>
                  </a:lnTo>
                  <a:lnTo>
                    <a:pt x="12" y="140"/>
                  </a:lnTo>
                  <a:lnTo>
                    <a:pt x="22" y="156"/>
                  </a:lnTo>
                  <a:lnTo>
                    <a:pt x="34" y="170"/>
                  </a:lnTo>
                  <a:lnTo>
                    <a:pt x="50" y="180"/>
                  </a:lnTo>
                  <a:lnTo>
                    <a:pt x="68" y="188"/>
                  </a:lnTo>
                  <a:lnTo>
                    <a:pt x="84" y="192"/>
                  </a:lnTo>
                  <a:lnTo>
                    <a:pt x="104" y="194"/>
                  </a:lnTo>
                  <a:lnTo>
                    <a:pt x="122" y="192"/>
                  </a:lnTo>
                  <a:lnTo>
                    <a:pt x="140" y="184"/>
                  </a:lnTo>
                  <a:lnTo>
                    <a:pt x="140" y="184"/>
                  </a:lnTo>
                  <a:lnTo>
                    <a:pt x="156" y="174"/>
                  </a:lnTo>
                  <a:lnTo>
                    <a:pt x="156" y="174"/>
                  </a:lnTo>
                  <a:lnTo>
                    <a:pt x="160" y="178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58" y="246"/>
                  </a:lnTo>
                  <a:lnTo>
                    <a:pt x="266" y="248"/>
                  </a:lnTo>
                  <a:lnTo>
                    <a:pt x="276" y="244"/>
                  </a:lnTo>
                  <a:lnTo>
                    <a:pt x="282" y="238"/>
                  </a:lnTo>
                  <a:lnTo>
                    <a:pt x="288" y="230"/>
                  </a:lnTo>
                  <a:lnTo>
                    <a:pt x="288" y="230"/>
                  </a:lnTo>
                  <a:lnTo>
                    <a:pt x="292" y="222"/>
                  </a:lnTo>
                  <a:lnTo>
                    <a:pt x="292" y="212"/>
                  </a:lnTo>
                  <a:lnTo>
                    <a:pt x="290" y="204"/>
                  </a:lnTo>
                  <a:lnTo>
                    <a:pt x="282" y="196"/>
                  </a:lnTo>
                  <a:lnTo>
                    <a:pt x="282" y="196"/>
                  </a:lnTo>
                  <a:close/>
                  <a:moveTo>
                    <a:pt x="126" y="156"/>
                  </a:moveTo>
                  <a:lnTo>
                    <a:pt x="126" y="156"/>
                  </a:lnTo>
                  <a:lnTo>
                    <a:pt x="114" y="162"/>
                  </a:lnTo>
                  <a:lnTo>
                    <a:pt x="102" y="164"/>
                  </a:lnTo>
                  <a:lnTo>
                    <a:pt x="88" y="162"/>
                  </a:lnTo>
                  <a:lnTo>
                    <a:pt x="76" y="160"/>
                  </a:lnTo>
                  <a:lnTo>
                    <a:pt x="66" y="154"/>
                  </a:lnTo>
                  <a:lnTo>
                    <a:pt x="54" y="146"/>
                  </a:lnTo>
                  <a:lnTo>
                    <a:pt x="46" y="138"/>
                  </a:lnTo>
                  <a:lnTo>
                    <a:pt x="38" y="126"/>
                  </a:lnTo>
                  <a:lnTo>
                    <a:pt x="38" y="126"/>
                  </a:lnTo>
                  <a:lnTo>
                    <a:pt x="34" y="112"/>
                  </a:lnTo>
                  <a:lnTo>
                    <a:pt x="32" y="100"/>
                  </a:lnTo>
                  <a:lnTo>
                    <a:pt x="32" y="86"/>
                  </a:lnTo>
                  <a:lnTo>
                    <a:pt x="34" y="74"/>
                  </a:lnTo>
                  <a:lnTo>
                    <a:pt x="40" y="62"/>
                  </a:lnTo>
                  <a:lnTo>
                    <a:pt x="46" y="52"/>
                  </a:lnTo>
                  <a:lnTo>
                    <a:pt x="56" y="44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78" y="32"/>
                  </a:lnTo>
                  <a:lnTo>
                    <a:pt x="92" y="30"/>
                  </a:lnTo>
                  <a:lnTo>
                    <a:pt x="104" y="30"/>
                  </a:lnTo>
                  <a:lnTo>
                    <a:pt x="116" y="34"/>
                  </a:lnTo>
                  <a:lnTo>
                    <a:pt x="128" y="38"/>
                  </a:lnTo>
                  <a:lnTo>
                    <a:pt x="138" y="46"/>
                  </a:lnTo>
                  <a:lnTo>
                    <a:pt x="146" y="56"/>
                  </a:lnTo>
                  <a:lnTo>
                    <a:pt x="154" y="68"/>
                  </a:lnTo>
                  <a:lnTo>
                    <a:pt x="154" y="68"/>
                  </a:lnTo>
                  <a:lnTo>
                    <a:pt x="160" y="80"/>
                  </a:lnTo>
                  <a:lnTo>
                    <a:pt x="162" y="94"/>
                  </a:lnTo>
                  <a:lnTo>
                    <a:pt x="162" y="106"/>
                  </a:lnTo>
                  <a:lnTo>
                    <a:pt x="158" y="118"/>
                  </a:lnTo>
                  <a:lnTo>
                    <a:pt x="154" y="130"/>
                  </a:lnTo>
                  <a:lnTo>
                    <a:pt x="146" y="140"/>
                  </a:lnTo>
                  <a:lnTo>
                    <a:pt x="138" y="150"/>
                  </a:lnTo>
                  <a:lnTo>
                    <a:pt x="126" y="156"/>
                  </a:lnTo>
                  <a:lnTo>
                    <a:pt x="126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9138" y="3469778"/>
            <a:ext cx="1980000" cy="5311012"/>
            <a:chOff x="719138" y="3406268"/>
            <a:chExt cx="1980000" cy="5311012"/>
          </a:xfrm>
        </p:grpSpPr>
        <p:grpSp>
          <p:nvGrpSpPr>
            <p:cNvPr id="53" name="그룹 52"/>
            <p:cNvGrpSpPr/>
            <p:nvPr/>
          </p:nvGrpSpPr>
          <p:grpSpPr>
            <a:xfrm>
              <a:off x="719138" y="3406268"/>
              <a:ext cx="1980000" cy="5311012"/>
              <a:chOff x="719138" y="3406268"/>
              <a:chExt cx="1980000" cy="5311012"/>
            </a:xfrm>
          </p:grpSpPr>
          <p:sp>
            <p:nvSpPr>
              <p:cNvPr id="56" name="직사각형 55"/>
              <p:cNvSpPr/>
              <p:nvPr/>
            </p:nvSpPr>
            <p:spPr>
              <a:xfrm flipV="1">
                <a:off x="728940" y="3657600"/>
                <a:ext cx="1960396" cy="505968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gradFill>
                  <a:gsLst>
                    <a:gs pos="97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2" tIns="45713" rIns="91422" bIns="45713" anchor="ctr"/>
              <a:lstStyle/>
              <a:p>
                <a:pPr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spc="-5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55" name="Rectangle 53"/>
              <p:cNvSpPr>
                <a:spLocks noChangeArrowheads="1"/>
              </p:cNvSpPr>
              <p:nvPr/>
            </p:nvSpPr>
            <p:spPr bwMode="auto">
              <a:xfrm>
                <a:off x="719138" y="3406268"/>
                <a:ext cx="1980000" cy="316826"/>
              </a:xfrm>
              <a:prstGeom prst="rect">
                <a:avLst/>
              </a:prstGeom>
              <a:solidFill>
                <a:srgbClr val="0B699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1pPr>
                <a:lvl2pPr marL="742950" indent="-28575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2pPr>
                <a:lvl3pPr marL="1143000" indent="-22860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3pPr>
                <a:lvl4pPr marL="1600200" indent="-22860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4pPr>
                <a:lvl5pPr marL="2057400" indent="-22860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9pPr>
              </a:lstStyle>
              <a:p>
                <a:pPr indent="-311964" algn="ctr" defTabSz="111125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186760" algn="l"/>
                  </a:tabLst>
                </a:pPr>
                <a:r>
                  <a:rPr kumimoji="1" lang="ko-KR" altLang="en-US" sz="1100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계획</a:t>
                </a:r>
                <a:r>
                  <a:rPr kumimoji="1" lang="en-US" altLang="ko-KR" sz="1100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/</a:t>
                </a:r>
                <a:r>
                  <a:rPr kumimoji="1" lang="ko-KR" altLang="en-US" sz="1100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준비 단계</a:t>
                </a:r>
                <a:endParaRPr kumimoji="1" lang="en-US" altLang="ko-KR" sz="11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  <p:sp>
          <p:nvSpPr>
            <p:cNvPr id="54" name="이등변 삼각형 53"/>
            <p:cNvSpPr/>
            <p:nvPr/>
          </p:nvSpPr>
          <p:spPr>
            <a:xfrm flipV="1">
              <a:off x="1638424" y="3674326"/>
              <a:ext cx="141428" cy="121920"/>
            </a:xfrm>
            <a:prstGeom prst="triangle">
              <a:avLst/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582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400" b="1" spc="-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2893820" y="3469778"/>
            <a:ext cx="1980000" cy="5311012"/>
            <a:chOff x="719138" y="3406268"/>
            <a:chExt cx="1980000" cy="5311012"/>
          </a:xfrm>
        </p:grpSpPr>
        <p:grpSp>
          <p:nvGrpSpPr>
            <p:cNvPr id="59" name="그룹 58"/>
            <p:cNvGrpSpPr/>
            <p:nvPr/>
          </p:nvGrpSpPr>
          <p:grpSpPr>
            <a:xfrm>
              <a:off x="719138" y="3406268"/>
              <a:ext cx="1980000" cy="5311012"/>
              <a:chOff x="719138" y="3406268"/>
              <a:chExt cx="1980000" cy="5311012"/>
            </a:xfrm>
          </p:grpSpPr>
          <p:sp>
            <p:nvSpPr>
              <p:cNvPr id="62" name="직사각형 61"/>
              <p:cNvSpPr/>
              <p:nvPr/>
            </p:nvSpPr>
            <p:spPr>
              <a:xfrm flipV="1">
                <a:off x="728940" y="3657600"/>
                <a:ext cx="1960396" cy="505968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gradFill>
                  <a:gsLst>
                    <a:gs pos="97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2" tIns="45713" rIns="91422" bIns="45713" anchor="ctr"/>
              <a:lstStyle/>
              <a:p>
                <a:pPr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spc="-5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61" name="Rectangle 53"/>
              <p:cNvSpPr>
                <a:spLocks noChangeArrowheads="1"/>
              </p:cNvSpPr>
              <p:nvPr/>
            </p:nvSpPr>
            <p:spPr bwMode="auto">
              <a:xfrm>
                <a:off x="719138" y="3406268"/>
                <a:ext cx="1980000" cy="316826"/>
              </a:xfrm>
              <a:prstGeom prst="rect">
                <a:avLst/>
              </a:prstGeom>
              <a:solidFill>
                <a:srgbClr val="0B699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1pPr>
                <a:lvl2pPr marL="742950" indent="-28575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2pPr>
                <a:lvl3pPr marL="1143000" indent="-22860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3pPr>
                <a:lvl4pPr marL="1600200" indent="-22860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4pPr>
                <a:lvl5pPr marL="2057400" indent="-22860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9pPr>
              </a:lstStyle>
              <a:p>
                <a:pPr indent="-311964" algn="ctr" defTabSz="111125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186760" algn="l"/>
                  </a:tabLst>
                </a:pPr>
                <a:r>
                  <a:rPr kumimoji="1" lang="ko-KR" altLang="en-US" sz="1100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분석실행 단계</a:t>
                </a:r>
                <a:endParaRPr kumimoji="1" lang="en-US" altLang="ko-KR" sz="11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  <p:sp>
          <p:nvSpPr>
            <p:cNvPr id="60" name="이등변 삼각형 59"/>
            <p:cNvSpPr/>
            <p:nvPr/>
          </p:nvSpPr>
          <p:spPr>
            <a:xfrm flipV="1">
              <a:off x="1638424" y="3674326"/>
              <a:ext cx="141428" cy="121920"/>
            </a:xfrm>
            <a:prstGeom prst="triangle">
              <a:avLst/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582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400" b="1" spc="-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5068501" y="3469778"/>
            <a:ext cx="1980000" cy="5311012"/>
            <a:chOff x="719138" y="3406268"/>
            <a:chExt cx="1980000" cy="5311012"/>
          </a:xfrm>
        </p:grpSpPr>
        <p:grpSp>
          <p:nvGrpSpPr>
            <p:cNvPr id="64" name="그룹 63"/>
            <p:cNvGrpSpPr/>
            <p:nvPr/>
          </p:nvGrpSpPr>
          <p:grpSpPr>
            <a:xfrm>
              <a:off x="719138" y="3406268"/>
              <a:ext cx="1980000" cy="5311012"/>
              <a:chOff x="719138" y="3406268"/>
              <a:chExt cx="1980000" cy="5311012"/>
            </a:xfrm>
          </p:grpSpPr>
          <p:sp>
            <p:nvSpPr>
              <p:cNvPr id="67" name="직사각형 66"/>
              <p:cNvSpPr/>
              <p:nvPr/>
            </p:nvSpPr>
            <p:spPr>
              <a:xfrm flipV="1">
                <a:off x="728940" y="3657600"/>
                <a:ext cx="1960396" cy="505968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gradFill>
                  <a:gsLst>
                    <a:gs pos="97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2" tIns="45713" rIns="91422" bIns="45713" anchor="ctr"/>
              <a:lstStyle/>
              <a:p>
                <a:pPr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spc="-5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66" name="Rectangle 53"/>
              <p:cNvSpPr>
                <a:spLocks noChangeArrowheads="1"/>
              </p:cNvSpPr>
              <p:nvPr/>
            </p:nvSpPr>
            <p:spPr bwMode="auto">
              <a:xfrm>
                <a:off x="719138" y="3406268"/>
                <a:ext cx="1980000" cy="316826"/>
              </a:xfrm>
              <a:prstGeom prst="rect">
                <a:avLst/>
              </a:prstGeom>
              <a:solidFill>
                <a:srgbClr val="0B699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1pPr>
                <a:lvl2pPr marL="742950" indent="-28575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2pPr>
                <a:lvl3pPr marL="1143000" indent="-22860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3pPr>
                <a:lvl4pPr marL="1600200" indent="-22860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4pPr>
                <a:lvl5pPr marL="2057400" indent="-228600" eaLnBrk="0" hangingPunct="0"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산돌고딕B" pitchFamily="18" charset="-127"/>
                    <a:ea typeface="산돌고딕B" pitchFamily="18" charset="-127"/>
                  </a:defRPr>
                </a:lvl9pPr>
              </a:lstStyle>
              <a:p>
                <a:pPr indent="-311964" algn="ctr" defTabSz="111125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186760" algn="l"/>
                  </a:tabLst>
                </a:pPr>
                <a:r>
                  <a:rPr kumimoji="1" lang="ko-KR" altLang="en-US" sz="1100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결과분석 단계</a:t>
                </a:r>
                <a:endParaRPr kumimoji="1" lang="en-US" altLang="ko-KR" sz="1100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  <p:sp>
          <p:nvSpPr>
            <p:cNvPr id="65" name="이등변 삼각형 64"/>
            <p:cNvSpPr/>
            <p:nvPr/>
          </p:nvSpPr>
          <p:spPr>
            <a:xfrm flipV="1">
              <a:off x="1638424" y="3674326"/>
              <a:ext cx="141428" cy="121920"/>
            </a:xfrm>
            <a:prstGeom prst="triangle">
              <a:avLst/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582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400" b="1" spc="-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68" name="모서리가 둥근 직사각형 3"/>
          <p:cNvSpPr>
            <a:spLocks noChangeArrowheads="1"/>
          </p:cNvSpPr>
          <p:nvPr/>
        </p:nvSpPr>
        <p:spPr bwMode="auto">
          <a:xfrm>
            <a:off x="763229" y="3882471"/>
            <a:ext cx="1891818" cy="24417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자료편집기</a:t>
            </a:r>
          </a:p>
        </p:txBody>
      </p:sp>
      <p:grpSp>
        <p:nvGrpSpPr>
          <p:cNvPr id="69" name="그룹 68"/>
          <p:cNvGrpSpPr/>
          <p:nvPr/>
        </p:nvGrpSpPr>
        <p:grpSpPr>
          <a:xfrm>
            <a:off x="740590" y="3387048"/>
            <a:ext cx="344966" cy="364696"/>
            <a:chOff x="886894" y="5042766"/>
            <a:chExt cx="344966" cy="364696"/>
          </a:xfrm>
        </p:grpSpPr>
        <p:grpSp>
          <p:nvGrpSpPr>
            <p:cNvPr id="70" name="그룹 69"/>
            <p:cNvGrpSpPr/>
            <p:nvPr/>
          </p:nvGrpSpPr>
          <p:grpSpPr>
            <a:xfrm>
              <a:off x="902620" y="5042766"/>
              <a:ext cx="312597" cy="364696"/>
              <a:chOff x="-473059" y="5169382"/>
              <a:chExt cx="364973" cy="425801"/>
            </a:xfrm>
          </p:grpSpPr>
          <p:sp>
            <p:nvSpPr>
              <p:cNvPr id="72" name="직각 삼각형 71"/>
              <p:cNvSpPr/>
              <p:nvPr/>
            </p:nvSpPr>
            <p:spPr>
              <a:xfrm>
                <a:off x="-403358" y="5497265"/>
                <a:ext cx="295272" cy="97918"/>
              </a:xfrm>
              <a:prstGeom prst="rt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73" name="Freeform 111"/>
              <p:cNvSpPr>
                <a:spLocks/>
              </p:cNvSpPr>
              <p:nvPr/>
            </p:nvSpPr>
            <p:spPr bwMode="auto">
              <a:xfrm>
                <a:off x="-473059" y="5169382"/>
                <a:ext cx="364972" cy="425801"/>
              </a:xfrm>
              <a:custGeom>
                <a:avLst/>
                <a:gdLst>
                  <a:gd name="T0" fmla="*/ 0 w 254"/>
                  <a:gd name="T1" fmla="*/ 237 h 292"/>
                  <a:gd name="T2" fmla="*/ 254 w 254"/>
                  <a:gd name="T3" fmla="*/ 292 h 292"/>
                  <a:gd name="T4" fmla="*/ 254 w 254"/>
                  <a:gd name="T5" fmla="*/ 55 h 292"/>
                  <a:gd name="T6" fmla="*/ 0 w 254"/>
                  <a:gd name="T7" fmla="*/ 0 h 292"/>
                  <a:gd name="T8" fmla="*/ 0 w 254"/>
                  <a:gd name="T9" fmla="*/ 237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4" h="292">
                    <a:moveTo>
                      <a:pt x="0" y="237"/>
                    </a:moveTo>
                    <a:lnTo>
                      <a:pt x="254" y="292"/>
                    </a:lnTo>
                    <a:lnTo>
                      <a:pt x="254" y="55"/>
                    </a:lnTo>
                    <a:lnTo>
                      <a:pt x="0" y="0"/>
                    </a:lnTo>
                    <a:lnTo>
                      <a:pt x="0" y="237"/>
                    </a:lnTo>
                    <a:close/>
                  </a:path>
                </a:pathLst>
              </a:custGeom>
              <a:solidFill>
                <a:srgbClr val="1C9F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atinLnBrk="0"/>
                <a:endParaRPr lang="ko-KR" altLang="en-US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74" name="Freeform 111"/>
              <p:cNvSpPr>
                <a:spLocks/>
              </p:cNvSpPr>
              <p:nvPr/>
            </p:nvSpPr>
            <p:spPr bwMode="auto">
              <a:xfrm>
                <a:off x="-473059" y="5249603"/>
                <a:ext cx="364972" cy="345580"/>
              </a:xfrm>
              <a:custGeom>
                <a:avLst/>
                <a:gdLst>
                  <a:gd name="T0" fmla="*/ 0 w 254"/>
                  <a:gd name="T1" fmla="*/ 237 h 292"/>
                  <a:gd name="T2" fmla="*/ 254 w 254"/>
                  <a:gd name="T3" fmla="*/ 292 h 292"/>
                  <a:gd name="T4" fmla="*/ 254 w 254"/>
                  <a:gd name="T5" fmla="*/ 55 h 292"/>
                  <a:gd name="T6" fmla="*/ 0 w 254"/>
                  <a:gd name="T7" fmla="*/ 0 h 292"/>
                  <a:gd name="T8" fmla="*/ 0 w 254"/>
                  <a:gd name="T9" fmla="*/ 237 h 292"/>
                  <a:gd name="connsiteX0" fmla="*/ 0 w 10000"/>
                  <a:gd name="connsiteY0" fmla="*/ 6232 h 8116"/>
                  <a:gd name="connsiteX1" fmla="*/ 10000 w 10000"/>
                  <a:gd name="connsiteY1" fmla="*/ 8116 h 8116"/>
                  <a:gd name="connsiteX2" fmla="*/ 10000 w 10000"/>
                  <a:gd name="connsiteY2" fmla="*/ 0 h 8116"/>
                  <a:gd name="connsiteX3" fmla="*/ 0 w 10000"/>
                  <a:gd name="connsiteY3" fmla="*/ 6232 h 8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8116">
                    <a:moveTo>
                      <a:pt x="0" y="6232"/>
                    </a:moveTo>
                    <a:lnTo>
                      <a:pt x="10000" y="8116"/>
                    </a:lnTo>
                    <a:lnTo>
                      <a:pt x="10000" y="0"/>
                    </a:lnTo>
                    <a:lnTo>
                      <a:pt x="0" y="6232"/>
                    </a:lnTo>
                    <a:close/>
                  </a:path>
                </a:pathLst>
              </a:custGeom>
              <a:solidFill>
                <a:srgbClr val="2DABE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atinLnBrk="0"/>
                <a:endParaRPr lang="ko-KR" altLang="en-US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cxnSp>
            <p:nvCxnSpPr>
              <p:cNvPr id="75" name="직선 연결선 74"/>
              <p:cNvCxnSpPr/>
              <p:nvPr/>
            </p:nvCxnSpPr>
            <p:spPr>
              <a:xfrm>
                <a:off x="-393794" y="5466744"/>
                <a:ext cx="210159" cy="0"/>
              </a:xfrm>
              <a:prstGeom prst="line">
                <a:avLst/>
              </a:prstGeom>
              <a:ln>
                <a:solidFill>
                  <a:srgbClr val="A7D9F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직사각형 70"/>
            <p:cNvSpPr/>
            <p:nvPr/>
          </p:nvSpPr>
          <p:spPr>
            <a:xfrm>
              <a:off x="886894" y="5083411"/>
              <a:ext cx="34496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0"/>
              <a:r>
                <a:rPr lang="en-US" altLang="ko-KR" sz="1100" b="1" spc="-5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01</a:t>
              </a:r>
              <a:endParaRPr lang="ko-KR" altLang="en-US" b="1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2898574" y="3387048"/>
            <a:ext cx="344966" cy="364696"/>
            <a:chOff x="886894" y="5042766"/>
            <a:chExt cx="344966" cy="364696"/>
          </a:xfrm>
        </p:grpSpPr>
        <p:grpSp>
          <p:nvGrpSpPr>
            <p:cNvPr id="77" name="그룹 76"/>
            <p:cNvGrpSpPr/>
            <p:nvPr/>
          </p:nvGrpSpPr>
          <p:grpSpPr>
            <a:xfrm>
              <a:off x="902620" y="5042766"/>
              <a:ext cx="312597" cy="364696"/>
              <a:chOff x="-473059" y="5169382"/>
              <a:chExt cx="364973" cy="425801"/>
            </a:xfrm>
          </p:grpSpPr>
          <p:sp>
            <p:nvSpPr>
              <p:cNvPr id="79" name="직각 삼각형 78"/>
              <p:cNvSpPr/>
              <p:nvPr/>
            </p:nvSpPr>
            <p:spPr>
              <a:xfrm>
                <a:off x="-403358" y="5497265"/>
                <a:ext cx="295272" cy="97918"/>
              </a:xfrm>
              <a:prstGeom prst="rt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80" name="Freeform 111"/>
              <p:cNvSpPr>
                <a:spLocks/>
              </p:cNvSpPr>
              <p:nvPr/>
            </p:nvSpPr>
            <p:spPr bwMode="auto">
              <a:xfrm>
                <a:off x="-473059" y="5169382"/>
                <a:ext cx="364972" cy="425801"/>
              </a:xfrm>
              <a:custGeom>
                <a:avLst/>
                <a:gdLst>
                  <a:gd name="T0" fmla="*/ 0 w 254"/>
                  <a:gd name="T1" fmla="*/ 237 h 292"/>
                  <a:gd name="T2" fmla="*/ 254 w 254"/>
                  <a:gd name="T3" fmla="*/ 292 h 292"/>
                  <a:gd name="T4" fmla="*/ 254 w 254"/>
                  <a:gd name="T5" fmla="*/ 55 h 292"/>
                  <a:gd name="T6" fmla="*/ 0 w 254"/>
                  <a:gd name="T7" fmla="*/ 0 h 292"/>
                  <a:gd name="T8" fmla="*/ 0 w 254"/>
                  <a:gd name="T9" fmla="*/ 237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4" h="292">
                    <a:moveTo>
                      <a:pt x="0" y="237"/>
                    </a:moveTo>
                    <a:lnTo>
                      <a:pt x="254" y="292"/>
                    </a:lnTo>
                    <a:lnTo>
                      <a:pt x="254" y="55"/>
                    </a:lnTo>
                    <a:lnTo>
                      <a:pt x="0" y="0"/>
                    </a:lnTo>
                    <a:lnTo>
                      <a:pt x="0" y="237"/>
                    </a:lnTo>
                    <a:close/>
                  </a:path>
                </a:pathLst>
              </a:custGeom>
              <a:solidFill>
                <a:srgbClr val="1C9F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atinLnBrk="0"/>
                <a:endParaRPr lang="ko-KR" altLang="en-US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81" name="Freeform 111"/>
              <p:cNvSpPr>
                <a:spLocks/>
              </p:cNvSpPr>
              <p:nvPr/>
            </p:nvSpPr>
            <p:spPr bwMode="auto">
              <a:xfrm>
                <a:off x="-473059" y="5249603"/>
                <a:ext cx="364972" cy="345580"/>
              </a:xfrm>
              <a:custGeom>
                <a:avLst/>
                <a:gdLst>
                  <a:gd name="T0" fmla="*/ 0 w 254"/>
                  <a:gd name="T1" fmla="*/ 237 h 292"/>
                  <a:gd name="T2" fmla="*/ 254 w 254"/>
                  <a:gd name="T3" fmla="*/ 292 h 292"/>
                  <a:gd name="T4" fmla="*/ 254 w 254"/>
                  <a:gd name="T5" fmla="*/ 55 h 292"/>
                  <a:gd name="T6" fmla="*/ 0 w 254"/>
                  <a:gd name="T7" fmla="*/ 0 h 292"/>
                  <a:gd name="T8" fmla="*/ 0 w 254"/>
                  <a:gd name="T9" fmla="*/ 237 h 292"/>
                  <a:gd name="connsiteX0" fmla="*/ 0 w 10000"/>
                  <a:gd name="connsiteY0" fmla="*/ 6232 h 8116"/>
                  <a:gd name="connsiteX1" fmla="*/ 10000 w 10000"/>
                  <a:gd name="connsiteY1" fmla="*/ 8116 h 8116"/>
                  <a:gd name="connsiteX2" fmla="*/ 10000 w 10000"/>
                  <a:gd name="connsiteY2" fmla="*/ 0 h 8116"/>
                  <a:gd name="connsiteX3" fmla="*/ 0 w 10000"/>
                  <a:gd name="connsiteY3" fmla="*/ 6232 h 8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8116">
                    <a:moveTo>
                      <a:pt x="0" y="6232"/>
                    </a:moveTo>
                    <a:lnTo>
                      <a:pt x="10000" y="8116"/>
                    </a:lnTo>
                    <a:lnTo>
                      <a:pt x="10000" y="0"/>
                    </a:lnTo>
                    <a:lnTo>
                      <a:pt x="0" y="6232"/>
                    </a:lnTo>
                    <a:close/>
                  </a:path>
                </a:pathLst>
              </a:custGeom>
              <a:solidFill>
                <a:srgbClr val="2DABE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atinLnBrk="0"/>
                <a:endParaRPr lang="ko-KR" altLang="en-US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cxnSp>
            <p:nvCxnSpPr>
              <p:cNvPr id="82" name="직선 연결선 81"/>
              <p:cNvCxnSpPr/>
              <p:nvPr/>
            </p:nvCxnSpPr>
            <p:spPr>
              <a:xfrm>
                <a:off x="-393794" y="5466744"/>
                <a:ext cx="210159" cy="0"/>
              </a:xfrm>
              <a:prstGeom prst="line">
                <a:avLst/>
              </a:prstGeom>
              <a:ln>
                <a:solidFill>
                  <a:srgbClr val="A7D9F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직사각형 77"/>
            <p:cNvSpPr/>
            <p:nvPr/>
          </p:nvSpPr>
          <p:spPr>
            <a:xfrm>
              <a:off x="886894" y="5083411"/>
              <a:ext cx="34496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0"/>
              <a:r>
                <a:rPr lang="en-US" altLang="ko-KR" sz="1100" b="1" spc="-5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02</a:t>
              </a:r>
              <a:endParaRPr lang="ko-KR" altLang="en-US" b="1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5105326" y="3387048"/>
            <a:ext cx="344966" cy="364696"/>
            <a:chOff x="886894" y="5042766"/>
            <a:chExt cx="344966" cy="364696"/>
          </a:xfrm>
        </p:grpSpPr>
        <p:grpSp>
          <p:nvGrpSpPr>
            <p:cNvPr id="84" name="그룹 83"/>
            <p:cNvGrpSpPr/>
            <p:nvPr/>
          </p:nvGrpSpPr>
          <p:grpSpPr>
            <a:xfrm>
              <a:off x="902620" y="5042766"/>
              <a:ext cx="312597" cy="364696"/>
              <a:chOff x="-473059" y="5169382"/>
              <a:chExt cx="364973" cy="425801"/>
            </a:xfrm>
          </p:grpSpPr>
          <p:sp>
            <p:nvSpPr>
              <p:cNvPr id="86" name="직각 삼각형 85"/>
              <p:cNvSpPr/>
              <p:nvPr/>
            </p:nvSpPr>
            <p:spPr>
              <a:xfrm>
                <a:off x="-403358" y="5497265"/>
                <a:ext cx="295272" cy="97918"/>
              </a:xfrm>
              <a:prstGeom prst="rt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87" name="Freeform 111"/>
              <p:cNvSpPr>
                <a:spLocks/>
              </p:cNvSpPr>
              <p:nvPr/>
            </p:nvSpPr>
            <p:spPr bwMode="auto">
              <a:xfrm>
                <a:off x="-473059" y="5169382"/>
                <a:ext cx="364972" cy="425801"/>
              </a:xfrm>
              <a:custGeom>
                <a:avLst/>
                <a:gdLst>
                  <a:gd name="T0" fmla="*/ 0 w 254"/>
                  <a:gd name="T1" fmla="*/ 237 h 292"/>
                  <a:gd name="T2" fmla="*/ 254 w 254"/>
                  <a:gd name="T3" fmla="*/ 292 h 292"/>
                  <a:gd name="T4" fmla="*/ 254 w 254"/>
                  <a:gd name="T5" fmla="*/ 55 h 292"/>
                  <a:gd name="T6" fmla="*/ 0 w 254"/>
                  <a:gd name="T7" fmla="*/ 0 h 292"/>
                  <a:gd name="T8" fmla="*/ 0 w 254"/>
                  <a:gd name="T9" fmla="*/ 237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4" h="292">
                    <a:moveTo>
                      <a:pt x="0" y="237"/>
                    </a:moveTo>
                    <a:lnTo>
                      <a:pt x="254" y="292"/>
                    </a:lnTo>
                    <a:lnTo>
                      <a:pt x="254" y="55"/>
                    </a:lnTo>
                    <a:lnTo>
                      <a:pt x="0" y="0"/>
                    </a:lnTo>
                    <a:lnTo>
                      <a:pt x="0" y="237"/>
                    </a:lnTo>
                    <a:close/>
                  </a:path>
                </a:pathLst>
              </a:custGeom>
              <a:solidFill>
                <a:srgbClr val="1C9F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atinLnBrk="0"/>
                <a:endParaRPr lang="ko-KR" altLang="en-US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88" name="Freeform 111"/>
              <p:cNvSpPr>
                <a:spLocks/>
              </p:cNvSpPr>
              <p:nvPr/>
            </p:nvSpPr>
            <p:spPr bwMode="auto">
              <a:xfrm>
                <a:off x="-473059" y="5249603"/>
                <a:ext cx="364972" cy="345580"/>
              </a:xfrm>
              <a:custGeom>
                <a:avLst/>
                <a:gdLst>
                  <a:gd name="T0" fmla="*/ 0 w 254"/>
                  <a:gd name="T1" fmla="*/ 237 h 292"/>
                  <a:gd name="T2" fmla="*/ 254 w 254"/>
                  <a:gd name="T3" fmla="*/ 292 h 292"/>
                  <a:gd name="T4" fmla="*/ 254 w 254"/>
                  <a:gd name="T5" fmla="*/ 55 h 292"/>
                  <a:gd name="T6" fmla="*/ 0 w 254"/>
                  <a:gd name="T7" fmla="*/ 0 h 292"/>
                  <a:gd name="T8" fmla="*/ 0 w 254"/>
                  <a:gd name="T9" fmla="*/ 237 h 292"/>
                  <a:gd name="connsiteX0" fmla="*/ 0 w 10000"/>
                  <a:gd name="connsiteY0" fmla="*/ 6232 h 8116"/>
                  <a:gd name="connsiteX1" fmla="*/ 10000 w 10000"/>
                  <a:gd name="connsiteY1" fmla="*/ 8116 h 8116"/>
                  <a:gd name="connsiteX2" fmla="*/ 10000 w 10000"/>
                  <a:gd name="connsiteY2" fmla="*/ 0 h 8116"/>
                  <a:gd name="connsiteX3" fmla="*/ 0 w 10000"/>
                  <a:gd name="connsiteY3" fmla="*/ 6232 h 8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8116">
                    <a:moveTo>
                      <a:pt x="0" y="6232"/>
                    </a:moveTo>
                    <a:lnTo>
                      <a:pt x="10000" y="8116"/>
                    </a:lnTo>
                    <a:lnTo>
                      <a:pt x="10000" y="0"/>
                    </a:lnTo>
                    <a:lnTo>
                      <a:pt x="0" y="6232"/>
                    </a:lnTo>
                    <a:close/>
                  </a:path>
                </a:pathLst>
              </a:custGeom>
              <a:solidFill>
                <a:srgbClr val="2DABE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atinLnBrk="0"/>
                <a:endParaRPr lang="ko-KR" altLang="en-US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</a:endParaRPr>
              </a:p>
            </p:txBody>
          </p:sp>
          <p:cxnSp>
            <p:nvCxnSpPr>
              <p:cNvPr id="89" name="직선 연결선 88"/>
              <p:cNvCxnSpPr/>
              <p:nvPr/>
            </p:nvCxnSpPr>
            <p:spPr>
              <a:xfrm>
                <a:off x="-393794" y="5466744"/>
                <a:ext cx="210159" cy="0"/>
              </a:xfrm>
              <a:prstGeom prst="line">
                <a:avLst/>
              </a:prstGeom>
              <a:ln>
                <a:solidFill>
                  <a:srgbClr val="A7D9F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직사각형 84"/>
            <p:cNvSpPr/>
            <p:nvPr/>
          </p:nvSpPr>
          <p:spPr>
            <a:xfrm>
              <a:off x="886894" y="5083411"/>
              <a:ext cx="34496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0"/>
              <a:r>
                <a:rPr lang="en-US" altLang="ko-KR" sz="1100" b="1" spc="-5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03</a:t>
              </a:r>
              <a:endParaRPr lang="ko-KR" altLang="en-US" b="1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</p:grpSp>
      <p:sp>
        <p:nvSpPr>
          <p:cNvPr id="90" name="모서리가 둥근 직사각형 3"/>
          <p:cNvSpPr>
            <a:spLocks noChangeArrowheads="1"/>
          </p:cNvSpPr>
          <p:nvPr/>
        </p:nvSpPr>
        <p:spPr bwMode="auto">
          <a:xfrm>
            <a:off x="763229" y="5070006"/>
            <a:ext cx="1891818" cy="24417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환경</a:t>
            </a:r>
            <a:r>
              <a:rPr kumimoji="1"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지형</a:t>
            </a:r>
            <a:r>
              <a:rPr kumimoji="1"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편집기</a:t>
            </a:r>
          </a:p>
        </p:txBody>
      </p:sp>
      <p:sp>
        <p:nvSpPr>
          <p:cNvPr id="91" name="모서리가 둥근 직사각형 3"/>
          <p:cNvSpPr>
            <a:spLocks noChangeArrowheads="1"/>
          </p:cNvSpPr>
          <p:nvPr/>
        </p:nvSpPr>
        <p:spPr bwMode="auto">
          <a:xfrm>
            <a:off x="763229" y="6257541"/>
            <a:ext cx="1891818" cy="24417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모델생성기</a:t>
            </a:r>
            <a:endParaRPr kumimoji="1" lang="ko-KR" altLang="en-US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" name="모서리가 둥근 직사각형 3"/>
          <p:cNvSpPr>
            <a:spLocks noChangeArrowheads="1"/>
          </p:cNvSpPr>
          <p:nvPr/>
        </p:nvSpPr>
        <p:spPr bwMode="auto">
          <a:xfrm>
            <a:off x="719138" y="7445075"/>
            <a:ext cx="1891818" cy="24417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시나리오 편집기</a:t>
            </a:r>
          </a:p>
        </p:txBody>
      </p:sp>
      <p:sp>
        <p:nvSpPr>
          <p:cNvPr id="93" name="모서리가 둥근 직사각형 3"/>
          <p:cNvSpPr>
            <a:spLocks noChangeArrowheads="1"/>
          </p:cNvSpPr>
          <p:nvPr/>
        </p:nvSpPr>
        <p:spPr bwMode="auto">
          <a:xfrm>
            <a:off x="2933003" y="3882471"/>
            <a:ext cx="1891818" cy="24417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모의 통제</a:t>
            </a:r>
          </a:p>
        </p:txBody>
      </p:sp>
      <p:sp>
        <p:nvSpPr>
          <p:cNvPr id="94" name="모서리가 둥근 직사각형 3"/>
          <p:cNvSpPr>
            <a:spLocks noChangeArrowheads="1"/>
          </p:cNvSpPr>
          <p:nvPr/>
        </p:nvSpPr>
        <p:spPr bwMode="auto">
          <a:xfrm>
            <a:off x="2933003" y="5070006"/>
            <a:ext cx="1891818" cy="24417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전장상황 가시화</a:t>
            </a:r>
          </a:p>
        </p:txBody>
      </p:sp>
      <p:sp>
        <p:nvSpPr>
          <p:cNvPr id="95" name="모서리가 둥근 직사각형 3"/>
          <p:cNvSpPr>
            <a:spLocks noChangeArrowheads="1"/>
          </p:cNvSpPr>
          <p:nvPr/>
        </p:nvSpPr>
        <p:spPr bwMode="auto">
          <a:xfrm>
            <a:off x="2933003" y="6257541"/>
            <a:ext cx="1891818" cy="24417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모델운용 성능추적</a:t>
            </a:r>
          </a:p>
        </p:txBody>
      </p:sp>
      <p:sp>
        <p:nvSpPr>
          <p:cNvPr id="96" name="모서리가 둥근 직사각형 3"/>
          <p:cNvSpPr>
            <a:spLocks noChangeArrowheads="1"/>
          </p:cNvSpPr>
          <p:nvPr/>
        </p:nvSpPr>
        <p:spPr bwMode="auto">
          <a:xfrm>
            <a:off x="2945623" y="7445075"/>
            <a:ext cx="1891818" cy="24417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모의엔진</a:t>
            </a:r>
          </a:p>
        </p:txBody>
      </p:sp>
      <p:sp>
        <p:nvSpPr>
          <p:cNvPr id="97" name="모서리가 둥근 직사각형 3"/>
          <p:cNvSpPr>
            <a:spLocks noChangeArrowheads="1"/>
          </p:cNvSpPr>
          <p:nvPr/>
        </p:nvSpPr>
        <p:spPr bwMode="auto">
          <a:xfrm>
            <a:off x="5103179" y="3882471"/>
            <a:ext cx="1891818" cy="24417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1111250" fontAlgn="base" latinLnBrk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사후분석</a:t>
            </a:r>
          </a:p>
        </p:txBody>
      </p:sp>
      <p:grpSp>
        <p:nvGrpSpPr>
          <p:cNvPr id="98" name="그룹 97"/>
          <p:cNvGrpSpPr/>
          <p:nvPr/>
        </p:nvGrpSpPr>
        <p:grpSpPr>
          <a:xfrm>
            <a:off x="5225038" y="4315893"/>
            <a:ext cx="1663442" cy="1208395"/>
            <a:chOff x="1442766" y="9260794"/>
            <a:chExt cx="2103619" cy="1183218"/>
          </a:xfrm>
        </p:grpSpPr>
        <p:pic>
          <p:nvPicPr>
            <p:cNvPr id="9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2766" y="9260794"/>
              <a:ext cx="2103619" cy="1183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7755" y="9448230"/>
              <a:ext cx="667951" cy="47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1" name="그림 10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858" y="5598026"/>
            <a:ext cx="1656622" cy="1318662"/>
          </a:xfrm>
          <a:prstGeom prst="rect">
            <a:avLst/>
          </a:prstGeom>
        </p:spPr>
      </p:pic>
      <p:grpSp>
        <p:nvGrpSpPr>
          <p:cNvPr id="102" name="그룹 101"/>
          <p:cNvGrpSpPr/>
          <p:nvPr/>
        </p:nvGrpSpPr>
        <p:grpSpPr>
          <a:xfrm>
            <a:off x="5215632" y="6990426"/>
            <a:ext cx="1672847" cy="1185938"/>
            <a:chOff x="5003912" y="8691946"/>
            <a:chExt cx="1885698" cy="1339263"/>
          </a:xfrm>
        </p:grpSpPr>
        <p:pic>
          <p:nvPicPr>
            <p:cNvPr id="103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3912" y="8691946"/>
              <a:ext cx="1885698" cy="133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9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06" t="2141" r="8851"/>
            <a:stretch/>
          </p:blipFill>
          <p:spPr bwMode="auto">
            <a:xfrm>
              <a:off x="5258320" y="8870157"/>
              <a:ext cx="1606824" cy="1102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5" name="그룹 104"/>
          <p:cNvGrpSpPr/>
          <p:nvPr/>
        </p:nvGrpSpPr>
        <p:grpSpPr>
          <a:xfrm>
            <a:off x="1248253" y="4167303"/>
            <a:ext cx="921770" cy="578825"/>
            <a:chOff x="925972" y="4106417"/>
            <a:chExt cx="921770" cy="685878"/>
          </a:xfrm>
        </p:grpSpPr>
        <p:pic>
          <p:nvPicPr>
            <p:cNvPr id="106" name="Picture 2"/>
            <p:cNvPicPr>
              <a:picLocks noChangeAspect="1" noChangeArrowheads="1"/>
            </p:cNvPicPr>
            <p:nvPr/>
          </p:nvPicPr>
          <p:blipFill>
            <a:blip r:embed="rId9" cstate="print">
              <a:lum bright="10000" contrast="10000"/>
            </a:blip>
            <a:srcRect/>
            <a:stretch>
              <a:fillRect/>
            </a:stretch>
          </p:blipFill>
          <p:spPr bwMode="auto">
            <a:xfrm>
              <a:off x="925972" y="4106417"/>
              <a:ext cx="773483" cy="545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7" name="Picture 2"/>
            <p:cNvPicPr>
              <a:picLocks noChangeAspect="1" noChangeArrowheads="1"/>
            </p:cNvPicPr>
            <p:nvPr/>
          </p:nvPicPr>
          <p:blipFill>
            <a:blip r:embed="rId10" cstate="print">
              <a:lum bright="10000" contrast="10000"/>
            </a:blip>
            <a:srcRect t="8565" r="22372" b="26234"/>
            <a:stretch>
              <a:fillRect/>
            </a:stretch>
          </p:blipFill>
          <p:spPr bwMode="auto">
            <a:xfrm>
              <a:off x="1113887" y="4226338"/>
              <a:ext cx="733855" cy="5659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9" name="Rectangle 100"/>
          <p:cNvSpPr>
            <a:spLocks noChangeArrowheads="1"/>
          </p:cNvSpPr>
          <p:nvPr/>
        </p:nvSpPr>
        <p:spPr bwMode="auto">
          <a:xfrm>
            <a:off x="773094" y="4749254"/>
            <a:ext cx="1885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부대 데이터 및 제원 및 </a:t>
            </a:r>
            <a:endParaRPr lang="en-US" altLang="ko-KR" sz="1000" spc="-70" dirty="0">
              <a:ln w="0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 err="1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파라메터</a:t>
            </a: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입력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1248338" y="5392046"/>
            <a:ext cx="921600" cy="579600"/>
            <a:chOff x="-2057100" y="5144961"/>
            <a:chExt cx="954051" cy="687838"/>
          </a:xfrm>
        </p:grpSpPr>
        <p:pic>
          <p:nvPicPr>
            <p:cNvPr id="111" name="Picture 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057100" y="5144961"/>
              <a:ext cx="954051" cy="68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72059" y="5247588"/>
              <a:ext cx="762179" cy="5648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3" name="Rectangle 100"/>
          <p:cNvSpPr>
            <a:spLocks noChangeArrowheads="1"/>
          </p:cNvSpPr>
          <p:nvPr/>
        </p:nvSpPr>
        <p:spPr bwMode="auto">
          <a:xfrm>
            <a:off x="758393" y="6022303"/>
            <a:ext cx="1885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지형 편집기능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1248338" y="6596650"/>
            <a:ext cx="921600" cy="579600"/>
            <a:chOff x="-1800051" y="6182258"/>
            <a:chExt cx="892569" cy="696320"/>
          </a:xfrm>
        </p:grpSpPr>
        <p:pic>
          <p:nvPicPr>
            <p:cNvPr id="115" name="Picture 2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-1685749" y="6182258"/>
              <a:ext cx="778267" cy="402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16" name="_x143065096" descr="EMB000018e44a16"/>
            <p:cNvPicPr>
              <a:picLocks noChangeAspect="1" noChangeArrowheads="1"/>
            </p:cNvPicPr>
            <p:nvPr/>
          </p:nvPicPr>
          <p:blipFill>
            <a:blip r:embed="rId14" cstate="print"/>
            <a:srcRect b="22083"/>
            <a:stretch>
              <a:fillRect/>
            </a:stretch>
          </p:blipFill>
          <p:spPr bwMode="auto">
            <a:xfrm>
              <a:off x="-1800051" y="6452227"/>
              <a:ext cx="779124" cy="426351"/>
            </a:xfrm>
            <a:prstGeom prst="rect">
              <a:avLst/>
            </a:prstGeom>
            <a:noFill/>
          </p:spPr>
        </p:pic>
      </p:grpSp>
      <p:sp>
        <p:nvSpPr>
          <p:cNvPr id="117" name="Rectangle 100"/>
          <p:cNvSpPr>
            <a:spLocks noChangeArrowheads="1"/>
          </p:cNvSpPr>
          <p:nvPr/>
        </p:nvSpPr>
        <p:spPr bwMode="auto">
          <a:xfrm>
            <a:off x="774213" y="7226400"/>
            <a:ext cx="1885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개체 및 부대  모델 </a:t>
            </a:r>
            <a:r>
              <a:rPr lang="ko-KR" altLang="en-US" sz="1000" spc="-70" dirty="0" err="1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생성기</a:t>
            </a:r>
            <a:endParaRPr lang="ko-KR" altLang="en-US" sz="1000" spc="-70" dirty="0">
              <a:ln w="0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118" name="Picture 35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338" y="7741378"/>
            <a:ext cx="921600" cy="663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" name="Rectangle 100"/>
          <p:cNvSpPr>
            <a:spLocks noChangeArrowheads="1"/>
          </p:cNvSpPr>
          <p:nvPr/>
        </p:nvSpPr>
        <p:spPr bwMode="auto">
          <a:xfrm>
            <a:off x="766372" y="8438634"/>
            <a:ext cx="1885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전장상황도 기반 부대 </a:t>
            </a:r>
            <a:b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배치 및 임무 </a:t>
            </a:r>
            <a:r>
              <a:rPr lang="en-US" altLang="ko-KR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과업 설정</a:t>
            </a:r>
          </a:p>
        </p:txBody>
      </p:sp>
      <p:pic>
        <p:nvPicPr>
          <p:cNvPr id="120" name="Picture 35"/>
          <p:cNvPicPr preferRelativeResize="0">
            <a:picLocks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020" y="4167303"/>
            <a:ext cx="921600" cy="5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Rectangle 100"/>
          <p:cNvSpPr>
            <a:spLocks noChangeArrowheads="1"/>
          </p:cNvSpPr>
          <p:nvPr/>
        </p:nvSpPr>
        <p:spPr bwMode="auto">
          <a:xfrm>
            <a:off x="2949721" y="4749254"/>
            <a:ext cx="1885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시나리오 처리</a:t>
            </a:r>
            <a:r>
              <a:rPr lang="en-US" altLang="ko-KR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모의통제</a:t>
            </a:r>
            <a:r>
              <a:rPr lang="en-US" altLang="ko-KR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</a:p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반복실행 및 시나리오 오류 검증</a:t>
            </a:r>
          </a:p>
        </p:txBody>
      </p:sp>
      <p:grpSp>
        <p:nvGrpSpPr>
          <p:cNvPr id="122" name="그룹 121"/>
          <p:cNvGrpSpPr/>
          <p:nvPr/>
        </p:nvGrpSpPr>
        <p:grpSpPr>
          <a:xfrm>
            <a:off x="3423020" y="5392046"/>
            <a:ext cx="921600" cy="579600"/>
            <a:chOff x="11260354" y="5103371"/>
            <a:chExt cx="963581" cy="712241"/>
          </a:xfrm>
        </p:grpSpPr>
        <p:pic>
          <p:nvPicPr>
            <p:cNvPr id="123" name="Picture 11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0354" y="5103371"/>
              <a:ext cx="963581" cy="712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" name="Picture 10"/>
            <p:cNvPicPr>
              <a:picLocks noChangeAspect="1" noChangeArrowheads="1"/>
            </p:cNvPicPr>
            <p:nvPr/>
          </p:nvPicPr>
          <p:blipFill rotWithShape="1">
            <a:blip r:embed="rId18" cstate="print">
              <a:clrChange>
                <a:clrFrom>
                  <a:srgbClr val="FFFFC8"/>
                </a:clrFrom>
                <a:clrTo>
                  <a:srgbClr val="FFFFC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04" t="22973" r="13753"/>
            <a:stretch/>
          </p:blipFill>
          <p:spPr bwMode="auto">
            <a:xfrm>
              <a:off x="11440890" y="5206425"/>
              <a:ext cx="654011" cy="458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5" name="Picture 13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9848" y="5298217"/>
              <a:ext cx="536397" cy="407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6" name="Rectangle 100"/>
          <p:cNvSpPr>
            <a:spLocks noChangeArrowheads="1"/>
          </p:cNvSpPr>
          <p:nvPr/>
        </p:nvSpPr>
        <p:spPr bwMode="auto">
          <a:xfrm>
            <a:off x="2948766" y="6022303"/>
            <a:ext cx="1885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en-US" altLang="ko-KR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2D / 3D </a:t>
            </a: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전장상황 도시</a:t>
            </a:r>
          </a:p>
        </p:txBody>
      </p:sp>
      <p:grpSp>
        <p:nvGrpSpPr>
          <p:cNvPr id="127" name="그룹 126"/>
          <p:cNvGrpSpPr/>
          <p:nvPr/>
        </p:nvGrpSpPr>
        <p:grpSpPr>
          <a:xfrm>
            <a:off x="3447648" y="6596650"/>
            <a:ext cx="921600" cy="579600"/>
            <a:chOff x="11074107" y="6395526"/>
            <a:chExt cx="1248197" cy="762676"/>
          </a:xfrm>
        </p:grpSpPr>
        <p:pic>
          <p:nvPicPr>
            <p:cNvPr id="128" name="Picture 3" descr="C:\Users\Owner\Desktop\서비스.png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74107" y="6395526"/>
              <a:ext cx="889319" cy="631178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Picture 4" descr="C:\Users\Owner\Desktop\성능.png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2816" y="6525099"/>
              <a:ext cx="879488" cy="633103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0" name="Rectangle 100"/>
          <p:cNvSpPr>
            <a:spLocks noChangeArrowheads="1"/>
          </p:cNvSpPr>
          <p:nvPr/>
        </p:nvSpPr>
        <p:spPr bwMode="auto">
          <a:xfrm>
            <a:off x="2955801" y="7226400"/>
            <a:ext cx="1885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시스템 자원 모니터링</a:t>
            </a:r>
          </a:p>
        </p:txBody>
      </p:sp>
      <p:grpSp>
        <p:nvGrpSpPr>
          <p:cNvPr id="131" name="그룹 130"/>
          <p:cNvGrpSpPr/>
          <p:nvPr/>
        </p:nvGrpSpPr>
        <p:grpSpPr>
          <a:xfrm>
            <a:off x="3363743" y="7778762"/>
            <a:ext cx="1040154" cy="747964"/>
            <a:chOff x="3304466" y="7715252"/>
            <a:chExt cx="1040154" cy="747964"/>
          </a:xfrm>
        </p:grpSpPr>
        <p:sp>
          <p:nvSpPr>
            <p:cNvPr id="132" name="직사각형 131"/>
            <p:cNvSpPr/>
            <p:nvPr/>
          </p:nvSpPr>
          <p:spPr>
            <a:xfrm>
              <a:off x="3313012" y="8187500"/>
              <a:ext cx="1031608" cy="275716"/>
            </a:xfrm>
            <a:prstGeom prst="rect">
              <a:avLst/>
            </a:prstGeom>
            <a:solidFill>
              <a:srgbClr val="C7C7C7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defTabSz="914582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spc="-7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모델링 서비스</a:t>
              </a: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3304466" y="7856968"/>
              <a:ext cx="1040154" cy="32537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</p:spPr>
          <p:txBody>
            <a:bodyPr wrap="none" anchor="b" anchorCtr="0"/>
            <a:lstStyle/>
            <a:p>
              <a:pPr algn="ctr" defTabSz="914582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spc="-7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모의 서비스</a:t>
              </a: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3335759" y="7715252"/>
              <a:ext cx="352937" cy="262319"/>
            </a:xfrm>
            <a:prstGeom prst="rect">
              <a:avLst/>
            </a:prstGeom>
            <a:solidFill>
              <a:srgbClr val="D1EEFB"/>
            </a:solidFill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spc="-7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모델</a:t>
              </a: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3964409" y="7715252"/>
              <a:ext cx="352937" cy="262319"/>
            </a:xfrm>
            <a:prstGeom prst="rect">
              <a:avLst/>
            </a:prstGeom>
            <a:solidFill>
              <a:srgbClr val="D1EEFB"/>
            </a:solidFill>
          </p:spPr>
          <p:txBody>
            <a:bodyPr wrap="none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spc="-7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모델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678217" y="7768508"/>
              <a:ext cx="3039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/>
              <a:r>
                <a:rPr kumimoji="1" lang="en-US" altLang="ko-KR" sz="1000" b="1" spc="-7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…</a:t>
              </a:r>
              <a:endParaRPr kumimoji="1" lang="ko-KR" altLang="en-US" sz="1000" b="1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137" name="Rectangle 100"/>
          <p:cNvSpPr>
            <a:spLocks noChangeArrowheads="1"/>
          </p:cNvSpPr>
          <p:nvPr/>
        </p:nvSpPr>
        <p:spPr bwMode="auto">
          <a:xfrm>
            <a:off x="2955801" y="8560172"/>
            <a:ext cx="1885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모의 수행</a:t>
            </a:r>
          </a:p>
        </p:txBody>
      </p:sp>
      <p:sp>
        <p:nvSpPr>
          <p:cNvPr id="138" name="Rectangle 100"/>
          <p:cNvSpPr>
            <a:spLocks noChangeArrowheads="1"/>
          </p:cNvSpPr>
          <p:nvPr/>
        </p:nvSpPr>
        <p:spPr bwMode="auto">
          <a:xfrm>
            <a:off x="5102420" y="8315849"/>
            <a:ext cx="1885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척도분석</a:t>
            </a:r>
            <a:r>
              <a:rPr lang="en-US" altLang="ko-KR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비정형 </a:t>
            </a:r>
            <a:endParaRPr lang="en-US" altLang="ko-KR" sz="1000" spc="-70" dirty="0">
              <a:ln w="0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1000" spc="-7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 및 상황재연</a:t>
            </a:r>
          </a:p>
        </p:txBody>
      </p:sp>
      <p:cxnSp>
        <p:nvCxnSpPr>
          <p:cNvPr id="139" name="직선 연결선 138"/>
          <p:cNvCxnSpPr/>
          <p:nvPr/>
        </p:nvCxnSpPr>
        <p:spPr>
          <a:xfrm>
            <a:off x="2772457" y="9358664"/>
            <a:ext cx="0" cy="936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>
            <a:off x="5112717" y="9436013"/>
            <a:ext cx="0" cy="936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5"/>
          <p:cNvCxnSpPr>
            <a:cxnSpLocks noChangeShapeType="1"/>
          </p:cNvCxnSpPr>
          <p:nvPr/>
        </p:nvCxnSpPr>
        <p:spPr bwMode="auto">
          <a:xfrm flipV="1">
            <a:off x="5115869" y="9193976"/>
            <a:ext cx="0" cy="204609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5" name="직사각형 6"/>
          <p:cNvSpPr>
            <a:spLocks noChangeArrowheads="1"/>
          </p:cNvSpPr>
          <p:nvPr/>
        </p:nvSpPr>
        <p:spPr bwMode="auto">
          <a:xfrm>
            <a:off x="3327974" y="9102825"/>
            <a:ext cx="1141186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2" tIns="45713" rIns="91422" bIns="45713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사용자 관리</a:t>
            </a:r>
          </a:p>
        </p:txBody>
      </p:sp>
      <p:sp>
        <p:nvSpPr>
          <p:cNvPr id="147" name="직사각형 6"/>
          <p:cNvSpPr>
            <a:spLocks noChangeArrowheads="1"/>
          </p:cNvSpPr>
          <p:nvPr/>
        </p:nvSpPr>
        <p:spPr bwMode="auto">
          <a:xfrm>
            <a:off x="5561440" y="9102825"/>
            <a:ext cx="1141186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2" tIns="45713" rIns="91422" bIns="45713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자료구축기</a:t>
            </a:r>
            <a:endParaRPr lang="ko-KR" altLang="en-US" sz="10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148" name="그룹 147"/>
          <p:cNvGrpSpPr/>
          <p:nvPr/>
        </p:nvGrpSpPr>
        <p:grpSpPr>
          <a:xfrm>
            <a:off x="1170163" y="9417759"/>
            <a:ext cx="1037898" cy="535664"/>
            <a:chOff x="8398896" y="9151839"/>
            <a:chExt cx="1037898" cy="643479"/>
          </a:xfrm>
        </p:grpSpPr>
        <p:pic>
          <p:nvPicPr>
            <p:cNvPr id="149" name="Picture 9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8896" y="9151839"/>
              <a:ext cx="1037898" cy="401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0" name="Picture 4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4222" y="9365962"/>
              <a:ext cx="549539" cy="429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54" name="Picture 5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44" y="9417758"/>
            <a:ext cx="750855" cy="535665"/>
          </a:xfrm>
          <a:prstGeom prst="rect">
            <a:avLst/>
          </a:prstGeom>
          <a:solidFill>
            <a:srgbClr val="D1EE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" name="Rectangle 100"/>
          <p:cNvSpPr>
            <a:spLocks noChangeArrowheads="1"/>
          </p:cNvSpPr>
          <p:nvPr/>
        </p:nvSpPr>
        <p:spPr bwMode="auto">
          <a:xfrm>
            <a:off x="1079355" y="9971463"/>
            <a:ext cx="12388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분석요구사항에 의거한 </a:t>
            </a:r>
            <a:endParaRPr lang="en-US" altLang="ko-KR" sz="900" spc="-100" dirty="0">
              <a:ln w="0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 프로젝트 관리</a:t>
            </a:r>
          </a:p>
        </p:txBody>
      </p:sp>
      <p:cxnSp>
        <p:nvCxnSpPr>
          <p:cNvPr id="157" name="직선 연결선 5"/>
          <p:cNvCxnSpPr>
            <a:cxnSpLocks noChangeShapeType="1"/>
          </p:cNvCxnSpPr>
          <p:nvPr/>
        </p:nvCxnSpPr>
        <p:spPr bwMode="auto">
          <a:xfrm flipV="1">
            <a:off x="2783607" y="9193976"/>
            <a:ext cx="0" cy="204609"/>
          </a:xfrm>
          <a:prstGeom prst="line">
            <a:avLst/>
          </a:prstGeom>
          <a:noFill/>
          <a:ln w="28575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1" name="Rectangle 100"/>
          <p:cNvSpPr>
            <a:spLocks noChangeArrowheads="1"/>
          </p:cNvSpPr>
          <p:nvPr/>
        </p:nvSpPr>
        <p:spPr bwMode="auto">
          <a:xfrm>
            <a:off x="3270287" y="9971463"/>
            <a:ext cx="12388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사용자 등록 </a:t>
            </a:r>
            <a:r>
              <a:rPr lang="en-US" altLang="ko-KR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관리</a:t>
            </a:r>
          </a:p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접근 권한 관리</a:t>
            </a:r>
          </a:p>
        </p:txBody>
      </p:sp>
      <p:sp>
        <p:nvSpPr>
          <p:cNvPr id="163" name="Rectangle 100"/>
          <p:cNvSpPr>
            <a:spLocks noChangeArrowheads="1"/>
          </p:cNvSpPr>
          <p:nvPr/>
        </p:nvSpPr>
        <p:spPr bwMode="auto">
          <a:xfrm>
            <a:off x="5508761" y="9971463"/>
            <a:ext cx="12388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85725" indent="-85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데이터 입력</a:t>
            </a:r>
            <a:r>
              <a:rPr lang="en-US" altLang="ko-KR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</a:p>
          <a:p>
            <a:pPr marL="0" indent="0" algn="ctr" defTabSz="652332" eaLnBrk="1" latinLnBrk="0" hangingPunct="1"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모의결과 저장</a:t>
            </a:r>
          </a:p>
        </p:txBody>
      </p:sp>
      <p:grpSp>
        <p:nvGrpSpPr>
          <p:cNvPr id="164" name="그룹 163"/>
          <p:cNvGrpSpPr/>
          <p:nvPr/>
        </p:nvGrpSpPr>
        <p:grpSpPr>
          <a:xfrm>
            <a:off x="5643332" y="9435204"/>
            <a:ext cx="1014481" cy="511508"/>
            <a:chOff x="5889238" y="9386934"/>
            <a:chExt cx="1014481" cy="511508"/>
          </a:xfrm>
        </p:grpSpPr>
        <p:sp>
          <p:nvSpPr>
            <p:cNvPr id="165" name="타원 164"/>
            <p:cNvSpPr/>
            <p:nvPr/>
          </p:nvSpPr>
          <p:spPr>
            <a:xfrm>
              <a:off x="5889238" y="9528798"/>
              <a:ext cx="209142" cy="213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</a:endParaRPr>
            </a:p>
          </p:txBody>
        </p:sp>
        <p:cxnSp>
          <p:nvCxnSpPr>
            <p:cNvPr id="166" name="직선 연결선 165"/>
            <p:cNvCxnSpPr>
              <a:stCxn id="165" idx="6"/>
            </p:cNvCxnSpPr>
            <p:nvPr/>
          </p:nvCxnSpPr>
          <p:spPr>
            <a:xfrm>
              <a:off x="6098380" y="9635518"/>
              <a:ext cx="139039" cy="1196"/>
            </a:xfrm>
            <a:prstGeom prst="line">
              <a:avLst/>
            </a:prstGeom>
            <a:solidFill>
              <a:schemeClr val="bg1"/>
            </a:solidFill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7" name="Picture 5"/>
            <p:cNvPicPr>
              <a:picLocks noChangeAspect="1" noChangeArrowheads="1"/>
            </p:cNvPicPr>
            <p:nvPr/>
          </p:nvPicPr>
          <p:blipFill>
            <a:blip r:embed="rId2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6251297" y="9386934"/>
              <a:ext cx="556596" cy="511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8" name="직사각형 167"/>
            <p:cNvSpPr/>
            <p:nvPr/>
          </p:nvSpPr>
          <p:spPr>
            <a:xfrm>
              <a:off x="6149212" y="9474895"/>
              <a:ext cx="754507" cy="39983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1125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900" spc="-100" dirty="0">
                  <a:ln w="0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DBMS</a:t>
              </a:r>
              <a:endParaRPr kumimoji="1" lang="ko-KR" altLang="en-US" sz="900" spc="-100" dirty="0">
                <a:ln w="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748623" y="2015040"/>
            <a:ext cx="6352126" cy="1077087"/>
            <a:chOff x="739443" y="2694289"/>
            <a:chExt cx="6350829" cy="592501"/>
          </a:xfrm>
        </p:grpSpPr>
        <p:grpSp>
          <p:nvGrpSpPr>
            <p:cNvPr id="176" name="그룹 175"/>
            <p:cNvGrpSpPr/>
            <p:nvPr/>
          </p:nvGrpSpPr>
          <p:grpSpPr>
            <a:xfrm>
              <a:off x="739443" y="2694289"/>
              <a:ext cx="6350829" cy="592501"/>
              <a:chOff x="9427" y="3283689"/>
              <a:chExt cx="7057102" cy="592501"/>
            </a:xfrm>
          </p:grpSpPr>
          <p:sp>
            <p:nvSpPr>
              <p:cNvPr id="178" name="한쪽 모서리가 잘린 사각형 177"/>
              <p:cNvSpPr/>
              <p:nvPr/>
            </p:nvSpPr>
            <p:spPr bwMode="auto">
              <a:xfrm flipV="1">
                <a:off x="1268423" y="3283689"/>
                <a:ext cx="5761993" cy="591319"/>
              </a:xfrm>
              <a:prstGeom prst="snip1Rect">
                <a:avLst>
                  <a:gd name="adj" fmla="val 0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sp>
            <p:nvSpPr>
              <p:cNvPr id="179" name="Text Box 5"/>
              <p:cNvSpPr txBox="1">
                <a:spLocks noChangeArrowheads="1"/>
              </p:cNvSpPr>
              <p:nvPr/>
            </p:nvSpPr>
            <p:spPr bwMode="auto">
              <a:xfrm>
                <a:off x="509377" y="3659125"/>
                <a:ext cx="919328" cy="104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defTabSz="914031" eaLnBrk="1" latinLnBrk="0" hangingPunct="1">
                  <a:spcAft>
                    <a:spcPct val="0"/>
                  </a:spcAft>
                </a:pPr>
                <a:r>
                  <a:rPr lang="ko-KR" altLang="en-US" sz="1100" b="1" spc="-150" dirty="0">
                    <a:ln w="0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11A0DD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요구사항</a:t>
                </a:r>
                <a:endParaRPr lang="en-US" altLang="ko-KR" sz="11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cxnSp>
            <p:nvCxnSpPr>
              <p:cNvPr id="180" name="직선 연결선 179"/>
              <p:cNvCxnSpPr/>
              <p:nvPr/>
            </p:nvCxnSpPr>
            <p:spPr>
              <a:xfrm>
                <a:off x="9427" y="3870193"/>
                <a:ext cx="1225484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Text Box 5"/>
              <p:cNvSpPr txBox="1">
                <a:spLocks noChangeArrowheads="1"/>
              </p:cNvSpPr>
              <p:nvPr/>
            </p:nvSpPr>
            <p:spPr bwMode="auto">
              <a:xfrm>
                <a:off x="1483749" y="3305385"/>
                <a:ext cx="5157885" cy="550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C4ISR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분석모델 체계 관리 및 보완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네트워크체계 관리 및 보완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DB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관리체계 관리 및 보완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입출력운영체계 관리 및 보완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사후분석체계 관리 및 보완</a:t>
                </a:r>
              </a:p>
            </p:txBody>
          </p:sp>
          <p:sp>
            <p:nvSpPr>
              <p:cNvPr id="182" name="직각 삼각형 181"/>
              <p:cNvSpPr/>
              <p:nvPr/>
            </p:nvSpPr>
            <p:spPr bwMode="auto">
              <a:xfrm rot="10800000" flipV="1">
                <a:off x="6704974" y="3479085"/>
                <a:ext cx="361555" cy="397105"/>
              </a:xfrm>
              <a:prstGeom prst="rtTriangl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cxnSp>
            <p:nvCxnSpPr>
              <p:cNvPr id="183" name="직선 연결선 182"/>
              <p:cNvCxnSpPr/>
              <p:nvPr/>
            </p:nvCxnSpPr>
            <p:spPr>
              <a:xfrm>
                <a:off x="9427" y="3286864"/>
                <a:ext cx="1225485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77" name="그림 176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70533" y="2727456"/>
              <a:ext cx="431054" cy="2296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06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27280" y="1011951"/>
            <a:ext cx="2664840" cy="225935"/>
          </a:xfrm>
          <a:prstGeom prst="rect">
            <a:avLst/>
          </a:prstGeom>
          <a:noFill/>
        </p:spPr>
        <p:txBody>
          <a:bodyPr wrap="square" lIns="101829" tIns="50915" rIns="101829" bIns="50915" rtlCol="0" anchor="t">
            <a:spAutoFit/>
          </a:bodyPr>
          <a:lstStyle/>
          <a:p>
            <a:pPr algn="r" defTabSz="913663" fontAlgn="base" latinLnBrk="0">
              <a:spcBef>
                <a:spcPts val="200"/>
              </a:spcBef>
              <a:spcAft>
                <a:spcPct val="0"/>
              </a:spcAft>
            </a:pPr>
            <a:r>
              <a:rPr kumimoji="1" lang="en-US" altLang="ko-KR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3.3 </a:t>
            </a:r>
            <a:r>
              <a:rPr kumimoji="1" lang="ko-KR" altLang="en-US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유지관리 계획</a:t>
            </a:r>
          </a:p>
        </p:txBody>
      </p:sp>
      <p:grpSp>
        <p:nvGrpSpPr>
          <p:cNvPr id="27" name="그룹 26"/>
          <p:cNvGrpSpPr/>
          <p:nvPr/>
        </p:nvGrpSpPr>
        <p:grpSpPr>
          <a:xfrm>
            <a:off x="761851" y="7578886"/>
            <a:ext cx="6330269" cy="169302"/>
            <a:chOff x="761696" y="5435378"/>
            <a:chExt cx="6328976" cy="169277"/>
          </a:xfrm>
        </p:grpSpPr>
        <p:sp>
          <p:nvSpPr>
            <p:cNvPr id="28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개선기능 테스트 절차</a:t>
              </a:r>
            </a:p>
          </p:txBody>
        </p:sp>
        <p:grpSp>
          <p:nvGrpSpPr>
            <p:cNvPr id="29" name="그룹 28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30" name="타원 29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31" name="Picture 132" descr="ㅇ"/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19" name="그룹 18"/>
          <p:cNvGrpSpPr/>
          <p:nvPr/>
        </p:nvGrpSpPr>
        <p:grpSpPr>
          <a:xfrm>
            <a:off x="761851" y="1648944"/>
            <a:ext cx="6330269" cy="169302"/>
            <a:chOff x="761696" y="5435378"/>
            <a:chExt cx="6328976" cy="169277"/>
          </a:xfrm>
        </p:grpSpPr>
        <p:sp>
          <p:nvSpPr>
            <p:cNvPr id="20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응용</a:t>
              </a: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SW  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모의논리 및 사용자 편의기능 개선 방안</a:t>
              </a: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22" name="타원 21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23" name="Picture 132" descr="ㅇ"/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44016"/>
              </p:ext>
            </p:extLst>
          </p:nvPr>
        </p:nvGraphicFramePr>
        <p:xfrm>
          <a:off x="720271" y="2260774"/>
          <a:ext cx="6328236" cy="2905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2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1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  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   선   시    고   </a:t>
                      </a:r>
                      <a:r>
                        <a:rPr kumimoji="1" lang="ko-KR" altLang="en-US" sz="1000" b="1" kern="1200" spc="-50" baseline="0" dirty="0" err="1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려</a:t>
                      </a: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사   항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C4ISR </a:t>
                      </a: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분석모델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기능별 모의 논리</a:t>
                      </a:r>
                      <a:endParaRPr kumimoji="1" lang="en-US" altLang="ko-KR" sz="1000" kern="1200" spc="-50" baseline="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baseline="0" dirty="0" err="1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확률형</a:t>
                      </a:r>
                      <a:r>
                        <a:rPr kumimoji="1" lang="en-US" altLang="ko-KR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결정형 통계 모델</a:t>
                      </a:r>
                      <a:endParaRPr kumimoji="1" lang="en-US" altLang="ko-KR" sz="1000" kern="1200" spc="-50" baseline="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 속도</a:t>
                      </a: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 체계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TCP / IP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프로토콜 적용 설계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 부하 분산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 체계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DBMS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접속 시 표준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ODBC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호환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DDL, DML, DCL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표준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SQL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지원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데이터 처리 속도 향상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입출력운영 체계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화면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Layout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의 인체공학적 배치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윈도우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컨트롤 등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UI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의 표준 설계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출력자료의 도량형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자리 수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(Digit)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 일관성 유지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사후분석체계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성능척도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효과척도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기여척도</a:t>
                      </a:r>
                      <a:r>
                        <a:rPr kumimoji="1" lang="ko-KR" altLang="en-US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산출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정형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비정형 분석지원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25" name="그룹 24"/>
          <p:cNvGrpSpPr/>
          <p:nvPr/>
        </p:nvGrpSpPr>
        <p:grpSpPr>
          <a:xfrm>
            <a:off x="810286" y="5318638"/>
            <a:ext cx="6281844" cy="220813"/>
            <a:chOff x="810110" y="3061842"/>
            <a:chExt cx="6280561" cy="220781"/>
          </a:xfrm>
        </p:grpSpPr>
        <p:sp>
          <p:nvSpPr>
            <p:cNvPr id="26" name="Text Box 5"/>
            <p:cNvSpPr txBox="1">
              <a:spLocks noChangeArrowheads="1"/>
            </p:cNvSpPr>
            <p:nvPr/>
          </p:nvSpPr>
          <p:spPr bwMode="auto">
            <a:xfrm>
              <a:off x="1026766" y="3113346"/>
              <a:ext cx="6063905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기능별 모의논리 개선사항</a:t>
              </a:r>
            </a:p>
          </p:txBody>
        </p:sp>
        <p:sp>
          <p:nvSpPr>
            <p:cNvPr id="32" name="굽은 화살표 31"/>
            <p:cNvSpPr/>
            <p:nvPr/>
          </p:nvSpPr>
          <p:spPr bwMode="auto">
            <a:xfrm flipV="1">
              <a:off x="810110" y="3061842"/>
              <a:ext cx="180984" cy="172300"/>
            </a:xfrm>
            <a:prstGeom prst="ben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2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357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charset="0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810286" y="1936738"/>
            <a:ext cx="6281844" cy="220813"/>
            <a:chOff x="810110" y="3061842"/>
            <a:chExt cx="6280561" cy="220781"/>
          </a:xfrm>
        </p:grpSpPr>
        <p:sp>
          <p:nvSpPr>
            <p:cNvPr id="34" name="Text Box 5"/>
            <p:cNvSpPr txBox="1">
              <a:spLocks noChangeArrowheads="1"/>
            </p:cNvSpPr>
            <p:nvPr/>
          </p:nvSpPr>
          <p:spPr bwMode="auto">
            <a:xfrm>
              <a:off x="1026766" y="3113346"/>
              <a:ext cx="6063905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응용</a:t>
              </a: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SW </a:t>
              </a:r>
              <a:r>
                <a:rPr lang="ko-KR" altLang="en-US" sz="1100" b="1" spc="-50" dirty="0" err="1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체계별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lang="ko-KR" altLang="en-US" sz="1100" b="1" spc="-50" dirty="0" err="1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개선시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고려사항</a:t>
              </a:r>
            </a:p>
          </p:txBody>
        </p:sp>
        <p:sp>
          <p:nvSpPr>
            <p:cNvPr id="35" name="굽은 화살표 34"/>
            <p:cNvSpPr/>
            <p:nvPr/>
          </p:nvSpPr>
          <p:spPr bwMode="auto">
            <a:xfrm flipV="1">
              <a:off x="810110" y="3061842"/>
              <a:ext cx="180984" cy="172300"/>
            </a:xfrm>
            <a:prstGeom prst="ben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2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357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charset="0"/>
              </a:endParaRPr>
            </a:p>
          </p:txBody>
        </p:sp>
      </p:grpSp>
      <p:graphicFrame>
        <p:nvGraphicFramePr>
          <p:cNvPr id="36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106624"/>
              </p:ext>
            </p:extLst>
          </p:nvPr>
        </p:nvGraphicFramePr>
        <p:xfrm>
          <a:off x="714356" y="5660866"/>
          <a:ext cx="6338300" cy="1738000"/>
        </p:xfrm>
        <a:graphic>
          <a:graphicData uri="http://schemas.openxmlformats.org/drawingml/2006/table">
            <a:tbl>
              <a:tblPr/>
              <a:tblGrid>
                <a:gridCol w="833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8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6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항목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Rix모던고딕 B" pitchFamily="18" charset="-127"/>
                        <a:ea typeface="Rix모던고딕 B" pitchFamily="18" charset="-127"/>
                        <a:cs typeface="+mn-cs"/>
                      </a:endParaRPr>
                    </a:p>
                  </a:txBody>
                  <a:tcPr marL="46800" marR="46800" marT="46800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내용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C4ISR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분석모델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C2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지휘통제체계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군사정보체계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전투지휘체계의 특성과 지휘소의 지휘결심 기능 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지휘소 내의 정보 분석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융합 및 전파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정보의 질 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ISR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각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ISR </a:t>
                      </a:r>
                      <a:r>
                        <a:rPr kumimoji="1" lang="ko-KR" altLang="en-US" sz="1000" kern="1200" spc="-50" dirty="0" err="1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자산별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운용개념을 기초로 한 모의 시나리오 작성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입력 센서의 성능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탐지효과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6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통신 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컴퓨터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전략 </a:t>
                      </a:r>
                      <a:r>
                        <a:rPr kumimoji="1" lang="en-US" altLang="ko-KR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전술정보통신체계의 유무선 통신 모의</a:t>
                      </a:r>
                      <a:endParaRPr kumimoji="1" lang="en-US" altLang="ko-KR" sz="1000" kern="1200" spc="-50" noProof="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교전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지상작전</a:t>
                      </a:r>
                      <a:r>
                        <a:rPr kumimoji="1" lang="en-US" altLang="ko-KR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해상작전</a:t>
                      </a:r>
                      <a:r>
                        <a:rPr kumimoji="1" lang="en-US" altLang="ko-KR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공중작전</a:t>
                      </a:r>
                      <a:endParaRPr kumimoji="1" lang="en-US" altLang="ko-KR" sz="1000" kern="1200" spc="-50" noProof="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지휘통제 및 </a:t>
                      </a:r>
                      <a:r>
                        <a:rPr kumimoji="1" lang="en-US" altLang="ko-KR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ISR</a:t>
                      </a:r>
                      <a:r>
                        <a:rPr kumimoji="1" lang="ko-KR" altLang="en-US" sz="1000" kern="1200" spc="-50" noProof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을 중심으로 작전술 수준의 전쟁 모의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AutoShape 32"/>
          <p:cNvSpPr>
            <a:spLocks noChangeArrowheads="1"/>
          </p:cNvSpPr>
          <p:nvPr/>
        </p:nvSpPr>
        <p:spPr bwMode="auto">
          <a:xfrm>
            <a:off x="762515" y="7867068"/>
            <a:ext cx="1400344" cy="243370"/>
          </a:xfrm>
          <a:prstGeom prst="roundRect">
            <a:avLst>
              <a:gd name="adj" fmla="val 9190"/>
            </a:avLst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72000" anchor="ctr"/>
          <a:lstStyle/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업무 담당자</a:t>
            </a:r>
          </a:p>
        </p:txBody>
      </p:sp>
      <p:sp>
        <p:nvSpPr>
          <p:cNvPr id="38" name="AutoShape 32"/>
          <p:cNvSpPr>
            <a:spLocks noChangeArrowheads="1"/>
          </p:cNvSpPr>
          <p:nvPr/>
        </p:nvSpPr>
        <p:spPr bwMode="auto">
          <a:xfrm>
            <a:off x="2298699" y="7864986"/>
            <a:ext cx="1357263" cy="243370"/>
          </a:xfrm>
          <a:prstGeom prst="roundRect">
            <a:avLst>
              <a:gd name="adj" fmla="val 9190"/>
            </a:avLst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72000" anchor="ctr"/>
          <a:lstStyle/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</a:t>
            </a: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개발 </a:t>
            </a:r>
            <a:r>
              <a:rPr kumimoji="1"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PL</a:t>
            </a:r>
            <a:endParaRPr kumimoji="1" lang="ko-KR" altLang="en-US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9" name="AutoShape 32"/>
          <p:cNvSpPr>
            <a:spLocks noChangeArrowheads="1"/>
          </p:cNvSpPr>
          <p:nvPr/>
        </p:nvSpPr>
        <p:spPr bwMode="auto">
          <a:xfrm>
            <a:off x="3786824" y="7861598"/>
            <a:ext cx="1400344" cy="243370"/>
          </a:xfrm>
          <a:prstGeom prst="roundRect">
            <a:avLst>
              <a:gd name="adj" fmla="val 9190"/>
            </a:avLst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72000" anchor="ctr"/>
          <a:lstStyle/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체계관리 </a:t>
            </a:r>
            <a:r>
              <a:rPr kumimoji="1"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PL</a:t>
            </a:r>
            <a:endParaRPr kumimoji="1" lang="ko-KR" altLang="en-US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0" name="AutoShape 32"/>
          <p:cNvSpPr>
            <a:spLocks noChangeArrowheads="1"/>
          </p:cNvSpPr>
          <p:nvPr/>
        </p:nvSpPr>
        <p:spPr bwMode="auto">
          <a:xfrm>
            <a:off x="5318964" y="7849968"/>
            <a:ext cx="1640636" cy="243370"/>
          </a:xfrm>
          <a:prstGeom prst="roundRect">
            <a:avLst>
              <a:gd name="adj" fmla="val 9190"/>
            </a:avLst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72000" anchor="ctr"/>
          <a:lstStyle/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PM</a:t>
            </a:r>
            <a:endParaRPr kumimoji="1" lang="ko-KR" altLang="en-US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720228" y="8108358"/>
            <a:ext cx="6328271" cy="2134824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dist="25400" dir="16200000" algn="ctr" rotWithShape="0">
              <a:srgbClr val="0F8BC3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99CCFF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9" tIns="45725" rIns="91449" bIns="45725" anchor="ctr"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2237181" y="8097768"/>
            <a:ext cx="3011683" cy="2125305"/>
            <a:chOff x="2237181" y="6053707"/>
            <a:chExt cx="3011683" cy="2176096"/>
          </a:xfrm>
        </p:grpSpPr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3730099" y="6066377"/>
              <a:ext cx="0" cy="2150755"/>
            </a:xfrm>
            <a:prstGeom prst="line">
              <a:avLst/>
            </a:prstGeom>
            <a:noFill/>
            <a:ln w="19050">
              <a:solidFill>
                <a:srgbClr val="B2B2B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49" tIns="45725" rIns="91449" bIns="45725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>
              <a:off x="2237181" y="6079048"/>
              <a:ext cx="0" cy="2150755"/>
            </a:xfrm>
            <a:prstGeom prst="line">
              <a:avLst/>
            </a:prstGeom>
            <a:noFill/>
            <a:ln w="19050">
              <a:solidFill>
                <a:srgbClr val="B2B2B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49" tIns="45725" rIns="91449" bIns="45725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5248864" y="6053707"/>
              <a:ext cx="0" cy="2150755"/>
            </a:xfrm>
            <a:prstGeom prst="line">
              <a:avLst/>
            </a:prstGeom>
            <a:noFill/>
            <a:ln w="19050">
              <a:solidFill>
                <a:srgbClr val="B2B2B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49" tIns="45725" rIns="91449" bIns="45725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46" name="AutoShape 229" descr="ob-09"/>
          <p:cNvSpPr>
            <a:spLocks noChangeArrowheads="1"/>
          </p:cNvSpPr>
          <p:nvPr/>
        </p:nvSpPr>
        <p:spPr bwMode="auto">
          <a:xfrm>
            <a:off x="813167" y="8226087"/>
            <a:ext cx="1144662" cy="379415"/>
          </a:xfrm>
          <a:prstGeom prst="roundRect">
            <a:avLst>
              <a:gd name="adj" fmla="val 0"/>
            </a:avLst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45713" anchor="ctr"/>
          <a:lstStyle/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기능개선</a:t>
            </a:r>
          </a:p>
        </p:txBody>
      </p:sp>
      <p:cxnSp>
        <p:nvCxnSpPr>
          <p:cNvPr id="50" name="꺾인 연결선 49"/>
          <p:cNvCxnSpPr>
            <a:cxnSpLocks noChangeShapeType="1"/>
            <a:stCxn id="46" idx="2"/>
            <a:endCxn id="66" idx="0"/>
          </p:cNvCxnSpPr>
          <p:nvPr/>
        </p:nvCxnSpPr>
        <p:spPr bwMode="auto">
          <a:xfrm rot="16200000" flipH="1">
            <a:off x="1250760" y="8740239"/>
            <a:ext cx="269476" cy="1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rgbClr val="969696"/>
            </a:solidFill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직사각형 379"/>
          <p:cNvSpPr>
            <a:spLocks noChangeArrowheads="1"/>
          </p:cNvSpPr>
          <p:nvPr/>
        </p:nvSpPr>
        <p:spPr bwMode="auto">
          <a:xfrm>
            <a:off x="1868945" y="8731014"/>
            <a:ext cx="663657" cy="1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검토 요청</a:t>
            </a:r>
          </a:p>
        </p:txBody>
      </p:sp>
      <p:cxnSp>
        <p:nvCxnSpPr>
          <p:cNvPr id="53" name="꺾인 연결선 52"/>
          <p:cNvCxnSpPr>
            <a:cxnSpLocks noChangeShapeType="1"/>
            <a:stCxn id="69" idx="0"/>
            <a:endCxn id="46" idx="3"/>
          </p:cNvCxnSpPr>
          <p:nvPr/>
        </p:nvCxnSpPr>
        <p:spPr bwMode="auto">
          <a:xfrm rot="16200000" flipV="1">
            <a:off x="3829607" y="6544018"/>
            <a:ext cx="459183" cy="4202737"/>
          </a:xfrm>
          <a:prstGeom prst="bentConnector2">
            <a:avLst/>
          </a:prstGeom>
          <a:noFill/>
          <a:ln w="6350" algn="ctr">
            <a:solidFill>
              <a:srgbClr val="969696"/>
            </a:solidFill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직사각형 379"/>
          <p:cNvSpPr>
            <a:spLocks noChangeArrowheads="1"/>
          </p:cNvSpPr>
          <p:nvPr/>
        </p:nvSpPr>
        <p:spPr bwMode="auto">
          <a:xfrm>
            <a:off x="2423818" y="8280488"/>
            <a:ext cx="948908" cy="1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482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9652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478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304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876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844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302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759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652332" eaLnBrk="1" fontAlgn="ctr" latinLnBrk="0" hangingPunct="1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lang="ko-KR" altLang="en-US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수정 </a:t>
            </a:r>
            <a:r>
              <a:rPr lang="en-US" altLang="ko-KR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보완 요청</a:t>
            </a:r>
          </a:p>
        </p:txBody>
      </p:sp>
      <p:cxnSp>
        <p:nvCxnSpPr>
          <p:cNvPr id="58" name="꺾인 연결선 57"/>
          <p:cNvCxnSpPr>
            <a:cxnSpLocks noChangeShapeType="1"/>
          </p:cNvCxnSpPr>
          <p:nvPr/>
        </p:nvCxnSpPr>
        <p:spPr bwMode="auto">
          <a:xfrm rot="5400000">
            <a:off x="9152687" y="7944585"/>
            <a:ext cx="277213" cy="422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rgbClr val="969696"/>
            </a:solidFill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직사각형 65" descr="넥스원_도형-30"/>
          <p:cNvSpPr>
            <a:spLocks noChangeArrowheads="1"/>
          </p:cNvSpPr>
          <p:nvPr/>
        </p:nvSpPr>
        <p:spPr bwMode="auto">
          <a:xfrm>
            <a:off x="813168" y="8874978"/>
            <a:ext cx="1144662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단위시험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7" name="직사각형 66" descr="넥스원_도형-30"/>
          <p:cNvSpPr>
            <a:spLocks noChangeArrowheads="1"/>
          </p:cNvSpPr>
          <p:nvPr/>
        </p:nvSpPr>
        <p:spPr bwMode="auto">
          <a:xfrm>
            <a:off x="2443718" y="8874978"/>
            <a:ext cx="1144662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</a:t>
            </a: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통합시험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8" name="직사각형 67" descr="넥스원_도형-30"/>
          <p:cNvSpPr>
            <a:spLocks noChangeArrowheads="1"/>
          </p:cNvSpPr>
          <p:nvPr/>
        </p:nvSpPr>
        <p:spPr bwMode="auto">
          <a:xfrm>
            <a:off x="3960098" y="8874978"/>
            <a:ext cx="1144662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체계통합시험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9" name="직사각형 68" descr="넥스원_도형-30"/>
          <p:cNvSpPr>
            <a:spLocks noChangeArrowheads="1"/>
          </p:cNvSpPr>
          <p:nvPr/>
        </p:nvSpPr>
        <p:spPr bwMode="auto">
          <a:xfrm>
            <a:off x="5588235" y="8874978"/>
            <a:ext cx="1144662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운용시험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73" name="꺾인 연결선 72"/>
          <p:cNvCxnSpPr>
            <a:cxnSpLocks noChangeShapeType="1"/>
            <a:stCxn id="68" idx="0"/>
            <a:endCxn id="46" idx="3"/>
          </p:cNvCxnSpPr>
          <p:nvPr/>
        </p:nvCxnSpPr>
        <p:spPr bwMode="auto">
          <a:xfrm rot="16200000" flipV="1">
            <a:off x="3015538" y="7358087"/>
            <a:ext cx="459183" cy="2574600"/>
          </a:xfrm>
          <a:prstGeom prst="bentConnector2">
            <a:avLst/>
          </a:prstGeom>
          <a:noFill/>
          <a:ln w="6350" algn="ctr">
            <a:solidFill>
              <a:srgbClr val="969696"/>
            </a:solidFill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꺾인 연결선 75"/>
          <p:cNvCxnSpPr>
            <a:cxnSpLocks noChangeShapeType="1"/>
            <a:stCxn id="67" idx="0"/>
            <a:endCxn id="46" idx="3"/>
          </p:cNvCxnSpPr>
          <p:nvPr/>
        </p:nvCxnSpPr>
        <p:spPr bwMode="auto">
          <a:xfrm rot="16200000" flipV="1">
            <a:off x="2257348" y="8116277"/>
            <a:ext cx="459183" cy="1058220"/>
          </a:xfrm>
          <a:prstGeom prst="bentConnector2">
            <a:avLst/>
          </a:prstGeom>
          <a:noFill/>
          <a:ln w="6350" algn="ctr">
            <a:solidFill>
              <a:srgbClr val="969696"/>
            </a:solidFill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꺾인 연결선 78"/>
          <p:cNvCxnSpPr>
            <a:cxnSpLocks noChangeShapeType="1"/>
            <a:stCxn id="66" idx="3"/>
            <a:endCxn id="67" idx="1"/>
          </p:cNvCxnSpPr>
          <p:nvPr/>
        </p:nvCxnSpPr>
        <p:spPr bwMode="auto">
          <a:xfrm>
            <a:off x="1957830" y="9052913"/>
            <a:ext cx="485888" cy="0"/>
          </a:xfrm>
          <a:prstGeom prst="straightConnector1">
            <a:avLst/>
          </a:prstGeom>
          <a:noFill/>
          <a:ln w="6350" algn="ctr">
            <a:solidFill>
              <a:srgbClr val="969696"/>
            </a:solidFill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꺾인 연결선 81"/>
          <p:cNvCxnSpPr>
            <a:cxnSpLocks noChangeShapeType="1"/>
            <a:stCxn id="67" idx="3"/>
            <a:endCxn id="68" idx="1"/>
          </p:cNvCxnSpPr>
          <p:nvPr/>
        </p:nvCxnSpPr>
        <p:spPr bwMode="auto">
          <a:xfrm>
            <a:off x="3588380" y="9052913"/>
            <a:ext cx="371718" cy="0"/>
          </a:xfrm>
          <a:prstGeom prst="straightConnector1">
            <a:avLst/>
          </a:prstGeom>
          <a:noFill/>
          <a:ln w="6350" algn="ctr">
            <a:solidFill>
              <a:srgbClr val="969696"/>
            </a:solidFill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꺾인 연결선 85"/>
          <p:cNvCxnSpPr>
            <a:cxnSpLocks noChangeShapeType="1"/>
            <a:stCxn id="68" idx="3"/>
            <a:endCxn id="69" idx="1"/>
          </p:cNvCxnSpPr>
          <p:nvPr/>
        </p:nvCxnSpPr>
        <p:spPr bwMode="auto">
          <a:xfrm>
            <a:off x="5104760" y="9052913"/>
            <a:ext cx="483475" cy="0"/>
          </a:xfrm>
          <a:prstGeom prst="straightConnector1">
            <a:avLst/>
          </a:prstGeom>
          <a:noFill/>
          <a:ln w="6350" algn="ctr">
            <a:solidFill>
              <a:srgbClr val="969696"/>
            </a:solidFill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" name="직사각형 379"/>
          <p:cNvSpPr>
            <a:spLocks noChangeArrowheads="1"/>
          </p:cNvSpPr>
          <p:nvPr/>
        </p:nvSpPr>
        <p:spPr bwMode="auto">
          <a:xfrm>
            <a:off x="3454995" y="8731014"/>
            <a:ext cx="663657" cy="1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검토 요청</a:t>
            </a:r>
          </a:p>
        </p:txBody>
      </p:sp>
      <p:sp>
        <p:nvSpPr>
          <p:cNvPr id="90" name="직사각형 379"/>
          <p:cNvSpPr>
            <a:spLocks noChangeArrowheads="1"/>
          </p:cNvSpPr>
          <p:nvPr/>
        </p:nvSpPr>
        <p:spPr bwMode="auto">
          <a:xfrm>
            <a:off x="4989120" y="8731014"/>
            <a:ext cx="663657" cy="1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검토 요청</a:t>
            </a:r>
          </a:p>
        </p:txBody>
      </p:sp>
      <p:sp>
        <p:nvSpPr>
          <p:cNvPr id="91" name="직사각형 379"/>
          <p:cNvSpPr>
            <a:spLocks noChangeArrowheads="1"/>
          </p:cNvSpPr>
          <p:nvPr/>
        </p:nvSpPr>
        <p:spPr bwMode="auto">
          <a:xfrm>
            <a:off x="964519" y="9379608"/>
            <a:ext cx="841959" cy="72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시험 방법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화이트 박스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r>
              <a:rPr kumimoji="1" lang="ko-KR" altLang="en-US" sz="900" b="1" spc="-70" dirty="0" err="1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경계값</a:t>
            </a: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분석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균등분할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r>
              <a:rPr kumimoji="1" lang="ko-KR" altLang="en-US" sz="900" b="1" spc="-70" dirty="0" err="1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페어와이즈</a:t>
            </a:r>
            <a:endParaRPr kumimoji="1" lang="ko-KR" altLang="en-US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2" name="직사각형 379"/>
          <p:cNvSpPr>
            <a:spLocks noChangeArrowheads="1"/>
          </p:cNvSpPr>
          <p:nvPr/>
        </p:nvSpPr>
        <p:spPr bwMode="auto">
          <a:xfrm>
            <a:off x="2595070" y="9379608"/>
            <a:ext cx="841959" cy="57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시험 방법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r>
              <a:rPr kumimoji="1" lang="ko-KR" altLang="en-US" sz="900" b="1" spc="-70" dirty="0" err="1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그레이</a:t>
            </a: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박스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의사결정 트리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endParaRPr kumimoji="1" lang="ko-KR" altLang="en-US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3" name="직사각형 379"/>
          <p:cNvSpPr>
            <a:spLocks noChangeArrowheads="1"/>
          </p:cNvSpPr>
          <p:nvPr/>
        </p:nvSpPr>
        <p:spPr bwMode="auto">
          <a:xfrm>
            <a:off x="4067587" y="9379608"/>
            <a:ext cx="841959" cy="57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시험 방법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블랙 박스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부하 시험</a:t>
            </a:r>
            <a:endParaRPr kumimoji="1" lang="en-US" altLang="ko-KR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92075" indent="-92075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Char char="•"/>
            </a:pPr>
            <a:r>
              <a:rPr kumimoji="1" lang="ko-KR" altLang="en-US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환경 설정</a:t>
            </a:r>
          </a:p>
        </p:txBody>
      </p:sp>
      <p:sp>
        <p:nvSpPr>
          <p:cNvPr id="55" name="Rectangle 2"/>
          <p:cNvSpPr txBox="1">
            <a:spLocks noChangeArrowheads="1"/>
          </p:cNvSpPr>
          <p:nvPr/>
        </p:nvSpPr>
        <p:spPr bwMode="auto">
          <a:xfrm>
            <a:off x="720883" y="135117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3.3.1.2 C4ISR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 응용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유지관리 방안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629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2"/>
          <p:cNvSpPr txBox="1">
            <a:spLocks noChangeArrowheads="1"/>
          </p:cNvSpPr>
          <p:nvPr/>
        </p:nvSpPr>
        <p:spPr bwMode="auto">
          <a:xfrm>
            <a:off x="720883" y="135117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3.3.2 C4ISR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 개발 관련 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및 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HW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유지관리 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요구사항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-002)</a:t>
            </a:r>
          </a:p>
        </p:txBody>
      </p:sp>
      <p:sp>
        <p:nvSpPr>
          <p:cNvPr id="117" name="Rectangle 3"/>
          <p:cNvSpPr txBox="1">
            <a:spLocks noChangeArrowheads="1"/>
          </p:cNvSpPr>
          <p:nvPr/>
        </p:nvSpPr>
        <p:spPr bwMode="auto">
          <a:xfrm>
            <a:off x="720873" y="1638226"/>
            <a:ext cx="6337006" cy="21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91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27138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5125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300"/>
              </a:spcBef>
            </a:pP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분석모의모델의 가용성을 보장하기 위해서는 응용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뿐만 아니라 상용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와 하드웨어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등의 기반체계에 대한 가용성도 보장되어야 합니다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 사업범위와 비용 및 일정 등의 여건을 고려한 유지관리 방안을 아래와 같이 제안합니다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748623" y="2377787"/>
            <a:ext cx="6352126" cy="592587"/>
            <a:chOff x="739443" y="2694289"/>
            <a:chExt cx="6350829" cy="592501"/>
          </a:xfrm>
        </p:grpSpPr>
        <p:grpSp>
          <p:nvGrpSpPr>
            <p:cNvPr id="24" name="그룹 23"/>
            <p:cNvGrpSpPr/>
            <p:nvPr/>
          </p:nvGrpSpPr>
          <p:grpSpPr>
            <a:xfrm>
              <a:off x="739443" y="2694289"/>
              <a:ext cx="6350829" cy="592501"/>
              <a:chOff x="9427" y="3283689"/>
              <a:chExt cx="7057102" cy="592501"/>
            </a:xfrm>
          </p:grpSpPr>
          <p:sp>
            <p:nvSpPr>
              <p:cNvPr id="26" name="한쪽 모서리가 잘린 사각형 25"/>
              <p:cNvSpPr/>
              <p:nvPr/>
            </p:nvSpPr>
            <p:spPr bwMode="auto">
              <a:xfrm flipV="1">
                <a:off x="1268423" y="3283689"/>
                <a:ext cx="5761993" cy="591319"/>
              </a:xfrm>
              <a:prstGeom prst="snip1Rect">
                <a:avLst>
                  <a:gd name="adj" fmla="val 0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sp>
            <p:nvSpPr>
              <p:cNvPr id="32" name="Text Box 5"/>
              <p:cNvSpPr txBox="1">
                <a:spLocks noChangeArrowheads="1"/>
              </p:cNvSpPr>
              <p:nvPr/>
            </p:nvSpPr>
            <p:spPr bwMode="auto">
              <a:xfrm>
                <a:off x="538547" y="3660197"/>
                <a:ext cx="919328" cy="169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defTabSz="914031" eaLnBrk="1" latinLnBrk="0" hangingPunct="1">
                  <a:spcAft>
                    <a:spcPct val="0"/>
                  </a:spcAft>
                </a:pPr>
                <a:r>
                  <a:rPr lang="ko-KR" altLang="en-US" sz="1100" b="1" spc="-150" dirty="0">
                    <a:ln w="0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11A0DD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요구사항</a:t>
                </a:r>
                <a:endParaRPr lang="en-US" altLang="ko-KR" sz="11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9427" y="3870193"/>
                <a:ext cx="1225484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 Box 5"/>
              <p:cNvSpPr txBox="1">
                <a:spLocks noChangeArrowheads="1"/>
              </p:cNvSpPr>
              <p:nvPr/>
            </p:nvSpPr>
            <p:spPr bwMode="auto">
              <a:xfrm>
                <a:off x="1483749" y="3392024"/>
                <a:ext cx="5157885" cy="3769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개발 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SW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유지관리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(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응용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상용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)</a:t>
                </a: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개발 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HW(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서버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단말기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네트워크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관련 구성품 등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)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유지관리</a:t>
                </a:r>
              </a:p>
            </p:txBody>
          </p:sp>
          <p:sp>
            <p:nvSpPr>
              <p:cNvPr id="30" name="직각 삼각형 29"/>
              <p:cNvSpPr/>
              <p:nvPr/>
            </p:nvSpPr>
            <p:spPr bwMode="auto">
              <a:xfrm rot="10800000" flipV="1">
                <a:off x="6704974" y="3479085"/>
                <a:ext cx="361555" cy="397105"/>
              </a:xfrm>
              <a:prstGeom prst="rtTriangl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cxnSp>
            <p:nvCxnSpPr>
              <p:cNvPr id="31" name="직선 연결선 30"/>
              <p:cNvCxnSpPr/>
              <p:nvPr/>
            </p:nvCxnSpPr>
            <p:spPr>
              <a:xfrm>
                <a:off x="9427" y="3286864"/>
                <a:ext cx="1225485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533" y="2727456"/>
              <a:ext cx="431054" cy="429077"/>
            </a:xfrm>
            <a:prstGeom prst="rect">
              <a:avLst/>
            </a:prstGeom>
          </p:spPr>
        </p:pic>
      </p:grpSp>
      <p:grpSp>
        <p:nvGrpSpPr>
          <p:cNvPr id="82" name="그룹 81"/>
          <p:cNvGrpSpPr/>
          <p:nvPr/>
        </p:nvGrpSpPr>
        <p:grpSpPr>
          <a:xfrm>
            <a:off x="761851" y="3222402"/>
            <a:ext cx="6330269" cy="169302"/>
            <a:chOff x="761696" y="5435378"/>
            <a:chExt cx="6328976" cy="169277"/>
          </a:xfrm>
        </p:grpSpPr>
        <p:sp>
          <p:nvSpPr>
            <p:cNvPr id="83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상용</a:t>
              </a: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SW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유지관리 방안</a:t>
              </a:r>
            </a:p>
          </p:txBody>
        </p:sp>
        <p:grpSp>
          <p:nvGrpSpPr>
            <p:cNvPr id="84" name="그룹 83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85" name="타원 84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86" name="Picture 132" descr="ㅇ"/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87" name="그룹 86"/>
          <p:cNvGrpSpPr/>
          <p:nvPr/>
        </p:nvGrpSpPr>
        <p:grpSpPr>
          <a:xfrm>
            <a:off x="761851" y="7517596"/>
            <a:ext cx="6330269" cy="169302"/>
            <a:chOff x="761696" y="5435378"/>
            <a:chExt cx="6328976" cy="169277"/>
          </a:xfrm>
        </p:grpSpPr>
        <p:sp>
          <p:nvSpPr>
            <p:cNvPr id="88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유지관리 운용</a:t>
              </a: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SW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유지관리 방안</a:t>
              </a:r>
            </a:p>
          </p:txBody>
        </p:sp>
        <p:grpSp>
          <p:nvGrpSpPr>
            <p:cNvPr id="89" name="그룹 88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90" name="타원 89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91" name="Picture 132" descr="ㅇ"/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aphicFrame>
        <p:nvGraphicFramePr>
          <p:cNvPr id="92" name="표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132046"/>
              </p:ext>
            </p:extLst>
          </p:nvPr>
        </p:nvGraphicFramePr>
        <p:xfrm>
          <a:off x="720271" y="3567891"/>
          <a:ext cx="6328238" cy="3722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  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인스톨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업데이트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보안패치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환경설정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DBMS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▲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▲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백업 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서버보안 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▲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</a:t>
                      </a: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-Server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TACS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로 대체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</a:t>
                      </a: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-Client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TACS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로 대체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 </a:t>
                      </a: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접근제어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▲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 </a:t>
                      </a: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암호화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▲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-</a:t>
                      </a: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-</a:t>
                      </a: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▲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자료유출방지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TACS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로 대체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 접근제어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▲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3" name="표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18746"/>
              </p:ext>
            </p:extLst>
          </p:nvPr>
        </p:nvGraphicFramePr>
        <p:xfrm>
          <a:off x="720271" y="7840315"/>
          <a:ext cx="6328238" cy="246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6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  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인스톨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업데이트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보안패치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환경설정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</a:t>
                      </a: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보안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TACS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로 대체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DBMS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▲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SE Tool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관리대상이 아님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4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개발도구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4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문서작성도구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4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상황도 엔진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×</a:t>
                      </a:r>
                      <a:endParaRPr kumimoji="1" lang="ko-KR" altLang="en-US" sz="11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1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●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4" name="직사각형 93"/>
          <p:cNvSpPr/>
          <p:nvPr/>
        </p:nvSpPr>
        <p:spPr>
          <a:xfrm>
            <a:off x="4992810" y="3258406"/>
            <a:ext cx="20281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● </a:t>
            </a:r>
            <a:r>
              <a:rPr kumimoji="1" lang="en-US" altLang="ko-KR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관리</a:t>
            </a:r>
            <a:r>
              <a:rPr kumimoji="1" lang="en-US" altLang="ko-KR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▲ </a:t>
            </a:r>
            <a:r>
              <a:rPr kumimoji="1" lang="en-US" altLang="ko-KR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일부 제한</a:t>
            </a:r>
            <a:r>
              <a:rPr kumimoji="1" lang="en-US" altLang="ko-KR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× : </a:t>
            </a:r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제한</a:t>
            </a:r>
            <a:endParaRPr lang="ko-KR" altLang="en-US" sz="1000" dirty="0"/>
          </a:p>
        </p:txBody>
      </p:sp>
      <p:sp>
        <p:nvSpPr>
          <p:cNvPr id="95" name="직사각형 94"/>
          <p:cNvSpPr/>
          <p:nvPr/>
        </p:nvSpPr>
        <p:spPr>
          <a:xfrm>
            <a:off x="4992810" y="7506878"/>
            <a:ext cx="20281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● </a:t>
            </a:r>
            <a:r>
              <a:rPr kumimoji="1" lang="en-US" altLang="ko-KR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관리</a:t>
            </a:r>
            <a:r>
              <a:rPr kumimoji="1" lang="en-US" altLang="ko-KR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▲ </a:t>
            </a:r>
            <a:r>
              <a:rPr kumimoji="1" lang="en-US" altLang="ko-KR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일부 제한</a:t>
            </a:r>
            <a:r>
              <a:rPr kumimoji="1" lang="en-US" altLang="ko-KR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× : </a:t>
            </a:r>
            <a:r>
              <a:rPr kumimoji="1" lang="ko-KR" altLang="en-US" sz="10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제한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39362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2"/>
          <p:cNvSpPr txBox="1">
            <a:spLocks noChangeArrowheads="1"/>
          </p:cNvSpPr>
          <p:nvPr/>
        </p:nvSpPr>
        <p:spPr bwMode="auto">
          <a:xfrm>
            <a:off x="720883" y="135117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3.3.3 Windows11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전환 사전대비 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요구사항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-006)</a:t>
            </a:r>
          </a:p>
        </p:txBody>
      </p:sp>
      <p:sp>
        <p:nvSpPr>
          <p:cNvPr id="117" name="Rectangle 3"/>
          <p:cNvSpPr txBox="1">
            <a:spLocks noChangeArrowheads="1"/>
          </p:cNvSpPr>
          <p:nvPr/>
        </p:nvSpPr>
        <p:spPr bwMode="auto">
          <a:xfrm>
            <a:off x="720873" y="1638226"/>
            <a:ext cx="6337006" cy="21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91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27138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5125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300"/>
              </a:spcBef>
            </a:pP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’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25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Microsoft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사의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Windows10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서비스 종료에 따라 보안 및 안정성을 보장하기 위해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Windows11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으로 전환해야 합니다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Windows11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전환에 대비하여 유지관리에 사용하는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HW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 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Windows11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에서도 사용이 적합한지 점검하여 결과를 도출하고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제한상황 발생 시 조치 방안을 제시하겠습니다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748623" y="2377787"/>
            <a:ext cx="6352126" cy="592587"/>
            <a:chOff x="739443" y="2694289"/>
            <a:chExt cx="6350829" cy="592501"/>
          </a:xfrm>
        </p:grpSpPr>
        <p:grpSp>
          <p:nvGrpSpPr>
            <p:cNvPr id="24" name="그룹 23"/>
            <p:cNvGrpSpPr/>
            <p:nvPr/>
          </p:nvGrpSpPr>
          <p:grpSpPr>
            <a:xfrm>
              <a:off x="739443" y="2694289"/>
              <a:ext cx="6350829" cy="592501"/>
              <a:chOff x="9427" y="3283689"/>
              <a:chExt cx="7057102" cy="592501"/>
            </a:xfrm>
          </p:grpSpPr>
          <p:sp>
            <p:nvSpPr>
              <p:cNvPr id="26" name="한쪽 모서리가 잘린 사각형 25"/>
              <p:cNvSpPr/>
              <p:nvPr/>
            </p:nvSpPr>
            <p:spPr bwMode="auto">
              <a:xfrm flipV="1">
                <a:off x="1268423" y="3283689"/>
                <a:ext cx="5761993" cy="591319"/>
              </a:xfrm>
              <a:prstGeom prst="snip1Rect">
                <a:avLst>
                  <a:gd name="adj" fmla="val 0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sp>
            <p:nvSpPr>
              <p:cNvPr id="32" name="Text Box 5"/>
              <p:cNvSpPr txBox="1">
                <a:spLocks noChangeArrowheads="1"/>
              </p:cNvSpPr>
              <p:nvPr/>
            </p:nvSpPr>
            <p:spPr bwMode="auto">
              <a:xfrm>
                <a:off x="538547" y="3660197"/>
                <a:ext cx="919328" cy="169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defTabSz="914031" eaLnBrk="1" latinLnBrk="0" hangingPunct="1">
                  <a:spcAft>
                    <a:spcPct val="0"/>
                  </a:spcAft>
                </a:pPr>
                <a:r>
                  <a:rPr lang="ko-KR" altLang="en-US" sz="1100" b="1" spc="-150" dirty="0">
                    <a:ln w="0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11A0DD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요구사항</a:t>
                </a:r>
                <a:endParaRPr lang="en-US" altLang="ko-KR" sz="11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9427" y="3870193"/>
                <a:ext cx="1225484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 Box 5"/>
              <p:cNvSpPr txBox="1">
                <a:spLocks noChangeArrowheads="1"/>
              </p:cNvSpPr>
              <p:nvPr/>
            </p:nvSpPr>
            <p:spPr bwMode="auto">
              <a:xfrm>
                <a:off x="1483749" y="3392024"/>
                <a:ext cx="5157885" cy="3769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SW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호환성 테스트 분야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HW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호환성 테스트 분야</a:t>
                </a:r>
              </a:p>
            </p:txBody>
          </p:sp>
          <p:sp>
            <p:nvSpPr>
              <p:cNvPr id="30" name="직각 삼각형 29"/>
              <p:cNvSpPr/>
              <p:nvPr/>
            </p:nvSpPr>
            <p:spPr bwMode="auto">
              <a:xfrm rot="10800000" flipV="1">
                <a:off x="6704974" y="3479085"/>
                <a:ext cx="361555" cy="397105"/>
              </a:xfrm>
              <a:prstGeom prst="rtTriangl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cxnSp>
            <p:nvCxnSpPr>
              <p:cNvPr id="31" name="직선 연결선 30"/>
              <p:cNvCxnSpPr/>
              <p:nvPr/>
            </p:nvCxnSpPr>
            <p:spPr>
              <a:xfrm>
                <a:off x="9427" y="3286864"/>
                <a:ext cx="1225485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533" y="2727456"/>
              <a:ext cx="431054" cy="429077"/>
            </a:xfrm>
            <a:prstGeom prst="rect">
              <a:avLst/>
            </a:prstGeom>
          </p:spPr>
        </p:pic>
      </p:grpSp>
      <p:grpSp>
        <p:nvGrpSpPr>
          <p:cNvPr id="82" name="그룹 81"/>
          <p:cNvGrpSpPr/>
          <p:nvPr/>
        </p:nvGrpSpPr>
        <p:grpSpPr>
          <a:xfrm>
            <a:off x="761851" y="3222402"/>
            <a:ext cx="6330269" cy="169302"/>
            <a:chOff x="761696" y="5435378"/>
            <a:chExt cx="6328976" cy="169277"/>
          </a:xfrm>
        </p:grpSpPr>
        <p:sp>
          <p:nvSpPr>
            <p:cNvPr id="83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SW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호환성 테스트 분야</a:t>
              </a:r>
            </a:p>
          </p:txBody>
        </p:sp>
        <p:grpSp>
          <p:nvGrpSpPr>
            <p:cNvPr id="84" name="그룹 83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85" name="타원 84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86" name="Picture 132" descr="ㅇ"/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87" name="그룹 86"/>
          <p:cNvGrpSpPr/>
          <p:nvPr/>
        </p:nvGrpSpPr>
        <p:grpSpPr>
          <a:xfrm>
            <a:off x="761851" y="6898054"/>
            <a:ext cx="6330269" cy="169302"/>
            <a:chOff x="761696" y="5435378"/>
            <a:chExt cx="6328976" cy="169277"/>
          </a:xfrm>
        </p:grpSpPr>
        <p:sp>
          <p:nvSpPr>
            <p:cNvPr id="88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HW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호환성 테스트 분야</a:t>
              </a:r>
            </a:p>
          </p:txBody>
        </p:sp>
        <p:grpSp>
          <p:nvGrpSpPr>
            <p:cNvPr id="89" name="그룹 88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90" name="타원 89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91" name="Picture 132" descr="ㅇ"/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7F90313-7592-4171-9609-BA42B5954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45323"/>
              </p:ext>
            </p:extLst>
          </p:nvPr>
        </p:nvGraphicFramePr>
        <p:xfrm>
          <a:off x="720271" y="3484910"/>
          <a:ext cx="6328236" cy="3123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2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1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  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호환성 테스트 대상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개발환경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개발도구 </a:t>
                      </a:r>
                      <a:r>
                        <a:rPr kumimoji="1" lang="en-US" altLang="ko-KR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MS Visual Studio (2010 Premium, Professional 2015)</a:t>
                      </a: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형상관리도구 </a:t>
                      </a:r>
                      <a:r>
                        <a:rPr kumimoji="1" lang="en-US" altLang="ko-KR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TortoiseSVN 1.9.3.27038(64bit)</a:t>
                      </a: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DBMS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및 관리도구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: </a:t>
                      </a:r>
                      <a:r>
                        <a:rPr kumimoji="1" lang="en-US" altLang="ko-KR" sz="1000" kern="1200" spc="-50" dirty="0" err="1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Altibase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ODBC 6.5.1.1.2(32bit / 64bit),</a:t>
                      </a:r>
                    </a:p>
                    <a:p>
                      <a:pPr marL="0" marR="0" lvl="0" indent="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                                 Orange for ALTIBASE 6.0 DBA Edition</a:t>
                      </a:r>
                    </a:p>
                    <a:p>
                      <a:pPr marL="0" marR="0" lvl="0" indent="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                                 Microsoft SQL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Server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2022(64bit)</a:t>
                      </a:r>
                    </a:p>
                    <a:p>
                      <a:pPr marL="0" marR="0" lvl="0" indent="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                                 Microsoft SQL Server Management Studio</a:t>
                      </a: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업무용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MS Office 2016,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한컴오피스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2018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정보보호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SW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TACS 8.2.0.2(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단독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PC), </a:t>
                      </a:r>
                      <a:r>
                        <a:rPr kumimoji="1" lang="en-US" altLang="ko-KR" sz="1000" kern="1200" spc="-50" dirty="0" err="1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ViRobot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Security 1.1.3.6</a:t>
                      </a: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기타 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모델형상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모의엔진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사후분석 자료구축기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자료편집기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상황도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시나리오 편집기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 통제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전장상황 가시화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사후검토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등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3897D215-0EAA-4A49-9548-833889FC318B}"/>
              </a:ext>
            </a:extLst>
          </p:cNvPr>
          <p:cNvGrpSpPr/>
          <p:nvPr/>
        </p:nvGrpSpPr>
        <p:grpSpPr>
          <a:xfrm>
            <a:off x="761851" y="8226958"/>
            <a:ext cx="6330269" cy="169302"/>
            <a:chOff x="761696" y="5435378"/>
            <a:chExt cx="6328976" cy="169277"/>
          </a:xfrm>
        </p:grpSpPr>
        <p:sp>
          <p:nvSpPr>
            <p:cNvPr id="34" name="Text Box 5">
              <a:extLst>
                <a:ext uri="{FF2B5EF4-FFF2-40B4-BE49-F238E27FC236}">
                  <a16:creationId xmlns:a16="http://schemas.microsoft.com/office/drawing/2014/main" id="{AEE3C904-88FB-4483-BA07-3770313DB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SW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호환성 테스트 절차</a:t>
              </a: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60BE57E7-AB4B-4256-BA3F-A5F757EBCA82}"/>
                </a:ext>
              </a:extLst>
            </p:cNvPr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EE9B8426-F127-44DC-B11F-D780C3036DF3}"/>
                  </a:ext>
                </a:extLst>
              </p:cNvPr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37" name="Picture 132" descr="ㅇ">
                <a:extLst>
                  <a:ext uri="{FF2B5EF4-FFF2-40B4-BE49-F238E27FC236}">
                    <a16:creationId xmlns:a16="http://schemas.microsoft.com/office/drawing/2014/main" id="{D1470D65-9383-4463-ACF2-A92CB22BDE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8" name="AutoShape 32">
            <a:extLst>
              <a:ext uri="{FF2B5EF4-FFF2-40B4-BE49-F238E27FC236}">
                <a16:creationId xmlns:a16="http://schemas.microsoft.com/office/drawing/2014/main" id="{EA9FDE6A-4464-4FEE-94A8-FC5349B53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15" y="8515140"/>
            <a:ext cx="1513592" cy="243370"/>
          </a:xfrm>
          <a:prstGeom prst="roundRect">
            <a:avLst>
              <a:gd name="adj" fmla="val 9190"/>
            </a:avLst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72000" anchor="ctr"/>
          <a:lstStyle/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테스트 환경 구축</a:t>
            </a:r>
          </a:p>
        </p:txBody>
      </p:sp>
      <p:sp>
        <p:nvSpPr>
          <p:cNvPr id="39" name="AutoShape 32">
            <a:extLst>
              <a:ext uri="{FF2B5EF4-FFF2-40B4-BE49-F238E27FC236}">
                <a16:creationId xmlns:a16="http://schemas.microsoft.com/office/drawing/2014/main" id="{13FA150E-F987-4E22-830D-50B7EBCF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8008" y="8513058"/>
            <a:ext cx="2929781" cy="243370"/>
          </a:xfrm>
          <a:prstGeom prst="roundRect">
            <a:avLst>
              <a:gd name="adj" fmla="val 9190"/>
            </a:avLst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72000" anchor="ctr"/>
          <a:lstStyle/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호환성 테스트</a:t>
            </a:r>
          </a:p>
        </p:txBody>
      </p:sp>
      <p:sp>
        <p:nvSpPr>
          <p:cNvPr id="41" name="AutoShape 32">
            <a:extLst>
              <a:ext uri="{FF2B5EF4-FFF2-40B4-BE49-F238E27FC236}">
                <a16:creationId xmlns:a16="http://schemas.microsoft.com/office/drawing/2014/main" id="{E71073FF-17AC-4374-B4D1-E5EC2A681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692" y="8513058"/>
            <a:ext cx="1644955" cy="228352"/>
          </a:xfrm>
          <a:prstGeom prst="roundRect">
            <a:avLst>
              <a:gd name="adj" fmla="val 9190"/>
            </a:avLst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72000" anchor="ctr"/>
          <a:lstStyle/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결과 검토 및 조치</a:t>
            </a: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68D0AEEA-D22B-4989-8D4E-8237F5503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28" y="8756430"/>
            <a:ext cx="6328271" cy="1234724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dist="25400" dir="16200000" algn="ctr" rotWithShape="0">
              <a:srgbClr val="0F8BC3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99CCFF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9" tIns="45725" rIns="91449" bIns="45725" anchor="ctr"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15229EB-9BAC-45AD-8F54-648E862820E0}"/>
              </a:ext>
            </a:extLst>
          </p:cNvPr>
          <p:cNvGrpSpPr/>
          <p:nvPr/>
        </p:nvGrpSpPr>
        <p:grpSpPr>
          <a:xfrm>
            <a:off x="2317058" y="8745841"/>
            <a:ext cx="3011683" cy="1234724"/>
            <a:chOff x="2237181" y="6053707"/>
            <a:chExt cx="3011683" cy="2176096"/>
          </a:xfrm>
        </p:grpSpPr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154DFAE1-95FD-48D0-B5AB-1AC34CC0F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7181" y="6079048"/>
              <a:ext cx="0" cy="2150755"/>
            </a:xfrm>
            <a:prstGeom prst="line">
              <a:avLst/>
            </a:prstGeom>
            <a:noFill/>
            <a:ln w="19050">
              <a:solidFill>
                <a:srgbClr val="B2B2B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49" tIns="45725" rIns="91449" bIns="45725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16F9C31D-E28E-4678-860C-9045FDBAC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8864" y="6053707"/>
              <a:ext cx="0" cy="2150755"/>
            </a:xfrm>
            <a:prstGeom prst="line">
              <a:avLst/>
            </a:prstGeom>
            <a:noFill/>
            <a:ln w="19050">
              <a:solidFill>
                <a:srgbClr val="B2B2B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49" tIns="45725" rIns="91449" bIns="45725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47" name="AutoShape 229" descr="ob-09">
            <a:extLst>
              <a:ext uri="{FF2B5EF4-FFF2-40B4-BE49-F238E27FC236}">
                <a16:creationId xmlns:a16="http://schemas.microsoft.com/office/drawing/2014/main" id="{EDFAD62B-3A74-4487-B483-13EFCDA18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576" y="8875030"/>
            <a:ext cx="1144662" cy="507007"/>
          </a:xfrm>
          <a:prstGeom prst="roundRect">
            <a:avLst>
              <a:gd name="adj" fmla="val 0"/>
            </a:avLst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45713" anchor="ctr"/>
          <a:lstStyle/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Widnows11</a:t>
            </a:r>
          </a:p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호환성 테스트</a:t>
            </a:r>
            <a:endParaRPr kumimoji="1"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111250" fontAlgn="base">
              <a:spcBef>
                <a:spcPct val="0"/>
              </a:spcBef>
              <a:spcAft>
                <a:spcPct val="0"/>
              </a:spcAft>
              <a:buSzPct val="80000"/>
            </a:pPr>
            <a:r>
              <a:rPr kumimoji="1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장비 구축</a:t>
            </a:r>
          </a:p>
        </p:txBody>
      </p:sp>
      <p:cxnSp>
        <p:nvCxnSpPr>
          <p:cNvPr id="48" name="꺾인 연결선 49">
            <a:extLst>
              <a:ext uri="{FF2B5EF4-FFF2-40B4-BE49-F238E27FC236}">
                <a16:creationId xmlns:a16="http://schemas.microsoft.com/office/drawing/2014/main" id="{E4E5CC01-05DA-4492-A709-96CE0E36AD20}"/>
              </a:ext>
            </a:extLst>
          </p:cNvPr>
          <p:cNvCxnSpPr>
            <a:cxnSpLocks noChangeShapeType="1"/>
            <a:stCxn id="47" idx="2"/>
            <a:endCxn id="52" idx="0"/>
          </p:cNvCxnSpPr>
          <p:nvPr/>
        </p:nvCxnSpPr>
        <p:spPr bwMode="auto">
          <a:xfrm rot="16200000" flipH="1">
            <a:off x="1415965" y="9452978"/>
            <a:ext cx="141884" cy="1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rgbClr val="969696"/>
            </a:solidFill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직사각형 51" descr="넥스원_도형-30">
            <a:extLst>
              <a:ext uri="{FF2B5EF4-FFF2-40B4-BE49-F238E27FC236}">
                <a16:creationId xmlns:a16="http://schemas.microsoft.com/office/drawing/2014/main" id="{0EF25C33-5D8D-406C-9106-00F564D3C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577" y="9523921"/>
            <a:ext cx="1144662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Windows11 </a:t>
            </a: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설치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및 보안 설정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3" name="직사각형 52" descr="넥스원_도형-30">
            <a:extLst>
              <a:ext uri="{FF2B5EF4-FFF2-40B4-BE49-F238E27FC236}">
                <a16:creationId xmlns:a16="http://schemas.microsoft.com/office/drawing/2014/main" id="{27BF5BBC-F56D-4A9F-AFFE-11F0C5231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5127" y="8880020"/>
            <a:ext cx="753615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</a:t>
            </a: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설치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테스트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4" name="직사각형 53" descr="넥스원_도형-30">
            <a:extLst>
              <a:ext uri="{FF2B5EF4-FFF2-40B4-BE49-F238E27FC236}">
                <a16:creationId xmlns:a16="http://schemas.microsoft.com/office/drawing/2014/main" id="{AE5A005C-2A21-4F54-98D8-51849A4D0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034" y="9451913"/>
            <a:ext cx="753615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 </a:t>
            </a: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운용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테스트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5" name="직사각형 54" descr="넥스원_도형-30">
            <a:extLst>
              <a:ext uri="{FF2B5EF4-FFF2-40B4-BE49-F238E27FC236}">
                <a16:creationId xmlns:a16="http://schemas.microsoft.com/office/drawing/2014/main" id="{598CAD26-3B01-436D-AD81-245DB937F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44" y="8880020"/>
            <a:ext cx="1144662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결과 검토 및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결과서 작성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2B2F67FC-6F65-4200-BC0A-C8467AF8B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53089"/>
              </p:ext>
            </p:extLst>
          </p:nvPr>
        </p:nvGraphicFramePr>
        <p:xfrm>
          <a:off x="720271" y="7155072"/>
          <a:ext cx="6328236" cy="783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2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1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  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HW</a:t>
                      </a: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호환성 테스트 대상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유지관리팀</a:t>
                      </a:r>
                      <a:endParaRPr kumimoji="1" lang="en-US" altLang="ko-KR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보유 단말기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Windows11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설치 가능 사양 확인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9" name="직사각형 68" descr="넥스원_도형-30">
            <a:extLst>
              <a:ext uri="{FF2B5EF4-FFF2-40B4-BE49-F238E27FC236}">
                <a16:creationId xmlns:a16="http://schemas.microsoft.com/office/drawing/2014/main" id="{57FC507F-5202-466B-BF85-8758B72B4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520" y="9168052"/>
            <a:ext cx="753615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SW</a:t>
            </a: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구동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테스트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0" name="직사각형 69" descr="넥스원_도형-30">
            <a:extLst>
              <a:ext uri="{FF2B5EF4-FFF2-40B4-BE49-F238E27FC236}">
                <a16:creationId xmlns:a16="http://schemas.microsoft.com/office/drawing/2014/main" id="{F3B34EB8-6C8B-4F94-856A-3A3EC8DAF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6247" y="9523797"/>
            <a:ext cx="1144662" cy="3558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854" tIns="36854" rIns="36854" bIns="25798" anchor="ctr"/>
          <a:lstStyle>
            <a:lvl1pPr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158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93675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427038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609600" algn="l" defTabSz="965200" eaLnBrk="0" hangingPunct="0"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0668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15240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9812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2438400" defTabSz="9652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제한사항 발생 시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1111250" eaLnBrk="1" fontAlgn="base" hangingPunct="1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조치방안 제시</a:t>
            </a:r>
            <a:endParaRPr lang="en-US" altLang="ko-KR" sz="1000" b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50" name="꺾인 연결선 85">
            <a:extLst>
              <a:ext uri="{FF2B5EF4-FFF2-40B4-BE49-F238E27FC236}">
                <a16:creationId xmlns:a16="http://schemas.microsoft.com/office/drawing/2014/main" id="{FD3BC10E-C640-4540-88A2-1CF738243CE7}"/>
              </a:ext>
            </a:extLst>
          </p:cNvPr>
          <p:cNvCxnSpPr>
            <a:cxnSpLocks noChangeShapeType="1"/>
            <a:stCxn id="70" idx="0"/>
            <a:endCxn id="55" idx="2"/>
          </p:cNvCxnSpPr>
          <p:nvPr/>
        </p:nvCxnSpPr>
        <p:spPr bwMode="auto">
          <a:xfrm flipH="1" flipV="1">
            <a:off x="6261975" y="9235889"/>
            <a:ext cx="6603" cy="287908"/>
          </a:xfrm>
          <a:prstGeom prst="straightConnector1">
            <a:avLst/>
          </a:prstGeom>
          <a:noFill/>
          <a:ln w="6350" algn="ctr">
            <a:solidFill>
              <a:srgbClr val="969696"/>
            </a:solidFill>
            <a:prstDash val="dash"/>
            <a:miter lim="800000"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EF3C1ABF-BDC5-4F7E-8558-082E1AA78427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 flipV="1">
            <a:off x="2059239" y="9057955"/>
            <a:ext cx="485888" cy="643901"/>
          </a:xfrm>
          <a:prstGeom prst="bentConnector3">
            <a:avLst>
              <a:gd name="adj1" fmla="val 46080"/>
            </a:avLst>
          </a:prstGeom>
          <a:ln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8A1C0D22-B126-4BE5-9E3A-D9216D4248B3}"/>
              </a:ext>
            </a:extLst>
          </p:cNvPr>
          <p:cNvCxnSpPr>
            <a:cxnSpLocks/>
            <a:stCxn id="53" idx="2"/>
            <a:endCxn id="69" idx="1"/>
          </p:cNvCxnSpPr>
          <p:nvPr/>
        </p:nvCxnSpPr>
        <p:spPr>
          <a:xfrm rot="16200000" flipH="1">
            <a:off x="3139678" y="9018145"/>
            <a:ext cx="110098" cy="545585"/>
          </a:xfrm>
          <a:prstGeom prst="bentConnector2">
            <a:avLst/>
          </a:prstGeom>
          <a:ln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D3BA2398-4BF4-4530-AF66-A739C8A5C9AD}"/>
              </a:ext>
            </a:extLst>
          </p:cNvPr>
          <p:cNvCxnSpPr>
            <a:cxnSpLocks/>
            <a:stCxn id="69" idx="2"/>
            <a:endCxn id="54" idx="1"/>
          </p:cNvCxnSpPr>
          <p:nvPr/>
        </p:nvCxnSpPr>
        <p:spPr>
          <a:xfrm rot="16200000" flipH="1">
            <a:off x="4062218" y="9306031"/>
            <a:ext cx="105927" cy="541706"/>
          </a:xfrm>
          <a:prstGeom prst="bentConnector2">
            <a:avLst/>
          </a:prstGeom>
          <a:ln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DBB556EB-A8EC-430C-A504-2578182D7600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139649" y="9057955"/>
            <a:ext cx="549995" cy="571893"/>
          </a:xfrm>
          <a:prstGeom prst="bentConnector3">
            <a:avLst>
              <a:gd name="adj1" fmla="val 50000"/>
            </a:avLst>
          </a:prstGeom>
          <a:ln>
            <a:solidFill>
              <a:srgbClr val="9696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45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2"/>
          <p:cNvSpPr txBox="1">
            <a:spLocks noChangeArrowheads="1"/>
          </p:cNvSpPr>
          <p:nvPr/>
        </p:nvSpPr>
        <p:spPr bwMode="auto">
          <a:xfrm>
            <a:off x="720873" y="135116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3.4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기능개선 방안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3.4.1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기능개선 요구사항 적용 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요구사항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-003)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720873" y="2502322"/>
            <a:ext cx="6319620" cy="648088"/>
            <a:chOff x="748623" y="1962262"/>
            <a:chExt cx="6319620" cy="828092"/>
          </a:xfrm>
        </p:grpSpPr>
        <p:sp>
          <p:nvSpPr>
            <p:cNvPr id="17" name="한쪽 모서리가 잘린 사각형 16"/>
            <p:cNvSpPr/>
            <p:nvPr/>
          </p:nvSpPr>
          <p:spPr bwMode="auto">
            <a:xfrm flipV="1">
              <a:off x="1881850" y="1962262"/>
              <a:ext cx="5186393" cy="828092"/>
            </a:xfrm>
            <a:prstGeom prst="snip1Rect">
              <a:avLst>
                <a:gd name="adj" fmla="val 0"/>
              </a:avLst>
            </a:prstGeom>
            <a:solidFill>
              <a:srgbClr val="11A0DD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>
                <a:solidFill>
                  <a:srgbClr val="000000"/>
                </a:solidFill>
                <a:latin typeface="KoPub돋움체 Medium" pitchFamily="18" charset="-127"/>
                <a:ea typeface="KoPub돋움체 Medium" pitchFamily="18" charset="-127"/>
                <a:cs typeface="Arial" charset="0"/>
              </a:endParaRPr>
            </a:p>
          </p:txBody>
        </p:sp>
        <p:sp>
          <p:nvSpPr>
            <p:cNvPr id="24" name="Text Box 5"/>
            <p:cNvSpPr txBox="1">
              <a:spLocks noChangeArrowheads="1"/>
            </p:cNvSpPr>
            <p:nvPr/>
          </p:nvSpPr>
          <p:spPr bwMode="auto">
            <a:xfrm>
              <a:off x="1214736" y="2525712"/>
              <a:ext cx="617568" cy="16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0" hangingPunct="1"/>
              <a:r>
                <a:rPr lang="ko-KR" altLang="en-US" sz="1100" b="1" spc="-150" dirty="0">
                  <a:ln w="0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요구사항</a:t>
              </a:r>
              <a:endParaRPr lang="en-US" altLang="ko-KR" sz="1100" b="1" spc="-150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rgbClr val="11A0DD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>
              <a:off x="748623" y="2790354"/>
              <a:ext cx="1103063" cy="0"/>
            </a:xfrm>
            <a:prstGeom prst="line">
              <a:avLst/>
            </a:prstGeom>
            <a:ln w="19050">
              <a:solidFill>
                <a:srgbClr val="11A0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Box 5"/>
            <p:cNvSpPr txBox="1">
              <a:spLocks noChangeArrowheads="1"/>
            </p:cNvSpPr>
            <p:nvPr/>
          </p:nvSpPr>
          <p:spPr bwMode="auto">
            <a:xfrm>
              <a:off x="2075667" y="2122370"/>
              <a:ext cx="4941008" cy="481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130188" indent="-130188" eaLnBrk="1" hangingPunct="1">
                <a:spcBef>
                  <a:spcPts val="300"/>
                </a:spcBef>
                <a:buSzPct val="70000"/>
                <a:buFont typeface="Rix고딕 B" panose="02020603020101020101" pitchFamily="18" charset="-127"/>
                <a:buChar char="▶"/>
              </a:pPr>
              <a:r>
                <a:rPr lang="en-US" altLang="ko-KR" sz="1100" b="1" dirty="0">
                  <a:ln w="0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바탕" panose="02030600000101010101" pitchFamily="18" charset="-127"/>
                  <a:ea typeface="바탕" panose="02030600000101010101" pitchFamily="18" charset="-127"/>
                </a:rPr>
                <a:t>’</a:t>
              </a:r>
              <a:r>
                <a:rPr lang="en-US" altLang="ko-KR" sz="1100" b="1" dirty="0">
                  <a:ln w="0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25</a:t>
              </a:r>
              <a:r>
                <a:rPr lang="ko-KR" altLang="en-US" sz="1100" b="1" dirty="0">
                  <a:ln w="0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년 유지관리 중 식별된 오류사항 및 기능개선 요구사항 적용</a:t>
              </a:r>
              <a:endParaRPr lang="en-US" altLang="ko-KR" sz="1100" b="1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marL="130188" indent="-130188" eaLnBrk="1" hangingPunct="1">
                <a:spcBef>
                  <a:spcPts val="300"/>
                </a:spcBef>
                <a:buSzPct val="70000"/>
                <a:buFont typeface="Rix고딕 B" panose="02020603020101020101" pitchFamily="18" charset="-127"/>
                <a:buChar char="▶"/>
              </a:pPr>
              <a:r>
                <a:rPr lang="ko-KR" altLang="en-US" sz="1100" b="1" dirty="0">
                  <a:ln w="0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형상관리 절차를 통해 연내 조치과제로 의결된 기능개선요구 사항 적용</a:t>
              </a:r>
              <a:endParaRPr lang="en-US" altLang="ko-KR" sz="1100" b="1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1" name="직각 삼각형 20"/>
            <p:cNvSpPr/>
            <p:nvPr/>
          </p:nvSpPr>
          <p:spPr bwMode="auto">
            <a:xfrm rot="10800000" flipV="1">
              <a:off x="6804905" y="2547042"/>
              <a:ext cx="263338" cy="243312"/>
            </a:xfrm>
            <a:prstGeom prst="rtTriangl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>
                <a:solidFill>
                  <a:srgbClr val="000000"/>
                </a:solidFill>
                <a:latin typeface="KoPub돋움체 Medium" pitchFamily="18" charset="-127"/>
                <a:ea typeface="KoPub돋움체 Medium" pitchFamily="18" charset="-127"/>
                <a:cs typeface="Arial" charset="0"/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748623" y="1975686"/>
              <a:ext cx="1103064" cy="0"/>
            </a:xfrm>
            <a:prstGeom prst="line">
              <a:avLst/>
            </a:prstGeom>
            <a:ln w="19050">
              <a:solidFill>
                <a:srgbClr val="11A0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9719" y="2009470"/>
              <a:ext cx="431142" cy="516243"/>
            </a:xfrm>
            <a:prstGeom prst="rect">
              <a:avLst/>
            </a:prstGeom>
          </p:spPr>
        </p:pic>
      </p:grpSp>
      <p:sp>
        <p:nvSpPr>
          <p:cNvPr id="119" name="Rectangle 3"/>
          <p:cNvSpPr txBox="1">
            <a:spLocks noChangeArrowheads="1"/>
          </p:cNvSpPr>
          <p:nvPr/>
        </p:nvSpPr>
        <p:spPr bwMode="auto">
          <a:xfrm>
            <a:off x="720873" y="1602222"/>
            <a:ext cx="6337006" cy="21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91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27138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5125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300"/>
              </a:spcBef>
            </a:pPr>
            <a:endParaRPr lang="en-US" altLang="ko-KR" spc="-50" dirty="0">
              <a:ln w="0"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just" eaLnBrk="1" fontAlgn="auto" hangingPunct="1">
              <a:spcBef>
                <a:spcPts val="300"/>
              </a:spcBef>
            </a:pP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합참규정에 의거하여 유지관리 사업간 식별된 오류사항에 대해서 정상적으로 모의결과를 산출할 수 있도록 개선하며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형상관리 절차를 통해 연내 조치과제로 의결된 기능개선 요구사항에 대해서는 개선이 완료된 후 지정된 양식의 </a:t>
            </a: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개선결과서를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작성하여 </a:t>
            </a: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사업종결시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산출물로 제출하겠습니다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</a:t>
            </a:r>
            <a:endParaRPr lang="en-US" altLang="ko-KR" spc="-50" dirty="0">
              <a:ln w="0"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378" name="그룹 377"/>
          <p:cNvGrpSpPr/>
          <p:nvPr/>
        </p:nvGrpSpPr>
        <p:grpSpPr>
          <a:xfrm>
            <a:off x="761851" y="3330414"/>
            <a:ext cx="6330269" cy="169302"/>
            <a:chOff x="761696" y="5435378"/>
            <a:chExt cx="6328976" cy="169277"/>
          </a:xfrm>
        </p:grpSpPr>
        <p:sp>
          <p:nvSpPr>
            <p:cNvPr id="379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유지관리 중 식별된 오류사항 및 기능개선 요구사항 적용 방안</a:t>
              </a:r>
            </a:p>
          </p:txBody>
        </p:sp>
        <p:grpSp>
          <p:nvGrpSpPr>
            <p:cNvPr id="380" name="그룹 379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382" name="타원 381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383" name="Picture 132" descr="ㅇ"/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548" name="그룹 547"/>
          <p:cNvGrpSpPr/>
          <p:nvPr/>
        </p:nvGrpSpPr>
        <p:grpSpPr>
          <a:xfrm>
            <a:off x="761851" y="6617496"/>
            <a:ext cx="6330269" cy="169302"/>
            <a:chOff x="761696" y="5435378"/>
            <a:chExt cx="6328976" cy="169277"/>
          </a:xfrm>
        </p:grpSpPr>
        <p:sp>
          <p:nvSpPr>
            <p:cNvPr id="549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형상관리 절차를 통해 연내 조치과제로 의결된 기능개선요구 사항 적용 방안</a:t>
              </a:r>
            </a:p>
          </p:txBody>
        </p:sp>
        <p:grpSp>
          <p:nvGrpSpPr>
            <p:cNvPr id="550" name="그룹 549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551" name="타원 550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552" name="Picture 132" descr="ㅇ"/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553" name="Rectangle 546"/>
          <p:cNvSpPr>
            <a:spLocks noChangeArrowheads="1"/>
          </p:cNvSpPr>
          <p:nvPr/>
        </p:nvSpPr>
        <p:spPr bwMode="auto">
          <a:xfrm>
            <a:off x="712915" y="6858806"/>
            <a:ext cx="4114594" cy="3191526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5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54" name="Freeform 547"/>
          <p:cNvSpPr>
            <a:spLocks/>
          </p:cNvSpPr>
          <p:nvPr/>
        </p:nvSpPr>
        <p:spPr bwMode="auto">
          <a:xfrm>
            <a:off x="4465559" y="6858807"/>
            <a:ext cx="361950" cy="463550"/>
          </a:xfrm>
          <a:custGeom>
            <a:avLst/>
            <a:gdLst>
              <a:gd name="T0" fmla="*/ 228 w 228"/>
              <a:gd name="T1" fmla="*/ 0 h 292"/>
              <a:gd name="T2" fmla="*/ 0 w 228"/>
              <a:gd name="T3" fmla="*/ 98 h 292"/>
              <a:gd name="T4" fmla="*/ 0 w 228"/>
              <a:gd name="T5" fmla="*/ 292 h 292"/>
              <a:gd name="T6" fmla="*/ 228 w 228"/>
              <a:gd name="T7" fmla="*/ 195 h 292"/>
              <a:gd name="T8" fmla="*/ 228 w 228"/>
              <a:gd name="T9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92">
                <a:moveTo>
                  <a:pt x="228" y="0"/>
                </a:moveTo>
                <a:lnTo>
                  <a:pt x="0" y="98"/>
                </a:lnTo>
                <a:lnTo>
                  <a:pt x="0" y="292"/>
                </a:lnTo>
                <a:lnTo>
                  <a:pt x="228" y="195"/>
                </a:lnTo>
                <a:lnTo>
                  <a:pt x="22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b="1"/>
          </a:p>
        </p:txBody>
      </p:sp>
      <p:sp>
        <p:nvSpPr>
          <p:cNvPr id="555" name="Rectangle 548"/>
          <p:cNvSpPr>
            <a:spLocks noChangeArrowheads="1"/>
          </p:cNvSpPr>
          <p:nvPr/>
        </p:nvSpPr>
        <p:spPr bwMode="auto">
          <a:xfrm>
            <a:off x="4465560" y="7014382"/>
            <a:ext cx="2746192" cy="3323982"/>
          </a:xfrm>
          <a:prstGeom prst="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5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56" name="직사각형 6"/>
          <p:cNvSpPr>
            <a:spLocks noChangeArrowheads="1"/>
          </p:cNvSpPr>
          <p:nvPr/>
        </p:nvSpPr>
        <p:spPr bwMode="auto">
          <a:xfrm>
            <a:off x="5483453" y="7012972"/>
            <a:ext cx="1013419" cy="26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형상관리 절차</a:t>
            </a:r>
          </a:p>
        </p:txBody>
      </p:sp>
      <p:sp>
        <p:nvSpPr>
          <p:cNvPr id="557" name="Rectangle 548"/>
          <p:cNvSpPr>
            <a:spLocks noChangeArrowheads="1"/>
          </p:cNvSpPr>
          <p:nvPr/>
        </p:nvSpPr>
        <p:spPr bwMode="auto">
          <a:xfrm>
            <a:off x="4530702" y="7296277"/>
            <a:ext cx="2598239" cy="21059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58" name="Freeform 40"/>
          <p:cNvSpPr>
            <a:spLocks/>
          </p:cNvSpPr>
          <p:nvPr/>
        </p:nvSpPr>
        <p:spPr bwMode="auto">
          <a:xfrm>
            <a:off x="4642594" y="7401276"/>
            <a:ext cx="643784" cy="643784"/>
          </a:xfrm>
          <a:custGeom>
            <a:avLst/>
            <a:gdLst>
              <a:gd name="T0" fmla="*/ 255 w 255"/>
              <a:gd name="T1" fmla="*/ 128 h 255"/>
              <a:gd name="T2" fmla="*/ 255 w 255"/>
              <a:gd name="T3" fmla="*/ 128 h 255"/>
              <a:gd name="T4" fmla="*/ 255 w 255"/>
              <a:gd name="T5" fmla="*/ 141 h 255"/>
              <a:gd name="T6" fmla="*/ 254 w 255"/>
              <a:gd name="T7" fmla="*/ 154 h 255"/>
              <a:gd name="T8" fmla="*/ 251 w 255"/>
              <a:gd name="T9" fmla="*/ 167 h 255"/>
              <a:gd name="T10" fmla="*/ 246 w 255"/>
              <a:gd name="T11" fmla="*/ 178 h 255"/>
              <a:gd name="T12" fmla="*/ 241 w 255"/>
              <a:gd name="T13" fmla="*/ 189 h 255"/>
              <a:gd name="T14" fmla="*/ 234 w 255"/>
              <a:gd name="T15" fmla="*/ 199 h 255"/>
              <a:gd name="T16" fmla="*/ 226 w 255"/>
              <a:gd name="T17" fmla="*/ 210 h 255"/>
              <a:gd name="T18" fmla="*/ 218 w 255"/>
              <a:gd name="T19" fmla="*/ 218 h 255"/>
              <a:gd name="T20" fmla="*/ 209 w 255"/>
              <a:gd name="T21" fmla="*/ 226 h 255"/>
              <a:gd name="T22" fmla="*/ 199 w 255"/>
              <a:gd name="T23" fmla="*/ 234 h 255"/>
              <a:gd name="T24" fmla="*/ 189 w 255"/>
              <a:gd name="T25" fmla="*/ 241 h 255"/>
              <a:gd name="T26" fmla="*/ 178 w 255"/>
              <a:gd name="T27" fmla="*/ 246 h 255"/>
              <a:gd name="T28" fmla="*/ 167 w 255"/>
              <a:gd name="T29" fmla="*/ 251 h 255"/>
              <a:gd name="T30" fmla="*/ 154 w 255"/>
              <a:gd name="T31" fmla="*/ 254 h 255"/>
              <a:gd name="T32" fmla="*/ 141 w 255"/>
              <a:gd name="T33" fmla="*/ 255 h 255"/>
              <a:gd name="T34" fmla="*/ 128 w 255"/>
              <a:gd name="T35" fmla="*/ 255 h 255"/>
              <a:gd name="T36" fmla="*/ 128 w 255"/>
              <a:gd name="T37" fmla="*/ 255 h 255"/>
              <a:gd name="T38" fmla="*/ 115 w 255"/>
              <a:gd name="T39" fmla="*/ 255 h 255"/>
              <a:gd name="T40" fmla="*/ 102 w 255"/>
              <a:gd name="T41" fmla="*/ 254 h 255"/>
              <a:gd name="T42" fmla="*/ 89 w 255"/>
              <a:gd name="T43" fmla="*/ 251 h 255"/>
              <a:gd name="T44" fmla="*/ 78 w 255"/>
              <a:gd name="T45" fmla="*/ 246 h 255"/>
              <a:gd name="T46" fmla="*/ 66 w 255"/>
              <a:gd name="T47" fmla="*/ 241 h 255"/>
              <a:gd name="T48" fmla="*/ 57 w 255"/>
              <a:gd name="T49" fmla="*/ 234 h 255"/>
              <a:gd name="T50" fmla="*/ 47 w 255"/>
              <a:gd name="T51" fmla="*/ 226 h 255"/>
              <a:gd name="T52" fmla="*/ 37 w 255"/>
              <a:gd name="T53" fmla="*/ 218 h 255"/>
              <a:gd name="T54" fmla="*/ 29 w 255"/>
              <a:gd name="T55" fmla="*/ 210 h 255"/>
              <a:gd name="T56" fmla="*/ 21 w 255"/>
              <a:gd name="T57" fmla="*/ 199 h 255"/>
              <a:gd name="T58" fmla="*/ 15 w 255"/>
              <a:gd name="T59" fmla="*/ 189 h 255"/>
              <a:gd name="T60" fmla="*/ 10 w 255"/>
              <a:gd name="T61" fmla="*/ 178 h 255"/>
              <a:gd name="T62" fmla="*/ 5 w 255"/>
              <a:gd name="T63" fmla="*/ 167 h 255"/>
              <a:gd name="T64" fmla="*/ 2 w 255"/>
              <a:gd name="T65" fmla="*/ 154 h 255"/>
              <a:gd name="T66" fmla="*/ 0 w 255"/>
              <a:gd name="T67" fmla="*/ 141 h 255"/>
              <a:gd name="T68" fmla="*/ 0 w 255"/>
              <a:gd name="T69" fmla="*/ 128 h 255"/>
              <a:gd name="T70" fmla="*/ 0 w 255"/>
              <a:gd name="T71" fmla="*/ 128 h 255"/>
              <a:gd name="T72" fmla="*/ 0 w 255"/>
              <a:gd name="T73" fmla="*/ 115 h 255"/>
              <a:gd name="T74" fmla="*/ 2 w 255"/>
              <a:gd name="T75" fmla="*/ 102 h 255"/>
              <a:gd name="T76" fmla="*/ 5 w 255"/>
              <a:gd name="T77" fmla="*/ 91 h 255"/>
              <a:gd name="T78" fmla="*/ 10 w 255"/>
              <a:gd name="T79" fmla="*/ 78 h 255"/>
              <a:gd name="T80" fmla="*/ 15 w 255"/>
              <a:gd name="T81" fmla="*/ 66 h 255"/>
              <a:gd name="T82" fmla="*/ 21 w 255"/>
              <a:gd name="T83" fmla="*/ 57 h 255"/>
              <a:gd name="T84" fmla="*/ 29 w 255"/>
              <a:gd name="T85" fmla="*/ 47 h 255"/>
              <a:gd name="T86" fmla="*/ 37 w 255"/>
              <a:gd name="T87" fmla="*/ 37 h 255"/>
              <a:gd name="T88" fmla="*/ 47 w 255"/>
              <a:gd name="T89" fmla="*/ 29 h 255"/>
              <a:gd name="T90" fmla="*/ 57 w 255"/>
              <a:gd name="T91" fmla="*/ 23 h 255"/>
              <a:gd name="T92" fmla="*/ 66 w 255"/>
              <a:gd name="T93" fmla="*/ 16 h 255"/>
              <a:gd name="T94" fmla="*/ 78 w 255"/>
              <a:gd name="T95" fmla="*/ 10 h 255"/>
              <a:gd name="T96" fmla="*/ 89 w 255"/>
              <a:gd name="T97" fmla="*/ 7 h 255"/>
              <a:gd name="T98" fmla="*/ 102 w 255"/>
              <a:gd name="T99" fmla="*/ 3 h 255"/>
              <a:gd name="T100" fmla="*/ 115 w 255"/>
              <a:gd name="T101" fmla="*/ 0 h 255"/>
              <a:gd name="T102" fmla="*/ 128 w 255"/>
              <a:gd name="T103" fmla="*/ 0 h 255"/>
              <a:gd name="T104" fmla="*/ 255 w 255"/>
              <a:gd name="T105" fmla="*/ 0 h 255"/>
              <a:gd name="T106" fmla="*/ 255 w 255"/>
              <a:gd name="T107" fmla="*/ 12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5" h="255">
                <a:moveTo>
                  <a:pt x="255" y="128"/>
                </a:moveTo>
                <a:lnTo>
                  <a:pt x="255" y="128"/>
                </a:lnTo>
                <a:lnTo>
                  <a:pt x="255" y="141"/>
                </a:lnTo>
                <a:lnTo>
                  <a:pt x="254" y="154"/>
                </a:lnTo>
                <a:lnTo>
                  <a:pt x="251" y="167"/>
                </a:lnTo>
                <a:lnTo>
                  <a:pt x="246" y="178"/>
                </a:lnTo>
                <a:lnTo>
                  <a:pt x="241" y="189"/>
                </a:lnTo>
                <a:lnTo>
                  <a:pt x="234" y="199"/>
                </a:lnTo>
                <a:lnTo>
                  <a:pt x="226" y="210"/>
                </a:lnTo>
                <a:lnTo>
                  <a:pt x="218" y="218"/>
                </a:lnTo>
                <a:lnTo>
                  <a:pt x="209" y="226"/>
                </a:lnTo>
                <a:lnTo>
                  <a:pt x="199" y="234"/>
                </a:lnTo>
                <a:lnTo>
                  <a:pt x="189" y="241"/>
                </a:lnTo>
                <a:lnTo>
                  <a:pt x="178" y="246"/>
                </a:lnTo>
                <a:lnTo>
                  <a:pt x="167" y="251"/>
                </a:lnTo>
                <a:lnTo>
                  <a:pt x="154" y="254"/>
                </a:lnTo>
                <a:lnTo>
                  <a:pt x="141" y="255"/>
                </a:lnTo>
                <a:lnTo>
                  <a:pt x="128" y="255"/>
                </a:lnTo>
                <a:lnTo>
                  <a:pt x="128" y="255"/>
                </a:lnTo>
                <a:lnTo>
                  <a:pt x="115" y="255"/>
                </a:lnTo>
                <a:lnTo>
                  <a:pt x="102" y="254"/>
                </a:lnTo>
                <a:lnTo>
                  <a:pt x="89" y="251"/>
                </a:lnTo>
                <a:lnTo>
                  <a:pt x="78" y="246"/>
                </a:lnTo>
                <a:lnTo>
                  <a:pt x="66" y="241"/>
                </a:lnTo>
                <a:lnTo>
                  <a:pt x="57" y="234"/>
                </a:lnTo>
                <a:lnTo>
                  <a:pt x="47" y="226"/>
                </a:lnTo>
                <a:lnTo>
                  <a:pt x="37" y="218"/>
                </a:lnTo>
                <a:lnTo>
                  <a:pt x="29" y="210"/>
                </a:lnTo>
                <a:lnTo>
                  <a:pt x="21" y="199"/>
                </a:lnTo>
                <a:lnTo>
                  <a:pt x="15" y="189"/>
                </a:lnTo>
                <a:lnTo>
                  <a:pt x="10" y="178"/>
                </a:lnTo>
                <a:lnTo>
                  <a:pt x="5" y="167"/>
                </a:lnTo>
                <a:lnTo>
                  <a:pt x="2" y="154"/>
                </a:lnTo>
                <a:lnTo>
                  <a:pt x="0" y="141"/>
                </a:lnTo>
                <a:lnTo>
                  <a:pt x="0" y="128"/>
                </a:lnTo>
                <a:lnTo>
                  <a:pt x="0" y="128"/>
                </a:lnTo>
                <a:lnTo>
                  <a:pt x="0" y="115"/>
                </a:lnTo>
                <a:lnTo>
                  <a:pt x="2" y="102"/>
                </a:lnTo>
                <a:lnTo>
                  <a:pt x="5" y="91"/>
                </a:lnTo>
                <a:lnTo>
                  <a:pt x="10" y="78"/>
                </a:lnTo>
                <a:lnTo>
                  <a:pt x="15" y="66"/>
                </a:lnTo>
                <a:lnTo>
                  <a:pt x="21" y="57"/>
                </a:lnTo>
                <a:lnTo>
                  <a:pt x="29" y="47"/>
                </a:lnTo>
                <a:lnTo>
                  <a:pt x="37" y="37"/>
                </a:lnTo>
                <a:lnTo>
                  <a:pt x="47" y="29"/>
                </a:lnTo>
                <a:lnTo>
                  <a:pt x="57" y="23"/>
                </a:lnTo>
                <a:lnTo>
                  <a:pt x="66" y="16"/>
                </a:lnTo>
                <a:lnTo>
                  <a:pt x="78" y="10"/>
                </a:lnTo>
                <a:lnTo>
                  <a:pt x="89" y="7"/>
                </a:lnTo>
                <a:lnTo>
                  <a:pt x="102" y="3"/>
                </a:lnTo>
                <a:lnTo>
                  <a:pt x="115" y="0"/>
                </a:lnTo>
                <a:lnTo>
                  <a:pt x="128" y="0"/>
                </a:lnTo>
                <a:lnTo>
                  <a:pt x="255" y="0"/>
                </a:lnTo>
                <a:lnTo>
                  <a:pt x="255" y="128"/>
                </a:lnTo>
                <a:close/>
              </a:path>
            </a:pathLst>
          </a:custGeom>
          <a:solidFill>
            <a:srgbClr val="99D8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59" name="양쪽 모서리가 둥근 사각형 558"/>
          <p:cNvSpPr/>
          <p:nvPr/>
        </p:nvSpPr>
        <p:spPr bwMode="auto">
          <a:xfrm>
            <a:off x="4752966" y="7432671"/>
            <a:ext cx="443637" cy="503284"/>
          </a:xfrm>
          <a:prstGeom prst="round2SameRect">
            <a:avLst>
              <a:gd name="adj1" fmla="val 20612"/>
              <a:gd name="adj2" fmla="val 0"/>
            </a:avLst>
          </a:prstGeom>
          <a:noFill/>
          <a:ln w="3175">
            <a:noFill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1042988" eaLnBrk="0" latinLnBrk="0" hangingPunct="0">
              <a:lnSpc>
                <a:spcPct val="90000"/>
              </a:lnSpc>
              <a:spcBef>
                <a:spcPts val="0"/>
              </a:spcBef>
              <a:buClr>
                <a:srgbClr val="292929"/>
              </a:buClr>
              <a:buSzPct val="100000"/>
              <a:tabLst>
                <a:tab pos="5648325" algn="l"/>
              </a:tabLst>
              <a:defRPr/>
            </a:pPr>
            <a:r>
              <a:rPr kumimoji="0" lang="ko-KR" altLang="en-US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형상관리</a:t>
            </a:r>
            <a:br>
              <a:rPr kumimoji="0" lang="en-US" altLang="ko-KR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</a:br>
            <a:endParaRPr kumimoji="0" lang="ko-KR" altLang="en-US" sz="1000" b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560" name="모서리가 둥근 직사각형 559"/>
          <p:cNvSpPr/>
          <p:nvPr/>
        </p:nvSpPr>
        <p:spPr bwMode="auto">
          <a:xfrm flipH="1">
            <a:off x="5415631" y="7386036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61" name="모서리가 둥근 직사각형 560"/>
          <p:cNvSpPr/>
          <p:nvPr/>
        </p:nvSpPr>
        <p:spPr bwMode="auto">
          <a:xfrm flipH="1">
            <a:off x="5415631" y="7612899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62" name="모서리가 둥근 직사각형 561"/>
          <p:cNvSpPr/>
          <p:nvPr/>
        </p:nvSpPr>
        <p:spPr bwMode="auto">
          <a:xfrm flipH="1">
            <a:off x="5415631" y="7866493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63" name="모서리가 둥근 직사각형 562"/>
          <p:cNvSpPr/>
          <p:nvPr/>
        </p:nvSpPr>
        <p:spPr bwMode="auto">
          <a:xfrm flipH="1">
            <a:off x="5415631" y="8120087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4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64" name="모서리가 둥근 직사각형 563"/>
          <p:cNvSpPr/>
          <p:nvPr/>
        </p:nvSpPr>
        <p:spPr bwMode="auto">
          <a:xfrm flipH="1">
            <a:off x="5415631" y="8373681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65" name="Rectangle 549"/>
          <p:cNvSpPr>
            <a:spLocks noChangeArrowheads="1"/>
          </p:cNvSpPr>
          <p:nvPr/>
        </p:nvSpPr>
        <p:spPr bwMode="auto">
          <a:xfrm>
            <a:off x="5635973" y="7598402"/>
            <a:ext cx="1132928" cy="16927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1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요구사항 정제</a:t>
            </a:r>
          </a:p>
        </p:txBody>
      </p:sp>
      <p:sp>
        <p:nvSpPr>
          <p:cNvPr id="566" name="Rectangle 549"/>
          <p:cNvSpPr>
            <a:spLocks noChangeArrowheads="1"/>
          </p:cNvSpPr>
          <p:nvPr/>
        </p:nvSpPr>
        <p:spPr bwMode="auto">
          <a:xfrm>
            <a:off x="5648633" y="7856382"/>
            <a:ext cx="1156272" cy="16927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1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타당성 검토</a:t>
            </a:r>
          </a:p>
        </p:txBody>
      </p:sp>
      <p:sp>
        <p:nvSpPr>
          <p:cNvPr id="567" name="Rectangle 549"/>
          <p:cNvSpPr>
            <a:spLocks noChangeArrowheads="1"/>
          </p:cNvSpPr>
          <p:nvPr/>
        </p:nvSpPr>
        <p:spPr bwMode="auto">
          <a:xfrm>
            <a:off x="5636639" y="8115974"/>
            <a:ext cx="1240274" cy="15234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1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형상관리 위원회 의결</a:t>
            </a:r>
          </a:p>
        </p:txBody>
      </p:sp>
      <p:sp>
        <p:nvSpPr>
          <p:cNvPr id="568" name="Rectangle 549"/>
          <p:cNvSpPr>
            <a:spLocks noChangeArrowheads="1"/>
          </p:cNvSpPr>
          <p:nvPr/>
        </p:nvSpPr>
        <p:spPr bwMode="auto">
          <a:xfrm>
            <a:off x="5651441" y="8359538"/>
            <a:ext cx="1237865" cy="1692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형상 기준선 변경</a:t>
            </a:r>
            <a:endParaRPr kumimoji="0" lang="ko-KR" altLang="en-US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  <a:cs typeface="Arial" pitchFamily="34" charset="0"/>
            </a:endParaRPr>
          </a:p>
        </p:txBody>
      </p:sp>
      <p:sp>
        <p:nvSpPr>
          <p:cNvPr id="569" name="Rectangle 549"/>
          <p:cNvSpPr>
            <a:spLocks noChangeArrowheads="1"/>
          </p:cNvSpPr>
          <p:nvPr/>
        </p:nvSpPr>
        <p:spPr bwMode="auto">
          <a:xfrm>
            <a:off x="5635973" y="7391031"/>
            <a:ext cx="1132928" cy="14875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요구사항 수집</a:t>
            </a:r>
            <a:endParaRPr kumimoji="0" lang="ko-KR" altLang="en-US" sz="10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  <a:cs typeface="Arial" pitchFamily="34" charset="0"/>
            </a:endParaRPr>
          </a:p>
        </p:txBody>
      </p:sp>
      <p:sp>
        <p:nvSpPr>
          <p:cNvPr id="570" name="Freeform 238"/>
          <p:cNvSpPr>
            <a:spLocks/>
          </p:cNvSpPr>
          <p:nvPr/>
        </p:nvSpPr>
        <p:spPr bwMode="auto">
          <a:xfrm>
            <a:off x="4977384" y="7908911"/>
            <a:ext cx="45304" cy="45304"/>
          </a:xfrm>
          <a:custGeom>
            <a:avLst/>
            <a:gdLst>
              <a:gd name="T0" fmla="*/ 34 w 76"/>
              <a:gd name="T1" fmla="*/ 0 h 76"/>
              <a:gd name="T2" fmla="*/ 72 w 76"/>
              <a:gd name="T3" fmla="*/ 0 h 76"/>
              <a:gd name="T4" fmla="*/ 72 w 76"/>
              <a:gd name="T5" fmla="*/ 0 h 76"/>
              <a:gd name="T6" fmla="*/ 74 w 76"/>
              <a:gd name="T7" fmla="*/ 2 h 76"/>
              <a:gd name="T8" fmla="*/ 76 w 76"/>
              <a:gd name="T9" fmla="*/ 4 h 76"/>
              <a:gd name="T10" fmla="*/ 76 w 76"/>
              <a:gd name="T11" fmla="*/ 42 h 76"/>
              <a:gd name="T12" fmla="*/ 76 w 76"/>
              <a:gd name="T13" fmla="*/ 42 h 76"/>
              <a:gd name="T14" fmla="*/ 76 w 76"/>
              <a:gd name="T15" fmla="*/ 42 h 76"/>
              <a:gd name="T16" fmla="*/ 76 w 76"/>
              <a:gd name="T17" fmla="*/ 42 h 76"/>
              <a:gd name="T18" fmla="*/ 74 w 76"/>
              <a:gd name="T19" fmla="*/ 46 h 76"/>
              <a:gd name="T20" fmla="*/ 72 w 76"/>
              <a:gd name="T21" fmla="*/ 46 h 76"/>
              <a:gd name="T22" fmla="*/ 72 w 76"/>
              <a:gd name="T23" fmla="*/ 46 h 76"/>
              <a:gd name="T24" fmla="*/ 68 w 76"/>
              <a:gd name="T25" fmla="*/ 46 h 76"/>
              <a:gd name="T26" fmla="*/ 68 w 76"/>
              <a:gd name="T27" fmla="*/ 46 h 76"/>
              <a:gd name="T28" fmla="*/ 68 w 76"/>
              <a:gd name="T29" fmla="*/ 46 h 76"/>
              <a:gd name="T30" fmla="*/ 68 w 76"/>
              <a:gd name="T31" fmla="*/ 46 h 76"/>
              <a:gd name="T32" fmla="*/ 68 w 76"/>
              <a:gd name="T33" fmla="*/ 46 h 76"/>
              <a:gd name="T34" fmla="*/ 68 w 76"/>
              <a:gd name="T35" fmla="*/ 46 h 76"/>
              <a:gd name="T36" fmla="*/ 68 w 76"/>
              <a:gd name="T37" fmla="*/ 44 h 76"/>
              <a:gd name="T38" fmla="*/ 62 w 76"/>
              <a:gd name="T39" fmla="*/ 40 h 76"/>
              <a:gd name="T40" fmla="*/ 56 w 76"/>
              <a:gd name="T41" fmla="*/ 44 h 76"/>
              <a:gd name="T42" fmla="*/ 26 w 76"/>
              <a:gd name="T43" fmla="*/ 74 h 76"/>
              <a:gd name="T44" fmla="*/ 26 w 76"/>
              <a:gd name="T45" fmla="*/ 74 h 76"/>
              <a:gd name="T46" fmla="*/ 24 w 76"/>
              <a:gd name="T47" fmla="*/ 76 h 76"/>
              <a:gd name="T48" fmla="*/ 24 w 76"/>
              <a:gd name="T49" fmla="*/ 76 h 76"/>
              <a:gd name="T50" fmla="*/ 20 w 76"/>
              <a:gd name="T51" fmla="*/ 74 h 76"/>
              <a:gd name="T52" fmla="*/ 2 w 76"/>
              <a:gd name="T53" fmla="*/ 56 h 76"/>
              <a:gd name="T54" fmla="*/ 2 w 76"/>
              <a:gd name="T55" fmla="*/ 56 h 76"/>
              <a:gd name="T56" fmla="*/ 0 w 76"/>
              <a:gd name="T57" fmla="*/ 52 h 76"/>
              <a:gd name="T58" fmla="*/ 0 w 76"/>
              <a:gd name="T59" fmla="*/ 52 h 76"/>
              <a:gd name="T60" fmla="*/ 2 w 76"/>
              <a:gd name="T61" fmla="*/ 50 h 76"/>
              <a:gd name="T62" fmla="*/ 32 w 76"/>
              <a:gd name="T63" fmla="*/ 20 h 76"/>
              <a:gd name="T64" fmla="*/ 38 w 76"/>
              <a:gd name="T65" fmla="*/ 14 h 76"/>
              <a:gd name="T66" fmla="*/ 32 w 76"/>
              <a:gd name="T67" fmla="*/ 8 h 76"/>
              <a:gd name="T68" fmla="*/ 30 w 76"/>
              <a:gd name="T69" fmla="*/ 8 h 76"/>
              <a:gd name="T70" fmla="*/ 30 w 76"/>
              <a:gd name="T71" fmla="*/ 8 h 76"/>
              <a:gd name="T72" fmla="*/ 30 w 76"/>
              <a:gd name="T73" fmla="*/ 6 h 76"/>
              <a:gd name="T74" fmla="*/ 30 w 76"/>
              <a:gd name="T75" fmla="*/ 2 h 76"/>
              <a:gd name="T76" fmla="*/ 30 w 76"/>
              <a:gd name="T77" fmla="*/ 2 h 76"/>
              <a:gd name="T78" fmla="*/ 32 w 76"/>
              <a:gd name="T79" fmla="*/ 0 h 76"/>
              <a:gd name="T80" fmla="*/ 34 w 76"/>
              <a:gd name="T81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" h="76">
                <a:moveTo>
                  <a:pt x="34" y="0"/>
                </a:moveTo>
                <a:lnTo>
                  <a:pt x="72" y="0"/>
                </a:lnTo>
                <a:lnTo>
                  <a:pt x="72" y="0"/>
                </a:lnTo>
                <a:lnTo>
                  <a:pt x="74" y="2"/>
                </a:lnTo>
                <a:lnTo>
                  <a:pt x="76" y="4"/>
                </a:lnTo>
                <a:lnTo>
                  <a:pt x="76" y="42"/>
                </a:lnTo>
                <a:lnTo>
                  <a:pt x="76" y="42"/>
                </a:lnTo>
                <a:lnTo>
                  <a:pt x="76" y="42"/>
                </a:lnTo>
                <a:lnTo>
                  <a:pt x="76" y="42"/>
                </a:lnTo>
                <a:lnTo>
                  <a:pt x="74" y="46"/>
                </a:lnTo>
                <a:lnTo>
                  <a:pt x="72" y="46"/>
                </a:lnTo>
                <a:lnTo>
                  <a:pt x="72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4"/>
                </a:lnTo>
                <a:lnTo>
                  <a:pt x="62" y="40"/>
                </a:lnTo>
                <a:lnTo>
                  <a:pt x="56" y="44"/>
                </a:lnTo>
                <a:lnTo>
                  <a:pt x="26" y="74"/>
                </a:lnTo>
                <a:lnTo>
                  <a:pt x="26" y="74"/>
                </a:lnTo>
                <a:lnTo>
                  <a:pt x="24" y="76"/>
                </a:lnTo>
                <a:lnTo>
                  <a:pt x="24" y="76"/>
                </a:lnTo>
                <a:lnTo>
                  <a:pt x="20" y="74"/>
                </a:lnTo>
                <a:lnTo>
                  <a:pt x="2" y="56"/>
                </a:lnTo>
                <a:lnTo>
                  <a:pt x="2" y="56"/>
                </a:lnTo>
                <a:lnTo>
                  <a:pt x="0" y="52"/>
                </a:lnTo>
                <a:lnTo>
                  <a:pt x="0" y="52"/>
                </a:lnTo>
                <a:lnTo>
                  <a:pt x="2" y="50"/>
                </a:lnTo>
                <a:lnTo>
                  <a:pt x="32" y="20"/>
                </a:lnTo>
                <a:lnTo>
                  <a:pt x="38" y="14"/>
                </a:lnTo>
                <a:lnTo>
                  <a:pt x="32" y="8"/>
                </a:lnTo>
                <a:lnTo>
                  <a:pt x="30" y="8"/>
                </a:lnTo>
                <a:lnTo>
                  <a:pt x="30" y="8"/>
                </a:lnTo>
                <a:lnTo>
                  <a:pt x="30" y="6"/>
                </a:lnTo>
                <a:lnTo>
                  <a:pt x="30" y="2"/>
                </a:lnTo>
                <a:lnTo>
                  <a:pt x="30" y="2"/>
                </a:lnTo>
                <a:lnTo>
                  <a:pt x="32" y="0"/>
                </a:lnTo>
                <a:lnTo>
                  <a:pt x="3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1" name="Freeform 239"/>
          <p:cNvSpPr>
            <a:spLocks/>
          </p:cNvSpPr>
          <p:nvPr/>
        </p:nvSpPr>
        <p:spPr bwMode="auto">
          <a:xfrm>
            <a:off x="4977384" y="7908911"/>
            <a:ext cx="45304" cy="45304"/>
          </a:xfrm>
          <a:custGeom>
            <a:avLst/>
            <a:gdLst>
              <a:gd name="T0" fmla="*/ 34 w 76"/>
              <a:gd name="T1" fmla="*/ 0 h 76"/>
              <a:gd name="T2" fmla="*/ 72 w 76"/>
              <a:gd name="T3" fmla="*/ 0 h 76"/>
              <a:gd name="T4" fmla="*/ 72 w 76"/>
              <a:gd name="T5" fmla="*/ 0 h 76"/>
              <a:gd name="T6" fmla="*/ 74 w 76"/>
              <a:gd name="T7" fmla="*/ 2 h 76"/>
              <a:gd name="T8" fmla="*/ 76 w 76"/>
              <a:gd name="T9" fmla="*/ 4 h 76"/>
              <a:gd name="T10" fmla="*/ 76 w 76"/>
              <a:gd name="T11" fmla="*/ 42 h 76"/>
              <a:gd name="T12" fmla="*/ 76 w 76"/>
              <a:gd name="T13" fmla="*/ 42 h 76"/>
              <a:gd name="T14" fmla="*/ 76 w 76"/>
              <a:gd name="T15" fmla="*/ 42 h 76"/>
              <a:gd name="T16" fmla="*/ 76 w 76"/>
              <a:gd name="T17" fmla="*/ 42 h 76"/>
              <a:gd name="T18" fmla="*/ 74 w 76"/>
              <a:gd name="T19" fmla="*/ 46 h 76"/>
              <a:gd name="T20" fmla="*/ 72 w 76"/>
              <a:gd name="T21" fmla="*/ 46 h 76"/>
              <a:gd name="T22" fmla="*/ 72 w 76"/>
              <a:gd name="T23" fmla="*/ 46 h 76"/>
              <a:gd name="T24" fmla="*/ 68 w 76"/>
              <a:gd name="T25" fmla="*/ 46 h 76"/>
              <a:gd name="T26" fmla="*/ 68 w 76"/>
              <a:gd name="T27" fmla="*/ 46 h 76"/>
              <a:gd name="T28" fmla="*/ 68 w 76"/>
              <a:gd name="T29" fmla="*/ 46 h 76"/>
              <a:gd name="T30" fmla="*/ 68 w 76"/>
              <a:gd name="T31" fmla="*/ 46 h 76"/>
              <a:gd name="T32" fmla="*/ 68 w 76"/>
              <a:gd name="T33" fmla="*/ 46 h 76"/>
              <a:gd name="T34" fmla="*/ 68 w 76"/>
              <a:gd name="T35" fmla="*/ 46 h 76"/>
              <a:gd name="T36" fmla="*/ 68 w 76"/>
              <a:gd name="T37" fmla="*/ 44 h 76"/>
              <a:gd name="T38" fmla="*/ 62 w 76"/>
              <a:gd name="T39" fmla="*/ 40 h 76"/>
              <a:gd name="T40" fmla="*/ 56 w 76"/>
              <a:gd name="T41" fmla="*/ 44 h 76"/>
              <a:gd name="T42" fmla="*/ 26 w 76"/>
              <a:gd name="T43" fmla="*/ 74 h 76"/>
              <a:gd name="T44" fmla="*/ 26 w 76"/>
              <a:gd name="T45" fmla="*/ 74 h 76"/>
              <a:gd name="T46" fmla="*/ 24 w 76"/>
              <a:gd name="T47" fmla="*/ 76 h 76"/>
              <a:gd name="T48" fmla="*/ 24 w 76"/>
              <a:gd name="T49" fmla="*/ 76 h 76"/>
              <a:gd name="T50" fmla="*/ 20 w 76"/>
              <a:gd name="T51" fmla="*/ 74 h 76"/>
              <a:gd name="T52" fmla="*/ 2 w 76"/>
              <a:gd name="T53" fmla="*/ 56 h 76"/>
              <a:gd name="T54" fmla="*/ 2 w 76"/>
              <a:gd name="T55" fmla="*/ 56 h 76"/>
              <a:gd name="T56" fmla="*/ 0 w 76"/>
              <a:gd name="T57" fmla="*/ 52 h 76"/>
              <a:gd name="T58" fmla="*/ 0 w 76"/>
              <a:gd name="T59" fmla="*/ 52 h 76"/>
              <a:gd name="T60" fmla="*/ 2 w 76"/>
              <a:gd name="T61" fmla="*/ 50 h 76"/>
              <a:gd name="T62" fmla="*/ 32 w 76"/>
              <a:gd name="T63" fmla="*/ 20 h 76"/>
              <a:gd name="T64" fmla="*/ 38 w 76"/>
              <a:gd name="T65" fmla="*/ 14 h 76"/>
              <a:gd name="T66" fmla="*/ 32 w 76"/>
              <a:gd name="T67" fmla="*/ 8 h 76"/>
              <a:gd name="T68" fmla="*/ 30 w 76"/>
              <a:gd name="T69" fmla="*/ 8 h 76"/>
              <a:gd name="T70" fmla="*/ 30 w 76"/>
              <a:gd name="T71" fmla="*/ 8 h 76"/>
              <a:gd name="T72" fmla="*/ 30 w 76"/>
              <a:gd name="T73" fmla="*/ 6 h 76"/>
              <a:gd name="T74" fmla="*/ 30 w 76"/>
              <a:gd name="T75" fmla="*/ 2 h 76"/>
              <a:gd name="T76" fmla="*/ 30 w 76"/>
              <a:gd name="T77" fmla="*/ 2 h 76"/>
              <a:gd name="T78" fmla="*/ 32 w 76"/>
              <a:gd name="T79" fmla="*/ 0 h 76"/>
              <a:gd name="T80" fmla="*/ 34 w 76"/>
              <a:gd name="T81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" h="76">
                <a:moveTo>
                  <a:pt x="34" y="0"/>
                </a:moveTo>
                <a:lnTo>
                  <a:pt x="72" y="0"/>
                </a:lnTo>
                <a:lnTo>
                  <a:pt x="72" y="0"/>
                </a:lnTo>
                <a:lnTo>
                  <a:pt x="74" y="2"/>
                </a:lnTo>
                <a:lnTo>
                  <a:pt x="76" y="4"/>
                </a:lnTo>
                <a:lnTo>
                  <a:pt x="76" y="42"/>
                </a:lnTo>
                <a:lnTo>
                  <a:pt x="76" y="42"/>
                </a:lnTo>
                <a:lnTo>
                  <a:pt x="76" y="42"/>
                </a:lnTo>
                <a:lnTo>
                  <a:pt x="76" y="42"/>
                </a:lnTo>
                <a:lnTo>
                  <a:pt x="74" y="46"/>
                </a:lnTo>
                <a:lnTo>
                  <a:pt x="72" y="46"/>
                </a:lnTo>
                <a:lnTo>
                  <a:pt x="72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4"/>
                </a:lnTo>
                <a:lnTo>
                  <a:pt x="62" y="40"/>
                </a:lnTo>
                <a:lnTo>
                  <a:pt x="56" y="44"/>
                </a:lnTo>
                <a:lnTo>
                  <a:pt x="26" y="74"/>
                </a:lnTo>
                <a:lnTo>
                  <a:pt x="26" y="74"/>
                </a:lnTo>
                <a:lnTo>
                  <a:pt x="24" y="76"/>
                </a:lnTo>
                <a:lnTo>
                  <a:pt x="24" y="76"/>
                </a:lnTo>
                <a:lnTo>
                  <a:pt x="20" y="74"/>
                </a:lnTo>
                <a:lnTo>
                  <a:pt x="2" y="56"/>
                </a:lnTo>
                <a:lnTo>
                  <a:pt x="2" y="56"/>
                </a:lnTo>
                <a:lnTo>
                  <a:pt x="0" y="52"/>
                </a:lnTo>
                <a:lnTo>
                  <a:pt x="0" y="52"/>
                </a:lnTo>
                <a:lnTo>
                  <a:pt x="2" y="50"/>
                </a:lnTo>
                <a:lnTo>
                  <a:pt x="32" y="20"/>
                </a:lnTo>
                <a:lnTo>
                  <a:pt x="38" y="14"/>
                </a:lnTo>
                <a:lnTo>
                  <a:pt x="32" y="8"/>
                </a:lnTo>
                <a:lnTo>
                  <a:pt x="30" y="8"/>
                </a:lnTo>
                <a:lnTo>
                  <a:pt x="30" y="8"/>
                </a:lnTo>
                <a:lnTo>
                  <a:pt x="30" y="6"/>
                </a:lnTo>
                <a:lnTo>
                  <a:pt x="30" y="2"/>
                </a:lnTo>
                <a:lnTo>
                  <a:pt x="30" y="2"/>
                </a:lnTo>
                <a:lnTo>
                  <a:pt x="32" y="0"/>
                </a:lnTo>
                <a:lnTo>
                  <a:pt x="34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2" name="Freeform 240"/>
          <p:cNvSpPr>
            <a:spLocks/>
          </p:cNvSpPr>
          <p:nvPr/>
        </p:nvSpPr>
        <p:spPr bwMode="auto">
          <a:xfrm>
            <a:off x="4899890" y="7986405"/>
            <a:ext cx="45304" cy="45304"/>
          </a:xfrm>
          <a:custGeom>
            <a:avLst/>
            <a:gdLst>
              <a:gd name="T0" fmla="*/ 52 w 76"/>
              <a:gd name="T1" fmla="*/ 0 h 76"/>
              <a:gd name="T2" fmla="*/ 52 w 76"/>
              <a:gd name="T3" fmla="*/ 0 h 76"/>
              <a:gd name="T4" fmla="*/ 56 w 76"/>
              <a:gd name="T5" fmla="*/ 2 h 76"/>
              <a:gd name="T6" fmla="*/ 74 w 76"/>
              <a:gd name="T7" fmla="*/ 20 h 76"/>
              <a:gd name="T8" fmla="*/ 74 w 76"/>
              <a:gd name="T9" fmla="*/ 20 h 76"/>
              <a:gd name="T10" fmla="*/ 76 w 76"/>
              <a:gd name="T11" fmla="*/ 24 h 76"/>
              <a:gd name="T12" fmla="*/ 76 w 76"/>
              <a:gd name="T13" fmla="*/ 24 h 76"/>
              <a:gd name="T14" fmla="*/ 74 w 76"/>
              <a:gd name="T15" fmla="*/ 28 h 76"/>
              <a:gd name="T16" fmla="*/ 44 w 76"/>
              <a:gd name="T17" fmla="*/ 56 h 76"/>
              <a:gd name="T18" fmla="*/ 38 w 76"/>
              <a:gd name="T19" fmla="*/ 62 h 76"/>
              <a:gd name="T20" fmla="*/ 44 w 76"/>
              <a:gd name="T21" fmla="*/ 68 h 76"/>
              <a:gd name="T22" fmla="*/ 44 w 76"/>
              <a:gd name="T23" fmla="*/ 68 h 76"/>
              <a:gd name="T24" fmla="*/ 44 w 76"/>
              <a:gd name="T25" fmla="*/ 68 h 76"/>
              <a:gd name="T26" fmla="*/ 46 w 76"/>
              <a:gd name="T27" fmla="*/ 70 h 76"/>
              <a:gd name="T28" fmla="*/ 46 w 76"/>
              <a:gd name="T29" fmla="*/ 74 h 76"/>
              <a:gd name="T30" fmla="*/ 46 w 76"/>
              <a:gd name="T31" fmla="*/ 74 h 76"/>
              <a:gd name="T32" fmla="*/ 44 w 76"/>
              <a:gd name="T33" fmla="*/ 76 h 76"/>
              <a:gd name="T34" fmla="*/ 42 w 76"/>
              <a:gd name="T35" fmla="*/ 76 h 76"/>
              <a:gd name="T36" fmla="*/ 4 w 76"/>
              <a:gd name="T37" fmla="*/ 76 h 76"/>
              <a:gd name="T38" fmla="*/ 4 w 76"/>
              <a:gd name="T39" fmla="*/ 76 h 76"/>
              <a:gd name="T40" fmla="*/ 2 w 76"/>
              <a:gd name="T41" fmla="*/ 76 h 76"/>
              <a:gd name="T42" fmla="*/ 0 w 76"/>
              <a:gd name="T43" fmla="*/ 72 h 76"/>
              <a:gd name="T44" fmla="*/ 0 w 76"/>
              <a:gd name="T45" fmla="*/ 34 h 76"/>
              <a:gd name="T46" fmla="*/ 0 w 76"/>
              <a:gd name="T47" fmla="*/ 34 h 76"/>
              <a:gd name="T48" fmla="*/ 0 w 76"/>
              <a:gd name="T49" fmla="*/ 34 h 76"/>
              <a:gd name="T50" fmla="*/ 0 w 76"/>
              <a:gd name="T51" fmla="*/ 34 h 76"/>
              <a:gd name="T52" fmla="*/ 2 w 76"/>
              <a:gd name="T53" fmla="*/ 32 h 76"/>
              <a:gd name="T54" fmla="*/ 4 w 76"/>
              <a:gd name="T55" fmla="*/ 30 h 76"/>
              <a:gd name="T56" fmla="*/ 4 w 76"/>
              <a:gd name="T57" fmla="*/ 30 h 76"/>
              <a:gd name="T58" fmla="*/ 8 w 76"/>
              <a:gd name="T59" fmla="*/ 30 h 76"/>
              <a:gd name="T60" fmla="*/ 8 w 76"/>
              <a:gd name="T61" fmla="*/ 30 h 76"/>
              <a:gd name="T62" fmla="*/ 8 w 76"/>
              <a:gd name="T63" fmla="*/ 30 h 76"/>
              <a:gd name="T64" fmla="*/ 8 w 76"/>
              <a:gd name="T65" fmla="*/ 30 h 76"/>
              <a:gd name="T66" fmla="*/ 8 w 76"/>
              <a:gd name="T67" fmla="*/ 32 h 76"/>
              <a:gd name="T68" fmla="*/ 8 w 76"/>
              <a:gd name="T69" fmla="*/ 32 h 76"/>
              <a:gd name="T70" fmla="*/ 8 w 76"/>
              <a:gd name="T71" fmla="*/ 32 h 76"/>
              <a:gd name="T72" fmla="*/ 14 w 76"/>
              <a:gd name="T73" fmla="*/ 38 h 76"/>
              <a:gd name="T74" fmla="*/ 20 w 76"/>
              <a:gd name="T75" fmla="*/ 32 h 76"/>
              <a:gd name="T76" fmla="*/ 48 w 76"/>
              <a:gd name="T77" fmla="*/ 2 h 76"/>
              <a:gd name="T78" fmla="*/ 48 w 76"/>
              <a:gd name="T79" fmla="*/ 2 h 76"/>
              <a:gd name="T80" fmla="*/ 52 w 76"/>
              <a:gd name="T81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" h="76">
                <a:moveTo>
                  <a:pt x="52" y="0"/>
                </a:moveTo>
                <a:lnTo>
                  <a:pt x="52" y="0"/>
                </a:lnTo>
                <a:lnTo>
                  <a:pt x="56" y="2"/>
                </a:lnTo>
                <a:lnTo>
                  <a:pt x="74" y="20"/>
                </a:lnTo>
                <a:lnTo>
                  <a:pt x="74" y="20"/>
                </a:lnTo>
                <a:lnTo>
                  <a:pt x="76" y="24"/>
                </a:lnTo>
                <a:lnTo>
                  <a:pt x="76" y="24"/>
                </a:lnTo>
                <a:lnTo>
                  <a:pt x="74" y="28"/>
                </a:lnTo>
                <a:lnTo>
                  <a:pt x="44" y="56"/>
                </a:lnTo>
                <a:lnTo>
                  <a:pt x="38" y="62"/>
                </a:lnTo>
                <a:lnTo>
                  <a:pt x="44" y="68"/>
                </a:lnTo>
                <a:lnTo>
                  <a:pt x="44" y="68"/>
                </a:lnTo>
                <a:lnTo>
                  <a:pt x="44" y="68"/>
                </a:lnTo>
                <a:lnTo>
                  <a:pt x="46" y="70"/>
                </a:lnTo>
                <a:lnTo>
                  <a:pt x="46" y="74"/>
                </a:lnTo>
                <a:lnTo>
                  <a:pt x="46" y="74"/>
                </a:lnTo>
                <a:lnTo>
                  <a:pt x="44" y="76"/>
                </a:lnTo>
                <a:lnTo>
                  <a:pt x="42" y="76"/>
                </a:lnTo>
                <a:lnTo>
                  <a:pt x="4" y="76"/>
                </a:lnTo>
                <a:lnTo>
                  <a:pt x="4" y="76"/>
                </a:lnTo>
                <a:lnTo>
                  <a:pt x="2" y="76"/>
                </a:lnTo>
                <a:lnTo>
                  <a:pt x="0" y="72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2" y="32"/>
                </a:lnTo>
                <a:lnTo>
                  <a:pt x="4" y="30"/>
                </a:lnTo>
                <a:lnTo>
                  <a:pt x="4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14" y="38"/>
                </a:lnTo>
                <a:lnTo>
                  <a:pt x="20" y="32"/>
                </a:lnTo>
                <a:lnTo>
                  <a:pt x="48" y="2"/>
                </a:lnTo>
                <a:lnTo>
                  <a:pt x="48" y="2"/>
                </a:lnTo>
                <a:lnTo>
                  <a:pt x="5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3" name="Freeform 241"/>
          <p:cNvSpPr>
            <a:spLocks/>
          </p:cNvSpPr>
          <p:nvPr/>
        </p:nvSpPr>
        <p:spPr bwMode="auto">
          <a:xfrm>
            <a:off x="4899890" y="7986405"/>
            <a:ext cx="45304" cy="45304"/>
          </a:xfrm>
          <a:custGeom>
            <a:avLst/>
            <a:gdLst>
              <a:gd name="T0" fmla="*/ 52 w 76"/>
              <a:gd name="T1" fmla="*/ 0 h 76"/>
              <a:gd name="T2" fmla="*/ 52 w 76"/>
              <a:gd name="T3" fmla="*/ 0 h 76"/>
              <a:gd name="T4" fmla="*/ 56 w 76"/>
              <a:gd name="T5" fmla="*/ 2 h 76"/>
              <a:gd name="T6" fmla="*/ 74 w 76"/>
              <a:gd name="T7" fmla="*/ 20 h 76"/>
              <a:gd name="T8" fmla="*/ 74 w 76"/>
              <a:gd name="T9" fmla="*/ 20 h 76"/>
              <a:gd name="T10" fmla="*/ 76 w 76"/>
              <a:gd name="T11" fmla="*/ 24 h 76"/>
              <a:gd name="T12" fmla="*/ 76 w 76"/>
              <a:gd name="T13" fmla="*/ 24 h 76"/>
              <a:gd name="T14" fmla="*/ 74 w 76"/>
              <a:gd name="T15" fmla="*/ 28 h 76"/>
              <a:gd name="T16" fmla="*/ 44 w 76"/>
              <a:gd name="T17" fmla="*/ 56 h 76"/>
              <a:gd name="T18" fmla="*/ 38 w 76"/>
              <a:gd name="T19" fmla="*/ 62 h 76"/>
              <a:gd name="T20" fmla="*/ 44 w 76"/>
              <a:gd name="T21" fmla="*/ 68 h 76"/>
              <a:gd name="T22" fmla="*/ 44 w 76"/>
              <a:gd name="T23" fmla="*/ 68 h 76"/>
              <a:gd name="T24" fmla="*/ 44 w 76"/>
              <a:gd name="T25" fmla="*/ 68 h 76"/>
              <a:gd name="T26" fmla="*/ 46 w 76"/>
              <a:gd name="T27" fmla="*/ 70 h 76"/>
              <a:gd name="T28" fmla="*/ 46 w 76"/>
              <a:gd name="T29" fmla="*/ 74 h 76"/>
              <a:gd name="T30" fmla="*/ 46 w 76"/>
              <a:gd name="T31" fmla="*/ 74 h 76"/>
              <a:gd name="T32" fmla="*/ 44 w 76"/>
              <a:gd name="T33" fmla="*/ 76 h 76"/>
              <a:gd name="T34" fmla="*/ 42 w 76"/>
              <a:gd name="T35" fmla="*/ 76 h 76"/>
              <a:gd name="T36" fmla="*/ 4 w 76"/>
              <a:gd name="T37" fmla="*/ 76 h 76"/>
              <a:gd name="T38" fmla="*/ 4 w 76"/>
              <a:gd name="T39" fmla="*/ 76 h 76"/>
              <a:gd name="T40" fmla="*/ 2 w 76"/>
              <a:gd name="T41" fmla="*/ 76 h 76"/>
              <a:gd name="T42" fmla="*/ 0 w 76"/>
              <a:gd name="T43" fmla="*/ 72 h 76"/>
              <a:gd name="T44" fmla="*/ 0 w 76"/>
              <a:gd name="T45" fmla="*/ 34 h 76"/>
              <a:gd name="T46" fmla="*/ 0 w 76"/>
              <a:gd name="T47" fmla="*/ 34 h 76"/>
              <a:gd name="T48" fmla="*/ 0 w 76"/>
              <a:gd name="T49" fmla="*/ 34 h 76"/>
              <a:gd name="T50" fmla="*/ 0 w 76"/>
              <a:gd name="T51" fmla="*/ 34 h 76"/>
              <a:gd name="T52" fmla="*/ 2 w 76"/>
              <a:gd name="T53" fmla="*/ 32 h 76"/>
              <a:gd name="T54" fmla="*/ 4 w 76"/>
              <a:gd name="T55" fmla="*/ 30 h 76"/>
              <a:gd name="T56" fmla="*/ 4 w 76"/>
              <a:gd name="T57" fmla="*/ 30 h 76"/>
              <a:gd name="T58" fmla="*/ 8 w 76"/>
              <a:gd name="T59" fmla="*/ 30 h 76"/>
              <a:gd name="T60" fmla="*/ 8 w 76"/>
              <a:gd name="T61" fmla="*/ 30 h 76"/>
              <a:gd name="T62" fmla="*/ 8 w 76"/>
              <a:gd name="T63" fmla="*/ 30 h 76"/>
              <a:gd name="T64" fmla="*/ 8 w 76"/>
              <a:gd name="T65" fmla="*/ 30 h 76"/>
              <a:gd name="T66" fmla="*/ 8 w 76"/>
              <a:gd name="T67" fmla="*/ 32 h 76"/>
              <a:gd name="T68" fmla="*/ 8 w 76"/>
              <a:gd name="T69" fmla="*/ 32 h 76"/>
              <a:gd name="T70" fmla="*/ 8 w 76"/>
              <a:gd name="T71" fmla="*/ 32 h 76"/>
              <a:gd name="T72" fmla="*/ 14 w 76"/>
              <a:gd name="T73" fmla="*/ 38 h 76"/>
              <a:gd name="T74" fmla="*/ 20 w 76"/>
              <a:gd name="T75" fmla="*/ 32 h 76"/>
              <a:gd name="T76" fmla="*/ 48 w 76"/>
              <a:gd name="T77" fmla="*/ 2 h 76"/>
              <a:gd name="T78" fmla="*/ 48 w 76"/>
              <a:gd name="T79" fmla="*/ 2 h 76"/>
              <a:gd name="T80" fmla="*/ 52 w 76"/>
              <a:gd name="T81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" h="76">
                <a:moveTo>
                  <a:pt x="52" y="0"/>
                </a:moveTo>
                <a:lnTo>
                  <a:pt x="52" y="0"/>
                </a:lnTo>
                <a:lnTo>
                  <a:pt x="56" y="2"/>
                </a:lnTo>
                <a:lnTo>
                  <a:pt x="74" y="20"/>
                </a:lnTo>
                <a:lnTo>
                  <a:pt x="74" y="20"/>
                </a:lnTo>
                <a:lnTo>
                  <a:pt x="76" y="24"/>
                </a:lnTo>
                <a:lnTo>
                  <a:pt x="76" y="24"/>
                </a:lnTo>
                <a:lnTo>
                  <a:pt x="74" y="28"/>
                </a:lnTo>
                <a:lnTo>
                  <a:pt x="44" y="56"/>
                </a:lnTo>
                <a:lnTo>
                  <a:pt x="38" y="62"/>
                </a:lnTo>
                <a:lnTo>
                  <a:pt x="44" y="68"/>
                </a:lnTo>
                <a:lnTo>
                  <a:pt x="44" y="68"/>
                </a:lnTo>
                <a:lnTo>
                  <a:pt x="44" y="68"/>
                </a:lnTo>
                <a:lnTo>
                  <a:pt x="46" y="70"/>
                </a:lnTo>
                <a:lnTo>
                  <a:pt x="46" y="74"/>
                </a:lnTo>
                <a:lnTo>
                  <a:pt x="46" y="74"/>
                </a:lnTo>
                <a:lnTo>
                  <a:pt x="44" y="76"/>
                </a:lnTo>
                <a:lnTo>
                  <a:pt x="42" y="76"/>
                </a:lnTo>
                <a:lnTo>
                  <a:pt x="4" y="76"/>
                </a:lnTo>
                <a:lnTo>
                  <a:pt x="4" y="76"/>
                </a:lnTo>
                <a:lnTo>
                  <a:pt x="2" y="76"/>
                </a:lnTo>
                <a:lnTo>
                  <a:pt x="0" y="72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2" y="32"/>
                </a:lnTo>
                <a:lnTo>
                  <a:pt x="4" y="30"/>
                </a:lnTo>
                <a:lnTo>
                  <a:pt x="4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14" y="38"/>
                </a:lnTo>
                <a:lnTo>
                  <a:pt x="20" y="32"/>
                </a:lnTo>
                <a:lnTo>
                  <a:pt x="48" y="2"/>
                </a:lnTo>
                <a:lnTo>
                  <a:pt x="48" y="2"/>
                </a:lnTo>
                <a:lnTo>
                  <a:pt x="52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4" name="Freeform 242"/>
          <p:cNvSpPr>
            <a:spLocks/>
          </p:cNvSpPr>
          <p:nvPr/>
        </p:nvSpPr>
        <p:spPr bwMode="auto">
          <a:xfrm>
            <a:off x="4899890" y="7908911"/>
            <a:ext cx="45304" cy="45304"/>
          </a:xfrm>
          <a:custGeom>
            <a:avLst/>
            <a:gdLst>
              <a:gd name="T0" fmla="*/ 42 w 76"/>
              <a:gd name="T1" fmla="*/ 0 h 76"/>
              <a:gd name="T2" fmla="*/ 42 w 76"/>
              <a:gd name="T3" fmla="*/ 0 h 76"/>
              <a:gd name="T4" fmla="*/ 44 w 76"/>
              <a:gd name="T5" fmla="*/ 0 h 76"/>
              <a:gd name="T6" fmla="*/ 46 w 76"/>
              <a:gd name="T7" fmla="*/ 2 h 76"/>
              <a:gd name="T8" fmla="*/ 46 w 76"/>
              <a:gd name="T9" fmla="*/ 2 h 76"/>
              <a:gd name="T10" fmla="*/ 46 w 76"/>
              <a:gd name="T11" fmla="*/ 6 h 76"/>
              <a:gd name="T12" fmla="*/ 44 w 76"/>
              <a:gd name="T13" fmla="*/ 8 h 76"/>
              <a:gd name="T14" fmla="*/ 44 w 76"/>
              <a:gd name="T15" fmla="*/ 8 h 76"/>
              <a:gd name="T16" fmla="*/ 38 w 76"/>
              <a:gd name="T17" fmla="*/ 14 h 76"/>
              <a:gd name="T18" fmla="*/ 44 w 76"/>
              <a:gd name="T19" fmla="*/ 20 h 76"/>
              <a:gd name="T20" fmla="*/ 74 w 76"/>
              <a:gd name="T21" fmla="*/ 50 h 76"/>
              <a:gd name="T22" fmla="*/ 74 w 76"/>
              <a:gd name="T23" fmla="*/ 50 h 76"/>
              <a:gd name="T24" fmla="*/ 76 w 76"/>
              <a:gd name="T25" fmla="*/ 52 h 76"/>
              <a:gd name="T26" fmla="*/ 76 w 76"/>
              <a:gd name="T27" fmla="*/ 52 h 76"/>
              <a:gd name="T28" fmla="*/ 74 w 76"/>
              <a:gd name="T29" fmla="*/ 56 h 76"/>
              <a:gd name="T30" fmla="*/ 56 w 76"/>
              <a:gd name="T31" fmla="*/ 74 h 76"/>
              <a:gd name="T32" fmla="*/ 56 w 76"/>
              <a:gd name="T33" fmla="*/ 74 h 76"/>
              <a:gd name="T34" fmla="*/ 52 w 76"/>
              <a:gd name="T35" fmla="*/ 76 h 76"/>
              <a:gd name="T36" fmla="*/ 52 w 76"/>
              <a:gd name="T37" fmla="*/ 76 h 76"/>
              <a:gd name="T38" fmla="*/ 48 w 76"/>
              <a:gd name="T39" fmla="*/ 74 h 76"/>
              <a:gd name="T40" fmla="*/ 20 w 76"/>
              <a:gd name="T41" fmla="*/ 44 h 76"/>
              <a:gd name="T42" fmla="*/ 14 w 76"/>
              <a:gd name="T43" fmla="*/ 40 h 76"/>
              <a:gd name="T44" fmla="*/ 8 w 76"/>
              <a:gd name="T45" fmla="*/ 44 h 76"/>
              <a:gd name="T46" fmla="*/ 8 w 76"/>
              <a:gd name="T47" fmla="*/ 46 h 76"/>
              <a:gd name="T48" fmla="*/ 8 w 76"/>
              <a:gd name="T49" fmla="*/ 46 h 76"/>
              <a:gd name="T50" fmla="*/ 8 w 76"/>
              <a:gd name="T51" fmla="*/ 46 h 76"/>
              <a:gd name="T52" fmla="*/ 8 w 76"/>
              <a:gd name="T53" fmla="*/ 46 h 76"/>
              <a:gd name="T54" fmla="*/ 8 w 76"/>
              <a:gd name="T55" fmla="*/ 46 h 76"/>
              <a:gd name="T56" fmla="*/ 4 w 76"/>
              <a:gd name="T57" fmla="*/ 46 h 76"/>
              <a:gd name="T58" fmla="*/ 4 w 76"/>
              <a:gd name="T59" fmla="*/ 46 h 76"/>
              <a:gd name="T60" fmla="*/ 2 w 76"/>
              <a:gd name="T61" fmla="*/ 46 h 76"/>
              <a:gd name="T62" fmla="*/ 0 w 76"/>
              <a:gd name="T63" fmla="*/ 42 h 76"/>
              <a:gd name="T64" fmla="*/ 0 w 76"/>
              <a:gd name="T65" fmla="*/ 42 h 76"/>
              <a:gd name="T66" fmla="*/ 0 w 76"/>
              <a:gd name="T67" fmla="*/ 4 h 76"/>
              <a:gd name="T68" fmla="*/ 0 w 76"/>
              <a:gd name="T69" fmla="*/ 4 h 76"/>
              <a:gd name="T70" fmla="*/ 2 w 76"/>
              <a:gd name="T71" fmla="*/ 2 h 76"/>
              <a:gd name="T72" fmla="*/ 4 w 76"/>
              <a:gd name="T73" fmla="*/ 0 h 76"/>
              <a:gd name="T74" fmla="*/ 42 w 76"/>
              <a:gd name="T75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6" h="76">
                <a:moveTo>
                  <a:pt x="42" y="0"/>
                </a:moveTo>
                <a:lnTo>
                  <a:pt x="42" y="0"/>
                </a:lnTo>
                <a:lnTo>
                  <a:pt x="44" y="0"/>
                </a:lnTo>
                <a:lnTo>
                  <a:pt x="46" y="2"/>
                </a:lnTo>
                <a:lnTo>
                  <a:pt x="46" y="2"/>
                </a:lnTo>
                <a:lnTo>
                  <a:pt x="46" y="6"/>
                </a:lnTo>
                <a:lnTo>
                  <a:pt x="44" y="8"/>
                </a:lnTo>
                <a:lnTo>
                  <a:pt x="44" y="8"/>
                </a:lnTo>
                <a:lnTo>
                  <a:pt x="38" y="14"/>
                </a:lnTo>
                <a:lnTo>
                  <a:pt x="44" y="20"/>
                </a:lnTo>
                <a:lnTo>
                  <a:pt x="74" y="50"/>
                </a:lnTo>
                <a:lnTo>
                  <a:pt x="74" y="50"/>
                </a:lnTo>
                <a:lnTo>
                  <a:pt x="76" y="52"/>
                </a:lnTo>
                <a:lnTo>
                  <a:pt x="76" y="52"/>
                </a:lnTo>
                <a:lnTo>
                  <a:pt x="74" y="56"/>
                </a:lnTo>
                <a:lnTo>
                  <a:pt x="56" y="74"/>
                </a:lnTo>
                <a:lnTo>
                  <a:pt x="56" y="74"/>
                </a:lnTo>
                <a:lnTo>
                  <a:pt x="52" y="76"/>
                </a:lnTo>
                <a:lnTo>
                  <a:pt x="52" y="76"/>
                </a:lnTo>
                <a:lnTo>
                  <a:pt x="48" y="74"/>
                </a:lnTo>
                <a:lnTo>
                  <a:pt x="20" y="44"/>
                </a:lnTo>
                <a:lnTo>
                  <a:pt x="14" y="40"/>
                </a:lnTo>
                <a:lnTo>
                  <a:pt x="8" y="44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0" y="42"/>
                </a:lnTo>
                <a:lnTo>
                  <a:pt x="0" y="42"/>
                </a:lnTo>
                <a:lnTo>
                  <a:pt x="0" y="4"/>
                </a:lnTo>
                <a:lnTo>
                  <a:pt x="0" y="4"/>
                </a:lnTo>
                <a:lnTo>
                  <a:pt x="2" y="2"/>
                </a:lnTo>
                <a:lnTo>
                  <a:pt x="4" y="0"/>
                </a:lnTo>
                <a:lnTo>
                  <a:pt x="4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5" name="Freeform 243"/>
          <p:cNvSpPr>
            <a:spLocks/>
          </p:cNvSpPr>
          <p:nvPr/>
        </p:nvSpPr>
        <p:spPr bwMode="auto">
          <a:xfrm>
            <a:off x="4899890" y="7908911"/>
            <a:ext cx="45304" cy="45304"/>
          </a:xfrm>
          <a:custGeom>
            <a:avLst/>
            <a:gdLst>
              <a:gd name="T0" fmla="*/ 42 w 76"/>
              <a:gd name="T1" fmla="*/ 0 h 76"/>
              <a:gd name="T2" fmla="*/ 42 w 76"/>
              <a:gd name="T3" fmla="*/ 0 h 76"/>
              <a:gd name="T4" fmla="*/ 44 w 76"/>
              <a:gd name="T5" fmla="*/ 0 h 76"/>
              <a:gd name="T6" fmla="*/ 46 w 76"/>
              <a:gd name="T7" fmla="*/ 2 h 76"/>
              <a:gd name="T8" fmla="*/ 46 w 76"/>
              <a:gd name="T9" fmla="*/ 2 h 76"/>
              <a:gd name="T10" fmla="*/ 46 w 76"/>
              <a:gd name="T11" fmla="*/ 6 h 76"/>
              <a:gd name="T12" fmla="*/ 44 w 76"/>
              <a:gd name="T13" fmla="*/ 8 h 76"/>
              <a:gd name="T14" fmla="*/ 44 w 76"/>
              <a:gd name="T15" fmla="*/ 8 h 76"/>
              <a:gd name="T16" fmla="*/ 38 w 76"/>
              <a:gd name="T17" fmla="*/ 14 h 76"/>
              <a:gd name="T18" fmla="*/ 44 w 76"/>
              <a:gd name="T19" fmla="*/ 20 h 76"/>
              <a:gd name="T20" fmla="*/ 74 w 76"/>
              <a:gd name="T21" fmla="*/ 50 h 76"/>
              <a:gd name="T22" fmla="*/ 74 w 76"/>
              <a:gd name="T23" fmla="*/ 50 h 76"/>
              <a:gd name="T24" fmla="*/ 76 w 76"/>
              <a:gd name="T25" fmla="*/ 52 h 76"/>
              <a:gd name="T26" fmla="*/ 76 w 76"/>
              <a:gd name="T27" fmla="*/ 52 h 76"/>
              <a:gd name="T28" fmla="*/ 74 w 76"/>
              <a:gd name="T29" fmla="*/ 56 h 76"/>
              <a:gd name="T30" fmla="*/ 56 w 76"/>
              <a:gd name="T31" fmla="*/ 74 h 76"/>
              <a:gd name="T32" fmla="*/ 56 w 76"/>
              <a:gd name="T33" fmla="*/ 74 h 76"/>
              <a:gd name="T34" fmla="*/ 52 w 76"/>
              <a:gd name="T35" fmla="*/ 76 h 76"/>
              <a:gd name="T36" fmla="*/ 52 w 76"/>
              <a:gd name="T37" fmla="*/ 76 h 76"/>
              <a:gd name="T38" fmla="*/ 48 w 76"/>
              <a:gd name="T39" fmla="*/ 74 h 76"/>
              <a:gd name="T40" fmla="*/ 20 w 76"/>
              <a:gd name="T41" fmla="*/ 44 h 76"/>
              <a:gd name="T42" fmla="*/ 14 w 76"/>
              <a:gd name="T43" fmla="*/ 40 h 76"/>
              <a:gd name="T44" fmla="*/ 8 w 76"/>
              <a:gd name="T45" fmla="*/ 44 h 76"/>
              <a:gd name="T46" fmla="*/ 8 w 76"/>
              <a:gd name="T47" fmla="*/ 46 h 76"/>
              <a:gd name="T48" fmla="*/ 8 w 76"/>
              <a:gd name="T49" fmla="*/ 46 h 76"/>
              <a:gd name="T50" fmla="*/ 8 w 76"/>
              <a:gd name="T51" fmla="*/ 46 h 76"/>
              <a:gd name="T52" fmla="*/ 8 w 76"/>
              <a:gd name="T53" fmla="*/ 46 h 76"/>
              <a:gd name="T54" fmla="*/ 8 w 76"/>
              <a:gd name="T55" fmla="*/ 46 h 76"/>
              <a:gd name="T56" fmla="*/ 4 w 76"/>
              <a:gd name="T57" fmla="*/ 46 h 76"/>
              <a:gd name="T58" fmla="*/ 4 w 76"/>
              <a:gd name="T59" fmla="*/ 46 h 76"/>
              <a:gd name="T60" fmla="*/ 2 w 76"/>
              <a:gd name="T61" fmla="*/ 46 h 76"/>
              <a:gd name="T62" fmla="*/ 0 w 76"/>
              <a:gd name="T63" fmla="*/ 42 h 76"/>
              <a:gd name="T64" fmla="*/ 0 w 76"/>
              <a:gd name="T65" fmla="*/ 42 h 76"/>
              <a:gd name="T66" fmla="*/ 0 w 76"/>
              <a:gd name="T67" fmla="*/ 4 h 76"/>
              <a:gd name="T68" fmla="*/ 0 w 76"/>
              <a:gd name="T69" fmla="*/ 4 h 76"/>
              <a:gd name="T70" fmla="*/ 2 w 76"/>
              <a:gd name="T71" fmla="*/ 2 h 76"/>
              <a:gd name="T72" fmla="*/ 4 w 76"/>
              <a:gd name="T73" fmla="*/ 0 h 76"/>
              <a:gd name="T74" fmla="*/ 42 w 76"/>
              <a:gd name="T75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6" h="76">
                <a:moveTo>
                  <a:pt x="42" y="0"/>
                </a:moveTo>
                <a:lnTo>
                  <a:pt x="42" y="0"/>
                </a:lnTo>
                <a:lnTo>
                  <a:pt x="44" y="0"/>
                </a:lnTo>
                <a:lnTo>
                  <a:pt x="46" y="2"/>
                </a:lnTo>
                <a:lnTo>
                  <a:pt x="46" y="2"/>
                </a:lnTo>
                <a:lnTo>
                  <a:pt x="46" y="6"/>
                </a:lnTo>
                <a:lnTo>
                  <a:pt x="44" y="8"/>
                </a:lnTo>
                <a:lnTo>
                  <a:pt x="44" y="8"/>
                </a:lnTo>
                <a:lnTo>
                  <a:pt x="38" y="14"/>
                </a:lnTo>
                <a:lnTo>
                  <a:pt x="44" y="20"/>
                </a:lnTo>
                <a:lnTo>
                  <a:pt x="74" y="50"/>
                </a:lnTo>
                <a:lnTo>
                  <a:pt x="74" y="50"/>
                </a:lnTo>
                <a:lnTo>
                  <a:pt x="76" y="52"/>
                </a:lnTo>
                <a:lnTo>
                  <a:pt x="76" y="52"/>
                </a:lnTo>
                <a:lnTo>
                  <a:pt x="74" y="56"/>
                </a:lnTo>
                <a:lnTo>
                  <a:pt x="56" y="74"/>
                </a:lnTo>
                <a:lnTo>
                  <a:pt x="56" y="74"/>
                </a:lnTo>
                <a:lnTo>
                  <a:pt x="52" y="76"/>
                </a:lnTo>
                <a:lnTo>
                  <a:pt x="52" y="76"/>
                </a:lnTo>
                <a:lnTo>
                  <a:pt x="48" y="74"/>
                </a:lnTo>
                <a:lnTo>
                  <a:pt x="20" y="44"/>
                </a:lnTo>
                <a:lnTo>
                  <a:pt x="14" y="40"/>
                </a:lnTo>
                <a:lnTo>
                  <a:pt x="8" y="44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0" y="42"/>
                </a:lnTo>
                <a:lnTo>
                  <a:pt x="0" y="42"/>
                </a:lnTo>
                <a:lnTo>
                  <a:pt x="0" y="4"/>
                </a:lnTo>
                <a:lnTo>
                  <a:pt x="0" y="4"/>
                </a:lnTo>
                <a:lnTo>
                  <a:pt x="2" y="2"/>
                </a:lnTo>
                <a:lnTo>
                  <a:pt x="4" y="0"/>
                </a:lnTo>
                <a:lnTo>
                  <a:pt x="42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6" name="Freeform 244"/>
          <p:cNvSpPr>
            <a:spLocks/>
          </p:cNvSpPr>
          <p:nvPr/>
        </p:nvSpPr>
        <p:spPr bwMode="auto">
          <a:xfrm>
            <a:off x="4977384" y="7986405"/>
            <a:ext cx="45304" cy="45304"/>
          </a:xfrm>
          <a:custGeom>
            <a:avLst/>
            <a:gdLst>
              <a:gd name="T0" fmla="*/ 24 w 76"/>
              <a:gd name="T1" fmla="*/ 0 h 76"/>
              <a:gd name="T2" fmla="*/ 24 w 76"/>
              <a:gd name="T3" fmla="*/ 0 h 76"/>
              <a:gd name="T4" fmla="*/ 26 w 76"/>
              <a:gd name="T5" fmla="*/ 2 h 76"/>
              <a:gd name="T6" fmla="*/ 56 w 76"/>
              <a:gd name="T7" fmla="*/ 32 h 76"/>
              <a:gd name="T8" fmla="*/ 62 w 76"/>
              <a:gd name="T9" fmla="*/ 38 h 76"/>
              <a:gd name="T10" fmla="*/ 68 w 76"/>
              <a:gd name="T11" fmla="*/ 32 h 76"/>
              <a:gd name="T12" fmla="*/ 68 w 76"/>
              <a:gd name="T13" fmla="*/ 32 h 76"/>
              <a:gd name="T14" fmla="*/ 68 w 76"/>
              <a:gd name="T15" fmla="*/ 30 h 76"/>
              <a:gd name="T16" fmla="*/ 68 w 76"/>
              <a:gd name="T17" fmla="*/ 30 h 76"/>
              <a:gd name="T18" fmla="*/ 68 w 76"/>
              <a:gd name="T19" fmla="*/ 30 h 76"/>
              <a:gd name="T20" fmla="*/ 68 w 76"/>
              <a:gd name="T21" fmla="*/ 30 h 76"/>
              <a:gd name="T22" fmla="*/ 72 w 76"/>
              <a:gd name="T23" fmla="*/ 30 h 76"/>
              <a:gd name="T24" fmla="*/ 72 w 76"/>
              <a:gd name="T25" fmla="*/ 30 h 76"/>
              <a:gd name="T26" fmla="*/ 74 w 76"/>
              <a:gd name="T27" fmla="*/ 32 h 76"/>
              <a:gd name="T28" fmla="*/ 76 w 76"/>
              <a:gd name="T29" fmla="*/ 34 h 76"/>
              <a:gd name="T30" fmla="*/ 76 w 76"/>
              <a:gd name="T31" fmla="*/ 34 h 76"/>
              <a:gd name="T32" fmla="*/ 76 w 76"/>
              <a:gd name="T33" fmla="*/ 72 h 76"/>
              <a:gd name="T34" fmla="*/ 76 w 76"/>
              <a:gd name="T35" fmla="*/ 72 h 76"/>
              <a:gd name="T36" fmla="*/ 74 w 76"/>
              <a:gd name="T37" fmla="*/ 76 h 76"/>
              <a:gd name="T38" fmla="*/ 72 w 76"/>
              <a:gd name="T39" fmla="*/ 76 h 76"/>
              <a:gd name="T40" fmla="*/ 34 w 76"/>
              <a:gd name="T41" fmla="*/ 76 h 76"/>
              <a:gd name="T42" fmla="*/ 34 w 76"/>
              <a:gd name="T43" fmla="*/ 76 h 76"/>
              <a:gd name="T44" fmla="*/ 32 w 76"/>
              <a:gd name="T45" fmla="*/ 76 h 76"/>
              <a:gd name="T46" fmla="*/ 30 w 76"/>
              <a:gd name="T47" fmla="*/ 74 h 76"/>
              <a:gd name="T48" fmla="*/ 30 w 76"/>
              <a:gd name="T49" fmla="*/ 74 h 76"/>
              <a:gd name="T50" fmla="*/ 30 w 76"/>
              <a:gd name="T51" fmla="*/ 70 h 76"/>
              <a:gd name="T52" fmla="*/ 30 w 76"/>
              <a:gd name="T53" fmla="*/ 68 h 76"/>
              <a:gd name="T54" fmla="*/ 32 w 76"/>
              <a:gd name="T55" fmla="*/ 68 h 76"/>
              <a:gd name="T56" fmla="*/ 38 w 76"/>
              <a:gd name="T57" fmla="*/ 62 h 76"/>
              <a:gd name="T58" fmla="*/ 32 w 76"/>
              <a:gd name="T59" fmla="*/ 56 h 76"/>
              <a:gd name="T60" fmla="*/ 2 w 76"/>
              <a:gd name="T61" fmla="*/ 28 h 76"/>
              <a:gd name="T62" fmla="*/ 2 w 76"/>
              <a:gd name="T63" fmla="*/ 28 h 76"/>
              <a:gd name="T64" fmla="*/ 0 w 76"/>
              <a:gd name="T65" fmla="*/ 24 h 76"/>
              <a:gd name="T66" fmla="*/ 0 w 76"/>
              <a:gd name="T67" fmla="*/ 24 h 76"/>
              <a:gd name="T68" fmla="*/ 2 w 76"/>
              <a:gd name="T69" fmla="*/ 20 h 76"/>
              <a:gd name="T70" fmla="*/ 20 w 76"/>
              <a:gd name="T71" fmla="*/ 2 h 76"/>
              <a:gd name="T72" fmla="*/ 20 w 76"/>
              <a:gd name="T73" fmla="*/ 2 h 76"/>
              <a:gd name="T74" fmla="*/ 24 w 76"/>
              <a:gd name="T75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6" h="76">
                <a:moveTo>
                  <a:pt x="24" y="0"/>
                </a:moveTo>
                <a:lnTo>
                  <a:pt x="24" y="0"/>
                </a:lnTo>
                <a:lnTo>
                  <a:pt x="26" y="2"/>
                </a:lnTo>
                <a:lnTo>
                  <a:pt x="56" y="32"/>
                </a:lnTo>
                <a:lnTo>
                  <a:pt x="62" y="38"/>
                </a:lnTo>
                <a:lnTo>
                  <a:pt x="68" y="32"/>
                </a:lnTo>
                <a:lnTo>
                  <a:pt x="68" y="32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72" y="30"/>
                </a:lnTo>
                <a:lnTo>
                  <a:pt x="72" y="30"/>
                </a:lnTo>
                <a:lnTo>
                  <a:pt x="74" y="32"/>
                </a:lnTo>
                <a:lnTo>
                  <a:pt x="76" y="34"/>
                </a:lnTo>
                <a:lnTo>
                  <a:pt x="76" y="34"/>
                </a:lnTo>
                <a:lnTo>
                  <a:pt x="76" y="72"/>
                </a:lnTo>
                <a:lnTo>
                  <a:pt x="76" y="72"/>
                </a:lnTo>
                <a:lnTo>
                  <a:pt x="74" y="76"/>
                </a:lnTo>
                <a:lnTo>
                  <a:pt x="72" y="76"/>
                </a:lnTo>
                <a:lnTo>
                  <a:pt x="34" y="76"/>
                </a:lnTo>
                <a:lnTo>
                  <a:pt x="34" y="76"/>
                </a:lnTo>
                <a:lnTo>
                  <a:pt x="32" y="76"/>
                </a:lnTo>
                <a:lnTo>
                  <a:pt x="30" y="74"/>
                </a:lnTo>
                <a:lnTo>
                  <a:pt x="30" y="74"/>
                </a:lnTo>
                <a:lnTo>
                  <a:pt x="30" y="70"/>
                </a:lnTo>
                <a:lnTo>
                  <a:pt x="30" y="68"/>
                </a:lnTo>
                <a:lnTo>
                  <a:pt x="32" y="68"/>
                </a:lnTo>
                <a:lnTo>
                  <a:pt x="38" y="62"/>
                </a:lnTo>
                <a:lnTo>
                  <a:pt x="32" y="56"/>
                </a:lnTo>
                <a:lnTo>
                  <a:pt x="2" y="28"/>
                </a:lnTo>
                <a:lnTo>
                  <a:pt x="2" y="28"/>
                </a:lnTo>
                <a:lnTo>
                  <a:pt x="0" y="24"/>
                </a:lnTo>
                <a:lnTo>
                  <a:pt x="0" y="24"/>
                </a:lnTo>
                <a:lnTo>
                  <a:pt x="2" y="20"/>
                </a:lnTo>
                <a:lnTo>
                  <a:pt x="20" y="2"/>
                </a:lnTo>
                <a:lnTo>
                  <a:pt x="20" y="2"/>
                </a:lnTo>
                <a:lnTo>
                  <a:pt x="2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7" name="Freeform 245"/>
          <p:cNvSpPr>
            <a:spLocks/>
          </p:cNvSpPr>
          <p:nvPr/>
        </p:nvSpPr>
        <p:spPr bwMode="auto">
          <a:xfrm>
            <a:off x="4977384" y="7986405"/>
            <a:ext cx="45304" cy="45304"/>
          </a:xfrm>
          <a:custGeom>
            <a:avLst/>
            <a:gdLst>
              <a:gd name="T0" fmla="*/ 24 w 76"/>
              <a:gd name="T1" fmla="*/ 0 h 76"/>
              <a:gd name="T2" fmla="*/ 24 w 76"/>
              <a:gd name="T3" fmla="*/ 0 h 76"/>
              <a:gd name="T4" fmla="*/ 26 w 76"/>
              <a:gd name="T5" fmla="*/ 2 h 76"/>
              <a:gd name="T6" fmla="*/ 56 w 76"/>
              <a:gd name="T7" fmla="*/ 32 h 76"/>
              <a:gd name="T8" fmla="*/ 62 w 76"/>
              <a:gd name="T9" fmla="*/ 38 h 76"/>
              <a:gd name="T10" fmla="*/ 68 w 76"/>
              <a:gd name="T11" fmla="*/ 32 h 76"/>
              <a:gd name="T12" fmla="*/ 68 w 76"/>
              <a:gd name="T13" fmla="*/ 32 h 76"/>
              <a:gd name="T14" fmla="*/ 68 w 76"/>
              <a:gd name="T15" fmla="*/ 30 h 76"/>
              <a:gd name="T16" fmla="*/ 68 w 76"/>
              <a:gd name="T17" fmla="*/ 30 h 76"/>
              <a:gd name="T18" fmla="*/ 68 w 76"/>
              <a:gd name="T19" fmla="*/ 30 h 76"/>
              <a:gd name="T20" fmla="*/ 68 w 76"/>
              <a:gd name="T21" fmla="*/ 30 h 76"/>
              <a:gd name="T22" fmla="*/ 72 w 76"/>
              <a:gd name="T23" fmla="*/ 30 h 76"/>
              <a:gd name="T24" fmla="*/ 72 w 76"/>
              <a:gd name="T25" fmla="*/ 30 h 76"/>
              <a:gd name="T26" fmla="*/ 74 w 76"/>
              <a:gd name="T27" fmla="*/ 32 h 76"/>
              <a:gd name="T28" fmla="*/ 76 w 76"/>
              <a:gd name="T29" fmla="*/ 34 h 76"/>
              <a:gd name="T30" fmla="*/ 76 w 76"/>
              <a:gd name="T31" fmla="*/ 34 h 76"/>
              <a:gd name="T32" fmla="*/ 76 w 76"/>
              <a:gd name="T33" fmla="*/ 72 h 76"/>
              <a:gd name="T34" fmla="*/ 76 w 76"/>
              <a:gd name="T35" fmla="*/ 72 h 76"/>
              <a:gd name="T36" fmla="*/ 74 w 76"/>
              <a:gd name="T37" fmla="*/ 76 h 76"/>
              <a:gd name="T38" fmla="*/ 72 w 76"/>
              <a:gd name="T39" fmla="*/ 76 h 76"/>
              <a:gd name="T40" fmla="*/ 34 w 76"/>
              <a:gd name="T41" fmla="*/ 76 h 76"/>
              <a:gd name="T42" fmla="*/ 34 w 76"/>
              <a:gd name="T43" fmla="*/ 76 h 76"/>
              <a:gd name="T44" fmla="*/ 32 w 76"/>
              <a:gd name="T45" fmla="*/ 76 h 76"/>
              <a:gd name="T46" fmla="*/ 30 w 76"/>
              <a:gd name="T47" fmla="*/ 74 h 76"/>
              <a:gd name="T48" fmla="*/ 30 w 76"/>
              <a:gd name="T49" fmla="*/ 74 h 76"/>
              <a:gd name="T50" fmla="*/ 30 w 76"/>
              <a:gd name="T51" fmla="*/ 70 h 76"/>
              <a:gd name="T52" fmla="*/ 30 w 76"/>
              <a:gd name="T53" fmla="*/ 68 h 76"/>
              <a:gd name="T54" fmla="*/ 32 w 76"/>
              <a:gd name="T55" fmla="*/ 68 h 76"/>
              <a:gd name="T56" fmla="*/ 38 w 76"/>
              <a:gd name="T57" fmla="*/ 62 h 76"/>
              <a:gd name="T58" fmla="*/ 32 w 76"/>
              <a:gd name="T59" fmla="*/ 56 h 76"/>
              <a:gd name="T60" fmla="*/ 2 w 76"/>
              <a:gd name="T61" fmla="*/ 28 h 76"/>
              <a:gd name="T62" fmla="*/ 2 w 76"/>
              <a:gd name="T63" fmla="*/ 28 h 76"/>
              <a:gd name="T64" fmla="*/ 0 w 76"/>
              <a:gd name="T65" fmla="*/ 24 h 76"/>
              <a:gd name="T66" fmla="*/ 0 w 76"/>
              <a:gd name="T67" fmla="*/ 24 h 76"/>
              <a:gd name="T68" fmla="*/ 2 w 76"/>
              <a:gd name="T69" fmla="*/ 20 h 76"/>
              <a:gd name="T70" fmla="*/ 20 w 76"/>
              <a:gd name="T71" fmla="*/ 2 h 76"/>
              <a:gd name="T72" fmla="*/ 20 w 76"/>
              <a:gd name="T73" fmla="*/ 2 h 76"/>
              <a:gd name="T74" fmla="*/ 24 w 76"/>
              <a:gd name="T75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6" h="76">
                <a:moveTo>
                  <a:pt x="24" y="0"/>
                </a:moveTo>
                <a:lnTo>
                  <a:pt x="24" y="0"/>
                </a:lnTo>
                <a:lnTo>
                  <a:pt x="26" y="2"/>
                </a:lnTo>
                <a:lnTo>
                  <a:pt x="56" y="32"/>
                </a:lnTo>
                <a:lnTo>
                  <a:pt x="62" y="38"/>
                </a:lnTo>
                <a:lnTo>
                  <a:pt x="68" y="32"/>
                </a:lnTo>
                <a:lnTo>
                  <a:pt x="68" y="32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72" y="30"/>
                </a:lnTo>
                <a:lnTo>
                  <a:pt x="72" y="30"/>
                </a:lnTo>
                <a:lnTo>
                  <a:pt x="74" y="32"/>
                </a:lnTo>
                <a:lnTo>
                  <a:pt x="76" y="34"/>
                </a:lnTo>
                <a:lnTo>
                  <a:pt x="76" y="34"/>
                </a:lnTo>
                <a:lnTo>
                  <a:pt x="76" y="72"/>
                </a:lnTo>
                <a:lnTo>
                  <a:pt x="76" y="72"/>
                </a:lnTo>
                <a:lnTo>
                  <a:pt x="74" y="76"/>
                </a:lnTo>
                <a:lnTo>
                  <a:pt x="72" y="76"/>
                </a:lnTo>
                <a:lnTo>
                  <a:pt x="34" y="76"/>
                </a:lnTo>
                <a:lnTo>
                  <a:pt x="34" y="76"/>
                </a:lnTo>
                <a:lnTo>
                  <a:pt x="32" y="76"/>
                </a:lnTo>
                <a:lnTo>
                  <a:pt x="30" y="74"/>
                </a:lnTo>
                <a:lnTo>
                  <a:pt x="30" y="74"/>
                </a:lnTo>
                <a:lnTo>
                  <a:pt x="30" y="70"/>
                </a:lnTo>
                <a:lnTo>
                  <a:pt x="30" y="68"/>
                </a:lnTo>
                <a:lnTo>
                  <a:pt x="32" y="68"/>
                </a:lnTo>
                <a:lnTo>
                  <a:pt x="38" y="62"/>
                </a:lnTo>
                <a:lnTo>
                  <a:pt x="32" y="56"/>
                </a:lnTo>
                <a:lnTo>
                  <a:pt x="2" y="28"/>
                </a:lnTo>
                <a:lnTo>
                  <a:pt x="2" y="28"/>
                </a:lnTo>
                <a:lnTo>
                  <a:pt x="0" y="24"/>
                </a:lnTo>
                <a:lnTo>
                  <a:pt x="0" y="24"/>
                </a:lnTo>
                <a:lnTo>
                  <a:pt x="2" y="20"/>
                </a:lnTo>
                <a:lnTo>
                  <a:pt x="20" y="2"/>
                </a:lnTo>
                <a:lnTo>
                  <a:pt x="20" y="2"/>
                </a:lnTo>
                <a:lnTo>
                  <a:pt x="24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8" name="Freeform 246"/>
          <p:cNvSpPr>
            <a:spLocks noEditPoints="1"/>
          </p:cNvSpPr>
          <p:nvPr/>
        </p:nvSpPr>
        <p:spPr bwMode="auto">
          <a:xfrm>
            <a:off x="4859355" y="7869568"/>
            <a:ext cx="81070" cy="79878"/>
          </a:xfrm>
          <a:custGeom>
            <a:avLst/>
            <a:gdLst>
              <a:gd name="T0" fmla="*/ 128 w 136"/>
              <a:gd name="T1" fmla="*/ 8 h 134"/>
              <a:gd name="T2" fmla="*/ 128 w 136"/>
              <a:gd name="T3" fmla="*/ 30 h 134"/>
              <a:gd name="T4" fmla="*/ 128 w 136"/>
              <a:gd name="T5" fmla="*/ 30 h 134"/>
              <a:gd name="T6" fmla="*/ 70 w 136"/>
              <a:gd name="T7" fmla="*/ 30 h 134"/>
              <a:gd name="T8" fmla="*/ 56 w 136"/>
              <a:gd name="T9" fmla="*/ 34 h 134"/>
              <a:gd name="T10" fmla="*/ 44 w 136"/>
              <a:gd name="T11" fmla="*/ 42 h 134"/>
              <a:gd name="T12" fmla="*/ 36 w 136"/>
              <a:gd name="T13" fmla="*/ 54 h 134"/>
              <a:gd name="T14" fmla="*/ 32 w 136"/>
              <a:gd name="T15" fmla="*/ 68 h 134"/>
              <a:gd name="T16" fmla="*/ 32 w 136"/>
              <a:gd name="T17" fmla="*/ 126 h 134"/>
              <a:gd name="T18" fmla="*/ 10 w 136"/>
              <a:gd name="T19" fmla="*/ 126 h 134"/>
              <a:gd name="T20" fmla="*/ 8 w 136"/>
              <a:gd name="T21" fmla="*/ 126 h 134"/>
              <a:gd name="T22" fmla="*/ 8 w 136"/>
              <a:gd name="T23" fmla="*/ 68 h 134"/>
              <a:gd name="T24" fmla="*/ 14 w 136"/>
              <a:gd name="T25" fmla="*/ 44 h 134"/>
              <a:gd name="T26" fmla="*/ 26 w 136"/>
              <a:gd name="T27" fmla="*/ 26 h 134"/>
              <a:gd name="T28" fmla="*/ 46 w 136"/>
              <a:gd name="T29" fmla="*/ 12 h 134"/>
              <a:gd name="T30" fmla="*/ 70 w 136"/>
              <a:gd name="T31" fmla="*/ 8 h 134"/>
              <a:gd name="T32" fmla="*/ 128 w 136"/>
              <a:gd name="T33" fmla="*/ 0 h 134"/>
              <a:gd name="T34" fmla="*/ 70 w 136"/>
              <a:gd name="T35" fmla="*/ 0 h 134"/>
              <a:gd name="T36" fmla="*/ 44 w 136"/>
              <a:gd name="T37" fmla="*/ 4 h 134"/>
              <a:gd name="T38" fmla="*/ 22 w 136"/>
              <a:gd name="T39" fmla="*/ 20 h 134"/>
              <a:gd name="T40" fmla="*/ 6 w 136"/>
              <a:gd name="T41" fmla="*/ 42 h 134"/>
              <a:gd name="T42" fmla="*/ 0 w 136"/>
              <a:gd name="T43" fmla="*/ 68 h 134"/>
              <a:gd name="T44" fmla="*/ 0 w 136"/>
              <a:gd name="T45" fmla="*/ 126 h 134"/>
              <a:gd name="T46" fmla="*/ 4 w 136"/>
              <a:gd name="T47" fmla="*/ 132 h 134"/>
              <a:gd name="T48" fmla="*/ 10 w 136"/>
              <a:gd name="T49" fmla="*/ 134 h 134"/>
              <a:gd name="T50" fmla="*/ 32 w 136"/>
              <a:gd name="T51" fmla="*/ 134 h 134"/>
              <a:gd name="T52" fmla="*/ 38 w 136"/>
              <a:gd name="T53" fmla="*/ 132 h 134"/>
              <a:gd name="T54" fmla="*/ 40 w 136"/>
              <a:gd name="T55" fmla="*/ 126 h 134"/>
              <a:gd name="T56" fmla="*/ 40 w 136"/>
              <a:gd name="T57" fmla="*/ 68 h 134"/>
              <a:gd name="T58" fmla="*/ 42 w 136"/>
              <a:gd name="T59" fmla="*/ 56 h 134"/>
              <a:gd name="T60" fmla="*/ 58 w 136"/>
              <a:gd name="T61" fmla="*/ 40 h 134"/>
              <a:gd name="T62" fmla="*/ 70 w 136"/>
              <a:gd name="T63" fmla="*/ 38 h 134"/>
              <a:gd name="T64" fmla="*/ 128 w 136"/>
              <a:gd name="T65" fmla="*/ 38 h 134"/>
              <a:gd name="T66" fmla="*/ 134 w 136"/>
              <a:gd name="T67" fmla="*/ 36 h 134"/>
              <a:gd name="T68" fmla="*/ 136 w 136"/>
              <a:gd name="T69" fmla="*/ 30 h 134"/>
              <a:gd name="T70" fmla="*/ 136 w 136"/>
              <a:gd name="T71" fmla="*/ 8 h 134"/>
              <a:gd name="T72" fmla="*/ 134 w 136"/>
              <a:gd name="T73" fmla="*/ 2 h 134"/>
              <a:gd name="T74" fmla="*/ 128 w 136"/>
              <a:gd name="T75" fmla="*/ 0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" h="134">
                <a:moveTo>
                  <a:pt x="128" y="8"/>
                </a:moveTo>
                <a:lnTo>
                  <a:pt x="128" y="8"/>
                </a:lnTo>
                <a:lnTo>
                  <a:pt x="128" y="8"/>
                </a:lnTo>
                <a:lnTo>
                  <a:pt x="128" y="30"/>
                </a:lnTo>
                <a:lnTo>
                  <a:pt x="128" y="30"/>
                </a:lnTo>
                <a:lnTo>
                  <a:pt x="128" y="30"/>
                </a:lnTo>
                <a:lnTo>
                  <a:pt x="70" y="30"/>
                </a:lnTo>
                <a:lnTo>
                  <a:pt x="70" y="30"/>
                </a:lnTo>
                <a:lnTo>
                  <a:pt x="62" y="32"/>
                </a:lnTo>
                <a:lnTo>
                  <a:pt x="56" y="34"/>
                </a:lnTo>
                <a:lnTo>
                  <a:pt x="48" y="36"/>
                </a:lnTo>
                <a:lnTo>
                  <a:pt x="44" y="42"/>
                </a:lnTo>
                <a:lnTo>
                  <a:pt x="38" y="48"/>
                </a:lnTo>
                <a:lnTo>
                  <a:pt x="36" y="54"/>
                </a:lnTo>
                <a:lnTo>
                  <a:pt x="32" y="60"/>
                </a:lnTo>
                <a:lnTo>
                  <a:pt x="32" y="68"/>
                </a:lnTo>
                <a:lnTo>
                  <a:pt x="32" y="126"/>
                </a:lnTo>
                <a:lnTo>
                  <a:pt x="32" y="126"/>
                </a:lnTo>
                <a:lnTo>
                  <a:pt x="32" y="126"/>
                </a:lnTo>
                <a:lnTo>
                  <a:pt x="10" y="126"/>
                </a:lnTo>
                <a:lnTo>
                  <a:pt x="10" y="126"/>
                </a:lnTo>
                <a:lnTo>
                  <a:pt x="8" y="126"/>
                </a:lnTo>
                <a:lnTo>
                  <a:pt x="8" y="68"/>
                </a:lnTo>
                <a:lnTo>
                  <a:pt x="8" y="68"/>
                </a:lnTo>
                <a:lnTo>
                  <a:pt x="10" y="56"/>
                </a:lnTo>
                <a:lnTo>
                  <a:pt x="14" y="44"/>
                </a:lnTo>
                <a:lnTo>
                  <a:pt x="20" y="34"/>
                </a:lnTo>
                <a:lnTo>
                  <a:pt x="26" y="26"/>
                </a:lnTo>
                <a:lnTo>
                  <a:pt x="36" y="18"/>
                </a:lnTo>
                <a:lnTo>
                  <a:pt x="46" y="12"/>
                </a:lnTo>
                <a:lnTo>
                  <a:pt x="58" y="8"/>
                </a:lnTo>
                <a:lnTo>
                  <a:pt x="70" y="8"/>
                </a:lnTo>
                <a:lnTo>
                  <a:pt x="128" y="8"/>
                </a:lnTo>
                <a:close/>
                <a:moveTo>
                  <a:pt x="128" y="0"/>
                </a:moveTo>
                <a:lnTo>
                  <a:pt x="70" y="0"/>
                </a:lnTo>
                <a:lnTo>
                  <a:pt x="70" y="0"/>
                </a:lnTo>
                <a:lnTo>
                  <a:pt x="56" y="0"/>
                </a:lnTo>
                <a:lnTo>
                  <a:pt x="44" y="4"/>
                </a:lnTo>
                <a:lnTo>
                  <a:pt x="32" y="12"/>
                </a:lnTo>
                <a:lnTo>
                  <a:pt x="22" y="20"/>
                </a:lnTo>
                <a:lnTo>
                  <a:pt x="12" y="30"/>
                </a:lnTo>
                <a:lnTo>
                  <a:pt x="6" y="42"/>
                </a:lnTo>
                <a:lnTo>
                  <a:pt x="2" y="54"/>
                </a:lnTo>
                <a:lnTo>
                  <a:pt x="0" y="68"/>
                </a:lnTo>
                <a:lnTo>
                  <a:pt x="0" y="126"/>
                </a:lnTo>
                <a:lnTo>
                  <a:pt x="0" y="126"/>
                </a:lnTo>
                <a:lnTo>
                  <a:pt x="2" y="130"/>
                </a:lnTo>
                <a:lnTo>
                  <a:pt x="4" y="132"/>
                </a:lnTo>
                <a:lnTo>
                  <a:pt x="6" y="134"/>
                </a:lnTo>
                <a:lnTo>
                  <a:pt x="10" y="134"/>
                </a:lnTo>
                <a:lnTo>
                  <a:pt x="32" y="134"/>
                </a:lnTo>
                <a:lnTo>
                  <a:pt x="32" y="134"/>
                </a:lnTo>
                <a:lnTo>
                  <a:pt x="34" y="134"/>
                </a:lnTo>
                <a:lnTo>
                  <a:pt x="38" y="132"/>
                </a:lnTo>
                <a:lnTo>
                  <a:pt x="40" y="130"/>
                </a:lnTo>
                <a:lnTo>
                  <a:pt x="40" y="126"/>
                </a:lnTo>
                <a:lnTo>
                  <a:pt x="40" y="68"/>
                </a:lnTo>
                <a:lnTo>
                  <a:pt x="40" y="68"/>
                </a:lnTo>
                <a:lnTo>
                  <a:pt x="40" y="62"/>
                </a:lnTo>
                <a:lnTo>
                  <a:pt x="42" y="56"/>
                </a:lnTo>
                <a:lnTo>
                  <a:pt x="48" y="48"/>
                </a:lnTo>
                <a:lnTo>
                  <a:pt x="58" y="40"/>
                </a:lnTo>
                <a:lnTo>
                  <a:pt x="64" y="40"/>
                </a:lnTo>
                <a:lnTo>
                  <a:pt x="70" y="38"/>
                </a:lnTo>
                <a:lnTo>
                  <a:pt x="128" y="38"/>
                </a:lnTo>
                <a:lnTo>
                  <a:pt x="128" y="38"/>
                </a:lnTo>
                <a:lnTo>
                  <a:pt x="130" y="38"/>
                </a:lnTo>
                <a:lnTo>
                  <a:pt x="134" y="36"/>
                </a:lnTo>
                <a:lnTo>
                  <a:pt x="136" y="34"/>
                </a:lnTo>
                <a:lnTo>
                  <a:pt x="136" y="30"/>
                </a:lnTo>
                <a:lnTo>
                  <a:pt x="136" y="8"/>
                </a:lnTo>
                <a:lnTo>
                  <a:pt x="136" y="8"/>
                </a:lnTo>
                <a:lnTo>
                  <a:pt x="136" y="4"/>
                </a:lnTo>
                <a:lnTo>
                  <a:pt x="134" y="2"/>
                </a:lnTo>
                <a:lnTo>
                  <a:pt x="130" y="0"/>
                </a:lnTo>
                <a:lnTo>
                  <a:pt x="128" y="0"/>
                </a:lnTo>
                <a:lnTo>
                  <a:pt x="1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9" name="Freeform 247"/>
          <p:cNvSpPr>
            <a:spLocks/>
          </p:cNvSpPr>
          <p:nvPr/>
        </p:nvSpPr>
        <p:spPr bwMode="auto">
          <a:xfrm>
            <a:off x="4864124" y="7874337"/>
            <a:ext cx="71533" cy="70340"/>
          </a:xfrm>
          <a:custGeom>
            <a:avLst/>
            <a:gdLst>
              <a:gd name="T0" fmla="*/ 120 w 120"/>
              <a:gd name="T1" fmla="*/ 0 h 118"/>
              <a:gd name="T2" fmla="*/ 120 w 120"/>
              <a:gd name="T3" fmla="*/ 0 h 118"/>
              <a:gd name="T4" fmla="*/ 120 w 120"/>
              <a:gd name="T5" fmla="*/ 0 h 118"/>
              <a:gd name="T6" fmla="*/ 120 w 120"/>
              <a:gd name="T7" fmla="*/ 22 h 118"/>
              <a:gd name="T8" fmla="*/ 120 w 120"/>
              <a:gd name="T9" fmla="*/ 22 h 118"/>
              <a:gd name="T10" fmla="*/ 120 w 120"/>
              <a:gd name="T11" fmla="*/ 22 h 118"/>
              <a:gd name="T12" fmla="*/ 62 w 120"/>
              <a:gd name="T13" fmla="*/ 22 h 118"/>
              <a:gd name="T14" fmla="*/ 62 w 120"/>
              <a:gd name="T15" fmla="*/ 22 h 118"/>
              <a:gd name="T16" fmla="*/ 54 w 120"/>
              <a:gd name="T17" fmla="*/ 24 h 118"/>
              <a:gd name="T18" fmla="*/ 48 w 120"/>
              <a:gd name="T19" fmla="*/ 26 h 118"/>
              <a:gd name="T20" fmla="*/ 40 w 120"/>
              <a:gd name="T21" fmla="*/ 28 h 118"/>
              <a:gd name="T22" fmla="*/ 36 w 120"/>
              <a:gd name="T23" fmla="*/ 34 h 118"/>
              <a:gd name="T24" fmla="*/ 30 w 120"/>
              <a:gd name="T25" fmla="*/ 40 h 118"/>
              <a:gd name="T26" fmla="*/ 28 w 120"/>
              <a:gd name="T27" fmla="*/ 46 h 118"/>
              <a:gd name="T28" fmla="*/ 24 w 120"/>
              <a:gd name="T29" fmla="*/ 52 h 118"/>
              <a:gd name="T30" fmla="*/ 24 w 120"/>
              <a:gd name="T31" fmla="*/ 60 h 118"/>
              <a:gd name="T32" fmla="*/ 24 w 120"/>
              <a:gd name="T33" fmla="*/ 118 h 118"/>
              <a:gd name="T34" fmla="*/ 24 w 120"/>
              <a:gd name="T35" fmla="*/ 118 h 118"/>
              <a:gd name="T36" fmla="*/ 24 w 120"/>
              <a:gd name="T37" fmla="*/ 118 h 118"/>
              <a:gd name="T38" fmla="*/ 2 w 120"/>
              <a:gd name="T39" fmla="*/ 118 h 118"/>
              <a:gd name="T40" fmla="*/ 2 w 120"/>
              <a:gd name="T41" fmla="*/ 118 h 118"/>
              <a:gd name="T42" fmla="*/ 0 w 120"/>
              <a:gd name="T43" fmla="*/ 118 h 118"/>
              <a:gd name="T44" fmla="*/ 0 w 120"/>
              <a:gd name="T45" fmla="*/ 60 h 118"/>
              <a:gd name="T46" fmla="*/ 0 w 120"/>
              <a:gd name="T47" fmla="*/ 60 h 118"/>
              <a:gd name="T48" fmla="*/ 2 w 120"/>
              <a:gd name="T49" fmla="*/ 48 h 118"/>
              <a:gd name="T50" fmla="*/ 6 w 120"/>
              <a:gd name="T51" fmla="*/ 36 h 118"/>
              <a:gd name="T52" fmla="*/ 12 w 120"/>
              <a:gd name="T53" fmla="*/ 26 h 118"/>
              <a:gd name="T54" fmla="*/ 18 w 120"/>
              <a:gd name="T55" fmla="*/ 18 h 118"/>
              <a:gd name="T56" fmla="*/ 28 w 120"/>
              <a:gd name="T57" fmla="*/ 10 h 118"/>
              <a:gd name="T58" fmla="*/ 38 w 120"/>
              <a:gd name="T59" fmla="*/ 4 h 118"/>
              <a:gd name="T60" fmla="*/ 50 w 120"/>
              <a:gd name="T61" fmla="*/ 0 h 118"/>
              <a:gd name="T62" fmla="*/ 62 w 120"/>
              <a:gd name="T63" fmla="*/ 0 h 118"/>
              <a:gd name="T64" fmla="*/ 120 w 120"/>
              <a:gd name="T65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0" h="118">
                <a:moveTo>
                  <a:pt x="120" y="0"/>
                </a:moveTo>
                <a:lnTo>
                  <a:pt x="120" y="0"/>
                </a:lnTo>
                <a:lnTo>
                  <a:pt x="120" y="0"/>
                </a:lnTo>
                <a:lnTo>
                  <a:pt x="120" y="22"/>
                </a:lnTo>
                <a:lnTo>
                  <a:pt x="120" y="22"/>
                </a:lnTo>
                <a:lnTo>
                  <a:pt x="120" y="22"/>
                </a:lnTo>
                <a:lnTo>
                  <a:pt x="62" y="22"/>
                </a:lnTo>
                <a:lnTo>
                  <a:pt x="62" y="22"/>
                </a:lnTo>
                <a:lnTo>
                  <a:pt x="54" y="24"/>
                </a:lnTo>
                <a:lnTo>
                  <a:pt x="48" y="26"/>
                </a:lnTo>
                <a:lnTo>
                  <a:pt x="40" y="28"/>
                </a:lnTo>
                <a:lnTo>
                  <a:pt x="36" y="34"/>
                </a:lnTo>
                <a:lnTo>
                  <a:pt x="30" y="40"/>
                </a:lnTo>
                <a:lnTo>
                  <a:pt x="28" y="46"/>
                </a:lnTo>
                <a:lnTo>
                  <a:pt x="24" y="52"/>
                </a:lnTo>
                <a:lnTo>
                  <a:pt x="24" y="60"/>
                </a:lnTo>
                <a:lnTo>
                  <a:pt x="24" y="118"/>
                </a:lnTo>
                <a:lnTo>
                  <a:pt x="24" y="118"/>
                </a:lnTo>
                <a:lnTo>
                  <a:pt x="24" y="118"/>
                </a:lnTo>
                <a:lnTo>
                  <a:pt x="2" y="118"/>
                </a:lnTo>
                <a:lnTo>
                  <a:pt x="2" y="118"/>
                </a:lnTo>
                <a:lnTo>
                  <a:pt x="0" y="118"/>
                </a:lnTo>
                <a:lnTo>
                  <a:pt x="0" y="60"/>
                </a:lnTo>
                <a:lnTo>
                  <a:pt x="0" y="60"/>
                </a:lnTo>
                <a:lnTo>
                  <a:pt x="2" y="48"/>
                </a:lnTo>
                <a:lnTo>
                  <a:pt x="6" y="36"/>
                </a:lnTo>
                <a:lnTo>
                  <a:pt x="12" y="26"/>
                </a:lnTo>
                <a:lnTo>
                  <a:pt x="18" y="18"/>
                </a:lnTo>
                <a:lnTo>
                  <a:pt x="28" y="10"/>
                </a:lnTo>
                <a:lnTo>
                  <a:pt x="38" y="4"/>
                </a:lnTo>
                <a:lnTo>
                  <a:pt x="50" y="0"/>
                </a:lnTo>
                <a:lnTo>
                  <a:pt x="62" y="0"/>
                </a:lnTo>
                <a:lnTo>
                  <a:pt x="120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0" name="Freeform 248"/>
          <p:cNvSpPr>
            <a:spLocks/>
          </p:cNvSpPr>
          <p:nvPr/>
        </p:nvSpPr>
        <p:spPr bwMode="auto">
          <a:xfrm>
            <a:off x="4859355" y="7869568"/>
            <a:ext cx="81070" cy="79878"/>
          </a:xfrm>
          <a:custGeom>
            <a:avLst/>
            <a:gdLst>
              <a:gd name="T0" fmla="*/ 128 w 136"/>
              <a:gd name="T1" fmla="*/ 0 h 134"/>
              <a:gd name="T2" fmla="*/ 70 w 136"/>
              <a:gd name="T3" fmla="*/ 0 h 134"/>
              <a:gd name="T4" fmla="*/ 70 w 136"/>
              <a:gd name="T5" fmla="*/ 0 h 134"/>
              <a:gd name="T6" fmla="*/ 56 w 136"/>
              <a:gd name="T7" fmla="*/ 0 h 134"/>
              <a:gd name="T8" fmla="*/ 44 w 136"/>
              <a:gd name="T9" fmla="*/ 4 h 134"/>
              <a:gd name="T10" fmla="*/ 32 w 136"/>
              <a:gd name="T11" fmla="*/ 12 h 134"/>
              <a:gd name="T12" fmla="*/ 22 w 136"/>
              <a:gd name="T13" fmla="*/ 20 h 134"/>
              <a:gd name="T14" fmla="*/ 12 w 136"/>
              <a:gd name="T15" fmla="*/ 30 h 134"/>
              <a:gd name="T16" fmla="*/ 6 w 136"/>
              <a:gd name="T17" fmla="*/ 42 h 134"/>
              <a:gd name="T18" fmla="*/ 2 w 136"/>
              <a:gd name="T19" fmla="*/ 54 h 134"/>
              <a:gd name="T20" fmla="*/ 0 w 136"/>
              <a:gd name="T21" fmla="*/ 68 h 134"/>
              <a:gd name="T22" fmla="*/ 0 w 136"/>
              <a:gd name="T23" fmla="*/ 126 h 134"/>
              <a:gd name="T24" fmla="*/ 0 w 136"/>
              <a:gd name="T25" fmla="*/ 126 h 134"/>
              <a:gd name="T26" fmla="*/ 2 w 136"/>
              <a:gd name="T27" fmla="*/ 130 h 134"/>
              <a:gd name="T28" fmla="*/ 4 w 136"/>
              <a:gd name="T29" fmla="*/ 132 h 134"/>
              <a:gd name="T30" fmla="*/ 6 w 136"/>
              <a:gd name="T31" fmla="*/ 134 h 134"/>
              <a:gd name="T32" fmla="*/ 10 w 136"/>
              <a:gd name="T33" fmla="*/ 134 h 134"/>
              <a:gd name="T34" fmla="*/ 32 w 136"/>
              <a:gd name="T35" fmla="*/ 134 h 134"/>
              <a:gd name="T36" fmla="*/ 32 w 136"/>
              <a:gd name="T37" fmla="*/ 134 h 134"/>
              <a:gd name="T38" fmla="*/ 34 w 136"/>
              <a:gd name="T39" fmla="*/ 134 h 134"/>
              <a:gd name="T40" fmla="*/ 38 w 136"/>
              <a:gd name="T41" fmla="*/ 132 h 134"/>
              <a:gd name="T42" fmla="*/ 40 w 136"/>
              <a:gd name="T43" fmla="*/ 130 h 134"/>
              <a:gd name="T44" fmla="*/ 40 w 136"/>
              <a:gd name="T45" fmla="*/ 126 h 134"/>
              <a:gd name="T46" fmla="*/ 40 w 136"/>
              <a:gd name="T47" fmla="*/ 68 h 134"/>
              <a:gd name="T48" fmla="*/ 40 w 136"/>
              <a:gd name="T49" fmla="*/ 68 h 134"/>
              <a:gd name="T50" fmla="*/ 40 w 136"/>
              <a:gd name="T51" fmla="*/ 62 h 134"/>
              <a:gd name="T52" fmla="*/ 42 w 136"/>
              <a:gd name="T53" fmla="*/ 56 h 134"/>
              <a:gd name="T54" fmla="*/ 48 w 136"/>
              <a:gd name="T55" fmla="*/ 48 h 134"/>
              <a:gd name="T56" fmla="*/ 58 w 136"/>
              <a:gd name="T57" fmla="*/ 40 h 134"/>
              <a:gd name="T58" fmla="*/ 64 w 136"/>
              <a:gd name="T59" fmla="*/ 40 h 134"/>
              <a:gd name="T60" fmla="*/ 70 w 136"/>
              <a:gd name="T61" fmla="*/ 38 h 134"/>
              <a:gd name="T62" fmla="*/ 128 w 136"/>
              <a:gd name="T63" fmla="*/ 38 h 134"/>
              <a:gd name="T64" fmla="*/ 128 w 136"/>
              <a:gd name="T65" fmla="*/ 38 h 134"/>
              <a:gd name="T66" fmla="*/ 130 w 136"/>
              <a:gd name="T67" fmla="*/ 38 h 134"/>
              <a:gd name="T68" fmla="*/ 134 w 136"/>
              <a:gd name="T69" fmla="*/ 36 h 134"/>
              <a:gd name="T70" fmla="*/ 136 w 136"/>
              <a:gd name="T71" fmla="*/ 34 h 134"/>
              <a:gd name="T72" fmla="*/ 136 w 136"/>
              <a:gd name="T73" fmla="*/ 30 h 134"/>
              <a:gd name="T74" fmla="*/ 136 w 136"/>
              <a:gd name="T75" fmla="*/ 8 h 134"/>
              <a:gd name="T76" fmla="*/ 136 w 136"/>
              <a:gd name="T77" fmla="*/ 8 h 134"/>
              <a:gd name="T78" fmla="*/ 136 w 136"/>
              <a:gd name="T79" fmla="*/ 4 h 134"/>
              <a:gd name="T80" fmla="*/ 134 w 136"/>
              <a:gd name="T81" fmla="*/ 2 h 134"/>
              <a:gd name="T82" fmla="*/ 130 w 136"/>
              <a:gd name="T83" fmla="*/ 0 h 134"/>
              <a:gd name="T84" fmla="*/ 128 w 136"/>
              <a:gd name="T85" fmla="*/ 0 h 134"/>
              <a:gd name="T86" fmla="*/ 128 w 136"/>
              <a:gd name="T87" fmla="*/ 0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6" h="134">
                <a:moveTo>
                  <a:pt x="128" y="0"/>
                </a:moveTo>
                <a:lnTo>
                  <a:pt x="70" y="0"/>
                </a:lnTo>
                <a:lnTo>
                  <a:pt x="70" y="0"/>
                </a:lnTo>
                <a:lnTo>
                  <a:pt x="56" y="0"/>
                </a:lnTo>
                <a:lnTo>
                  <a:pt x="44" y="4"/>
                </a:lnTo>
                <a:lnTo>
                  <a:pt x="32" y="12"/>
                </a:lnTo>
                <a:lnTo>
                  <a:pt x="22" y="20"/>
                </a:lnTo>
                <a:lnTo>
                  <a:pt x="12" y="30"/>
                </a:lnTo>
                <a:lnTo>
                  <a:pt x="6" y="42"/>
                </a:lnTo>
                <a:lnTo>
                  <a:pt x="2" y="54"/>
                </a:lnTo>
                <a:lnTo>
                  <a:pt x="0" y="68"/>
                </a:lnTo>
                <a:lnTo>
                  <a:pt x="0" y="126"/>
                </a:lnTo>
                <a:lnTo>
                  <a:pt x="0" y="126"/>
                </a:lnTo>
                <a:lnTo>
                  <a:pt x="2" y="130"/>
                </a:lnTo>
                <a:lnTo>
                  <a:pt x="4" y="132"/>
                </a:lnTo>
                <a:lnTo>
                  <a:pt x="6" y="134"/>
                </a:lnTo>
                <a:lnTo>
                  <a:pt x="10" y="134"/>
                </a:lnTo>
                <a:lnTo>
                  <a:pt x="32" y="134"/>
                </a:lnTo>
                <a:lnTo>
                  <a:pt x="32" y="134"/>
                </a:lnTo>
                <a:lnTo>
                  <a:pt x="34" y="134"/>
                </a:lnTo>
                <a:lnTo>
                  <a:pt x="38" y="132"/>
                </a:lnTo>
                <a:lnTo>
                  <a:pt x="40" y="130"/>
                </a:lnTo>
                <a:lnTo>
                  <a:pt x="40" y="126"/>
                </a:lnTo>
                <a:lnTo>
                  <a:pt x="40" y="68"/>
                </a:lnTo>
                <a:lnTo>
                  <a:pt x="40" y="68"/>
                </a:lnTo>
                <a:lnTo>
                  <a:pt x="40" y="62"/>
                </a:lnTo>
                <a:lnTo>
                  <a:pt x="42" y="56"/>
                </a:lnTo>
                <a:lnTo>
                  <a:pt x="48" y="48"/>
                </a:lnTo>
                <a:lnTo>
                  <a:pt x="58" y="40"/>
                </a:lnTo>
                <a:lnTo>
                  <a:pt x="64" y="40"/>
                </a:lnTo>
                <a:lnTo>
                  <a:pt x="70" y="38"/>
                </a:lnTo>
                <a:lnTo>
                  <a:pt x="128" y="38"/>
                </a:lnTo>
                <a:lnTo>
                  <a:pt x="128" y="38"/>
                </a:lnTo>
                <a:lnTo>
                  <a:pt x="130" y="38"/>
                </a:lnTo>
                <a:lnTo>
                  <a:pt x="134" y="36"/>
                </a:lnTo>
                <a:lnTo>
                  <a:pt x="136" y="34"/>
                </a:lnTo>
                <a:lnTo>
                  <a:pt x="136" y="30"/>
                </a:lnTo>
                <a:lnTo>
                  <a:pt x="136" y="8"/>
                </a:lnTo>
                <a:lnTo>
                  <a:pt x="136" y="8"/>
                </a:lnTo>
                <a:lnTo>
                  <a:pt x="136" y="4"/>
                </a:lnTo>
                <a:lnTo>
                  <a:pt x="134" y="2"/>
                </a:lnTo>
                <a:lnTo>
                  <a:pt x="130" y="0"/>
                </a:lnTo>
                <a:lnTo>
                  <a:pt x="128" y="0"/>
                </a:lnTo>
                <a:lnTo>
                  <a:pt x="128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1" name="Freeform 249"/>
          <p:cNvSpPr>
            <a:spLocks noEditPoints="1"/>
          </p:cNvSpPr>
          <p:nvPr/>
        </p:nvSpPr>
        <p:spPr bwMode="auto">
          <a:xfrm>
            <a:off x="4982153" y="7991174"/>
            <a:ext cx="79878" cy="81070"/>
          </a:xfrm>
          <a:custGeom>
            <a:avLst/>
            <a:gdLst>
              <a:gd name="T0" fmla="*/ 126 w 134"/>
              <a:gd name="T1" fmla="*/ 8 h 136"/>
              <a:gd name="T2" fmla="*/ 126 w 134"/>
              <a:gd name="T3" fmla="*/ 66 h 136"/>
              <a:gd name="T4" fmla="*/ 126 w 134"/>
              <a:gd name="T5" fmla="*/ 78 h 136"/>
              <a:gd name="T6" fmla="*/ 116 w 134"/>
              <a:gd name="T7" fmla="*/ 100 h 136"/>
              <a:gd name="T8" fmla="*/ 100 w 134"/>
              <a:gd name="T9" fmla="*/ 116 h 136"/>
              <a:gd name="T10" fmla="*/ 78 w 134"/>
              <a:gd name="T11" fmla="*/ 126 h 136"/>
              <a:gd name="T12" fmla="*/ 8 w 134"/>
              <a:gd name="T13" fmla="*/ 128 h 136"/>
              <a:gd name="T14" fmla="*/ 8 w 134"/>
              <a:gd name="T15" fmla="*/ 126 h 136"/>
              <a:gd name="T16" fmla="*/ 8 w 134"/>
              <a:gd name="T17" fmla="*/ 104 h 136"/>
              <a:gd name="T18" fmla="*/ 66 w 134"/>
              <a:gd name="T19" fmla="*/ 104 h 136"/>
              <a:gd name="T20" fmla="*/ 74 w 134"/>
              <a:gd name="T21" fmla="*/ 104 h 136"/>
              <a:gd name="T22" fmla="*/ 88 w 134"/>
              <a:gd name="T23" fmla="*/ 98 h 136"/>
              <a:gd name="T24" fmla="*/ 98 w 134"/>
              <a:gd name="T25" fmla="*/ 88 h 136"/>
              <a:gd name="T26" fmla="*/ 102 w 134"/>
              <a:gd name="T27" fmla="*/ 74 h 136"/>
              <a:gd name="T28" fmla="*/ 104 w 134"/>
              <a:gd name="T29" fmla="*/ 8 h 136"/>
              <a:gd name="T30" fmla="*/ 104 w 134"/>
              <a:gd name="T31" fmla="*/ 8 h 136"/>
              <a:gd name="T32" fmla="*/ 126 w 134"/>
              <a:gd name="T33" fmla="*/ 0 h 136"/>
              <a:gd name="T34" fmla="*/ 104 w 134"/>
              <a:gd name="T35" fmla="*/ 0 h 136"/>
              <a:gd name="T36" fmla="*/ 98 w 134"/>
              <a:gd name="T37" fmla="*/ 2 h 136"/>
              <a:gd name="T38" fmla="*/ 96 w 134"/>
              <a:gd name="T39" fmla="*/ 8 h 136"/>
              <a:gd name="T40" fmla="*/ 96 w 134"/>
              <a:gd name="T41" fmla="*/ 66 h 136"/>
              <a:gd name="T42" fmla="*/ 94 w 134"/>
              <a:gd name="T43" fmla="*/ 78 h 136"/>
              <a:gd name="T44" fmla="*/ 78 w 134"/>
              <a:gd name="T45" fmla="*/ 94 h 136"/>
              <a:gd name="T46" fmla="*/ 66 w 134"/>
              <a:gd name="T47" fmla="*/ 96 h 136"/>
              <a:gd name="T48" fmla="*/ 8 w 134"/>
              <a:gd name="T49" fmla="*/ 96 h 136"/>
              <a:gd name="T50" fmla="*/ 2 w 134"/>
              <a:gd name="T51" fmla="*/ 98 h 136"/>
              <a:gd name="T52" fmla="*/ 0 w 134"/>
              <a:gd name="T53" fmla="*/ 104 h 136"/>
              <a:gd name="T54" fmla="*/ 0 w 134"/>
              <a:gd name="T55" fmla="*/ 126 h 136"/>
              <a:gd name="T56" fmla="*/ 2 w 134"/>
              <a:gd name="T57" fmla="*/ 132 h 136"/>
              <a:gd name="T58" fmla="*/ 8 w 134"/>
              <a:gd name="T59" fmla="*/ 136 h 136"/>
              <a:gd name="T60" fmla="*/ 66 w 134"/>
              <a:gd name="T61" fmla="*/ 136 h 136"/>
              <a:gd name="T62" fmla="*/ 92 w 134"/>
              <a:gd name="T63" fmla="*/ 130 h 136"/>
              <a:gd name="T64" fmla="*/ 114 w 134"/>
              <a:gd name="T65" fmla="*/ 116 h 136"/>
              <a:gd name="T66" fmla="*/ 130 w 134"/>
              <a:gd name="T67" fmla="*/ 94 h 136"/>
              <a:gd name="T68" fmla="*/ 134 w 134"/>
              <a:gd name="T69" fmla="*/ 66 h 136"/>
              <a:gd name="T70" fmla="*/ 134 w 134"/>
              <a:gd name="T71" fmla="*/ 8 h 136"/>
              <a:gd name="T72" fmla="*/ 132 w 134"/>
              <a:gd name="T73" fmla="*/ 2 h 136"/>
              <a:gd name="T74" fmla="*/ 126 w 134"/>
              <a:gd name="T7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4" h="136">
                <a:moveTo>
                  <a:pt x="126" y="8"/>
                </a:moveTo>
                <a:lnTo>
                  <a:pt x="126" y="8"/>
                </a:lnTo>
                <a:lnTo>
                  <a:pt x="126" y="8"/>
                </a:lnTo>
                <a:lnTo>
                  <a:pt x="126" y="66"/>
                </a:lnTo>
                <a:lnTo>
                  <a:pt x="126" y="66"/>
                </a:lnTo>
                <a:lnTo>
                  <a:pt x="126" y="78"/>
                </a:lnTo>
                <a:lnTo>
                  <a:pt x="122" y="90"/>
                </a:lnTo>
                <a:lnTo>
                  <a:pt x="116" y="100"/>
                </a:lnTo>
                <a:lnTo>
                  <a:pt x="110" y="110"/>
                </a:lnTo>
                <a:lnTo>
                  <a:pt x="100" y="116"/>
                </a:lnTo>
                <a:lnTo>
                  <a:pt x="90" y="122"/>
                </a:lnTo>
                <a:lnTo>
                  <a:pt x="78" y="126"/>
                </a:lnTo>
                <a:lnTo>
                  <a:pt x="66" y="128"/>
                </a:lnTo>
                <a:lnTo>
                  <a:pt x="8" y="128"/>
                </a:lnTo>
                <a:lnTo>
                  <a:pt x="8" y="128"/>
                </a:lnTo>
                <a:lnTo>
                  <a:pt x="8" y="126"/>
                </a:lnTo>
                <a:lnTo>
                  <a:pt x="8" y="104"/>
                </a:lnTo>
                <a:lnTo>
                  <a:pt x="8" y="104"/>
                </a:lnTo>
                <a:lnTo>
                  <a:pt x="8" y="104"/>
                </a:lnTo>
                <a:lnTo>
                  <a:pt x="66" y="104"/>
                </a:lnTo>
                <a:lnTo>
                  <a:pt x="66" y="104"/>
                </a:lnTo>
                <a:lnTo>
                  <a:pt x="74" y="104"/>
                </a:lnTo>
                <a:lnTo>
                  <a:pt x="80" y="102"/>
                </a:lnTo>
                <a:lnTo>
                  <a:pt x="88" y="98"/>
                </a:lnTo>
                <a:lnTo>
                  <a:pt x="92" y="94"/>
                </a:lnTo>
                <a:lnTo>
                  <a:pt x="98" y="88"/>
                </a:lnTo>
                <a:lnTo>
                  <a:pt x="100" y="80"/>
                </a:lnTo>
                <a:lnTo>
                  <a:pt x="102" y="74"/>
                </a:lnTo>
                <a:lnTo>
                  <a:pt x="104" y="66"/>
                </a:lnTo>
                <a:lnTo>
                  <a:pt x="104" y="8"/>
                </a:lnTo>
                <a:lnTo>
                  <a:pt x="104" y="8"/>
                </a:lnTo>
                <a:lnTo>
                  <a:pt x="104" y="8"/>
                </a:lnTo>
                <a:lnTo>
                  <a:pt x="126" y="8"/>
                </a:lnTo>
                <a:close/>
                <a:moveTo>
                  <a:pt x="126" y="0"/>
                </a:moveTo>
                <a:lnTo>
                  <a:pt x="104" y="0"/>
                </a:lnTo>
                <a:lnTo>
                  <a:pt x="104" y="0"/>
                </a:lnTo>
                <a:lnTo>
                  <a:pt x="102" y="0"/>
                </a:lnTo>
                <a:lnTo>
                  <a:pt x="98" y="2"/>
                </a:lnTo>
                <a:lnTo>
                  <a:pt x="96" y="6"/>
                </a:lnTo>
                <a:lnTo>
                  <a:pt x="96" y="8"/>
                </a:lnTo>
                <a:lnTo>
                  <a:pt x="96" y="66"/>
                </a:lnTo>
                <a:lnTo>
                  <a:pt x="96" y="66"/>
                </a:lnTo>
                <a:lnTo>
                  <a:pt x="96" y="72"/>
                </a:lnTo>
                <a:lnTo>
                  <a:pt x="94" y="78"/>
                </a:lnTo>
                <a:lnTo>
                  <a:pt x="86" y="88"/>
                </a:lnTo>
                <a:lnTo>
                  <a:pt x="78" y="94"/>
                </a:lnTo>
                <a:lnTo>
                  <a:pt x="72" y="96"/>
                </a:lnTo>
                <a:lnTo>
                  <a:pt x="66" y="96"/>
                </a:lnTo>
                <a:lnTo>
                  <a:pt x="8" y="96"/>
                </a:lnTo>
                <a:lnTo>
                  <a:pt x="8" y="96"/>
                </a:lnTo>
                <a:lnTo>
                  <a:pt x="6" y="96"/>
                </a:lnTo>
                <a:lnTo>
                  <a:pt x="2" y="98"/>
                </a:lnTo>
                <a:lnTo>
                  <a:pt x="0" y="102"/>
                </a:lnTo>
                <a:lnTo>
                  <a:pt x="0" y="104"/>
                </a:lnTo>
                <a:lnTo>
                  <a:pt x="0" y="126"/>
                </a:lnTo>
                <a:lnTo>
                  <a:pt x="0" y="126"/>
                </a:lnTo>
                <a:lnTo>
                  <a:pt x="0" y="130"/>
                </a:lnTo>
                <a:lnTo>
                  <a:pt x="2" y="132"/>
                </a:lnTo>
                <a:lnTo>
                  <a:pt x="6" y="134"/>
                </a:lnTo>
                <a:lnTo>
                  <a:pt x="8" y="136"/>
                </a:lnTo>
                <a:lnTo>
                  <a:pt x="66" y="136"/>
                </a:lnTo>
                <a:lnTo>
                  <a:pt x="66" y="136"/>
                </a:lnTo>
                <a:lnTo>
                  <a:pt x="80" y="134"/>
                </a:lnTo>
                <a:lnTo>
                  <a:pt x="92" y="130"/>
                </a:lnTo>
                <a:lnTo>
                  <a:pt x="104" y="124"/>
                </a:lnTo>
                <a:lnTo>
                  <a:pt x="114" y="116"/>
                </a:lnTo>
                <a:lnTo>
                  <a:pt x="124" y="104"/>
                </a:lnTo>
                <a:lnTo>
                  <a:pt x="130" y="94"/>
                </a:lnTo>
                <a:lnTo>
                  <a:pt x="134" y="80"/>
                </a:lnTo>
                <a:lnTo>
                  <a:pt x="134" y="66"/>
                </a:lnTo>
                <a:lnTo>
                  <a:pt x="134" y="8"/>
                </a:lnTo>
                <a:lnTo>
                  <a:pt x="134" y="8"/>
                </a:lnTo>
                <a:lnTo>
                  <a:pt x="134" y="6"/>
                </a:lnTo>
                <a:lnTo>
                  <a:pt x="132" y="2"/>
                </a:lnTo>
                <a:lnTo>
                  <a:pt x="130" y="0"/>
                </a:lnTo>
                <a:lnTo>
                  <a:pt x="126" y="0"/>
                </a:lnTo>
                <a:lnTo>
                  <a:pt x="12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2" name="Freeform 250"/>
          <p:cNvSpPr>
            <a:spLocks/>
          </p:cNvSpPr>
          <p:nvPr/>
        </p:nvSpPr>
        <p:spPr bwMode="auto">
          <a:xfrm>
            <a:off x="4986922" y="7995942"/>
            <a:ext cx="70340" cy="71533"/>
          </a:xfrm>
          <a:custGeom>
            <a:avLst/>
            <a:gdLst>
              <a:gd name="T0" fmla="*/ 118 w 118"/>
              <a:gd name="T1" fmla="*/ 0 h 120"/>
              <a:gd name="T2" fmla="*/ 118 w 118"/>
              <a:gd name="T3" fmla="*/ 0 h 120"/>
              <a:gd name="T4" fmla="*/ 118 w 118"/>
              <a:gd name="T5" fmla="*/ 0 h 120"/>
              <a:gd name="T6" fmla="*/ 118 w 118"/>
              <a:gd name="T7" fmla="*/ 58 h 120"/>
              <a:gd name="T8" fmla="*/ 118 w 118"/>
              <a:gd name="T9" fmla="*/ 58 h 120"/>
              <a:gd name="T10" fmla="*/ 118 w 118"/>
              <a:gd name="T11" fmla="*/ 70 h 120"/>
              <a:gd name="T12" fmla="*/ 114 w 118"/>
              <a:gd name="T13" fmla="*/ 82 h 120"/>
              <a:gd name="T14" fmla="*/ 108 w 118"/>
              <a:gd name="T15" fmla="*/ 92 h 120"/>
              <a:gd name="T16" fmla="*/ 102 w 118"/>
              <a:gd name="T17" fmla="*/ 102 h 120"/>
              <a:gd name="T18" fmla="*/ 92 w 118"/>
              <a:gd name="T19" fmla="*/ 108 h 120"/>
              <a:gd name="T20" fmla="*/ 82 w 118"/>
              <a:gd name="T21" fmla="*/ 114 h 120"/>
              <a:gd name="T22" fmla="*/ 70 w 118"/>
              <a:gd name="T23" fmla="*/ 118 h 120"/>
              <a:gd name="T24" fmla="*/ 58 w 118"/>
              <a:gd name="T25" fmla="*/ 120 h 120"/>
              <a:gd name="T26" fmla="*/ 0 w 118"/>
              <a:gd name="T27" fmla="*/ 120 h 120"/>
              <a:gd name="T28" fmla="*/ 0 w 118"/>
              <a:gd name="T29" fmla="*/ 120 h 120"/>
              <a:gd name="T30" fmla="*/ 0 w 118"/>
              <a:gd name="T31" fmla="*/ 118 h 120"/>
              <a:gd name="T32" fmla="*/ 0 w 118"/>
              <a:gd name="T33" fmla="*/ 96 h 120"/>
              <a:gd name="T34" fmla="*/ 0 w 118"/>
              <a:gd name="T35" fmla="*/ 96 h 120"/>
              <a:gd name="T36" fmla="*/ 0 w 118"/>
              <a:gd name="T37" fmla="*/ 96 h 120"/>
              <a:gd name="T38" fmla="*/ 58 w 118"/>
              <a:gd name="T39" fmla="*/ 96 h 120"/>
              <a:gd name="T40" fmla="*/ 58 w 118"/>
              <a:gd name="T41" fmla="*/ 96 h 120"/>
              <a:gd name="T42" fmla="*/ 66 w 118"/>
              <a:gd name="T43" fmla="*/ 96 h 120"/>
              <a:gd name="T44" fmla="*/ 72 w 118"/>
              <a:gd name="T45" fmla="*/ 94 h 120"/>
              <a:gd name="T46" fmla="*/ 80 w 118"/>
              <a:gd name="T47" fmla="*/ 90 h 120"/>
              <a:gd name="T48" fmla="*/ 84 w 118"/>
              <a:gd name="T49" fmla="*/ 86 h 120"/>
              <a:gd name="T50" fmla="*/ 90 w 118"/>
              <a:gd name="T51" fmla="*/ 80 h 120"/>
              <a:gd name="T52" fmla="*/ 92 w 118"/>
              <a:gd name="T53" fmla="*/ 72 h 120"/>
              <a:gd name="T54" fmla="*/ 94 w 118"/>
              <a:gd name="T55" fmla="*/ 66 h 120"/>
              <a:gd name="T56" fmla="*/ 96 w 118"/>
              <a:gd name="T57" fmla="*/ 58 h 120"/>
              <a:gd name="T58" fmla="*/ 96 w 118"/>
              <a:gd name="T59" fmla="*/ 0 h 120"/>
              <a:gd name="T60" fmla="*/ 96 w 118"/>
              <a:gd name="T61" fmla="*/ 0 h 120"/>
              <a:gd name="T62" fmla="*/ 96 w 118"/>
              <a:gd name="T63" fmla="*/ 0 h 120"/>
              <a:gd name="T64" fmla="*/ 118 w 118"/>
              <a:gd name="T65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8" h="120">
                <a:moveTo>
                  <a:pt x="118" y="0"/>
                </a:moveTo>
                <a:lnTo>
                  <a:pt x="118" y="0"/>
                </a:lnTo>
                <a:lnTo>
                  <a:pt x="118" y="0"/>
                </a:lnTo>
                <a:lnTo>
                  <a:pt x="118" y="58"/>
                </a:lnTo>
                <a:lnTo>
                  <a:pt x="118" y="58"/>
                </a:lnTo>
                <a:lnTo>
                  <a:pt x="118" y="70"/>
                </a:lnTo>
                <a:lnTo>
                  <a:pt x="114" y="82"/>
                </a:lnTo>
                <a:lnTo>
                  <a:pt x="108" y="92"/>
                </a:lnTo>
                <a:lnTo>
                  <a:pt x="102" y="102"/>
                </a:lnTo>
                <a:lnTo>
                  <a:pt x="92" y="108"/>
                </a:lnTo>
                <a:lnTo>
                  <a:pt x="82" y="114"/>
                </a:lnTo>
                <a:lnTo>
                  <a:pt x="70" y="118"/>
                </a:lnTo>
                <a:lnTo>
                  <a:pt x="58" y="120"/>
                </a:lnTo>
                <a:lnTo>
                  <a:pt x="0" y="120"/>
                </a:lnTo>
                <a:lnTo>
                  <a:pt x="0" y="120"/>
                </a:lnTo>
                <a:lnTo>
                  <a:pt x="0" y="118"/>
                </a:lnTo>
                <a:lnTo>
                  <a:pt x="0" y="96"/>
                </a:lnTo>
                <a:lnTo>
                  <a:pt x="0" y="96"/>
                </a:lnTo>
                <a:lnTo>
                  <a:pt x="0" y="96"/>
                </a:lnTo>
                <a:lnTo>
                  <a:pt x="58" y="96"/>
                </a:lnTo>
                <a:lnTo>
                  <a:pt x="58" y="96"/>
                </a:lnTo>
                <a:lnTo>
                  <a:pt x="66" y="96"/>
                </a:lnTo>
                <a:lnTo>
                  <a:pt x="72" y="94"/>
                </a:lnTo>
                <a:lnTo>
                  <a:pt x="80" y="90"/>
                </a:lnTo>
                <a:lnTo>
                  <a:pt x="84" y="86"/>
                </a:lnTo>
                <a:lnTo>
                  <a:pt x="90" y="80"/>
                </a:lnTo>
                <a:lnTo>
                  <a:pt x="92" y="72"/>
                </a:lnTo>
                <a:lnTo>
                  <a:pt x="94" y="66"/>
                </a:lnTo>
                <a:lnTo>
                  <a:pt x="96" y="58"/>
                </a:lnTo>
                <a:lnTo>
                  <a:pt x="96" y="0"/>
                </a:lnTo>
                <a:lnTo>
                  <a:pt x="96" y="0"/>
                </a:lnTo>
                <a:lnTo>
                  <a:pt x="96" y="0"/>
                </a:lnTo>
                <a:lnTo>
                  <a:pt x="118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3" name="Freeform 251"/>
          <p:cNvSpPr>
            <a:spLocks/>
          </p:cNvSpPr>
          <p:nvPr/>
        </p:nvSpPr>
        <p:spPr bwMode="auto">
          <a:xfrm>
            <a:off x="4982153" y="7991174"/>
            <a:ext cx="79878" cy="81070"/>
          </a:xfrm>
          <a:custGeom>
            <a:avLst/>
            <a:gdLst>
              <a:gd name="T0" fmla="*/ 126 w 134"/>
              <a:gd name="T1" fmla="*/ 0 h 136"/>
              <a:gd name="T2" fmla="*/ 104 w 134"/>
              <a:gd name="T3" fmla="*/ 0 h 136"/>
              <a:gd name="T4" fmla="*/ 104 w 134"/>
              <a:gd name="T5" fmla="*/ 0 h 136"/>
              <a:gd name="T6" fmla="*/ 102 w 134"/>
              <a:gd name="T7" fmla="*/ 0 h 136"/>
              <a:gd name="T8" fmla="*/ 98 w 134"/>
              <a:gd name="T9" fmla="*/ 2 h 136"/>
              <a:gd name="T10" fmla="*/ 96 w 134"/>
              <a:gd name="T11" fmla="*/ 6 h 136"/>
              <a:gd name="T12" fmla="*/ 96 w 134"/>
              <a:gd name="T13" fmla="*/ 8 h 136"/>
              <a:gd name="T14" fmla="*/ 96 w 134"/>
              <a:gd name="T15" fmla="*/ 66 h 136"/>
              <a:gd name="T16" fmla="*/ 96 w 134"/>
              <a:gd name="T17" fmla="*/ 66 h 136"/>
              <a:gd name="T18" fmla="*/ 96 w 134"/>
              <a:gd name="T19" fmla="*/ 72 h 136"/>
              <a:gd name="T20" fmla="*/ 94 w 134"/>
              <a:gd name="T21" fmla="*/ 78 h 136"/>
              <a:gd name="T22" fmla="*/ 86 w 134"/>
              <a:gd name="T23" fmla="*/ 88 h 136"/>
              <a:gd name="T24" fmla="*/ 78 w 134"/>
              <a:gd name="T25" fmla="*/ 94 h 136"/>
              <a:gd name="T26" fmla="*/ 72 w 134"/>
              <a:gd name="T27" fmla="*/ 96 h 136"/>
              <a:gd name="T28" fmla="*/ 66 w 134"/>
              <a:gd name="T29" fmla="*/ 96 h 136"/>
              <a:gd name="T30" fmla="*/ 8 w 134"/>
              <a:gd name="T31" fmla="*/ 96 h 136"/>
              <a:gd name="T32" fmla="*/ 8 w 134"/>
              <a:gd name="T33" fmla="*/ 96 h 136"/>
              <a:gd name="T34" fmla="*/ 6 w 134"/>
              <a:gd name="T35" fmla="*/ 96 h 136"/>
              <a:gd name="T36" fmla="*/ 2 w 134"/>
              <a:gd name="T37" fmla="*/ 98 h 136"/>
              <a:gd name="T38" fmla="*/ 0 w 134"/>
              <a:gd name="T39" fmla="*/ 102 h 136"/>
              <a:gd name="T40" fmla="*/ 0 w 134"/>
              <a:gd name="T41" fmla="*/ 104 h 136"/>
              <a:gd name="T42" fmla="*/ 0 w 134"/>
              <a:gd name="T43" fmla="*/ 126 h 136"/>
              <a:gd name="T44" fmla="*/ 0 w 134"/>
              <a:gd name="T45" fmla="*/ 126 h 136"/>
              <a:gd name="T46" fmla="*/ 0 w 134"/>
              <a:gd name="T47" fmla="*/ 130 h 136"/>
              <a:gd name="T48" fmla="*/ 2 w 134"/>
              <a:gd name="T49" fmla="*/ 132 h 136"/>
              <a:gd name="T50" fmla="*/ 6 w 134"/>
              <a:gd name="T51" fmla="*/ 134 h 136"/>
              <a:gd name="T52" fmla="*/ 8 w 134"/>
              <a:gd name="T53" fmla="*/ 136 h 136"/>
              <a:gd name="T54" fmla="*/ 66 w 134"/>
              <a:gd name="T55" fmla="*/ 136 h 136"/>
              <a:gd name="T56" fmla="*/ 66 w 134"/>
              <a:gd name="T57" fmla="*/ 136 h 136"/>
              <a:gd name="T58" fmla="*/ 80 w 134"/>
              <a:gd name="T59" fmla="*/ 134 h 136"/>
              <a:gd name="T60" fmla="*/ 92 w 134"/>
              <a:gd name="T61" fmla="*/ 130 h 136"/>
              <a:gd name="T62" fmla="*/ 104 w 134"/>
              <a:gd name="T63" fmla="*/ 124 h 136"/>
              <a:gd name="T64" fmla="*/ 114 w 134"/>
              <a:gd name="T65" fmla="*/ 116 h 136"/>
              <a:gd name="T66" fmla="*/ 124 w 134"/>
              <a:gd name="T67" fmla="*/ 104 h 136"/>
              <a:gd name="T68" fmla="*/ 130 w 134"/>
              <a:gd name="T69" fmla="*/ 94 h 136"/>
              <a:gd name="T70" fmla="*/ 134 w 134"/>
              <a:gd name="T71" fmla="*/ 80 h 136"/>
              <a:gd name="T72" fmla="*/ 134 w 134"/>
              <a:gd name="T73" fmla="*/ 66 h 136"/>
              <a:gd name="T74" fmla="*/ 134 w 134"/>
              <a:gd name="T75" fmla="*/ 8 h 136"/>
              <a:gd name="T76" fmla="*/ 134 w 134"/>
              <a:gd name="T77" fmla="*/ 8 h 136"/>
              <a:gd name="T78" fmla="*/ 134 w 134"/>
              <a:gd name="T79" fmla="*/ 6 h 136"/>
              <a:gd name="T80" fmla="*/ 132 w 134"/>
              <a:gd name="T81" fmla="*/ 2 h 136"/>
              <a:gd name="T82" fmla="*/ 130 w 134"/>
              <a:gd name="T83" fmla="*/ 0 h 136"/>
              <a:gd name="T84" fmla="*/ 126 w 134"/>
              <a:gd name="T85" fmla="*/ 0 h 136"/>
              <a:gd name="T86" fmla="*/ 126 w 134"/>
              <a:gd name="T87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4" h="136">
                <a:moveTo>
                  <a:pt x="126" y="0"/>
                </a:moveTo>
                <a:lnTo>
                  <a:pt x="104" y="0"/>
                </a:lnTo>
                <a:lnTo>
                  <a:pt x="104" y="0"/>
                </a:lnTo>
                <a:lnTo>
                  <a:pt x="102" y="0"/>
                </a:lnTo>
                <a:lnTo>
                  <a:pt x="98" y="2"/>
                </a:lnTo>
                <a:lnTo>
                  <a:pt x="96" y="6"/>
                </a:lnTo>
                <a:lnTo>
                  <a:pt x="96" y="8"/>
                </a:lnTo>
                <a:lnTo>
                  <a:pt x="96" y="66"/>
                </a:lnTo>
                <a:lnTo>
                  <a:pt x="96" y="66"/>
                </a:lnTo>
                <a:lnTo>
                  <a:pt x="96" y="72"/>
                </a:lnTo>
                <a:lnTo>
                  <a:pt x="94" y="78"/>
                </a:lnTo>
                <a:lnTo>
                  <a:pt x="86" y="88"/>
                </a:lnTo>
                <a:lnTo>
                  <a:pt x="78" y="94"/>
                </a:lnTo>
                <a:lnTo>
                  <a:pt x="72" y="96"/>
                </a:lnTo>
                <a:lnTo>
                  <a:pt x="66" y="96"/>
                </a:lnTo>
                <a:lnTo>
                  <a:pt x="8" y="96"/>
                </a:lnTo>
                <a:lnTo>
                  <a:pt x="8" y="96"/>
                </a:lnTo>
                <a:lnTo>
                  <a:pt x="6" y="96"/>
                </a:lnTo>
                <a:lnTo>
                  <a:pt x="2" y="98"/>
                </a:lnTo>
                <a:lnTo>
                  <a:pt x="0" y="102"/>
                </a:lnTo>
                <a:lnTo>
                  <a:pt x="0" y="104"/>
                </a:lnTo>
                <a:lnTo>
                  <a:pt x="0" y="126"/>
                </a:lnTo>
                <a:lnTo>
                  <a:pt x="0" y="126"/>
                </a:lnTo>
                <a:lnTo>
                  <a:pt x="0" y="130"/>
                </a:lnTo>
                <a:lnTo>
                  <a:pt x="2" y="132"/>
                </a:lnTo>
                <a:lnTo>
                  <a:pt x="6" y="134"/>
                </a:lnTo>
                <a:lnTo>
                  <a:pt x="8" y="136"/>
                </a:lnTo>
                <a:lnTo>
                  <a:pt x="66" y="136"/>
                </a:lnTo>
                <a:lnTo>
                  <a:pt x="66" y="136"/>
                </a:lnTo>
                <a:lnTo>
                  <a:pt x="80" y="134"/>
                </a:lnTo>
                <a:lnTo>
                  <a:pt x="92" y="130"/>
                </a:lnTo>
                <a:lnTo>
                  <a:pt x="104" y="124"/>
                </a:lnTo>
                <a:lnTo>
                  <a:pt x="114" y="116"/>
                </a:lnTo>
                <a:lnTo>
                  <a:pt x="124" y="104"/>
                </a:lnTo>
                <a:lnTo>
                  <a:pt x="130" y="94"/>
                </a:lnTo>
                <a:lnTo>
                  <a:pt x="134" y="80"/>
                </a:lnTo>
                <a:lnTo>
                  <a:pt x="134" y="66"/>
                </a:lnTo>
                <a:lnTo>
                  <a:pt x="134" y="8"/>
                </a:lnTo>
                <a:lnTo>
                  <a:pt x="134" y="8"/>
                </a:lnTo>
                <a:lnTo>
                  <a:pt x="134" y="6"/>
                </a:lnTo>
                <a:lnTo>
                  <a:pt x="132" y="2"/>
                </a:lnTo>
                <a:lnTo>
                  <a:pt x="130" y="0"/>
                </a:lnTo>
                <a:lnTo>
                  <a:pt x="126" y="0"/>
                </a:lnTo>
                <a:lnTo>
                  <a:pt x="126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4" name="Freeform 252"/>
          <p:cNvSpPr>
            <a:spLocks noEditPoints="1"/>
          </p:cNvSpPr>
          <p:nvPr/>
        </p:nvSpPr>
        <p:spPr bwMode="auto">
          <a:xfrm>
            <a:off x="4982153" y="7869568"/>
            <a:ext cx="79878" cy="79878"/>
          </a:xfrm>
          <a:custGeom>
            <a:avLst/>
            <a:gdLst>
              <a:gd name="T0" fmla="*/ 66 w 134"/>
              <a:gd name="T1" fmla="*/ 8 h 134"/>
              <a:gd name="T2" fmla="*/ 90 w 134"/>
              <a:gd name="T3" fmla="*/ 12 h 134"/>
              <a:gd name="T4" fmla="*/ 110 w 134"/>
              <a:gd name="T5" fmla="*/ 26 h 134"/>
              <a:gd name="T6" fmla="*/ 122 w 134"/>
              <a:gd name="T7" fmla="*/ 44 h 134"/>
              <a:gd name="T8" fmla="*/ 126 w 134"/>
              <a:gd name="T9" fmla="*/ 68 h 134"/>
              <a:gd name="T10" fmla="*/ 126 w 134"/>
              <a:gd name="T11" fmla="*/ 126 h 134"/>
              <a:gd name="T12" fmla="*/ 104 w 134"/>
              <a:gd name="T13" fmla="*/ 126 h 134"/>
              <a:gd name="T14" fmla="*/ 104 w 134"/>
              <a:gd name="T15" fmla="*/ 126 h 134"/>
              <a:gd name="T16" fmla="*/ 104 w 134"/>
              <a:gd name="T17" fmla="*/ 68 h 134"/>
              <a:gd name="T18" fmla="*/ 100 w 134"/>
              <a:gd name="T19" fmla="*/ 54 h 134"/>
              <a:gd name="T20" fmla="*/ 92 w 134"/>
              <a:gd name="T21" fmla="*/ 42 h 134"/>
              <a:gd name="T22" fmla="*/ 80 w 134"/>
              <a:gd name="T23" fmla="*/ 34 h 134"/>
              <a:gd name="T24" fmla="*/ 66 w 134"/>
              <a:gd name="T25" fmla="*/ 30 h 134"/>
              <a:gd name="T26" fmla="*/ 8 w 134"/>
              <a:gd name="T27" fmla="*/ 30 h 134"/>
              <a:gd name="T28" fmla="*/ 8 w 134"/>
              <a:gd name="T29" fmla="*/ 8 h 134"/>
              <a:gd name="T30" fmla="*/ 8 w 134"/>
              <a:gd name="T31" fmla="*/ 8 h 134"/>
              <a:gd name="T32" fmla="*/ 66 w 134"/>
              <a:gd name="T33" fmla="*/ 0 h 134"/>
              <a:gd name="T34" fmla="*/ 8 w 134"/>
              <a:gd name="T35" fmla="*/ 0 h 134"/>
              <a:gd name="T36" fmla="*/ 2 w 134"/>
              <a:gd name="T37" fmla="*/ 2 h 134"/>
              <a:gd name="T38" fmla="*/ 0 w 134"/>
              <a:gd name="T39" fmla="*/ 8 h 134"/>
              <a:gd name="T40" fmla="*/ 0 w 134"/>
              <a:gd name="T41" fmla="*/ 30 h 134"/>
              <a:gd name="T42" fmla="*/ 2 w 134"/>
              <a:gd name="T43" fmla="*/ 36 h 134"/>
              <a:gd name="T44" fmla="*/ 8 w 134"/>
              <a:gd name="T45" fmla="*/ 38 h 134"/>
              <a:gd name="T46" fmla="*/ 66 w 134"/>
              <a:gd name="T47" fmla="*/ 38 h 134"/>
              <a:gd name="T48" fmla="*/ 78 w 134"/>
              <a:gd name="T49" fmla="*/ 40 h 134"/>
              <a:gd name="T50" fmla="*/ 94 w 134"/>
              <a:gd name="T51" fmla="*/ 56 h 134"/>
              <a:gd name="T52" fmla="*/ 96 w 134"/>
              <a:gd name="T53" fmla="*/ 68 h 134"/>
              <a:gd name="T54" fmla="*/ 96 w 134"/>
              <a:gd name="T55" fmla="*/ 126 h 134"/>
              <a:gd name="T56" fmla="*/ 98 w 134"/>
              <a:gd name="T57" fmla="*/ 132 h 134"/>
              <a:gd name="T58" fmla="*/ 104 w 134"/>
              <a:gd name="T59" fmla="*/ 134 h 134"/>
              <a:gd name="T60" fmla="*/ 126 w 134"/>
              <a:gd name="T61" fmla="*/ 134 h 134"/>
              <a:gd name="T62" fmla="*/ 132 w 134"/>
              <a:gd name="T63" fmla="*/ 132 h 134"/>
              <a:gd name="T64" fmla="*/ 134 w 134"/>
              <a:gd name="T65" fmla="*/ 126 h 134"/>
              <a:gd name="T66" fmla="*/ 134 w 134"/>
              <a:gd name="T67" fmla="*/ 68 h 134"/>
              <a:gd name="T68" fmla="*/ 130 w 134"/>
              <a:gd name="T69" fmla="*/ 42 h 134"/>
              <a:gd name="T70" fmla="*/ 114 w 134"/>
              <a:gd name="T71" fmla="*/ 20 h 134"/>
              <a:gd name="T72" fmla="*/ 92 w 134"/>
              <a:gd name="T73" fmla="*/ 4 h 134"/>
              <a:gd name="T74" fmla="*/ 66 w 134"/>
              <a:gd name="T75" fmla="*/ 0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4" h="134">
                <a:moveTo>
                  <a:pt x="66" y="8"/>
                </a:moveTo>
                <a:lnTo>
                  <a:pt x="66" y="8"/>
                </a:lnTo>
                <a:lnTo>
                  <a:pt x="78" y="8"/>
                </a:lnTo>
                <a:lnTo>
                  <a:pt x="90" y="12"/>
                </a:lnTo>
                <a:lnTo>
                  <a:pt x="100" y="18"/>
                </a:lnTo>
                <a:lnTo>
                  <a:pt x="110" y="26"/>
                </a:lnTo>
                <a:lnTo>
                  <a:pt x="116" y="34"/>
                </a:lnTo>
                <a:lnTo>
                  <a:pt x="122" y="44"/>
                </a:lnTo>
                <a:lnTo>
                  <a:pt x="126" y="56"/>
                </a:lnTo>
                <a:lnTo>
                  <a:pt x="126" y="68"/>
                </a:lnTo>
                <a:lnTo>
                  <a:pt x="126" y="126"/>
                </a:lnTo>
                <a:lnTo>
                  <a:pt x="126" y="126"/>
                </a:lnTo>
                <a:lnTo>
                  <a:pt x="126" y="126"/>
                </a:lnTo>
                <a:lnTo>
                  <a:pt x="104" y="126"/>
                </a:lnTo>
                <a:lnTo>
                  <a:pt x="104" y="126"/>
                </a:lnTo>
                <a:lnTo>
                  <a:pt x="104" y="126"/>
                </a:lnTo>
                <a:lnTo>
                  <a:pt x="104" y="68"/>
                </a:lnTo>
                <a:lnTo>
                  <a:pt x="104" y="68"/>
                </a:lnTo>
                <a:lnTo>
                  <a:pt x="102" y="60"/>
                </a:lnTo>
                <a:lnTo>
                  <a:pt x="100" y="54"/>
                </a:lnTo>
                <a:lnTo>
                  <a:pt x="98" y="48"/>
                </a:lnTo>
                <a:lnTo>
                  <a:pt x="92" y="42"/>
                </a:lnTo>
                <a:lnTo>
                  <a:pt x="88" y="36"/>
                </a:lnTo>
                <a:lnTo>
                  <a:pt x="80" y="34"/>
                </a:lnTo>
                <a:lnTo>
                  <a:pt x="74" y="32"/>
                </a:lnTo>
                <a:lnTo>
                  <a:pt x="66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8"/>
                </a:lnTo>
                <a:lnTo>
                  <a:pt x="8" y="8"/>
                </a:lnTo>
                <a:lnTo>
                  <a:pt x="8" y="8"/>
                </a:lnTo>
                <a:lnTo>
                  <a:pt x="66" y="8"/>
                </a:lnTo>
                <a:close/>
                <a:moveTo>
                  <a:pt x="66" y="0"/>
                </a:moveTo>
                <a:lnTo>
                  <a:pt x="8" y="0"/>
                </a:lnTo>
                <a:lnTo>
                  <a:pt x="8" y="0"/>
                </a:lnTo>
                <a:lnTo>
                  <a:pt x="6" y="0"/>
                </a:lnTo>
                <a:lnTo>
                  <a:pt x="2" y="2"/>
                </a:lnTo>
                <a:lnTo>
                  <a:pt x="0" y="4"/>
                </a:lnTo>
                <a:lnTo>
                  <a:pt x="0" y="8"/>
                </a:lnTo>
                <a:lnTo>
                  <a:pt x="0" y="30"/>
                </a:lnTo>
                <a:lnTo>
                  <a:pt x="0" y="30"/>
                </a:lnTo>
                <a:lnTo>
                  <a:pt x="0" y="34"/>
                </a:lnTo>
                <a:lnTo>
                  <a:pt x="2" y="36"/>
                </a:lnTo>
                <a:lnTo>
                  <a:pt x="6" y="38"/>
                </a:lnTo>
                <a:lnTo>
                  <a:pt x="8" y="38"/>
                </a:lnTo>
                <a:lnTo>
                  <a:pt x="66" y="38"/>
                </a:lnTo>
                <a:lnTo>
                  <a:pt x="66" y="38"/>
                </a:lnTo>
                <a:lnTo>
                  <a:pt x="72" y="40"/>
                </a:lnTo>
                <a:lnTo>
                  <a:pt x="78" y="40"/>
                </a:lnTo>
                <a:lnTo>
                  <a:pt x="86" y="48"/>
                </a:lnTo>
                <a:lnTo>
                  <a:pt x="94" y="56"/>
                </a:lnTo>
                <a:lnTo>
                  <a:pt x="96" y="62"/>
                </a:lnTo>
                <a:lnTo>
                  <a:pt x="96" y="68"/>
                </a:lnTo>
                <a:lnTo>
                  <a:pt x="96" y="126"/>
                </a:lnTo>
                <a:lnTo>
                  <a:pt x="96" y="126"/>
                </a:lnTo>
                <a:lnTo>
                  <a:pt x="96" y="130"/>
                </a:lnTo>
                <a:lnTo>
                  <a:pt x="98" y="132"/>
                </a:lnTo>
                <a:lnTo>
                  <a:pt x="102" y="134"/>
                </a:lnTo>
                <a:lnTo>
                  <a:pt x="104" y="134"/>
                </a:lnTo>
                <a:lnTo>
                  <a:pt x="126" y="134"/>
                </a:lnTo>
                <a:lnTo>
                  <a:pt x="126" y="134"/>
                </a:lnTo>
                <a:lnTo>
                  <a:pt x="130" y="134"/>
                </a:lnTo>
                <a:lnTo>
                  <a:pt x="132" y="132"/>
                </a:lnTo>
                <a:lnTo>
                  <a:pt x="134" y="130"/>
                </a:lnTo>
                <a:lnTo>
                  <a:pt x="134" y="126"/>
                </a:lnTo>
                <a:lnTo>
                  <a:pt x="134" y="68"/>
                </a:lnTo>
                <a:lnTo>
                  <a:pt x="134" y="68"/>
                </a:lnTo>
                <a:lnTo>
                  <a:pt x="134" y="54"/>
                </a:lnTo>
                <a:lnTo>
                  <a:pt x="130" y="42"/>
                </a:lnTo>
                <a:lnTo>
                  <a:pt x="124" y="30"/>
                </a:lnTo>
                <a:lnTo>
                  <a:pt x="114" y="20"/>
                </a:lnTo>
                <a:lnTo>
                  <a:pt x="104" y="12"/>
                </a:lnTo>
                <a:lnTo>
                  <a:pt x="92" y="4"/>
                </a:lnTo>
                <a:lnTo>
                  <a:pt x="80" y="0"/>
                </a:lnTo>
                <a:lnTo>
                  <a:pt x="66" y="0"/>
                </a:lnTo>
                <a:lnTo>
                  <a:pt x="6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5" name="Freeform 253"/>
          <p:cNvSpPr>
            <a:spLocks/>
          </p:cNvSpPr>
          <p:nvPr/>
        </p:nvSpPr>
        <p:spPr bwMode="auto">
          <a:xfrm>
            <a:off x="4986922" y="7874337"/>
            <a:ext cx="70340" cy="70340"/>
          </a:xfrm>
          <a:custGeom>
            <a:avLst/>
            <a:gdLst>
              <a:gd name="T0" fmla="*/ 58 w 118"/>
              <a:gd name="T1" fmla="*/ 0 h 118"/>
              <a:gd name="T2" fmla="*/ 58 w 118"/>
              <a:gd name="T3" fmla="*/ 0 h 118"/>
              <a:gd name="T4" fmla="*/ 70 w 118"/>
              <a:gd name="T5" fmla="*/ 0 h 118"/>
              <a:gd name="T6" fmla="*/ 82 w 118"/>
              <a:gd name="T7" fmla="*/ 4 h 118"/>
              <a:gd name="T8" fmla="*/ 92 w 118"/>
              <a:gd name="T9" fmla="*/ 10 h 118"/>
              <a:gd name="T10" fmla="*/ 102 w 118"/>
              <a:gd name="T11" fmla="*/ 18 h 118"/>
              <a:gd name="T12" fmla="*/ 108 w 118"/>
              <a:gd name="T13" fmla="*/ 26 h 118"/>
              <a:gd name="T14" fmla="*/ 114 w 118"/>
              <a:gd name="T15" fmla="*/ 36 h 118"/>
              <a:gd name="T16" fmla="*/ 118 w 118"/>
              <a:gd name="T17" fmla="*/ 48 h 118"/>
              <a:gd name="T18" fmla="*/ 118 w 118"/>
              <a:gd name="T19" fmla="*/ 60 h 118"/>
              <a:gd name="T20" fmla="*/ 118 w 118"/>
              <a:gd name="T21" fmla="*/ 118 h 118"/>
              <a:gd name="T22" fmla="*/ 118 w 118"/>
              <a:gd name="T23" fmla="*/ 118 h 118"/>
              <a:gd name="T24" fmla="*/ 118 w 118"/>
              <a:gd name="T25" fmla="*/ 118 h 118"/>
              <a:gd name="T26" fmla="*/ 96 w 118"/>
              <a:gd name="T27" fmla="*/ 118 h 118"/>
              <a:gd name="T28" fmla="*/ 96 w 118"/>
              <a:gd name="T29" fmla="*/ 118 h 118"/>
              <a:gd name="T30" fmla="*/ 96 w 118"/>
              <a:gd name="T31" fmla="*/ 118 h 118"/>
              <a:gd name="T32" fmla="*/ 96 w 118"/>
              <a:gd name="T33" fmla="*/ 60 h 118"/>
              <a:gd name="T34" fmla="*/ 96 w 118"/>
              <a:gd name="T35" fmla="*/ 60 h 118"/>
              <a:gd name="T36" fmla="*/ 94 w 118"/>
              <a:gd name="T37" fmla="*/ 52 h 118"/>
              <a:gd name="T38" fmla="*/ 92 w 118"/>
              <a:gd name="T39" fmla="*/ 46 h 118"/>
              <a:gd name="T40" fmla="*/ 90 w 118"/>
              <a:gd name="T41" fmla="*/ 40 h 118"/>
              <a:gd name="T42" fmla="*/ 84 w 118"/>
              <a:gd name="T43" fmla="*/ 34 h 118"/>
              <a:gd name="T44" fmla="*/ 80 w 118"/>
              <a:gd name="T45" fmla="*/ 28 h 118"/>
              <a:gd name="T46" fmla="*/ 72 w 118"/>
              <a:gd name="T47" fmla="*/ 26 h 118"/>
              <a:gd name="T48" fmla="*/ 66 w 118"/>
              <a:gd name="T49" fmla="*/ 24 h 118"/>
              <a:gd name="T50" fmla="*/ 58 w 118"/>
              <a:gd name="T51" fmla="*/ 22 h 118"/>
              <a:gd name="T52" fmla="*/ 0 w 118"/>
              <a:gd name="T53" fmla="*/ 22 h 118"/>
              <a:gd name="T54" fmla="*/ 0 w 118"/>
              <a:gd name="T55" fmla="*/ 22 h 118"/>
              <a:gd name="T56" fmla="*/ 0 w 118"/>
              <a:gd name="T57" fmla="*/ 22 h 118"/>
              <a:gd name="T58" fmla="*/ 0 w 118"/>
              <a:gd name="T59" fmla="*/ 0 h 118"/>
              <a:gd name="T60" fmla="*/ 0 w 118"/>
              <a:gd name="T61" fmla="*/ 0 h 118"/>
              <a:gd name="T62" fmla="*/ 0 w 118"/>
              <a:gd name="T63" fmla="*/ 0 h 118"/>
              <a:gd name="T64" fmla="*/ 58 w 118"/>
              <a:gd name="T65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8" h="118">
                <a:moveTo>
                  <a:pt x="58" y="0"/>
                </a:moveTo>
                <a:lnTo>
                  <a:pt x="58" y="0"/>
                </a:lnTo>
                <a:lnTo>
                  <a:pt x="70" y="0"/>
                </a:lnTo>
                <a:lnTo>
                  <a:pt x="82" y="4"/>
                </a:lnTo>
                <a:lnTo>
                  <a:pt x="92" y="10"/>
                </a:lnTo>
                <a:lnTo>
                  <a:pt x="102" y="18"/>
                </a:lnTo>
                <a:lnTo>
                  <a:pt x="108" y="26"/>
                </a:lnTo>
                <a:lnTo>
                  <a:pt x="114" y="36"/>
                </a:lnTo>
                <a:lnTo>
                  <a:pt x="118" y="48"/>
                </a:lnTo>
                <a:lnTo>
                  <a:pt x="118" y="60"/>
                </a:lnTo>
                <a:lnTo>
                  <a:pt x="118" y="118"/>
                </a:lnTo>
                <a:lnTo>
                  <a:pt x="118" y="118"/>
                </a:lnTo>
                <a:lnTo>
                  <a:pt x="118" y="118"/>
                </a:lnTo>
                <a:lnTo>
                  <a:pt x="96" y="118"/>
                </a:lnTo>
                <a:lnTo>
                  <a:pt x="96" y="118"/>
                </a:lnTo>
                <a:lnTo>
                  <a:pt x="96" y="118"/>
                </a:lnTo>
                <a:lnTo>
                  <a:pt x="96" y="60"/>
                </a:lnTo>
                <a:lnTo>
                  <a:pt x="96" y="60"/>
                </a:lnTo>
                <a:lnTo>
                  <a:pt x="94" y="52"/>
                </a:lnTo>
                <a:lnTo>
                  <a:pt x="92" y="46"/>
                </a:lnTo>
                <a:lnTo>
                  <a:pt x="90" y="40"/>
                </a:lnTo>
                <a:lnTo>
                  <a:pt x="84" y="34"/>
                </a:lnTo>
                <a:lnTo>
                  <a:pt x="80" y="28"/>
                </a:lnTo>
                <a:lnTo>
                  <a:pt x="72" y="26"/>
                </a:lnTo>
                <a:lnTo>
                  <a:pt x="66" y="24"/>
                </a:lnTo>
                <a:lnTo>
                  <a:pt x="58" y="22"/>
                </a:lnTo>
                <a:lnTo>
                  <a:pt x="0" y="22"/>
                </a:lnTo>
                <a:lnTo>
                  <a:pt x="0" y="22"/>
                </a:lnTo>
                <a:lnTo>
                  <a:pt x="0" y="2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58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6" name="Freeform 254"/>
          <p:cNvSpPr>
            <a:spLocks/>
          </p:cNvSpPr>
          <p:nvPr/>
        </p:nvSpPr>
        <p:spPr bwMode="auto">
          <a:xfrm>
            <a:off x="4982153" y="7869568"/>
            <a:ext cx="79878" cy="79878"/>
          </a:xfrm>
          <a:custGeom>
            <a:avLst/>
            <a:gdLst>
              <a:gd name="T0" fmla="*/ 66 w 134"/>
              <a:gd name="T1" fmla="*/ 0 h 134"/>
              <a:gd name="T2" fmla="*/ 8 w 134"/>
              <a:gd name="T3" fmla="*/ 0 h 134"/>
              <a:gd name="T4" fmla="*/ 8 w 134"/>
              <a:gd name="T5" fmla="*/ 0 h 134"/>
              <a:gd name="T6" fmla="*/ 6 w 134"/>
              <a:gd name="T7" fmla="*/ 0 h 134"/>
              <a:gd name="T8" fmla="*/ 2 w 134"/>
              <a:gd name="T9" fmla="*/ 2 h 134"/>
              <a:gd name="T10" fmla="*/ 0 w 134"/>
              <a:gd name="T11" fmla="*/ 4 h 134"/>
              <a:gd name="T12" fmla="*/ 0 w 134"/>
              <a:gd name="T13" fmla="*/ 8 h 134"/>
              <a:gd name="T14" fmla="*/ 0 w 134"/>
              <a:gd name="T15" fmla="*/ 30 h 134"/>
              <a:gd name="T16" fmla="*/ 0 w 134"/>
              <a:gd name="T17" fmla="*/ 30 h 134"/>
              <a:gd name="T18" fmla="*/ 0 w 134"/>
              <a:gd name="T19" fmla="*/ 34 h 134"/>
              <a:gd name="T20" fmla="*/ 2 w 134"/>
              <a:gd name="T21" fmla="*/ 36 h 134"/>
              <a:gd name="T22" fmla="*/ 6 w 134"/>
              <a:gd name="T23" fmla="*/ 38 h 134"/>
              <a:gd name="T24" fmla="*/ 8 w 134"/>
              <a:gd name="T25" fmla="*/ 38 h 134"/>
              <a:gd name="T26" fmla="*/ 66 w 134"/>
              <a:gd name="T27" fmla="*/ 38 h 134"/>
              <a:gd name="T28" fmla="*/ 66 w 134"/>
              <a:gd name="T29" fmla="*/ 38 h 134"/>
              <a:gd name="T30" fmla="*/ 72 w 134"/>
              <a:gd name="T31" fmla="*/ 40 h 134"/>
              <a:gd name="T32" fmla="*/ 78 w 134"/>
              <a:gd name="T33" fmla="*/ 40 h 134"/>
              <a:gd name="T34" fmla="*/ 86 w 134"/>
              <a:gd name="T35" fmla="*/ 48 h 134"/>
              <a:gd name="T36" fmla="*/ 94 w 134"/>
              <a:gd name="T37" fmla="*/ 56 h 134"/>
              <a:gd name="T38" fmla="*/ 96 w 134"/>
              <a:gd name="T39" fmla="*/ 62 h 134"/>
              <a:gd name="T40" fmla="*/ 96 w 134"/>
              <a:gd name="T41" fmla="*/ 68 h 134"/>
              <a:gd name="T42" fmla="*/ 96 w 134"/>
              <a:gd name="T43" fmla="*/ 126 h 134"/>
              <a:gd name="T44" fmla="*/ 96 w 134"/>
              <a:gd name="T45" fmla="*/ 126 h 134"/>
              <a:gd name="T46" fmla="*/ 96 w 134"/>
              <a:gd name="T47" fmla="*/ 130 h 134"/>
              <a:gd name="T48" fmla="*/ 98 w 134"/>
              <a:gd name="T49" fmla="*/ 132 h 134"/>
              <a:gd name="T50" fmla="*/ 102 w 134"/>
              <a:gd name="T51" fmla="*/ 134 h 134"/>
              <a:gd name="T52" fmla="*/ 104 w 134"/>
              <a:gd name="T53" fmla="*/ 134 h 134"/>
              <a:gd name="T54" fmla="*/ 126 w 134"/>
              <a:gd name="T55" fmla="*/ 134 h 134"/>
              <a:gd name="T56" fmla="*/ 126 w 134"/>
              <a:gd name="T57" fmla="*/ 134 h 134"/>
              <a:gd name="T58" fmla="*/ 130 w 134"/>
              <a:gd name="T59" fmla="*/ 134 h 134"/>
              <a:gd name="T60" fmla="*/ 132 w 134"/>
              <a:gd name="T61" fmla="*/ 132 h 134"/>
              <a:gd name="T62" fmla="*/ 134 w 134"/>
              <a:gd name="T63" fmla="*/ 130 h 134"/>
              <a:gd name="T64" fmla="*/ 134 w 134"/>
              <a:gd name="T65" fmla="*/ 126 h 134"/>
              <a:gd name="T66" fmla="*/ 134 w 134"/>
              <a:gd name="T67" fmla="*/ 68 h 134"/>
              <a:gd name="T68" fmla="*/ 134 w 134"/>
              <a:gd name="T69" fmla="*/ 68 h 134"/>
              <a:gd name="T70" fmla="*/ 134 w 134"/>
              <a:gd name="T71" fmla="*/ 54 h 134"/>
              <a:gd name="T72" fmla="*/ 130 w 134"/>
              <a:gd name="T73" fmla="*/ 42 h 134"/>
              <a:gd name="T74" fmla="*/ 124 w 134"/>
              <a:gd name="T75" fmla="*/ 30 h 134"/>
              <a:gd name="T76" fmla="*/ 114 w 134"/>
              <a:gd name="T77" fmla="*/ 20 h 134"/>
              <a:gd name="T78" fmla="*/ 104 w 134"/>
              <a:gd name="T79" fmla="*/ 12 h 134"/>
              <a:gd name="T80" fmla="*/ 92 w 134"/>
              <a:gd name="T81" fmla="*/ 4 h 134"/>
              <a:gd name="T82" fmla="*/ 80 w 134"/>
              <a:gd name="T83" fmla="*/ 0 h 134"/>
              <a:gd name="T84" fmla="*/ 66 w 134"/>
              <a:gd name="T85" fmla="*/ 0 h 134"/>
              <a:gd name="T86" fmla="*/ 66 w 134"/>
              <a:gd name="T87" fmla="*/ 0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4" h="134">
                <a:moveTo>
                  <a:pt x="66" y="0"/>
                </a:moveTo>
                <a:lnTo>
                  <a:pt x="8" y="0"/>
                </a:lnTo>
                <a:lnTo>
                  <a:pt x="8" y="0"/>
                </a:lnTo>
                <a:lnTo>
                  <a:pt x="6" y="0"/>
                </a:lnTo>
                <a:lnTo>
                  <a:pt x="2" y="2"/>
                </a:lnTo>
                <a:lnTo>
                  <a:pt x="0" y="4"/>
                </a:lnTo>
                <a:lnTo>
                  <a:pt x="0" y="8"/>
                </a:lnTo>
                <a:lnTo>
                  <a:pt x="0" y="30"/>
                </a:lnTo>
                <a:lnTo>
                  <a:pt x="0" y="30"/>
                </a:lnTo>
                <a:lnTo>
                  <a:pt x="0" y="34"/>
                </a:lnTo>
                <a:lnTo>
                  <a:pt x="2" y="36"/>
                </a:lnTo>
                <a:lnTo>
                  <a:pt x="6" y="38"/>
                </a:lnTo>
                <a:lnTo>
                  <a:pt x="8" y="38"/>
                </a:lnTo>
                <a:lnTo>
                  <a:pt x="66" y="38"/>
                </a:lnTo>
                <a:lnTo>
                  <a:pt x="66" y="38"/>
                </a:lnTo>
                <a:lnTo>
                  <a:pt x="72" y="40"/>
                </a:lnTo>
                <a:lnTo>
                  <a:pt x="78" y="40"/>
                </a:lnTo>
                <a:lnTo>
                  <a:pt x="86" y="48"/>
                </a:lnTo>
                <a:lnTo>
                  <a:pt x="94" y="56"/>
                </a:lnTo>
                <a:lnTo>
                  <a:pt x="96" y="62"/>
                </a:lnTo>
                <a:lnTo>
                  <a:pt x="96" y="68"/>
                </a:lnTo>
                <a:lnTo>
                  <a:pt x="96" y="126"/>
                </a:lnTo>
                <a:lnTo>
                  <a:pt x="96" y="126"/>
                </a:lnTo>
                <a:lnTo>
                  <a:pt x="96" y="130"/>
                </a:lnTo>
                <a:lnTo>
                  <a:pt x="98" y="132"/>
                </a:lnTo>
                <a:lnTo>
                  <a:pt x="102" y="134"/>
                </a:lnTo>
                <a:lnTo>
                  <a:pt x="104" y="134"/>
                </a:lnTo>
                <a:lnTo>
                  <a:pt x="126" y="134"/>
                </a:lnTo>
                <a:lnTo>
                  <a:pt x="126" y="134"/>
                </a:lnTo>
                <a:lnTo>
                  <a:pt x="130" y="134"/>
                </a:lnTo>
                <a:lnTo>
                  <a:pt x="132" y="132"/>
                </a:lnTo>
                <a:lnTo>
                  <a:pt x="134" y="130"/>
                </a:lnTo>
                <a:lnTo>
                  <a:pt x="134" y="126"/>
                </a:lnTo>
                <a:lnTo>
                  <a:pt x="134" y="68"/>
                </a:lnTo>
                <a:lnTo>
                  <a:pt x="134" y="68"/>
                </a:lnTo>
                <a:lnTo>
                  <a:pt x="134" y="54"/>
                </a:lnTo>
                <a:lnTo>
                  <a:pt x="130" y="42"/>
                </a:lnTo>
                <a:lnTo>
                  <a:pt x="124" y="30"/>
                </a:lnTo>
                <a:lnTo>
                  <a:pt x="114" y="20"/>
                </a:lnTo>
                <a:lnTo>
                  <a:pt x="104" y="12"/>
                </a:lnTo>
                <a:lnTo>
                  <a:pt x="92" y="4"/>
                </a:lnTo>
                <a:lnTo>
                  <a:pt x="80" y="0"/>
                </a:lnTo>
                <a:lnTo>
                  <a:pt x="66" y="0"/>
                </a:lnTo>
                <a:lnTo>
                  <a:pt x="66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7" name="Freeform 255"/>
          <p:cNvSpPr>
            <a:spLocks noEditPoints="1"/>
          </p:cNvSpPr>
          <p:nvPr/>
        </p:nvSpPr>
        <p:spPr bwMode="auto">
          <a:xfrm>
            <a:off x="4859355" y="7991174"/>
            <a:ext cx="81070" cy="81070"/>
          </a:xfrm>
          <a:custGeom>
            <a:avLst/>
            <a:gdLst>
              <a:gd name="T0" fmla="*/ 32 w 136"/>
              <a:gd name="T1" fmla="*/ 8 h 136"/>
              <a:gd name="T2" fmla="*/ 32 w 136"/>
              <a:gd name="T3" fmla="*/ 66 h 136"/>
              <a:gd name="T4" fmla="*/ 32 w 136"/>
              <a:gd name="T5" fmla="*/ 74 h 136"/>
              <a:gd name="T6" fmla="*/ 38 w 136"/>
              <a:gd name="T7" fmla="*/ 88 h 136"/>
              <a:gd name="T8" fmla="*/ 48 w 136"/>
              <a:gd name="T9" fmla="*/ 98 h 136"/>
              <a:gd name="T10" fmla="*/ 62 w 136"/>
              <a:gd name="T11" fmla="*/ 104 h 136"/>
              <a:gd name="T12" fmla="*/ 128 w 136"/>
              <a:gd name="T13" fmla="*/ 104 h 136"/>
              <a:gd name="T14" fmla="*/ 128 w 136"/>
              <a:gd name="T15" fmla="*/ 104 h 136"/>
              <a:gd name="T16" fmla="*/ 128 w 136"/>
              <a:gd name="T17" fmla="*/ 126 h 136"/>
              <a:gd name="T18" fmla="*/ 70 w 136"/>
              <a:gd name="T19" fmla="*/ 128 h 136"/>
              <a:gd name="T20" fmla="*/ 58 w 136"/>
              <a:gd name="T21" fmla="*/ 126 h 136"/>
              <a:gd name="T22" fmla="*/ 36 w 136"/>
              <a:gd name="T23" fmla="*/ 116 h 136"/>
              <a:gd name="T24" fmla="*/ 20 w 136"/>
              <a:gd name="T25" fmla="*/ 100 h 136"/>
              <a:gd name="T26" fmla="*/ 10 w 136"/>
              <a:gd name="T27" fmla="*/ 78 h 136"/>
              <a:gd name="T28" fmla="*/ 8 w 136"/>
              <a:gd name="T29" fmla="*/ 8 h 136"/>
              <a:gd name="T30" fmla="*/ 10 w 136"/>
              <a:gd name="T31" fmla="*/ 8 h 136"/>
              <a:gd name="T32" fmla="*/ 32 w 136"/>
              <a:gd name="T33" fmla="*/ 0 h 136"/>
              <a:gd name="T34" fmla="*/ 10 w 136"/>
              <a:gd name="T35" fmla="*/ 0 h 136"/>
              <a:gd name="T36" fmla="*/ 4 w 136"/>
              <a:gd name="T37" fmla="*/ 2 h 136"/>
              <a:gd name="T38" fmla="*/ 0 w 136"/>
              <a:gd name="T39" fmla="*/ 8 h 136"/>
              <a:gd name="T40" fmla="*/ 0 w 136"/>
              <a:gd name="T41" fmla="*/ 66 h 136"/>
              <a:gd name="T42" fmla="*/ 6 w 136"/>
              <a:gd name="T43" fmla="*/ 94 h 136"/>
              <a:gd name="T44" fmla="*/ 22 w 136"/>
              <a:gd name="T45" fmla="*/ 116 h 136"/>
              <a:gd name="T46" fmla="*/ 44 w 136"/>
              <a:gd name="T47" fmla="*/ 130 h 136"/>
              <a:gd name="T48" fmla="*/ 70 w 136"/>
              <a:gd name="T49" fmla="*/ 136 h 136"/>
              <a:gd name="T50" fmla="*/ 128 w 136"/>
              <a:gd name="T51" fmla="*/ 136 h 136"/>
              <a:gd name="T52" fmla="*/ 134 w 136"/>
              <a:gd name="T53" fmla="*/ 132 h 136"/>
              <a:gd name="T54" fmla="*/ 136 w 136"/>
              <a:gd name="T55" fmla="*/ 126 h 136"/>
              <a:gd name="T56" fmla="*/ 136 w 136"/>
              <a:gd name="T57" fmla="*/ 104 h 136"/>
              <a:gd name="T58" fmla="*/ 134 w 136"/>
              <a:gd name="T59" fmla="*/ 98 h 136"/>
              <a:gd name="T60" fmla="*/ 128 w 136"/>
              <a:gd name="T61" fmla="*/ 96 h 136"/>
              <a:gd name="T62" fmla="*/ 70 w 136"/>
              <a:gd name="T63" fmla="*/ 96 h 136"/>
              <a:gd name="T64" fmla="*/ 58 w 136"/>
              <a:gd name="T65" fmla="*/ 94 h 136"/>
              <a:gd name="T66" fmla="*/ 42 w 136"/>
              <a:gd name="T67" fmla="*/ 78 h 136"/>
              <a:gd name="T68" fmla="*/ 40 w 136"/>
              <a:gd name="T69" fmla="*/ 66 h 136"/>
              <a:gd name="T70" fmla="*/ 40 w 136"/>
              <a:gd name="T71" fmla="*/ 8 h 136"/>
              <a:gd name="T72" fmla="*/ 38 w 136"/>
              <a:gd name="T73" fmla="*/ 2 h 136"/>
              <a:gd name="T74" fmla="*/ 32 w 136"/>
              <a:gd name="T7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" h="136">
                <a:moveTo>
                  <a:pt x="32" y="8"/>
                </a:moveTo>
                <a:lnTo>
                  <a:pt x="32" y="8"/>
                </a:lnTo>
                <a:lnTo>
                  <a:pt x="32" y="8"/>
                </a:lnTo>
                <a:lnTo>
                  <a:pt x="32" y="66"/>
                </a:lnTo>
                <a:lnTo>
                  <a:pt x="32" y="66"/>
                </a:lnTo>
                <a:lnTo>
                  <a:pt x="32" y="74"/>
                </a:lnTo>
                <a:lnTo>
                  <a:pt x="36" y="80"/>
                </a:lnTo>
                <a:lnTo>
                  <a:pt x="38" y="88"/>
                </a:lnTo>
                <a:lnTo>
                  <a:pt x="44" y="94"/>
                </a:lnTo>
                <a:lnTo>
                  <a:pt x="48" y="98"/>
                </a:lnTo>
                <a:lnTo>
                  <a:pt x="56" y="102"/>
                </a:lnTo>
                <a:lnTo>
                  <a:pt x="62" y="104"/>
                </a:lnTo>
                <a:lnTo>
                  <a:pt x="70" y="104"/>
                </a:lnTo>
                <a:lnTo>
                  <a:pt x="128" y="104"/>
                </a:lnTo>
                <a:lnTo>
                  <a:pt x="128" y="104"/>
                </a:lnTo>
                <a:lnTo>
                  <a:pt x="128" y="104"/>
                </a:lnTo>
                <a:lnTo>
                  <a:pt x="128" y="126"/>
                </a:lnTo>
                <a:lnTo>
                  <a:pt x="128" y="126"/>
                </a:lnTo>
                <a:lnTo>
                  <a:pt x="128" y="128"/>
                </a:lnTo>
                <a:lnTo>
                  <a:pt x="70" y="128"/>
                </a:lnTo>
                <a:lnTo>
                  <a:pt x="70" y="128"/>
                </a:lnTo>
                <a:lnTo>
                  <a:pt x="58" y="126"/>
                </a:lnTo>
                <a:lnTo>
                  <a:pt x="46" y="122"/>
                </a:lnTo>
                <a:lnTo>
                  <a:pt x="36" y="116"/>
                </a:lnTo>
                <a:lnTo>
                  <a:pt x="26" y="110"/>
                </a:lnTo>
                <a:lnTo>
                  <a:pt x="20" y="100"/>
                </a:lnTo>
                <a:lnTo>
                  <a:pt x="14" y="90"/>
                </a:lnTo>
                <a:lnTo>
                  <a:pt x="10" y="78"/>
                </a:lnTo>
                <a:lnTo>
                  <a:pt x="8" y="66"/>
                </a:lnTo>
                <a:lnTo>
                  <a:pt x="8" y="8"/>
                </a:lnTo>
                <a:lnTo>
                  <a:pt x="8" y="8"/>
                </a:lnTo>
                <a:lnTo>
                  <a:pt x="10" y="8"/>
                </a:lnTo>
                <a:lnTo>
                  <a:pt x="32" y="8"/>
                </a:lnTo>
                <a:close/>
                <a:moveTo>
                  <a:pt x="32" y="0"/>
                </a:moveTo>
                <a:lnTo>
                  <a:pt x="10" y="0"/>
                </a:lnTo>
                <a:lnTo>
                  <a:pt x="10" y="0"/>
                </a:lnTo>
                <a:lnTo>
                  <a:pt x="6" y="0"/>
                </a:lnTo>
                <a:lnTo>
                  <a:pt x="4" y="2"/>
                </a:lnTo>
                <a:lnTo>
                  <a:pt x="2" y="6"/>
                </a:lnTo>
                <a:lnTo>
                  <a:pt x="0" y="8"/>
                </a:lnTo>
                <a:lnTo>
                  <a:pt x="0" y="66"/>
                </a:lnTo>
                <a:lnTo>
                  <a:pt x="0" y="66"/>
                </a:lnTo>
                <a:lnTo>
                  <a:pt x="2" y="80"/>
                </a:lnTo>
                <a:lnTo>
                  <a:pt x="6" y="94"/>
                </a:lnTo>
                <a:lnTo>
                  <a:pt x="12" y="104"/>
                </a:lnTo>
                <a:lnTo>
                  <a:pt x="22" y="116"/>
                </a:lnTo>
                <a:lnTo>
                  <a:pt x="32" y="124"/>
                </a:lnTo>
                <a:lnTo>
                  <a:pt x="44" y="130"/>
                </a:lnTo>
                <a:lnTo>
                  <a:pt x="56" y="134"/>
                </a:lnTo>
                <a:lnTo>
                  <a:pt x="70" y="136"/>
                </a:lnTo>
                <a:lnTo>
                  <a:pt x="128" y="136"/>
                </a:lnTo>
                <a:lnTo>
                  <a:pt x="128" y="136"/>
                </a:lnTo>
                <a:lnTo>
                  <a:pt x="130" y="134"/>
                </a:lnTo>
                <a:lnTo>
                  <a:pt x="134" y="132"/>
                </a:lnTo>
                <a:lnTo>
                  <a:pt x="136" y="130"/>
                </a:lnTo>
                <a:lnTo>
                  <a:pt x="136" y="126"/>
                </a:lnTo>
                <a:lnTo>
                  <a:pt x="136" y="104"/>
                </a:lnTo>
                <a:lnTo>
                  <a:pt x="136" y="104"/>
                </a:lnTo>
                <a:lnTo>
                  <a:pt x="136" y="102"/>
                </a:lnTo>
                <a:lnTo>
                  <a:pt x="134" y="98"/>
                </a:lnTo>
                <a:lnTo>
                  <a:pt x="130" y="96"/>
                </a:lnTo>
                <a:lnTo>
                  <a:pt x="128" y="96"/>
                </a:lnTo>
                <a:lnTo>
                  <a:pt x="70" y="96"/>
                </a:lnTo>
                <a:lnTo>
                  <a:pt x="70" y="96"/>
                </a:lnTo>
                <a:lnTo>
                  <a:pt x="64" y="96"/>
                </a:lnTo>
                <a:lnTo>
                  <a:pt x="58" y="94"/>
                </a:lnTo>
                <a:lnTo>
                  <a:pt x="48" y="88"/>
                </a:lnTo>
                <a:lnTo>
                  <a:pt x="42" y="78"/>
                </a:lnTo>
                <a:lnTo>
                  <a:pt x="40" y="72"/>
                </a:lnTo>
                <a:lnTo>
                  <a:pt x="40" y="66"/>
                </a:lnTo>
                <a:lnTo>
                  <a:pt x="40" y="8"/>
                </a:lnTo>
                <a:lnTo>
                  <a:pt x="40" y="8"/>
                </a:lnTo>
                <a:lnTo>
                  <a:pt x="40" y="6"/>
                </a:lnTo>
                <a:lnTo>
                  <a:pt x="38" y="2"/>
                </a:lnTo>
                <a:lnTo>
                  <a:pt x="34" y="0"/>
                </a:lnTo>
                <a:lnTo>
                  <a:pt x="32" y="0"/>
                </a:lnTo>
                <a:lnTo>
                  <a:pt x="3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8" name="Freeform 256"/>
          <p:cNvSpPr>
            <a:spLocks/>
          </p:cNvSpPr>
          <p:nvPr/>
        </p:nvSpPr>
        <p:spPr bwMode="auto">
          <a:xfrm>
            <a:off x="4864124" y="7995942"/>
            <a:ext cx="71533" cy="71533"/>
          </a:xfrm>
          <a:custGeom>
            <a:avLst/>
            <a:gdLst>
              <a:gd name="T0" fmla="*/ 24 w 120"/>
              <a:gd name="T1" fmla="*/ 0 h 120"/>
              <a:gd name="T2" fmla="*/ 24 w 120"/>
              <a:gd name="T3" fmla="*/ 0 h 120"/>
              <a:gd name="T4" fmla="*/ 24 w 120"/>
              <a:gd name="T5" fmla="*/ 0 h 120"/>
              <a:gd name="T6" fmla="*/ 24 w 120"/>
              <a:gd name="T7" fmla="*/ 58 h 120"/>
              <a:gd name="T8" fmla="*/ 24 w 120"/>
              <a:gd name="T9" fmla="*/ 58 h 120"/>
              <a:gd name="T10" fmla="*/ 24 w 120"/>
              <a:gd name="T11" fmla="*/ 66 h 120"/>
              <a:gd name="T12" fmla="*/ 28 w 120"/>
              <a:gd name="T13" fmla="*/ 72 h 120"/>
              <a:gd name="T14" fmla="*/ 30 w 120"/>
              <a:gd name="T15" fmla="*/ 80 h 120"/>
              <a:gd name="T16" fmla="*/ 36 w 120"/>
              <a:gd name="T17" fmla="*/ 86 h 120"/>
              <a:gd name="T18" fmla="*/ 40 w 120"/>
              <a:gd name="T19" fmla="*/ 90 h 120"/>
              <a:gd name="T20" fmla="*/ 48 w 120"/>
              <a:gd name="T21" fmla="*/ 94 h 120"/>
              <a:gd name="T22" fmla="*/ 54 w 120"/>
              <a:gd name="T23" fmla="*/ 96 h 120"/>
              <a:gd name="T24" fmla="*/ 62 w 120"/>
              <a:gd name="T25" fmla="*/ 96 h 120"/>
              <a:gd name="T26" fmla="*/ 120 w 120"/>
              <a:gd name="T27" fmla="*/ 96 h 120"/>
              <a:gd name="T28" fmla="*/ 120 w 120"/>
              <a:gd name="T29" fmla="*/ 96 h 120"/>
              <a:gd name="T30" fmla="*/ 120 w 120"/>
              <a:gd name="T31" fmla="*/ 96 h 120"/>
              <a:gd name="T32" fmla="*/ 120 w 120"/>
              <a:gd name="T33" fmla="*/ 118 h 120"/>
              <a:gd name="T34" fmla="*/ 120 w 120"/>
              <a:gd name="T35" fmla="*/ 118 h 120"/>
              <a:gd name="T36" fmla="*/ 120 w 120"/>
              <a:gd name="T37" fmla="*/ 120 h 120"/>
              <a:gd name="T38" fmla="*/ 62 w 120"/>
              <a:gd name="T39" fmla="*/ 120 h 120"/>
              <a:gd name="T40" fmla="*/ 62 w 120"/>
              <a:gd name="T41" fmla="*/ 120 h 120"/>
              <a:gd name="T42" fmla="*/ 50 w 120"/>
              <a:gd name="T43" fmla="*/ 118 h 120"/>
              <a:gd name="T44" fmla="*/ 38 w 120"/>
              <a:gd name="T45" fmla="*/ 114 h 120"/>
              <a:gd name="T46" fmla="*/ 28 w 120"/>
              <a:gd name="T47" fmla="*/ 108 h 120"/>
              <a:gd name="T48" fmla="*/ 18 w 120"/>
              <a:gd name="T49" fmla="*/ 102 h 120"/>
              <a:gd name="T50" fmla="*/ 12 w 120"/>
              <a:gd name="T51" fmla="*/ 92 h 120"/>
              <a:gd name="T52" fmla="*/ 6 w 120"/>
              <a:gd name="T53" fmla="*/ 82 h 120"/>
              <a:gd name="T54" fmla="*/ 2 w 120"/>
              <a:gd name="T55" fmla="*/ 70 h 120"/>
              <a:gd name="T56" fmla="*/ 0 w 120"/>
              <a:gd name="T57" fmla="*/ 58 h 120"/>
              <a:gd name="T58" fmla="*/ 0 w 120"/>
              <a:gd name="T59" fmla="*/ 0 h 120"/>
              <a:gd name="T60" fmla="*/ 0 w 120"/>
              <a:gd name="T61" fmla="*/ 0 h 120"/>
              <a:gd name="T62" fmla="*/ 2 w 120"/>
              <a:gd name="T63" fmla="*/ 0 h 120"/>
              <a:gd name="T64" fmla="*/ 24 w 120"/>
              <a:gd name="T65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0" h="120">
                <a:moveTo>
                  <a:pt x="24" y="0"/>
                </a:moveTo>
                <a:lnTo>
                  <a:pt x="24" y="0"/>
                </a:lnTo>
                <a:lnTo>
                  <a:pt x="24" y="0"/>
                </a:lnTo>
                <a:lnTo>
                  <a:pt x="24" y="58"/>
                </a:lnTo>
                <a:lnTo>
                  <a:pt x="24" y="58"/>
                </a:lnTo>
                <a:lnTo>
                  <a:pt x="24" y="66"/>
                </a:lnTo>
                <a:lnTo>
                  <a:pt x="28" y="72"/>
                </a:lnTo>
                <a:lnTo>
                  <a:pt x="30" y="80"/>
                </a:lnTo>
                <a:lnTo>
                  <a:pt x="36" y="86"/>
                </a:lnTo>
                <a:lnTo>
                  <a:pt x="40" y="90"/>
                </a:lnTo>
                <a:lnTo>
                  <a:pt x="48" y="94"/>
                </a:lnTo>
                <a:lnTo>
                  <a:pt x="54" y="96"/>
                </a:lnTo>
                <a:lnTo>
                  <a:pt x="62" y="96"/>
                </a:lnTo>
                <a:lnTo>
                  <a:pt x="120" y="96"/>
                </a:lnTo>
                <a:lnTo>
                  <a:pt x="120" y="96"/>
                </a:lnTo>
                <a:lnTo>
                  <a:pt x="120" y="96"/>
                </a:lnTo>
                <a:lnTo>
                  <a:pt x="120" y="118"/>
                </a:lnTo>
                <a:lnTo>
                  <a:pt x="120" y="118"/>
                </a:lnTo>
                <a:lnTo>
                  <a:pt x="120" y="120"/>
                </a:lnTo>
                <a:lnTo>
                  <a:pt x="62" y="120"/>
                </a:lnTo>
                <a:lnTo>
                  <a:pt x="62" y="120"/>
                </a:lnTo>
                <a:lnTo>
                  <a:pt x="50" y="118"/>
                </a:lnTo>
                <a:lnTo>
                  <a:pt x="38" y="114"/>
                </a:lnTo>
                <a:lnTo>
                  <a:pt x="28" y="108"/>
                </a:lnTo>
                <a:lnTo>
                  <a:pt x="18" y="102"/>
                </a:lnTo>
                <a:lnTo>
                  <a:pt x="12" y="92"/>
                </a:lnTo>
                <a:lnTo>
                  <a:pt x="6" y="82"/>
                </a:lnTo>
                <a:lnTo>
                  <a:pt x="2" y="70"/>
                </a:lnTo>
                <a:lnTo>
                  <a:pt x="0" y="58"/>
                </a:lnTo>
                <a:lnTo>
                  <a:pt x="0" y="0"/>
                </a:lnTo>
                <a:lnTo>
                  <a:pt x="0" y="0"/>
                </a:lnTo>
                <a:lnTo>
                  <a:pt x="2" y="0"/>
                </a:lnTo>
                <a:lnTo>
                  <a:pt x="24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9" name="Freeform 257"/>
          <p:cNvSpPr>
            <a:spLocks/>
          </p:cNvSpPr>
          <p:nvPr/>
        </p:nvSpPr>
        <p:spPr bwMode="auto">
          <a:xfrm>
            <a:off x="4859355" y="7991174"/>
            <a:ext cx="81070" cy="81070"/>
          </a:xfrm>
          <a:custGeom>
            <a:avLst/>
            <a:gdLst>
              <a:gd name="T0" fmla="*/ 32 w 136"/>
              <a:gd name="T1" fmla="*/ 0 h 136"/>
              <a:gd name="T2" fmla="*/ 10 w 136"/>
              <a:gd name="T3" fmla="*/ 0 h 136"/>
              <a:gd name="T4" fmla="*/ 10 w 136"/>
              <a:gd name="T5" fmla="*/ 0 h 136"/>
              <a:gd name="T6" fmla="*/ 6 w 136"/>
              <a:gd name="T7" fmla="*/ 0 h 136"/>
              <a:gd name="T8" fmla="*/ 4 w 136"/>
              <a:gd name="T9" fmla="*/ 2 h 136"/>
              <a:gd name="T10" fmla="*/ 2 w 136"/>
              <a:gd name="T11" fmla="*/ 6 h 136"/>
              <a:gd name="T12" fmla="*/ 0 w 136"/>
              <a:gd name="T13" fmla="*/ 8 h 136"/>
              <a:gd name="T14" fmla="*/ 0 w 136"/>
              <a:gd name="T15" fmla="*/ 66 h 136"/>
              <a:gd name="T16" fmla="*/ 0 w 136"/>
              <a:gd name="T17" fmla="*/ 66 h 136"/>
              <a:gd name="T18" fmla="*/ 2 w 136"/>
              <a:gd name="T19" fmla="*/ 80 h 136"/>
              <a:gd name="T20" fmla="*/ 6 w 136"/>
              <a:gd name="T21" fmla="*/ 94 h 136"/>
              <a:gd name="T22" fmla="*/ 12 w 136"/>
              <a:gd name="T23" fmla="*/ 104 h 136"/>
              <a:gd name="T24" fmla="*/ 22 w 136"/>
              <a:gd name="T25" fmla="*/ 116 h 136"/>
              <a:gd name="T26" fmla="*/ 32 w 136"/>
              <a:gd name="T27" fmla="*/ 124 h 136"/>
              <a:gd name="T28" fmla="*/ 44 w 136"/>
              <a:gd name="T29" fmla="*/ 130 h 136"/>
              <a:gd name="T30" fmla="*/ 56 w 136"/>
              <a:gd name="T31" fmla="*/ 134 h 136"/>
              <a:gd name="T32" fmla="*/ 70 w 136"/>
              <a:gd name="T33" fmla="*/ 136 h 136"/>
              <a:gd name="T34" fmla="*/ 128 w 136"/>
              <a:gd name="T35" fmla="*/ 136 h 136"/>
              <a:gd name="T36" fmla="*/ 128 w 136"/>
              <a:gd name="T37" fmla="*/ 136 h 136"/>
              <a:gd name="T38" fmla="*/ 130 w 136"/>
              <a:gd name="T39" fmla="*/ 134 h 136"/>
              <a:gd name="T40" fmla="*/ 134 w 136"/>
              <a:gd name="T41" fmla="*/ 132 h 136"/>
              <a:gd name="T42" fmla="*/ 136 w 136"/>
              <a:gd name="T43" fmla="*/ 130 h 136"/>
              <a:gd name="T44" fmla="*/ 136 w 136"/>
              <a:gd name="T45" fmla="*/ 126 h 136"/>
              <a:gd name="T46" fmla="*/ 136 w 136"/>
              <a:gd name="T47" fmla="*/ 104 h 136"/>
              <a:gd name="T48" fmla="*/ 136 w 136"/>
              <a:gd name="T49" fmla="*/ 104 h 136"/>
              <a:gd name="T50" fmla="*/ 136 w 136"/>
              <a:gd name="T51" fmla="*/ 102 h 136"/>
              <a:gd name="T52" fmla="*/ 134 w 136"/>
              <a:gd name="T53" fmla="*/ 98 h 136"/>
              <a:gd name="T54" fmla="*/ 130 w 136"/>
              <a:gd name="T55" fmla="*/ 96 h 136"/>
              <a:gd name="T56" fmla="*/ 128 w 136"/>
              <a:gd name="T57" fmla="*/ 96 h 136"/>
              <a:gd name="T58" fmla="*/ 70 w 136"/>
              <a:gd name="T59" fmla="*/ 96 h 136"/>
              <a:gd name="T60" fmla="*/ 70 w 136"/>
              <a:gd name="T61" fmla="*/ 96 h 136"/>
              <a:gd name="T62" fmla="*/ 64 w 136"/>
              <a:gd name="T63" fmla="*/ 96 h 136"/>
              <a:gd name="T64" fmla="*/ 58 w 136"/>
              <a:gd name="T65" fmla="*/ 94 h 136"/>
              <a:gd name="T66" fmla="*/ 48 w 136"/>
              <a:gd name="T67" fmla="*/ 88 h 136"/>
              <a:gd name="T68" fmla="*/ 42 w 136"/>
              <a:gd name="T69" fmla="*/ 78 h 136"/>
              <a:gd name="T70" fmla="*/ 40 w 136"/>
              <a:gd name="T71" fmla="*/ 72 h 136"/>
              <a:gd name="T72" fmla="*/ 40 w 136"/>
              <a:gd name="T73" fmla="*/ 66 h 136"/>
              <a:gd name="T74" fmla="*/ 40 w 136"/>
              <a:gd name="T75" fmla="*/ 8 h 136"/>
              <a:gd name="T76" fmla="*/ 40 w 136"/>
              <a:gd name="T77" fmla="*/ 8 h 136"/>
              <a:gd name="T78" fmla="*/ 40 w 136"/>
              <a:gd name="T79" fmla="*/ 6 h 136"/>
              <a:gd name="T80" fmla="*/ 38 w 136"/>
              <a:gd name="T81" fmla="*/ 2 h 136"/>
              <a:gd name="T82" fmla="*/ 34 w 136"/>
              <a:gd name="T83" fmla="*/ 0 h 136"/>
              <a:gd name="T84" fmla="*/ 32 w 136"/>
              <a:gd name="T85" fmla="*/ 0 h 136"/>
              <a:gd name="T86" fmla="*/ 32 w 136"/>
              <a:gd name="T87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6" h="136">
                <a:moveTo>
                  <a:pt x="32" y="0"/>
                </a:moveTo>
                <a:lnTo>
                  <a:pt x="10" y="0"/>
                </a:lnTo>
                <a:lnTo>
                  <a:pt x="10" y="0"/>
                </a:lnTo>
                <a:lnTo>
                  <a:pt x="6" y="0"/>
                </a:lnTo>
                <a:lnTo>
                  <a:pt x="4" y="2"/>
                </a:lnTo>
                <a:lnTo>
                  <a:pt x="2" y="6"/>
                </a:lnTo>
                <a:lnTo>
                  <a:pt x="0" y="8"/>
                </a:lnTo>
                <a:lnTo>
                  <a:pt x="0" y="66"/>
                </a:lnTo>
                <a:lnTo>
                  <a:pt x="0" y="66"/>
                </a:lnTo>
                <a:lnTo>
                  <a:pt x="2" y="80"/>
                </a:lnTo>
                <a:lnTo>
                  <a:pt x="6" y="94"/>
                </a:lnTo>
                <a:lnTo>
                  <a:pt x="12" y="104"/>
                </a:lnTo>
                <a:lnTo>
                  <a:pt x="22" y="116"/>
                </a:lnTo>
                <a:lnTo>
                  <a:pt x="32" y="124"/>
                </a:lnTo>
                <a:lnTo>
                  <a:pt x="44" y="130"/>
                </a:lnTo>
                <a:lnTo>
                  <a:pt x="56" y="134"/>
                </a:lnTo>
                <a:lnTo>
                  <a:pt x="70" y="136"/>
                </a:lnTo>
                <a:lnTo>
                  <a:pt x="128" y="136"/>
                </a:lnTo>
                <a:lnTo>
                  <a:pt x="128" y="136"/>
                </a:lnTo>
                <a:lnTo>
                  <a:pt x="130" y="134"/>
                </a:lnTo>
                <a:lnTo>
                  <a:pt x="134" y="132"/>
                </a:lnTo>
                <a:lnTo>
                  <a:pt x="136" y="130"/>
                </a:lnTo>
                <a:lnTo>
                  <a:pt x="136" y="126"/>
                </a:lnTo>
                <a:lnTo>
                  <a:pt x="136" y="104"/>
                </a:lnTo>
                <a:lnTo>
                  <a:pt x="136" y="104"/>
                </a:lnTo>
                <a:lnTo>
                  <a:pt x="136" y="102"/>
                </a:lnTo>
                <a:lnTo>
                  <a:pt x="134" y="98"/>
                </a:lnTo>
                <a:lnTo>
                  <a:pt x="130" y="96"/>
                </a:lnTo>
                <a:lnTo>
                  <a:pt x="128" y="96"/>
                </a:lnTo>
                <a:lnTo>
                  <a:pt x="70" y="96"/>
                </a:lnTo>
                <a:lnTo>
                  <a:pt x="70" y="96"/>
                </a:lnTo>
                <a:lnTo>
                  <a:pt x="64" y="96"/>
                </a:lnTo>
                <a:lnTo>
                  <a:pt x="58" y="94"/>
                </a:lnTo>
                <a:lnTo>
                  <a:pt x="48" y="88"/>
                </a:lnTo>
                <a:lnTo>
                  <a:pt x="42" y="78"/>
                </a:lnTo>
                <a:lnTo>
                  <a:pt x="40" y="72"/>
                </a:lnTo>
                <a:lnTo>
                  <a:pt x="40" y="66"/>
                </a:lnTo>
                <a:lnTo>
                  <a:pt x="40" y="8"/>
                </a:lnTo>
                <a:lnTo>
                  <a:pt x="40" y="8"/>
                </a:lnTo>
                <a:lnTo>
                  <a:pt x="40" y="6"/>
                </a:lnTo>
                <a:lnTo>
                  <a:pt x="38" y="2"/>
                </a:lnTo>
                <a:lnTo>
                  <a:pt x="34" y="0"/>
                </a:lnTo>
                <a:lnTo>
                  <a:pt x="32" y="0"/>
                </a:lnTo>
                <a:lnTo>
                  <a:pt x="32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90" name="Freeform 258"/>
          <p:cNvSpPr>
            <a:spLocks noEditPoints="1"/>
          </p:cNvSpPr>
          <p:nvPr/>
        </p:nvSpPr>
        <p:spPr bwMode="auto">
          <a:xfrm>
            <a:off x="4936849" y="7944677"/>
            <a:ext cx="52457" cy="51265"/>
          </a:xfrm>
          <a:custGeom>
            <a:avLst/>
            <a:gdLst>
              <a:gd name="T0" fmla="*/ 44 w 88"/>
              <a:gd name="T1" fmla="*/ 86 h 86"/>
              <a:gd name="T2" fmla="*/ 44 w 88"/>
              <a:gd name="T3" fmla="*/ 86 h 86"/>
              <a:gd name="T4" fmla="*/ 38 w 88"/>
              <a:gd name="T5" fmla="*/ 86 h 86"/>
              <a:gd name="T6" fmla="*/ 34 w 88"/>
              <a:gd name="T7" fmla="*/ 82 h 86"/>
              <a:gd name="T8" fmla="*/ 4 w 88"/>
              <a:gd name="T9" fmla="*/ 54 h 86"/>
              <a:gd name="T10" fmla="*/ 4 w 88"/>
              <a:gd name="T11" fmla="*/ 54 h 86"/>
              <a:gd name="T12" fmla="*/ 2 w 88"/>
              <a:gd name="T13" fmla="*/ 50 h 86"/>
              <a:gd name="T14" fmla="*/ 0 w 88"/>
              <a:gd name="T15" fmla="*/ 44 h 86"/>
              <a:gd name="T16" fmla="*/ 2 w 88"/>
              <a:gd name="T17" fmla="*/ 38 h 86"/>
              <a:gd name="T18" fmla="*/ 4 w 88"/>
              <a:gd name="T19" fmla="*/ 32 h 86"/>
              <a:gd name="T20" fmla="*/ 34 w 88"/>
              <a:gd name="T21" fmla="*/ 4 h 86"/>
              <a:gd name="T22" fmla="*/ 34 w 88"/>
              <a:gd name="T23" fmla="*/ 4 h 86"/>
              <a:gd name="T24" fmla="*/ 38 w 88"/>
              <a:gd name="T25" fmla="*/ 0 h 86"/>
              <a:gd name="T26" fmla="*/ 44 w 88"/>
              <a:gd name="T27" fmla="*/ 0 h 86"/>
              <a:gd name="T28" fmla="*/ 50 w 88"/>
              <a:gd name="T29" fmla="*/ 0 h 86"/>
              <a:gd name="T30" fmla="*/ 54 w 88"/>
              <a:gd name="T31" fmla="*/ 4 h 86"/>
              <a:gd name="T32" fmla="*/ 82 w 88"/>
              <a:gd name="T33" fmla="*/ 32 h 86"/>
              <a:gd name="T34" fmla="*/ 82 w 88"/>
              <a:gd name="T35" fmla="*/ 32 h 86"/>
              <a:gd name="T36" fmla="*/ 86 w 88"/>
              <a:gd name="T37" fmla="*/ 38 h 86"/>
              <a:gd name="T38" fmla="*/ 88 w 88"/>
              <a:gd name="T39" fmla="*/ 44 h 86"/>
              <a:gd name="T40" fmla="*/ 88 w 88"/>
              <a:gd name="T41" fmla="*/ 44 h 86"/>
              <a:gd name="T42" fmla="*/ 86 w 88"/>
              <a:gd name="T43" fmla="*/ 50 h 86"/>
              <a:gd name="T44" fmla="*/ 82 w 88"/>
              <a:gd name="T45" fmla="*/ 54 h 86"/>
              <a:gd name="T46" fmla="*/ 54 w 88"/>
              <a:gd name="T47" fmla="*/ 82 h 86"/>
              <a:gd name="T48" fmla="*/ 54 w 88"/>
              <a:gd name="T49" fmla="*/ 82 h 86"/>
              <a:gd name="T50" fmla="*/ 50 w 88"/>
              <a:gd name="T51" fmla="*/ 86 h 86"/>
              <a:gd name="T52" fmla="*/ 44 w 88"/>
              <a:gd name="T53" fmla="*/ 86 h 86"/>
              <a:gd name="T54" fmla="*/ 44 w 88"/>
              <a:gd name="T55" fmla="*/ 86 h 86"/>
              <a:gd name="T56" fmla="*/ 44 w 88"/>
              <a:gd name="T57" fmla="*/ 8 h 86"/>
              <a:gd name="T58" fmla="*/ 44 w 88"/>
              <a:gd name="T59" fmla="*/ 8 h 86"/>
              <a:gd name="T60" fmla="*/ 38 w 88"/>
              <a:gd name="T61" fmla="*/ 10 h 86"/>
              <a:gd name="T62" fmla="*/ 10 w 88"/>
              <a:gd name="T63" fmla="*/ 38 h 86"/>
              <a:gd name="T64" fmla="*/ 10 w 88"/>
              <a:gd name="T65" fmla="*/ 38 h 86"/>
              <a:gd name="T66" fmla="*/ 8 w 88"/>
              <a:gd name="T67" fmla="*/ 44 h 86"/>
              <a:gd name="T68" fmla="*/ 10 w 88"/>
              <a:gd name="T69" fmla="*/ 48 h 86"/>
              <a:gd name="T70" fmla="*/ 38 w 88"/>
              <a:gd name="T71" fmla="*/ 76 h 86"/>
              <a:gd name="T72" fmla="*/ 38 w 88"/>
              <a:gd name="T73" fmla="*/ 76 h 86"/>
              <a:gd name="T74" fmla="*/ 44 w 88"/>
              <a:gd name="T75" fmla="*/ 78 h 86"/>
              <a:gd name="T76" fmla="*/ 50 w 88"/>
              <a:gd name="T77" fmla="*/ 76 h 86"/>
              <a:gd name="T78" fmla="*/ 78 w 88"/>
              <a:gd name="T79" fmla="*/ 48 h 86"/>
              <a:gd name="T80" fmla="*/ 78 w 88"/>
              <a:gd name="T81" fmla="*/ 48 h 86"/>
              <a:gd name="T82" fmla="*/ 80 w 88"/>
              <a:gd name="T83" fmla="*/ 44 h 86"/>
              <a:gd name="T84" fmla="*/ 80 w 88"/>
              <a:gd name="T85" fmla="*/ 44 h 86"/>
              <a:gd name="T86" fmla="*/ 78 w 88"/>
              <a:gd name="T87" fmla="*/ 38 h 86"/>
              <a:gd name="T88" fmla="*/ 50 w 88"/>
              <a:gd name="T89" fmla="*/ 10 h 86"/>
              <a:gd name="T90" fmla="*/ 50 w 88"/>
              <a:gd name="T91" fmla="*/ 10 h 86"/>
              <a:gd name="T92" fmla="*/ 44 w 88"/>
              <a:gd name="T93" fmla="*/ 8 h 86"/>
              <a:gd name="T94" fmla="*/ 44 w 88"/>
              <a:gd name="T95" fmla="*/ 8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8" h="86">
                <a:moveTo>
                  <a:pt x="44" y="86"/>
                </a:moveTo>
                <a:lnTo>
                  <a:pt x="44" y="86"/>
                </a:lnTo>
                <a:lnTo>
                  <a:pt x="38" y="86"/>
                </a:lnTo>
                <a:lnTo>
                  <a:pt x="34" y="82"/>
                </a:lnTo>
                <a:lnTo>
                  <a:pt x="4" y="54"/>
                </a:lnTo>
                <a:lnTo>
                  <a:pt x="4" y="54"/>
                </a:lnTo>
                <a:lnTo>
                  <a:pt x="2" y="50"/>
                </a:lnTo>
                <a:lnTo>
                  <a:pt x="0" y="44"/>
                </a:lnTo>
                <a:lnTo>
                  <a:pt x="2" y="38"/>
                </a:lnTo>
                <a:lnTo>
                  <a:pt x="4" y="32"/>
                </a:lnTo>
                <a:lnTo>
                  <a:pt x="34" y="4"/>
                </a:lnTo>
                <a:lnTo>
                  <a:pt x="34" y="4"/>
                </a:lnTo>
                <a:lnTo>
                  <a:pt x="38" y="0"/>
                </a:lnTo>
                <a:lnTo>
                  <a:pt x="44" y="0"/>
                </a:lnTo>
                <a:lnTo>
                  <a:pt x="50" y="0"/>
                </a:lnTo>
                <a:lnTo>
                  <a:pt x="54" y="4"/>
                </a:lnTo>
                <a:lnTo>
                  <a:pt x="82" y="32"/>
                </a:lnTo>
                <a:lnTo>
                  <a:pt x="82" y="32"/>
                </a:lnTo>
                <a:lnTo>
                  <a:pt x="86" y="38"/>
                </a:lnTo>
                <a:lnTo>
                  <a:pt x="88" y="44"/>
                </a:lnTo>
                <a:lnTo>
                  <a:pt x="88" y="44"/>
                </a:lnTo>
                <a:lnTo>
                  <a:pt x="86" y="50"/>
                </a:lnTo>
                <a:lnTo>
                  <a:pt x="82" y="54"/>
                </a:lnTo>
                <a:lnTo>
                  <a:pt x="54" y="82"/>
                </a:lnTo>
                <a:lnTo>
                  <a:pt x="54" y="82"/>
                </a:lnTo>
                <a:lnTo>
                  <a:pt x="50" y="86"/>
                </a:lnTo>
                <a:lnTo>
                  <a:pt x="44" y="86"/>
                </a:lnTo>
                <a:lnTo>
                  <a:pt x="44" y="86"/>
                </a:lnTo>
                <a:close/>
                <a:moveTo>
                  <a:pt x="44" y="8"/>
                </a:moveTo>
                <a:lnTo>
                  <a:pt x="44" y="8"/>
                </a:lnTo>
                <a:lnTo>
                  <a:pt x="38" y="10"/>
                </a:lnTo>
                <a:lnTo>
                  <a:pt x="10" y="38"/>
                </a:lnTo>
                <a:lnTo>
                  <a:pt x="10" y="38"/>
                </a:lnTo>
                <a:lnTo>
                  <a:pt x="8" y="44"/>
                </a:lnTo>
                <a:lnTo>
                  <a:pt x="10" y="48"/>
                </a:lnTo>
                <a:lnTo>
                  <a:pt x="38" y="76"/>
                </a:lnTo>
                <a:lnTo>
                  <a:pt x="38" y="76"/>
                </a:lnTo>
                <a:lnTo>
                  <a:pt x="44" y="78"/>
                </a:lnTo>
                <a:lnTo>
                  <a:pt x="50" y="76"/>
                </a:lnTo>
                <a:lnTo>
                  <a:pt x="78" y="48"/>
                </a:lnTo>
                <a:lnTo>
                  <a:pt x="78" y="48"/>
                </a:lnTo>
                <a:lnTo>
                  <a:pt x="80" y="44"/>
                </a:lnTo>
                <a:lnTo>
                  <a:pt x="80" y="44"/>
                </a:lnTo>
                <a:lnTo>
                  <a:pt x="78" y="38"/>
                </a:lnTo>
                <a:lnTo>
                  <a:pt x="50" y="10"/>
                </a:lnTo>
                <a:lnTo>
                  <a:pt x="50" y="10"/>
                </a:lnTo>
                <a:lnTo>
                  <a:pt x="44" y="8"/>
                </a:lnTo>
                <a:lnTo>
                  <a:pt x="44" y="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91" name="Oval 525"/>
          <p:cNvSpPr>
            <a:spLocks noChangeArrowheads="1"/>
          </p:cNvSpPr>
          <p:nvPr/>
        </p:nvSpPr>
        <p:spPr bwMode="auto">
          <a:xfrm rot="16200000" flipH="1">
            <a:off x="7022912" y="7008146"/>
            <a:ext cx="175975" cy="188448"/>
          </a:xfrm>
          <a:prstGeom prst="rtTriangle">
            <a:avLst/>
          </a:prstGeom>
          <a:solidFill>
            <a:srgbClr val="0F8AC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92" name="Rectangle 548"/>
          <p:cNvSpPr>
            <a:spLocks noChangeArrowheads="1"/>
          </p:cNvSpPr>
          <p:nvPr/>
        </p:nvSpPr>
        <p:spPr bwMode="auto">
          <a:xfrm>
            <a:off x="4530702" y="9419165"/>
            <a:ext cx="2598239" cy="8111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93" name="Freeform 40"/>
          <p:cNvSpPr>
            <a:spLocks/>
          </p:cNvSpPr>
          <p:nvPr/>
        </p:nvSpPr>
        <p:spPr bwMode="auto">
          <a:xfrm>
            <a:off x="4636410" y="9510272"/>
            <a:ext cx="643784" cy="643784"/>
          </a:xfrm>
          <a:custGeom>
            <a:avLst/>
            <a:gdLst>
              <a:gd name="T0" fmla="*/ 255 w 255"/>
              <a:gd name="T1" fmla="*/ 128 h 255"/>
              <a:gd name="T2" fmla="*/ 255 w 255"/>
              <a:gd name="T3" fmla="*/ 128 h 255"/>
              <a:gd name="T4" fmla="*/ 255 w 255"/>
              <a:gd name="T5" fmla="*/ 141 h 255"/>
              <a:gd name="T6" fmla="*/ 254 w 255"/>
              <a:gd name="T7" fmla="*/ 154 h 255"/>
              <a:gd name="T8" fmla="*/ 251 w 255"/>
              <a:gd name="T9" fmla="*/ 167 h 255"/>
              <a:gd name="T10" fmla="*/ 246 w 255"/>
              <a:gd name="T11" fmla="*/ 178 h 255"/>
              <a:gd name="T12" fmla="*/ 241 w 255"/>
              <a:gd name="T13" fmla="*/ 189 h 255"/>
              <a:gd name="T14" fmla="*/ 234 w 255"/>
              <a:gd name="T15" fmla="*/ 199 h 255"/>
              <a:gd name="T16" fmla="*/ 226 w 255"/>
              <a:gd name="T17" fmla="*/ 210 h 255"/>
              <a:gd name="T18" fmla="*/ 218 w 255"/>
              <a:gd name="T19" fmla="*/ 218 h 255"/>
              <a:gd name="T20" fmla="*/ 209 w 255"/>
              <a:gd name="T21" fmla="*/ 226 h 255"/>
              <a:gd name="T22" fmla="*/ 199 w 255"/>
              <a:gd name="T23" fmla="*/ 234 h 255"/>
              <a:gd name="T24" fmla="*/ 189 w 255"/>
              <a:gd name="T25" fmla="*/ 241 h 255"/>
              <a:gd name="T26" fmla="*/ 178 w 255"/>
              <a:gd name="T27" fmla="*/ 246 h 255"/>
              <a:gd name="T28" fmla="*/ 167 w 255"/>
              <a:gd name="T29" fmla="*/ 251 h 255"/>
              <a:gd name="T30" fmla="*/ 154 w 255"/>
              <a:gd name="T31" fmla="*/ 254 h 255"/>
              <a:gd name="T32" fmla="*/ 141 w 255"/>
              <a:gd name="T33" fmla="*/ 255 h 255"/>
              <a:gd name="T34" fmla="*/ 128 w 255"/>
              <a:gd name="T35" fmla="*/ 255 h 255"/>
              <a:gd name="T36" fmla="*/ 128 w 255"/>
              <a:gd name="T37" fmla="*/ 255 h 255"/>
              <a:gd name="T38" fmla="*/ 115 w 255"/>
              <a:gd name="T39" fmla="*/ 255 h 255"/>
              <a:gd name="T40" fmla="*/ 102 w 255"/>
              <a:gd name="T41" fmla="*/ 254 h 255"/>
              <a:gd name="T42" fmla="*/ 89 w 255"/>
              <a:gd name="T43" fmla="*/ 251 h 255"/>
              <a:gd name="T44" fmla="*/ 78 w 255"/>
              <a:gd name="T45" fmla="*/ 246 h 255"/>
              <a:gd name="T46" fmla="*/ 66 w 255"/>
              <a:gd name="T47" fmla="*/ 241 h 255"/>
              <a:gd name="T48" fmla="*/ 57 w 255"/>
              <a:gd name="T49" fmla="*/ 234 h 255"/>
              <a:gd name="T50" fmla="*/ 47 w 255"/>
              <a:gd name="T51" fmla="*/ 226 h 255"/>
              <a:gd name="T52" fmla="*/ 37 w 255"/>
              <a:gd name="T53" fmla="*/ 218 h 255"/>
              <a:gd name="T54" fmla="*/ 29 w 255"/>
              <a:gd name="T55" fmla="*/ 210 h 255"/>
              <a:gd name="T56" fmla="*/ 21 w 255"/>
              <a:gd name="T57" fmla="*/ 199 h 255"/>
              <a:gd name="T58" fmla="*/ 15 w 255"/>
              <a:gd name="T59" fmla="*/ 189 h 255"/>
              <a:gd name="T60" fmla="*/ 10 w 255"/>
              <a:gd name="T61" fmla="*/ 178 h 255"/>
              <a:gd name="T62" fmla="*/ 5 w 255"/>
              <a:gd name="T63" fmla="*/ 167 h 255"/>
              <a:gd name="T64" fmla="*/ 2 w 255"/>
              <a:gd name="T65" fmla="*/ 154 h 255"/>
              <a:gd name="T66" fmla="*/ 0 w 255"/>
              <a:gd name="T67" fmla="*/ 141 h 255"/>
              <a:gd name="T68" fmla="*/ 0 w 255"/>
              <a:gd name="T69" fmla="*/ 128 h 255"/>
              <a:gd name="T70" fmla="*/ 0 w 255"/>
              <a:gd name="T71" fmla="*/ 128 h 255"/>
              <a:gd name="T72" fmla="*/ 0 w 255"/>
              <a:gd name="T73" fmla="*/ 115 h 255"/>
              <a:gd name="T74" fmla="*/ 2 w 255"/>
              <a:gd name="T75" fmla="*/ 102 h 255"/>
              <a:gd name="T76" fmla="*/ 5 w 255"/>
              <a:gd name="T77" fmla="*/ 91 h 255"/>
              <a:gd name="T78" fmla="*/ 10 w 255"/>
              <a:gd name="T79" fmla="*/ 78 h 255"/>
              <a:gd name="T80" fmla="*/ 15 w 255"/>
              <a:gd name="T81" fmla="*/ 66 h 255"/>
              <a:gd name="T82" fmla="*/ 21 w 255"/>
              <a:gd name="T83" fmla="*/ 57 h 255"/>
              <a:gd name="T84" fmla="*/ 29 w 255"/>
              <a:gd name="T85" fmla="*/ 47 h 255"/>
              <a:gd name="T86" fmla="*/ 37 w 255"/>
              <a:gd name="T87" fmla="*/ 37 h 255"/>
              <a:gd name="T88" fmla="*/ 47 w 255"/>
              <a:gd name="T89" fmla="*/ 29 h 255"/>
              <a:gd name="T90" fmla="*/ 57 w 255"/>
              <a:gd name="T91" fmla="*/ 23 h 255"/>
              <a:gd name="T92" fmla="*/ 66 w 255"/>
              <a:gd name="T93" fmla="*/ 16 h 255"/>
              <a:gd name="T94" fmla="*/ 78 w 255"/>
              <a:gd name="T95" fmla="*/ 10 h 255"/>
              <a:gd name="T96" fmla="*/ 89 w 255"/>
              <a:gd name="T97" fmla="*/ 7 h 255"/>
              <a:gd name="T98" fmla="*/ 102 w 255"/>
              <a:gd name="T99" fmla="*/ 3 h 255"/>
              <a:gd name="T100" fmla="*/ 115 w 255"/>
              <a:gd name="T101" fmla="*/ 0 h 255"/>
              <a:gd name="T102" fmla="*/ 128 w 255"/>
              <a:gd name="T103" fmla="*/ 0 h 255"/>
              <a:gd name="T104" fmla="*/ 255 w 255"/>
              <a:gd name="T105" fmla="*/ 0 h 255"/>
              <a:gd name="T106" fmla="*/ 255 w 255"/>
              <a:gd name="T107" fmla="*/ 12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5" h="255">
                <a:moveTo>
                  <a:pt x="255" y="128"/>
                </a:moveTo>
                <a:lnTo>
                  <a:pt x="255" y="128"/>
                </a:lnTo>
                <a:lnTo>
                  <a:pt x="255" y="141"/>
                </a:lnTo>
                <a:lnTo>
                  <a:pt x="254" y="154"/>
                </a:lnTo>
                <a:lnTo>
                  <a:pt x="251" y="167"/>
                </a:lnTo>
                <a:lnTo>
                  <a:pt x="246" y="178"/>
                </a:lnTo>
                <a:lnTo>
                  <a:pt x="241" y="189"/>
                </a:lnTo>
                <a:lnTo>
                  <a:pt x="234" y="199"/>
                </a:lnTo>
                <a:lnTo>
                  <a:pt x="226" y="210"/>
                </a:lnTo>
                <a:lnTo>
                  <a:pt x="218" y="218"/>
                </a:lnTo>
                <a:lnTo>
                  <a:pt x="209" y="226"/>
                </a:lnTo>
                <a:lnTo>
                  <a:pt x="199" y="234"/>
                </a:lnTo>
                <a:lnTo>
                  <a:pt x="189" y="241"/>
                </a:lnTo>
                <a:lnTo>
                  <a:pt x="178" y="246"/>
                </a:lnTo>
                <a:lnTo>
                  <a:pt x="167" y="251"/>
                </a:lnTo>
                <a:lnTo>
                  <a:pt x="154" y="254"/>
                </a:lnTo>
                <a:lnTo>
                  <a:pt x="141" y="255"/>
                </a:lnTo>
                <a:lnTo>
                  <a:pt x="128" y="255"/>
                </a:lnTo>
                <a:lnTo>
                  <a:pt x="128" y="255"/>
                </a:lnTo>
                <a:lnTo>
                  <a:pt x="115" y="255"/>
                </a:lnTo>
                <a:lnTo>
                  <a:pt x="102" y="254"/>
                </a:lnTo>
                <a:lnTo>
                  <a:pt x="89" y="251"/>
                </a:lnTo>
                <a:lnTo>
                  <a:pt x="78" y="246"/>
                </a:lnTo>
                <a:lnTo>
                  <a:pt x="66" y="241"/>
                </a:lnTo>
                <a:lnTo>
                  <a:pt x="57" y="234"/>
                </a:lnTo>
                <a:lnTo>
                  <a:pt x="47" y="226"/>
                </a:lnTo>
                <a:lnTo>
                  <a:pt x="37" y="218"/>
                </a:lnTo>
                <a:lnTo>
                  <a:pt x="29" y="210"/>
                </a:lnTo>
                <a:lnTo>
                  <a:pt x="21" y="199"/>
                </a:lnTo>
                <a:lnTo>
                  <a:pt x="15" y="189"/>
                </a:lnTo>
                <a:lnTo>
                  <a:pt x="10" y="178"/>
                </a:lnTo>
                <a:lnTo>
                  <a:pt x="5" y="167"/>
                </a:lnTo>
                <a:lnTo>
                  <a:pt x="2" y="154"/>
                </a:lnTo>
                <a:lnTo>
                  <a:pt x="0" y="141"/>
                </a:lnTo>
                <a:lnTo>
                  <a:pt x="0" y="128"/>
                </a:lnTo>
                <a:lnTo>
                  <a:pt x="0" y="128"/>
                </a:lnTo>
                <a:lnTo>
                  <a:pt x="0" y="115"/>
                </a:lnTo>
                <a:lnTo>
                  <a:pt x="2" y="102"/>
                </a:lnTo>
                <a:lnTo>
                  <a:pt x="5" y="91"/>
                </a:lnTo>
                <a:lnTo>
                  <a:pt x="10" y="78"/>
                </a:lnTo>
                <a:lnTo>
                  <a:pt x="15" y="66"/>
                </a:lnTo>
                <a:lnTo>
                  <a:pt x="21" y="57"/>
                </a:lnTo>
                <a:lnTo>
                  <a:pt x="29" y="47"/>
                </a:lnTo>
                <a:lnTo>
                  <a:pt x="37" y="37"/>
                </a:lnTo>
                <a:lnTo>
                  <a:pt x="47" y="29"/>
                </a:lnTo>
                <a:lnTo>
                  <a:pt x="57" y="23"/>
                </a:lnTo>
                <a:lnTo>
                  <a:pt x="66" y="16"/>
                </a:lnTo>
                <a:lnTo>
                  <a:pt x="78" y="10"/>
                </a:lnTo>
                <a:lnTo>
                  <a:pt x="89" y="7"/>
                </a:lnTo>
                <a:lnTo>
                  <a:pt x="102" y="3"/>
                </a:lnTo>
                <a:lnTo>
                  <a:pt x="115" y="0"/>
                </a:lnTo>
                <a:lnTo>
                  <a:pt x="128" y="0"/>
                </a:lnTo>
                <a:lnTo>
                  <a:pt x="255" y="0"/>
                </a:lnTo>
                <a:lnTo>
                  <a:pt x="255" y="128"/>
                </a:lnTo>
                <a:close/>
              </a:path>
            </a:pathLst>
          </a:cu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b="1" spc="-5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94" name="양쪽 모서리가 둥근 사각형 593"/>
          <p:cNvSpPr/>
          <p:nvPr/>
        </p:nvSpPr>
        <p:spPr bwMode="auto">
          <a:xfrm>
            <a:off x="4746782" y="9541667"/>
            <a:ext cx="443637" cy="503284"/>
          </a:xfrm>
          <a:prstGeom prst="round2SameRect">
            <a:avLst>
              <a:gd name="adj1" fmla="val 20612"/>
              <a:gd name="adj2" fmla="val 0"/>
            </a:avLst>
          </a:prstGeom>
          <a:noFill/>
          <a:ln w="3175">
            <a:noFill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1042988" eaLnBrk="0" latinLnBrk="0" hangingPunct="0">
              <a:lnSpc>
                <a:spcPct val="90000"/>
              </a:lnSpc>
              <a:spcBef>
                <a:spcPts val="0"/>
              </a:spcBef>
              <a:buClr>
                <a:srgbClr val="292929"/>
              </a:buClr>
              <a:buSzPct val="100000"/>
              <a:tabLst>
                <a:tab pos="5648325" algn="l"/>
              </a:tabLst>
              <a:defRPr/>
            </a:pPr>
            <a:r>
              <a:rPr lang="ko-KR" altLang="en-US" sz="1000" b="1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타당성검토</a:t>
            </a:r>
            <a:endParaRPr lang="en-US" altLang="ko-KR" sz="1000" b="1" spc="-1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algn="ctr" defTabSz="1042988" eaLnBrk="0" latinLnBrk="0" hangingPunct="0">
              <a:lnSpc>
                <a:spcPct val="90000"/>
              </a:lnSpc>
              <a:spcBef>
                <a:spcPts val="0"/>
              </a:spcBef>
              <a:buClr>
                <a:srgbClr val="292929"/>
              </a:buClr>
              <a:buSzPct val="100000"/>
              <a:tabLst>
                <a:tab pos="5648325" algn="l"/>
              </a:tabLst>
              <a:defRPr/>
            </a:pPr>
            <a:endParaRPr lang="en-US" altLang="ko-KR" sz="800" b="1" spc="-1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595" name="모서리가 둥근 직사각형 594"/>
          <p:cNvSpPr/>
          <p:nvPr/>
        </p:nvSpPr>
        <p:spPr bwMode="auto">
          <a:xfrm flipH="1">
            <a:off x="5415631" y="9559411"/>
            <a:ext cx="160758" cy="158748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96" name="모서리가 둥근 직사각형 595"/>
          <p:cNvSpPr/>
          <p:nvPr/>
        </p:nvSpPr>
        <p:spPr bwMode="auto">
          <a:xfrm flipH="1">
            <a:off x="5415631" y="9791968"/>
            <a:ext cx="160758" cy="158748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97" name="Rectangle 549"/>
          <p:cNvSpPr>
            <a:spLocks noChangeArrowheads="1"/>
          </p:cNvSpPr>
          <p:nvPr/>
        </p:nvSpPr>
        <p:spPr bwMode="auto">
          <a:xfrm>
            <a:off x="5654707" y="9776531"/>
            <a:ext cx="1042186" cy="1692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defTabSz="1042988" eaLnBrk="0" latin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기술 타당성 검토</a:t>
            </a:r>
          </a:p>
        </p:txBody>
      </p:sp>
      <p:sp>
        <p:nvSpPr>
          <p:cNvPr id="598" name="Rectangle 549"/>
          <p:cNvSpPr>
            <a:spLocks noChangeArrowheads="1"/>
          </p:cNvSpPr>
          <p:nvPr/>
        </p:nvSpPr>
        <p:spPr bwMode="auto">
          <a:xfrm>
            <a:off x="5652777" y="9554147"/>
            <a:ext cx="1132928" cy="16927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defTabSz="1042988" eaLnBrk="0" latin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요구 타당성 검토</a:t>
            </a:r>
          </a:p>
        </p:txBody>
      </p:sp>
      <p:sp>
        <p:nvSpPr>
          <p:cNvPr id="599" name="Freeform 343"/>
          <p:cNvSpPr>
            <a:spLocks noEditPoints="1"/>
          </p:cNvSpPr>
          <p:nvPr/>
        </p:nvSpPr>
        <p:spPr bwMode="auto">
          <a:xfrm>
            <a:off x="4848546" y="10005688"/>
            <a:ext cx="224294" cy="170717"/>
          </a:xfrm>
          <a:custGeom>
            <a:avLst/>
            <a:gdLst>
              <a:gd name="T0" fmla="*/ 214 w 494"/>
              <a:gd name="T1" fmla="*/ 232 h 376"/>
              <a:gd name="T2" fmla="*/ 410 w 494"/>
              <a:gd name="T3" fmla="*/ 232 h 376"/>
              <a:gd name="T4" fmla="*/ 414 w 494"/>
              <a:gd name="T5" fmla="*/ 230 h 376"/>
              <a:gd name="T6" fmla="*/ 420 w 494"/>
              <a:gd name="T7" fmla="*/ 226 h 376"/>
              <a:gd name="T8" fmla="*/ 422 w 494"/>
              <a:gd name="T9" fmla="*/ 10 h 376"/>
              <a:gd name="T10" fmla="*/ 420 w 494"/>
              <a:gd name="T11" fmla="*/ 6 h 376"/>
              <a:gd name="T12" fmla="*/ 414 w 494"/>
              <a:gd name="T13" fmla="*/ 0 h 376"/>
              <a:gd name="T14" fmla="*/ 82 w 494"/>
              <a:gd name="T15" fmla="*/ 0 h 376"/>
              <a:gd name="T16" fmla="*/ 78 w 494"/>
              <a:gd name="T17" fmla="*/ 0 h 376"/>
              <a:gd name="T18" fmla="*/ 72 w 494"/>
              <a:gd name="T19" fmla="*/ 6 h 376"/>
              <a:gd name="T20" fmla="*/ 72 w 494"/>
              <a:gd name="T21" fmla="*/ 222 h 376"/>
              <a:gd name="T22" fmla="*/ 72 w 494"/>
              <a:gd name="T23" fmla="*/ 226 h 376"/>
              <a:gd name="T24" fmla="*/ 78 w 494"/>
              <a:gd name="T25" fmla="*/ 230 h 376"/>
              <a:gd name="T26" fmla="*/ 94 w 494"/>
              <a:gd name="T27" fmla="*/ 28 h 376"/>
              <a:gd name="T28" fmla="*/ 94 w 494"/>
              <a:gd name="T29" fmla="*/ 26 h 376"/>
              <a:gd name="T30" fmla="*/ 100 w 494"/>
              <a:gd name="T31" fmla="*/ 20 h 376"/>
              <a:gd name="T32" fmla="*/ 390 w 494"/>
              <a:gd name="T33" fmla="*/ 20 h 376"/>
              <a:gd name="T34" fmla="*/ 394 w 494"/>
              <a:gd name="T35" fmla="*/ 20 h 376"/>
              <a:gd name="T36" fmla="*/ 398 w 494"/>
              <a:gd name="T37" fmla="*/ 26 h 376"/>
              <a:gd name="T38" fmla="*/ 400 w 494"/>
              <a:gd name="T39" fmla="*/ 200 h 376"/>
              <a:gd name="T40" fmla="*/ 398 w 494"/>
              <a:gd name="T41" fmla="*/ 204 h 376"/>
              <a:gd name="T42" fmla="*/ 394 w 494"/>
              <a:gd name="T43" fmla="*/ 208 h 376"/>
              <a:gd name="T44" fmla="*/ 104 w 494"/>
              <a:gd name="T45" fmla="*/ 210 h 376"/>
              <a:gd name="T46" fmla="*/ 100 w 494"/>
              <a:gd name="T47" fmla="*/ 208 h 376"/>
              <a:gd name="T48" fmla="*/ 94 w 494"/>
              <a:gd name="T49" fmla="*/ 204 h 376"/>
              <a:gd name="T50" fmla="*/ 94 w 494"/>
              <a:gd name="T51" fmla="*/ 28 h 376"/>
              <a:gd name="T52" fmla="*/ 420 w 494"/>
              <a:gd name="T53" fmla="*/ 236 h 376"/>
              <a:gd name="T54" fmla="*/ 416 w 494"/>
              <a:gd name="T55" fmla="*/ 234 h 376"/>
              <a:gd name="T56" fmla="*/ 86 w 494"/>
              <a:gd name="T57" fmla="*/ 232 h 376"/>
              <a:gd name="T58" fmla="*/ 78 w 494"/>
              <a:gd name="T59" fmla="*/ 234 h 376"/>
              <a:gd name="T60" fmla="*/ 0 w 494"/>
              <a:gd name="T61" fmla="*/ 368 h 376"/>
              <a:gd name="T62" fmla="*/ 0 w 494"/>
              <a:gd name="T63" fmla="*/ 372 h 376"/>
              <a:gd name="T64" fmla="*/ 6 w 494"/>
              <a:gd name="T65" fmla="*/ 376 h 376"/>
              <a:gd name="T66" fmla="*/ 200 w 494"/>
              <a:gd name="T67" fmla="*/ 376 h 376"/>
              <a:gd name="T68" fmla="*/ 482 w 494"/>
              <a:gd name="T69" fmla="*/ 376 h 376"/>
              <a:gd name="T70" fmla="*/ 488 w 494"/>
              <a:gd name="T71" fmla="*/ 376 h 376"/>
              <a:gd name="T72" fmla="*/ 494 w 494"/>
              <a:gd name="T73" fmla="*/ 372 h 376"/>
              <a:gd name="T74" fmla="*/ 158 w 494"/>
              <a:gd name="T75" fmla="*/ 358 h 376"/>
              <a:gd name="T76" fmla="*/ 336 w 494"/>
              <a:gd name="T77" fmla="*/ 320 h 376"/>
              <a:gd name="T78" fmla="*/ 158 w 494"/>
              <a:gd name="T79" fmla="*/ 35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94" h="376">
                <a:moveTo>
                  <a:pt x="82" y="232"/>
                </a:moveTo>
                <a:lnTo>
                  <a:pt x="214" y="232"/>
                </a:lnTo>
                <a:lnTo>
                  <a:pt x="280" y="232"/>
                </a:lnTo>
                <a:lnTo>
                  <a:pt x="410" y="232"/>
                </a:lnTo>
                <a:lnTo>
                  <a:pt x="410" y="232"/>
                </a:lnTo>
                <a:lnTo>
                  <a:pt x="414" y="230"/>
                </a:lnTo>
                <a:lnTo>
                  <a:pt x="418" y="228"/>
                </a:lnTo>
                <a:lnTo>
                  <a:pt x="420" y="226"/>
                </a:lnTo>
                <a:lnTo>
                  <a:pt x="422" y="222"/>
                </a:lnTo>
                <a:lnTo>
                  <a:pt x="422" y="10"/>
                </a:lnTo>
                <a:lnTo>
                  <a:pt x="422" y="10"/>
                </a:lnTo>
                <a:lnTo>
                  <a:pt x="420" y="6"/>
                </a:lnTo>
                <a:lnTo>
                  <a:pt x="418" y="2"/>
                </a:lnTo>
                <a:lnTo>
                  <a:pt x="414" y="0"/>
                </a:lnTo>
                <a:lnTo>
                  <a:pt x="410" y="0"/>
                </a:lnTo>
                <a:lnTo>
                  <a:pt x="82" y="0"/>
                </a:lnTo>
                <a:lnTo>
                  <a:pt x="82" y="0"/>
                </a:lnTo>
                <a:lnTo>
                  <a:pt x="78" y="0"/>
                </a:lnTo>
                <a:lnTo>
                  <a:pt x="74" y="2"/>
                </a:lnTo>
                <a:lnTo>
                  <a:pt x="72" y="6"/>
                </a:lnTo>
                <a:lnTo>
                  <a:pt x="72" y="10"/>
                </a:lnTo>
                <a:lnTo>
                  <a:pt x="72" y="222"/>
                </a:lnTo>
                <a:lnTo>
                  <a:pt x="72" y="222"/>
                </a:lnTo>
                <a:lnTo>
                  <a:pt x="72" y="226"/>
                </a:lnTo>
                <a:lnTo>
                  <a:pt x="74" y="228"/>
                </a:lnTo>
                <a:lnTo>
                  <a:pt x="78" y="230"/>
                </a:lnTo>
                <a:lnTo>
                  <a:pt x="82" y="232"/>
                </a:lnTo>
                <a:close/>
                <a:moveTo>
                  <a:pt x="94" y="28"/>
                </a:moveTo>
                <a:lnTo>
                  <a:pt x="94" y="28"/>
                </a:lnTo>
                <a:lnTo>
                  <a:pt x="94" y="26"/>
                </a:lnTo>
                <a:lnTo>
                  <a:pt x="96" y="22"/>
                </a:lnTo>
                <a:lnTo>
                  <a:pt x="100" y="20"/>
                </a:lnTo>
                <a:lnTo>
                  <a:pt x="104" y="20"/>
                </a:lnTo>
                <a:lnTo>
                  <a:pt x="390" y="20"/>
                </a:lnTo>
                <a:lnTo>
                  <a:pt x="390" y="20"/>
                </a:lnTo>
                <a:lnTo>
                  <a:pt x="394" y="20"/>
                </a:lnTo>
                <a:lnTo>
                  <a:pt x="396" y="22"/>
                </a:lnTo>
                <a:lnTo>
                  <a:pt x="398" y="26"/>
                </a:lnTo>
                <a:lnTo>
                  <a:pt x="400" y="28"/>
                </a:lnTo>
                <a:lnTo>
                  <a:pt x="400" y="200"/>
                </a:lnTo>
                <a:lnTo>
                  <a:pt x="400" y="200"/>
                </a:lnTo>
                <a:lnTo>
                  <a:pt x="398" y="204"/>
                </a:lnTo>
                <a:lnTo>
                  <a:pt x="396" y="206"/>
                </a:lnTo>
                <a:lnTo>
                  <a:pt x="394" y="208"/>
                </a:lnTo>
                <a:lnTo>
                  <a:pt x="390" y="210"/>
                </a:lnTo>
                <a:lnTo>
                  <a:pt x="104" y="210"/>
                </a:lnTo>
                <a:lnTo>
                  <a:pt x="104" y="210"/>
                </a:lnTo>
                <a:lnTo>
                  <a:pt x="100" y="208"/>
                </a:lnTo>
                <a:lnTo>
                  <a:pt x="96" y="206"/>
                </a:lnTo>
                <a:lnTo>
                  <a:pt x="94" y="204"/>
                </a:lnTo>
                <a:lnTo>
                  <a:pt x="94" y="200"/>
                </a:lnTo>
                <a:lnTo>
                  <a:pt x="94" y="28"/>
                </a:lnTo>
                <a:close/>
                <a:moveTo>
                  <a:pt x="492" y="368"/>
                </a:moveTo>
                <a:lnTo>
                  <a:pt x="420" y="236"/>
                </a:lnTo>
                <a:lnTo>
                  <a:pt x="420" y="236"/>
                </a:lnTo>
                <a:lnTo>
                  <a:pt x="416" y="234"/>
                </a:lnTo>
                <a:lnTo>
                  <a:pt x="408" y="232"/>
                </a:lnTo>
                <a:lnTo>
                  <a:pt x="86" y="232"/>
                </a:lnTo>
                <a:lnTo>
                  <a:pt x="86" y="232"/>
                </a:lnTo>
                <a:lnTo>
                  <a:pt x="78" y="234"/>
                </a:lnTo>
                <a:lnTo>
                  <a:pt x="72" y="236"/>
                </a:lnTo>
                <a:lnTo>
                  <a:pt x="0" y="368"/>
                </a:lnTo>
                <a:lnTo>
                  <a:pt x="0" y="368"/>
                </a:lnTo>
                <a:lnTo>
                  <a:pt x="0" y="372"/>
                </a:lnTo>
                <a:lnTo>
                  <a:pt x="2" y="374"/>
                </a:lnTo>
                <a:lnTo>
                  <a:pt x="6" y="376"/>
                </a:lnTo>
                <a:lnTo>
                  <a:pt x="10" y="376"/>
                </a:lnTo>
                <a:lnTo>
                  <a:pt x="200" y="376"/>
                </a:lnTo>
                <a:lnTo>
                  <a:pt x="294" y="376"/>
                </a:lnTo>
                <a:lnTo>
                  <a:pt x="482" y="376"/>
                </a:lnTo>
                <a:lnTo>
                  <a:pt x="482" y="376"/>
                </a:lnTo>
                <a:lnTo>
                  <a:pt x="488" y="376"/>
                </a:lnTo>
                <a:lnTo>
                  <a:pt x="492" y="374"/>
                </a:lnTo>
                <a:lnTo>
                  <a:pt x="494" y="372"/>
                </a:lnTo>
                <a:lnTo>
                  <a:pt x="492" y="368"/>
                </a:lnTo>
                <a:close/>
                <a:moveTo>
                  <a:pt x="158" y="358"/>
                </a:moveTo>
                <a:lnTo>
                  <a:pt x="168" y="320"/>
                </a:lnTo>
                <a:lnTo>
                  <a:pt x="336" y="320"/>
                </a:lnTo>
                <a:lnTo>
                  <a:pt x="348" y="358"/>
                </a:lnTo>
                <a:lnTo>
                  <a:pt x="158" y="358"/>
                </a:lnTo>
                <a:close/>
              </a:path>
            </a:pathLst>
          </a:custGeom>
          <a:solidFill>
            <a:srgbClr val="9FDD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0" name="Freeform 344"/>
          <p:cNvSpPr>
            <a:spLocks/>
          </p:cNvSpPr>
          <p:nvPr/>
        </p:nvSpPr>
        <p:spPr bwMode="auto">
          <a:xfrm>
            <a:off x="4881237" y="10005688"/>
            <a:ext cx="158913" cy="105336"/>
          </a:xfrm>
          <a:custGeom>
            <a:avLst/>
            <a:gdLst>
              <a:gd name="T0" fmla="*/ 10 w 350"/>
              <a:gd name="T1" fmla="*/ 232 h 232"/>
              <a:gd name="T2" fmla="*/ 142 w 350"/>
              <a:gd name="T3" fmla="*/ 232 h 232"/>
              <a:gd name="T4" fmla="*/ 208 w 350"/>
              <a:gd name="T5" fmla="*/ 232 h 232"/>
              <a:gd name="T6" fmla="*/ 338 w 350"/>
              <a:gd name="T7" fmla="*/ 232 h 232"/>
              <a:gd name="T8" fmla="*/ 338 w 350"/>
              <a:gd name="T9" fmla="*/ 232 h 232"/>
              <a:gd name="T10" fmla="*/ 342 w 350"/>
              <a:gd name="T11" fmla="*/ 230 h 232"/>
              <a:gd name="T12" fmla="*/ 346 w 350"/>
              <a:gd name="T13" fmla="*/ 228 h 232"/>
              <a:gd name="T14" fmla="*/ 348 w 350"/>
              <a:gd name="T15" fmla="*/ 226 h 232"/>
              <a:gd name="T16" fmla="*/ 350 w 350"/>
              <a:gd name="T17" fmla="*/ 222 h 232"/>
              <a:gd name="T18" fmla="*/ 350 w 350"/>
              <a:gd name="T19" fmla="*/ 10 h 232"/>
              <a:gd name="T20" fmla="*/ 350 w 350"/>
              <a:gd name="T21" fmla="*/ 10 h 232"/>
              <a:gd name="T22" fmla="*/ 348 w 350"/>
              <a:gd name="T23" fmla="*/ 6 h 232"/>
              <a:gd name="T24" fmla="*/ 346 w 350"/>
              <a:gd name="T25" fmla="*/ 2 h 232"/>
              <a:gd name="T26" fmla="*/ 342 w 350"/>
              <a:gd name="T27" fmla="*/ 0 h 232"/>
              <a:gd name="T28" fmla="*/ 338 w 350"/>
              <a:gd name="T29" fmla="*/ 0 h 232"/>
              <a:gd name="T30" fmla="*/ 10 w 350"/>
              <a:gd name="T31" fmla="*/ 0 h 232"/>
              <a:gd name="T32" fmla="*/ 10 w 350"/>
              <a:gd name="T33" fmla="*/ 0 h 232"/>
              <a:gd name="T34" fmla="*/ 6 w 350"/>
              <a:gd name="T35" fmla="*/ 0 h 232"/>
              <a:gd name="T36" fmla="*/ 2 w 350"/>
              <a:gd name="T37" fmla="*/ 2 h 232"/>
              <a:gd name="T38" fmla="*/ 0 w 350"/>
              <a:gd name="T39" fmla="*/ 6 h 232"/>
              <a:gd name="T40" fmla="*/ 0 w 350"/>
              <a:gd name="T41" fmla="*/ 10 h 232"/>
              <a:gd name="T42" fmla="*/ 0 w 350"/>
              <a:gd name="T43" fmla="*/ 222 h 232"/>
              <a:gd name="T44" fmla="*/ 0 w 350"/>
              <a:gd name="T45" fmla="*/ 222 h 232"/>
              <a:gd name="T46" fmla="*/ 0 w 350"/>
              <a:gd name="T47" fmla="*/ 226 h 232"/>
              <a:gd name="T48" fmla="*/ 2 w 350"/>
              <a:gd name="T49" fmla="*/ 228 h 232"/>
              <a:gd name="T50" fmla="*/ 6 w 350"/>
              <a:gd name="T51" fmla="*/ 230 h 232"/>
              <a:gd name="T52" fmla="*/ 10 w 350"/>
              <a:gd name="T53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50" h="232">
                <a:moveTo>
                  <a:pt x="10" y="232"/>
                </a:moveTo>
                <a:lnTo>
                  <a:pt x="142" y="232"/>
                </a:lnTo>
                <a:lnTo>
                  <a:pt x="208" y="232"/>
                </a:lnTo>
                <a:lnTo>
                  <a:pt x="338" y="232"/>
                </a:lnTo>
                <a:lnTo>
                  <a:pt x="338" y="232"/>
                </a:lnTo>
                <a:lnTo>
                  <a:pt x="342" y="230"/>
                </a:lnTo>
                <a:lnTo>
                  <a:pt x="346" y="228"/>
                </a:lnTo>
                <a:lnTo>
                  <a:pt x="348" y="226"/>
                </a:lnTo>
                <a:lnTo>
                  <a:pt x="350" y="222"/>
                </a:lnTo>
                <a:lnTo>
                  <a:pt x="350" y="10"/>
                </a:lnTo>
                <a:lnTo>
                  <a:pt x="350" y="10"/>
                </a:lnTo>
                <a:lnTo>
                  <a:pt x="348" y="6"/>
                </a:lnTo>
                <a:lnTo>
                  <a:pt x="346" y="2"/>
                </a:lnTo>
                <a:lnTo>
                  <a:pt x="342" y="0"/>
                </a:lnTo>
                <a:lnTo>
                  <a:pt x="338" y="0"/>
                </a:lnTo>
                <a:lnTo>
                  <a:pt x="10" y="0"/>
                </a:lnTo>
                <a:lnTo>
                  <a:pt x="10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10"/>
                </a:lnTo>
                <a:lnTo>
                  <a:pt x="0" y="222"/>
                </a:lnTo>
                <a:lnTo>
                  <a:pt x="0" y="222"/>
                </a:lnTo>
                <a:lnTo>
                  <a:pt x="0" y="226"/>
                </a:lnTo>
                <a:lnTo>
                  <a:pt x="2" y="228"/>
                </a:lnTo>
                <a:lnTo>
                  <a:pt x="6" y="230"/>
                </a:lnTo>
                <a:lnTo>
                  <a:pt x="10" y="2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1" name="Freeform 345"/>
          <p:cNvSpPr>
            <a:spLocks/>
          </p:cNvSpPr>
          <p:nvPr/>
        </p:nvSpPr>
        <p:spPr bwMode="auto">
          <a:xfrm>
            <a:off x="4891225" y="10014768"/>
            <a:ext cx="138935" cy="86267"/>
          </a:xfrm>
          <a:custGeom>
            <a:avLst/>
            <a:gdLst>
              <a:gd name="T0" fmla="*/ 0 w 306"/>
              <a:gd name="T1" fmla="*/ 8 h 190"/>
              <a:gd name="T2" fmla="*/ 0 w 306"/>
              <a:gd name="T3" fmla="*/ 8 h 190"/>
              <a:gd name="T4" fmla="*/ 0 w 306"/>
              <a:gd name="T5" fmla="*/ 6 h 190"/>
              <a:gd name="T6" fmla="*/ 2 w 306"/>
              <a:gd name="T7" fmla="*/ 2 h 190"/>
              <a:gd name="T8" fmla="*/ 6 w 306"/>
              <a:gd name="T9" fmla="*/ 0 h 190"/>
              <a:gd name="T10" fmla="*/ 10 w 306"/>
              <a:gd name="T11" fmla="*/ 0 h 190"/>
              <a:gd name="T12" fmla="*/ 296 w 306"/>
              <a:gd name="T13" fmla="*/ 0 h 190"/>
              <a:gd name="T14" fmla="*/ 296 w 306"/>
              <a:gd name="T15" fmla="*/ 0 h 190"/>
              <a:gd name="T16" fmla="*/ 300 w 306"/>
              <a:gd name="T17" fmla="*/ 0 h 190"/>
              <a:gd name="T18" fmla="*/ 302 w 306"/>
              <a:gd name="T19" fmla="*/ 2 h 190"/>
              <a:gd name="T20" fmla="*/ 304 w 306"/>
              <a:gd name="T21" fmla="*/ 6 h 190"/>
              <a:gd name="T22" fmla="*/ 306 w 306"/>
              <a:gd name="T23" fmla="*/ 8 h 190"/>
              <a:gd name="T24" fmla="*/ 306 w 306"/>
              <a:gd name="T25" fmla="*/ 180 h 190"/>
              <a:gd name="T26" fmla="*/ 306 w 306"/>
              <a:gd name="T27" fmla="*/ 180 h 190"/>
              <a:gd name="T28" fmla="*/ 304 w 306"/>
              <a:gd name="T29" fmla="*/ 184 h 190"/>
              <a:gd name="T30" fmla="*/ 302 w 306"/>
              <a:gd name="T31" fmla="*/ 186 h 190"/>
              <a:gd name="T32" fmla="*/ 300 w 306"/>
              <a:gd name="T33" fmla="*/ 188 h 190"/>
              <a:gd name="T34" fmla="*/ 296 w 306"/>
              <a:gd name="T35" fmla="*/ 190 h 190"/>
              <a:gd name="T36" fmla="*/ 10 w 306"/>
              <a:gd name="T37" fmla="*/ 190 h 190"/>
              <a:gd name="T38" fmla="*/ 10 w 306"/>
              <a:gd name="T39" fmla="*/ 190 h 190"/>
              <a:gd name="T40" fmla="*/ 6 w 306"/>
              <a:gd name="T41" fmla="*/ 188 h 190"/>
              <a:gd name="T42" fmla="*/ 2 w 306"/>
              <a:gd name="T43" fmla="*/ 186 h 190"/>
              <a:gd name="T44" fmla="*/ 0 w 306"/>
              <a:gd name="T45" fmla="*/ 184 h 190"/>
              <a:gd name="T46" fmla="*/ 0 w 306"/>
              <a:gd name="T47" fmla="*/ 180 h 190"/>
              <a:gd name="T48" fmla="*/ 0 w 306"/>
              <a:gd name="T49" fmla="*/ 8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06" h="190">
                <a:moveTo>
                  <a:pt x="0" y="8"/>
                </a:moveTo>
                <a:lnTo>
                  <a:pt x="0" y="8"/>
                </a:lnTo>
                <a:lnTo>
                  <a:pt x="0" y="6"/>
                </a:lnTo>
                <a:lnTo>
                  <a:pt x="2" y="2"/>
                </a:lnTo>
                <a:lnTo>
                  <a:pt x="6" y="0"/>
                </a:lnTo>
                <a:lnTo>
                  <a:pt x="10" y="0"/>
                </a:lnTo>
                <a:lnTo>
                  <a:pt x="296" y="0"/>
                </a:lnTo>
                <a:lnTo>
                  <a:pt x="296" y="0"/>
                </a:lnTo>
                <a:lnTo>
                  <a:pt x="300" y="0"/>
                </a:lnTo>
                <a:lnTo>
                  <a:pt x="302" y="2"/>
                </a:lnTo>
                <a:lnTo>
                  <a:pt x="304" y="6"/>
                </a:lnTo>
                <a:lnTo>
                  <a:pt x="306" y="8"/>
                </a:lnTo>
                <a:lnTo>
                  <a:pt x="306" y="180"/>
                </a:lnTo>
                <a:lnTo>
                  <a:pt x="306" y="180"/>
                </a:lnTo>
                <a:lnTo>
                  <a:pt x="304" y="184"/>
                </a:lnTo>
                <a:lnTo>
                  <a:pt x="302" y="186"/>
                </a:lnTo>
                <a:lnTo>
                  <a:pt x="300" y="188"/>
                </a:lnTo>
                <a:lnTo>
                  <a:pt x="296" y="190"/>
                </a:lnTo>
                <a:lnTo>
                  <a:pt x="10" y="190"/>
                </a:lnTo>
                <a:lnTo>
                  <a:pt x="10" y="190"/>
                </a:lnTo>
                <a:lnTo>
                  <a:pt x="6" y="188"/>
                </a:lnTo>
                <a:lnTo>
                  <a:pt x="2" y="186"/>
                </a:lnTo>
                <a:lnTo>
                  <a:pt x="0" y="184"/>
                </a:lnTo>
                <a:lnTo>
                  <a:pt x="0" y="180"/>
                </a:lnTo>
                <a:lnTo>
                  <a:pt x="0" y="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2" name="Freeform 346"/>
          <p:cNvSpPr>
            <a:spLocks/>
          </p:cNvSpPr>
          <p:nvPr/>
        </p:nvSpPr>
        <p:spPr bwMode="auto">
          <a:xfrm>
            <a:off x="4848546" y="10111024"/>
            <a:ext cx="224294" cy="65381"/>
          </a:xfrm>
          <a:custGeom>
            <a:avLst/>
            <a:gdLst>
              <a:gd name="T0" fmla="*/ 492 w 494"/>
              <a:gd name="T1" fmla="*/ 136 h 144"/>
              <a:gd name="T2" fmla="*/ 420 w 494"/>
              <a:gd name="T3" fmla="*/ 4 h 144"/>
              <a:gd name="T4" fmla="*/ 420 w 494"/>
              <a:gd name="T5" fmla="*/ 4 h 144"/>
              <a:gd name="T6" fmla="*/ 416 w 494"/>
              <a:gd name="T7" fmla="*/ 2 h 144"/>
              <a:gd name="T8" fmla="*/ 408 w 494"/>
              <a:gd name="T9" fmla="*/ 0 h 144"/>
              <a:gd name="T10" fmla="*/ 86 w 494"/>
              <a:gd name="T11" fmla="*/ 0 h 144"/>
              <a:gd name="T12" fmla="*/ 86 w 494"/>
              <a:gd name="T13" fmla="*/ 0 h 144"/>
              <a:gd name="T14" fmla="*/ 78 w 494"/>
              <a:gd name="T15" fmla="*/ 2 h 144"/>
              <a:gd name="T16" fmla="*/ 72 w 494"/>
              <a:gd name="T17" fmla="*/ 4 h 144"/>
              <a:gd name="T18" fmla="*/ 0 w 494"/>
              <a:gd name="T19" fmla="*/ 136 h 144"/>
              <a:gd name="T20" fmla="*/ 0 w 494"/>
              <a:gd name="T21" fmla="*/ 136 h 144"/>
              <a:gd name="T22" fmla="*/ 0 w 494"/>
              <a:gd name="T23" fmla="*/ 140 h 144"/>
              <a:gd name="T24" fmla="*/ 2 w 494"/>
              <a:gd name="T25" fmla="*/ 142 h 144"/>
              <a:gd name="T26" fmla="*/ 6 w 494"/>
              <a:gd name="T27" fmla="*/ 144 h 144"/>
              <a:gd name="T28" fmla="*/ 10 w 494"/>
              <a:gd name="T29" fmla="*/ 144 h 144"/>
              <a:gd name="T30" fmla="*/ 200 w 494"/>
              <a:gd name="T31" fmla="*/ 144 h 144"/>
              <a:gd name="T32" fmla="*/ 294 w 494"/>
              <a:gd name="T33" fmla="*/ 144 h 144"/>
              <a:gd name="T34" fmla="*/ 482 w 494"/>
              <a:gd name="T35" fmla="*/ 144 h 144"/>
              <a:gd name="T36" fmla="*/ 482 w 494"/>
              <a:gd name="T37" fmla="*/ 144 h 144"/>
              <a:gd name="T38" fmla="*/ 488 w 494"/>
              <a:gd name="T39" fmla="*/ 144 h 144"/>
              <a:gd name="T40" fmla="*/ 492 w 494"/>
              <a:gd name="T41" fmla="*/ 142 h 144"/>
              <a:gd name="T42" fmla="*/ 494 w 494"/>
              <a:gd name="T43" fmla="*/ 140 h 144"/>
              <a:gd name="T44" fmla="*/ 492 w 494"/>
              <a:gd name="T45" fmla="*/ 13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94" h="144">
                <a:moveTo>
                  <a:pt x="492" y="136"/>
                </a:moveTo>
                <a:lnTo>
                  <a:pt x="420" y="4"/>
                </a:lnTo>
                <a:lnTo>
                  <a:pt x="420" y="4"/>
                </a:lnTo>
                <a:lnTo>
                  <a:pt x="416" y="2"/>
                </a:lnTo>
                <a:lnTo>
                  <a:pt x="408" y="0"/>
                </a:lnTo>
                <a:lnTo>
                  <a:pt x="86" y="0"/>
                </a:lnTo>
                <a:lnTo>
                  <a:pt x="86" y="0"/>
                </a:lnTo>
                <a:lnTo>
                  <a:pt x="78" y="2"/>
                </a:lnTo>
                <a:lnTo>
                  <a:pt x="72" y="4"/>
                </a:lnTo>
                <a:lnTo>
                  <a:pt x="0" y="136"/>
                </a:lnTo>
                <a:lnTo>
                  <a:pt x="0" y="136"/>
                </a:lnTo>
                <a:lnTo>
                  <a:pt x="0" y="140"/>
                </a:lnTo>
                <a:lnTo>
                  <a:pt x="2" y="142"/>
                </a:lnTo>
                <a:lnTo>
                  <a:pt x="6" y="144"/>
                </a:lnTo>
                <a:lnTo>
                  <a:pt x="10" y="144"/>
                </a:lnTo>
                <a:lnTo>
                  <a:pt x="200" y="144"/>
                </a:lnTo>
                <a:lnTo>
                  <a:pt x="294" y="144"/>
                </a:lnTo>
                <a:lnTo>
                  <a:pt x="482" y="144"/>
                </a:lnTo>
                <a:lnTo>
                  <a:pt x="482" y="144"/>
                </a:lnTo>
                <a:lnTo>
                  <a:pt x="488" y="144"/>
                </a:lnTo>
                <a:lnTo>
                  <a:pt x="492" y="142"/>
                </a:lnTo>
                <a:lnTo>
                  <a:pt x="494" y="140"/>
                </a:lnTo>
                <a:lnTo>
                  <a:pt x="492" y="13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3" name="Freeform 347"/>
          <p:cNvSpPr>
            <a:spLocks/>
          </p:cNvSpPr>
          <p:nvPr/>
        </p:nvSpPr>
        <p:spPr bwMode="auto">
          <a:xfrm>
            <a:off x="4920284" y="10150979"/>
            <a:ext cx="86267" cy="17253"/>
          </a:xfrm>
          <a:custGeom>
            <a:avLst/>
            <a:gdLst>
              <a:gd name="T0" fmla="*/ 0 w 190"/>
              <a:gd name="T1" fmla="*/ 38 h 38"/>
              <a:gd name="T2" fmla="*/ 10 w 190"/>
              <a:gd name="T3" fmla="*/ 0 h 38"/>
              <a:gd name="T4" fmla="*/ 178 w 190"/>
              <a:gd name="T5" fmla="*/ 0 h 38"/>
              <a:gd name="T6" fmla="*/ 190 w 190"/>
              <a:gd name="T7" fmla="*/ 38 h 38"/>
              <a:gd name="T8" fmla="*/ 0 w 190"/>
              <a:gd name="T9" fmla="*/ 3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38">
                <a:moveTo>
                  <a:pt x="0" y="38"/>
                </a:moveTo>
                <a:lnTo>
                  <a:pt x="10" y="0"/>
                </a:lnTo>
                <a:lnTo>
                  <a:pt x="178" y="0"/>
                </a:lnTo>
                <a:lnTo>
                  <a:pt x="190" y="38"/>
                </a:lnTo>
                <a:lnTo>
                  <a:pt x="0" y="38"/>
                </a:lnTo>
              </a:path>
            </a:pathLst>
          </a:custGeom>
          <a:solidFill>
            <a:srgbClr val="9FDD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4" name="Freeform 348"/>
          <p:cNvSpPr>
            <a:spLocks noEditPoints="1"/>
          </p:cNvSpPr>
          <p:nvPr/>
        </p:nvSpPr>
        <p:spPr bwMode="auto">
          <a:xfrm>
            <a:off x="4848546" y="10005688"/>
            <a:ext cx="224294" cy="170717"/>
          </a:xfrm>
          <a:custGeom>
            <a:avLst/>
            <a:gdLst>
              <a:gd name="T0" fmla="*/ 214 w 494"/>
              <a:gd name="T1" fmla="*/ 232 h 376"/>
              <a:gd name="T2" fmla="*/ 410 w 494"/>
              <a:gd name="T3" fmla="*/ 232 h 376"/>
              <a:gd name="T4" fmla="*/ 414 w 494"/>
              <a:gd name="T5" fmla="*/ 230 h 376"/>
              <a:gd name="T6" fmla="*/ 420 w 494"/>
              <a:gd name="T7" fmla="*/ 226 h 376"/>
              <a:gd name="T8" fmla="*/ 422 w 494"/>
              <a:gd name="T9" fmla="*/ 10 h 376"/>
              <a:gd name="T10" fmla="*/ 420 w 494"/>
              <a:gd name="T11" fmla="*/ 6 h 376"/>
              <a:gd name="T12" fmla="*/ 414 w 494"/>
              <a:gd name="T13" fmla="*/ 0 h 376"/>
              <a:gd name="T14" fmla="*/ 82 w 494"/>
              <a:gd name="T15" fmla="*/ 0 h 376"/>
              <a:gd name="T16" fmla="*/ 78 w 494"/>
              <a:gd name="T17" fmla="*/ 0 h 376"/>
              <a:gd name="T18" fmla="*/ 72 w 494"/>
              <a:gd name="T19" fmla="*/ 6 h 376"/>
              <a:gd name="T20" fmla="*/ 72 w 494"/>
              <a:gd name="T21" fmla="*/ 222 h 376"/>
              <a:gd name="T22" fmla="*/ 72 w 494"/>
              <a:gd name="T23" fmla="*/ 226 h 376"/>
              <a:gd name="T24" fmla="*/ 78 w 494"/>
              <a:gd name="T25" fmla="*/ 230 h 376"/>
              <a:gd name="T26" fmla="*/ 82 w 494"/>
              <a:gd name="T27" fmla="*/ 232 h 376"/>
              <a:gd name="T28" fmla="*/ 94 w 494"/>
              <a:gd name="T29" fmla="*/ 28 h 376"/>
              <a:gd name="T30" fmla="*/ 96 w 494"/>
              <a:gd name="T31" fmla="*/ 22 h 376"/>
              <a:gd name="T32" fmla="*/ 104 w 494"/>
              <a:gd name="T33" fmla="*/ 20 h 376"/>
              <a:gd name="T34" fmla="*/ 390 w 494"/>
              <a:gd name="T35" fmla="*/ 20 h 376"/>
              <a:gd name="T36" fmla="*/ 396 w 494"/>
              <a:gd name="T37" fmla="*/ 22 h 376"/>
              <a:gd name="T38" fmla="*/ 400 w 494"/>
              <a:gd name="T39" fmla="*/ 28 h 376"/>
              <a:gd name="T40" fmla="*/ 400 w 494"/>
              <a:gd name="T41" fmla="*/ 200 h 376"/>
              <a:gd name="T42" fmla="*/ 396 w 494"/>
              <a:gd name="T43" fmla="*/ 206 h 376"/>
              <a:gd name="T44" fmla="*/ 390 w 494"/>
              <a:gd name="T45" fmla="*/ 210 h 376"/>
              <a:gd name="T46" fmla="*/ 104 w 494"/>
              <a:gd name="T47" fmla="*/ 210 h 376"/>
              <a:gd name="T48" fmla="*/ 96 w 494"/>
              <a:gd name="T49" fmla="*/ 206 h 376"/>
              <a:gd name="T50" fmla="*/ 94 w 494"/>
              <a:gd name="T51" fmla="*/ 200 h 376"/>
              <a:gd name="T52" fmla="*/ 492 w 494"/>
              <a:gd name="T53" fmla="*/ 368 h 376"/>
              <a:gd name="T54" fmla="*/ 420 w 494"/>
              <a:gd name="T55" fmla="*/ 236 h 376"/>
              <a:gd name="T56" fmla="*/ 408 w 494"/>
              <a:gd name="T57" fmla="*/ 232 h 376"/>
              <a:gd name="T58" fmla="*/ 86 w 494"/>
              <a:gd name="T59" fmla="*/ 232 h 376"/>
              <a:gd name="T60" fmla="*/ 72 w 494"/>
              <a:gd name="T61" fmla="*/ 236 h 376"/>
              <a:gd name="T62" fmla="*/ 0 w 494"/>
              <a:gd name="T63" fmla="*/ 368 h 376"/>
              <a:gd name="T64" fmla="*/ 2 w 494"/>
              <a:gd name="T65" fmla="*/ 374 h 376"/>
              <a:gd name="T66" fmla="*/ 10 w 494"/>
              <a:gd name="T67" fmla="*/ 376 h 376"/>
              <a:gd name="T68" fmla="*/ 294 w 494"/>
              <a:gd name="T69" fmla="*/ 376 h 376"/>
              <a:gd name="T70" fmla="*/ 482 w 494"/>
              <a:gd name="T71" fmla="*/ 376 h 376"/>
              <a:gd name="T72" fmla="*/ 492 w 494"/>
              <a:gd name="T73" fmla="*/ 374 h 376"/>
              <a:gd name="T74" fmla="*/ 492 w 494"/>
              <a:gd name="T75" fmla="*/ 368 h 376"/>
              <a:gd name="T76" fmla="*/ 158 w 494"/>
              <a:gd name="T77" fmla="*/ 358 h 376"/>
              <a:gd name="T78" fmla="*/ 336 w 494"/>
              <a:gd name="T79" fmla="*/ 320 h 376"/>
              <a:gd name="T80" fmla="*/ 158 w 494"/>
              <a:gd name="T81" fmla="*/ 35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94" h="376">
                <a:moveTo>
                  <a:pt x="82" y="232"/>
                </a:moveTo>
                <a:lnTo>
                  <a:pt x="214" y="232"/>
                </a:lnTo>
                <a:lnTo>
                  <a:pt x="280" y="232"/>
                </a:lnTo>
                <a:lnTo>
                  <a:pt x="410" y="232"/>
                </a:lnTo>
                <a:lnTo>
                  <a:pt x="410" y="232"/>
                </a:lnTo>
                <a:lnTo>
                  <a:pt x="414" y="230"/>
                </a:lnTo>
                <a:lnTo>
                  <a:pt x="418" y="228"/>
                </a:lnTo>
                <a:lnTo>
                  <a:pt x="420" y="226"/>
                </a:lnTo>
                <a:lnTo>
                  <a:pt x="422" y="222"/>
                </a:lnTo>
                <a:lnTo>
                  <a:pt x="422" y="10"/>
                </a:lnTo>
                <a:lnTo>
                  <a:pt x="422" y="10"/>
                </a:lnTo>
                <a:lnTo>
                  <a:pt x="420" y="6"/>
                </a:lnTo>
                <a:lnTo>
                  <a:pt x="418" y="2"/>
                </a:lnTo>
                <a:lnTo>
                  <a:pt x="414" y="0"/>
                </a:lnTo>
                <a:lnTo>
                  <a:pt x="410" y="0"/>
                </a:lnTo>
                <a:lnTo>
                  <a:pt x="82" y="0"/>
                </a:lnTo>
                <a:lnTo>
                  <a:pt x="82" y="0"/>
                </a:lnTo>
                <a:lnTo>
                  <a:pt x="78" y="0"/>
                </a:lnTo>
                <a:lnTo>
                  <a:pt x="74" y="2"/>
                </a:lnTo>
                <a:lnTo>
                  <a:pt x="72" y="6"/>
                </a:lnTo>
                <a:lnTo>
                  <a:pt x="72" y="10"/>
                </a:lnTo>
                <a:lnTo>
                  <a:pt x="72" y="222"/>
                </a:lnTo>
                <a:lnTo>
                  <a:pt x="72" y="222"/>
                </a:lnTo>
                <a:lnTo>
                  <a:pt x="72" y="226"/>
                </a:lnTo>
                <a:lnTo>
                  <a:pt x="74" y="228"/>
                </a:lnTo>
                <a:lnTo>
                  <a:pt x="78" y="230"/>
                </a:lnTo>
                <a:lnTo>
                  <a:pt x="82" y="232"/>
                </a:lnTo>
                <a:lnTo>
                  <a:pt x="82" y="232"/>
                </a:lnTo>
                <a:close/>
                <a:moveTo>
                  <a:pt x="94" y="28"/>
                </a:moveTo>
                <a:lnTo>
                  <a:pt x="94" y="28"/>
                </a:lnTo>
                <a:lnTo>
                  <a:pt x="94" y="26"/>
                </a:lnTo>
                <a:lnTo>
                  <a:pt x="96" y="22"/>
                </a:lnTo>
                <a:lnTo>
                  <a:pt x="100" y="20"/>
                </a:lnTo>
                <a:lnTo>
                  <a:pt x="104" y="20"/>
                </a:lnTo>
                <a:lnTo>
                  <a:pt x="390" y="20"/>
                </a:lnTo>
                <a:lnTo>
                  <a:pt x="390" y="20"/>
                </a:lnTo>
                <a:lnTo>
                  <a:pt x="394" y="20"/>
                </a:lnTo>
                <a:lnTo>
                  <a:pt x="396" y="22"/>
                </a:lnTo>
                <a:lnTo>
                  <a:pt x="398" y="26"/>
                </a:lnTo>
                <a:lnTo>
                  <a:pt x="400" y="28"/>
                </a:lnTo>
                <a:lnTo>
                  <a:pt x="400" y="200"/>
                </a:lnTo>
                <a:lnTo>
                  <a:pt x="400" y="200"/>
                </a:lnTo>
                <a:lnTo>
                  <a:pt x="398" y="204"/>
                </a:lnTo>
                <a:lnTo>
                  <a:pt x="396" y="206"/>
                </a:lnTo>
                <a:lnTo>
                  <a:pt x="394" y="208"/>
                </a:lnTo>
                <a:lnTo>
                  <a:pt x="390" y="210"/>
                </a:lnTo>
                <a:lnTo>
                  <a:pt x="104" y="210"/>
                </a:lnTo>
                <a:lnTo>
                  <a:pt x="104" y="210"/>
                </a:lnTo>
                <a:lnTo>
                  <a:pt x="100" y="208"/>
                </a:lnTo>
                <a:lnTo>
                  <a:pt x="96" y="206"/>
                </a:lnTo>
                <a:lnTo>
                  <a:pt x="94" y="204"/>
                </a:lnTo>
                <a:lnTo>
                  <a:pt x="94" y="200"/>
                </a:lnTo>
                <a:lnTo>
                  <a:pt x="94" y="28"/>
                </a:lnTo>
                <a:close/>
                <a:moveTo>
                  <a:pt x="492" y="368"/>
                </a:moveTo>
                <a:lnTo>
                  <a:pt x="420" y="236"/>
                </a:lnTo>
                <a:lnTo>
                  <a:pt x="420" y="236"/>
                </a:lnTo>
                <a:lnTo>
                  <a:pt x="416" y="234"/>
                </a:lnTo>
                <a:lnTo>
                  <a:pt x="408" y="232"/>
                </a:lnTo>
                <a:lnTo>
                  <a:pt x="86" y="232"/>
                </a:lnTo>
                <a:lnTo>
                  <a:pt x="86" y="232"/>
                </a:lnTo>
                <a:lnTo>
                  <a:pt x="78" y="234"/>
                </a:lnTo>
                <a:lnTo>
                  <a:pt x="72" y="236"/>
                </a:lnTo>
                <a:lnTo>
                  <a:pt x="0" y="368"/>
                </a:lnTo>
                <a:lnTo>
                  <a:pt x="0" y="368"/>
                </a:lnTo>
                <a:lnTo>
                  <a:pt x="0" y="372"/>
                </a:lnTo>
                <a:lnTo>
                  <a:pt x="2" y="374"/>
                </a:lnTo>
                <a:lnTo>
                  <a:pt x="6" y="376"/>
                </a:lnTo>
                <a:lnTo>
                  <a:pt x="10" y="376"/>
                </a:lnTo>
                <a:lnTo>
                  <a:pt x="200" y="376"/>
                </a:lnTo>
                <a:lnTo>
                  <a:pt x="294" y="376"/>
                </a:lnTo>
                <a:lnTo>
                  <a:pt x="482" y="376"/>
                </a:lnTo>
                <a:lnTo>
                  <a:pt x="482" y="376"/>
                </a:lnTo>
                <a:lnTo>
                  <a:pt x="488" y="376"/>
                </a:lnTo>
                <a:lnTo>
                  <a:pt x="492" y="374"/>
                </a:lnTo>
                <a:lnTo>
                  <a:pt x="494" y="372"/>
                </a:lnTo>
                <a:lnTo>
                  <a:pt x="492" y="368"/>
                </a:lnTo>
                <a:lnTo>
                  <a:pt x="492" y="368"/>
                </a:lnTo>
                <a:close/>
                <a:moveTo>
                  <a:pt x="158" y="358"/>
                </a:moveTo>
                <a:lnTo>
                  <a:pt x="168" y="320"/>
                </a:lnTo>
                <a:lnTo>
                  <a:pt x="336" y="320"/>
                </a:lnTo>
                <a:lnTo>
                  <a:pt x="348" y="358"/>
                </a:lnTo>
                <a:lnTo>
                  <a:pt x="158" y="3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5" name="Freeform 349"/>
          <p:cNvSpPr>
            <a:spLocks noEditPoints="1"/>
          </p:cNvSpPr>
          <p:nvPr/>
        </p:nvSpPr>
        <p:spPr bwMode="auto">
          <a:xfrm>
            <a:off x="4892133" y="10119196"/>
            <a:ext cx="139843" cy="20886"/>
          </a:xfrm>
          <a:custGeom>
            <a:avLst/>
            <a:gdLst>
              <a:gd name="T0" fmla="*/ 294 w 308"/>
              <a:gd name="T1" fmla="*/ 22 h 46"/>
              <a:gd name="T2" fmla="*/ 268 w 308"/>
              <a:gd name="T3" fmla="*/ 10 h 46"/>
              <a:gd name="T4" fmla="*/ 230 w 308"/>
              <a:gd name="T5" fmla="*/ 46 h 46"/>
              <a:gd name="T6" fmla="*/ 206 w 308"/>
              <a:gd name="T7" fmla="*/ 32 h 46"/>
              <a:gd name="T8" fmla="*/ 206 w 308"/>
              <a:gd name="T9" fmla="*/ 32 h 46"/>
              <a:gd name="T10" fmla="*/ 232 w 308"/>
              <a:gd name="T11" fmla="*/ 32 h 46"/>
              <a:gd name="T12" fmla="*/ 236 w 308"/>
              <a:gd name="T13" fmla="*/ 46 h 46"/>
              <a:gd name="T14" fmla="*/ 252 w 308"/>
              <a:gd name="T15" fmla="*/ 22 h 46"/>
              <a:gd name="T16" fmla="*/ 280 w 308"/>
              <a:gd name="T17" fmla="*/ 0 h 46"/>
              <a:gd name="T18" fmla="*/ 280 w 308"/>
              <a:gd name="T19" fmla="*/ 0 h 46"/>
              <a:gd name="T20" fmla="*/ 264 w 308"/>
              <a:gd name="T21" fmla="*/ 10 h 46"/>
              <a:gd name="T22" fmla="*/ 246 w 308"/>
              <a:gd name="T23" fmla="*/ 8 h 46"/>
              <a:gd name="T24" fmla="*/ 228 w 308"/>
              <a:gd name="T25" fmla="*/ 20 h 46"/>
              <a:gd name="T26" fmla="*/ 238 w 308"/>
              <a:gd name="T27" fmla="*/ 0 h 46"/>
              <a:gd name="T28" fmla="*/ 238 w 308"/>
              <a:gd name="T29" fmla="*/ 0 h 46"/>
              <a:gd name="T30" fmla="*/ 218 w 308"/>
              <a:gd name="T31" fmla="*/ 10 h 46"/>
              <a:gd name="T32" fmla="*/ 180 w 308"/>
              <a:gd name="T33" fmla="*/ 36 h 46"/>
              <a:gd name="T34" fmla="*/ 218 w 308"/>
              <a:gd name="T35" fmla="*/ 8 h 46"/>
              <a:gd name="T36" fmla="*/ 200 w 308"/>
              <a:gd name="T37" fmla="*/ 32 h 46"/>
              <a:gd name="T38" fmla="*/ 200 w 308"/>
              <a:gd name="T39" fmla="*/ 32 h 46"/>
              <a:gd name="T40" fmla="*/ 196 w 308"/>
              <a:gd name="T41" fmla="*/ 10 h 46"/>
              <a:gd name="T42" fmla="*/ 178 w 308"/>
              <a:gd name="T43" fmla="*/ 8 h 46"/>
              <a:gd name="T44" fmla="*/ 156 w 308"/>
              <a:gd name="T45" fmla="*/ 46 h 46"/>
              <a:gd name="T46" fmla="*/ 174 w 308"/>
              <a:gd name="T47" fmla="*/ 32 h 46"/>
              <a:gd name="T48" fmla="*/ 174 w 308"/>
              <a:gd name="T49" fmla="*/ 32 h 46"/>
              <a:gd name="T50" fmla="*/ 172 w 308"/>
              <a:gd name="T51" fmla="*/ 10 h 46"/>
              <a:gd name="T52" fmla="*/ 156 w 308"/>
              <a:gd name="T53" fmla="*/ 8 h 46"/>
              <a:gd name="T54" fmla="*/ 150 w 308"/>
              <a:gd name="T55" fmla="*/ 0 h 46"/>
              <a:gd name="T56" fmla="*/ 134 w 308"/>
              <a:gd name="T57" fmla="*/ 10 h 46"/>
              <a:gd name="T58" fmla="*/ 134 w 308"/>
              <a:gd name="T59" fmla="*/ 10 h 46"/>
              <a:gd name="T60" fmla="*/ 132 w 308"/>
              <a:gd name="T61" fmla="*/ 32 h 46"/>
              <a:gd name="T62" fmla="*/ 150 w 308"/>
              <a:gd name="T63" fmla="*/ 46 h 46"/>
              <a:gd name="T64" fmla="*/ 130 w 308"/>
              <a:gd name="T65" fmla="*/ 0 h 46"/>
              <a:gd name="T66" fmla="*/ 110 w 308"/>
              <a:gd name="T67" fmla="*/ 10 h 46"/>
              <a:gd name="T68" fmla="*/ 110 w 308"/>
              <a:gd name="T69" fmla="*/ 10 h 46"/>
              <a:gd name="T70" fmla="*/ 108 w 308"/>
              <a:gd name="T71" fmla="*/ 22 h 46"/>
              <a:gd name="T72" fmla="*/ 104 w 308"/>
              <a:gd name="T73" fmla="*/ 46 h 46"/>
              <a:gd name="T74" fmla="*/ 108 w 308"/>
              <a:gd name="T75" fmla="*/ 0 h 46"/>
              <a:gd name="T76" fmla="*/ 106 w 308"/>
              <a:gd name="T77" fmla="*/ 10 h 46"/>
              <a:gd name="T78" fmla="*/ 106 w 308"/>
              <a:gd name="T79" fmla="*/ 10 h 46"/>
              <a:gd name="T80" fmla="*/ 78 w 308"/>
              <a:gd name="T81" fmla="*/ 46 h 46"/>
              <a:gd name="T82" fmla="*/ 60 w 308"/>
              <a:gd name="T83" fmla="*/ 22 h 46"/>
              <a:gd name="T84" fmla="*/ 84 w 308"/>
              <a:gd name="T85" fmla="*/ 22 h 46"/>
              <a:gd name="T86" fmla="*/ 70 w 308"/>
              <a:gd name="T87" fmla="*/ 0 h 46"/>
              <a:gd name="T88" fmla="*/ 70 w 308"/>
              <a:gd name="T89" fmla="*/ 0 h 46"/>
              <a:gd name="T90" fmla="*/ 66 w 308"/>
              <a:gd name="T91" fmla="*/ 10 h 46"/>
              <a:gd name="T92" fmla="*/ 62 w 308"/>
              <a:gd name="T93" fmla="*/ 8 h 46"/>
              <a:gd name="T94" fmla="*/ 58 w 308"/>
              <a:gd name="T95" fmla="*/ 20 h 46"/>
              <a:gd name="T96" fmla="*/ 56 w 308"/>
              <a:gd name="T97" fmla="*/ 22 h 46"/>
              <a:gd name="T98" fmla="*/ 56 w 308"/>
              <a:gd name="T99" fmla="*/ 22 h 46"/>
              <a:gd name="T100" fmla="*/ 22 w 308"/>
              <a:gd name="T101" fmla="*/ 8 h 46"/>
              <a:gd name="T102" fmla="*/ 34 w 308"/>
              <a:gd name="T103" fmla="*/ 20 h 46"/>
              <a:gd name="T104" fmla="*/ 32 w 308"/>
              <a:gd name="T105" fmla="*/ 22 h 46"/>
              <a:gd name="T106" fmla="*/ 20 w 308"/>
              <a:gd name="T107" fmla="*/ 46 h 46"/>
              <a:gd name="T108" fmla="*/ 20 w 308"/>
              <a:gd name="T109" fmla="*/ 46 h 46"/>
              <a:gd name="T110" fmla="*/ 50 w 308"/>
              <a:gd name="T111" fmla="*/ 36 h 46"/>
              <a:gd name="T112" fmla="*/ 72 w 308"/>
              <a:gd name="T113" fmla="*/ 46 h 46"/>
              <a:gd name="T114" fmla="*/ 256 w 308"/>
              <a:gd name="T115" fmla="*/ 36 h 46"/>
              <a:gd name="T116" fmla="*/ 288 w 308"/>
              <a:gd name="T117" fmla="*/ 46 h 46"/>
              <a:gd name="T118" fmla="*/ 288 w 308"/>
              <a:gd name="T119" fmla="*/ 46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8" h="46">
                <a:moveTo>
                  <a:pt x="300" y="32"/>
                </a:moveTo>
                <a:lnTo>
                  <a:pt x="280" y="32"/>
                </a:lnTo>
                <a:lnTo>
                  <a:pt x="276" y="22"/>
                </a:lnTo>
                <a:lnTo>
                  <a:pt x="294" y="22"/>
                </a:lnTo>
                <a:lnTo>
                  <a:pt x="300" y="32"/>
                </a:lnTo>
                <a:close/>
                <a:moveTo>
                  <a:pt x="292" y="20"/>
                </a:moveTo>
                <a:lnTo>
                  <a:pt x="274" y="20"/>
                </a:lnTo>
                <a:lnTo>
                  <a:pt x="268" y="10"/>
                </a:lnTo>
                <a:lnTo>
                  <a:pt x="286" y="10"/>
                </a:lnTo>
                <a:lnTo>
                  <a:pt x="292" y="20"/>
                </a:lnTo>
                <a:close/>
                <a:moveTo>
                  <a:pt x="226" y="36"/>
                </a:moveTo>
                <a:lnTo>
                  <a:pt x="230" y="46"/>
                </a:lnTo>
                <a:lnTo>
                  <a:pt x="210" y="46"/>
                </a:lnTo>
                <a:lnTo>
                  <a:pt x="206" y="36"/>
                </a:lnTo>
                <a:lnTo>
                  <a:pt x="226" y="36"/>
                </a:lnTo>
                <a:close/>
                <a:moveTo>
                  <a:pt x="206" y="32"/>
                </a:moveTo>
                <a:lnTo>
                  <a:pt x="204" y="22"/>
                </a:lnTo>
                <a:lnTo>
                  <a:pt x="222" y="22"/>
                </a:lnTo>
                <a:lnTo>
                  <a:pt x="226" y="32"/>
                </a:lnTo>
                <a:lnTo>
                  <a:pt x="206" y="32"/>
                </a:lnTo>
                <a:close/>
                <a:moveTo>
                  <a:pt x="228" y="22"/>
                </a:moveTo>
                <a:lnTo>
                  <a:pt x="246" y="22"/>
                </a:lnTo>
                <a:lnTo>
                  <a:pt x="250" y="32"/>
                </a:lnTo>
                <a:lnTo>
                  <a:pt x="232" y="32"/>
                </a:lnTo>
                <a:lnTo>
                  <a:pt x="228" y="22"/>
                </a:lnTo>
                <a:close/>
                <a:moveTo>
                  <a:pt x="252" y="36"/>
                </a:moveTo>
                <a:lnTo>
                  <a:pt x="256" y="46"/>
                </a:lnTo>
                <a:lnTo>
                  <a:pt x="236" y="46"/>
                </a:lnTo>
                <a:lnTo>
                  <a:pt x="232" y="36"/>
                </a:lnTo>
                <a:lnTo>
                  <a:pt x="252" y="36"/>
                </a:lnTo>
                <a:close/>
                <a:moveTo>
                  <a:pt x="256" y="32"/>
                </a:moveTo>
                <a:lnTo>
                  <a:pt x="252" y="22"/>
                </a:lnTo>
                <a:lnTo>
                  <a:pt x="270" y="22"/>
                </a:lnTo>
                <a:lnTo>
                  <a:pt x="274" y="32"/>
                </a:lnTo>
                <a:lnTo>
                  <a:pt x="256" y="32"/>
                </a:lnTo>
                <a:close/>
                <a:moveTo>
                  <a:pt x="280" y="0"/>
                </a:moveTo>
                <a:lnTo>
                  <a:pt x="284" y="8"/>
                </a:lnTo>
                <a:lnTo>
                  <a:pt x="268" y="8"/>
                </a:lnTo>
                <a:lnTo>
                  <a:pt x="264" y="0"/>
                </a:lnTo>
                <a:lnTo>
                  <a:pt x="280" y="0"/>
                </a:lnTo>
                <a:close/>
                <a:moveTo>
                  <a:pt x="268" y="20"/>
                </a:moveTo>
                <a:lnTo>
                  <a:pt x="250" y="20"/>
                </a:lnTo>
                <a:lnTo>
                  <a:pt x="246" y="10"/>
                </a:lnTo>
                <a:lnTo>
                  <a:pt x="264" y="10"/>
                </a:lnTo>
                <a:lnTo>
                  <a:pt x="268" y="20"/>
                </a:lnTo>
                <a:close/>
                <a:moveTo>
                  <a:pt x="258" y="0"/>
                </a:moveTo>
                <a:lnTo>
                  <a:pt x="262" y="8"/>
                </a:lnTo>
                <a:lnTo>
                  <a:pt x="246" y="8"/>
                </a:lnTo>
                <a:lnTo>
                  <a:pt x="242" y="0"/>
                </a:lnTo>
                <a:lnTo>
                  <a:pt x="258" y="0"/>
                </a:lnTo>
                <a:close/>
                <a:moveTo>
                  <a:pt x="244" y="20"/>
                </a:moveTo>
                <a:lnTo>
                  <a:pt x="228" y="20"/>
                </a:lnTo>
                <a:lnTo>
                  <a:pt x="224" y="10"/>
                </a:lnTo>
                <a:lnTo>
                  <a:pt x="242" y="10"/>
                </a:lnTo>
                <a:lnTo>
                  <a:pt x="244" y="20"/>
                </a:lnTo>
                <a:close/>
                <a:moveTo>
                  <a:pt x="238" y="0"/>
                </a:moveTo>
                <a:lnTo>
                  <a:pt x="240" y="8"/>
                </a:lnTo>
                <a:lnTo>
                  <a:pt x="224" y="8"/>
                </a:lnTo>
                <a:lnTo>
                  <a:pt x="220" y="0"/>
                </a:lnTo>
                <a:lnTo>
                  <a:pt x="238" y="0"/>
                </a:lnTo>
                <a:close/>
                <a:moveTo>
                  <a:pt x="222" y="20"/>
                </a:moveTo>
                <a:lnTo>
                  <a:pt x="204" y="20"/>
                </a:lnTo>
                <a:lnTo>
                  <a:pt x="202" y="10"/>
                </a:lnTo>
                <a:lnTo>
                  <a:pt x="218" y="10"/>
                </a:lnTo>
                <a:lnTo>
                  <a:pt x="222" y="20"/>
                </a:lnTo>
                <a:close/>
                <a:moveTo>
                  <a:pt x="202" y="46"/>
                </a:moveTo>
                <a:lnTo>
                  <a:pt x="182" y="46"/>
                </a:lnTo>
                <a:lnTo>
                  <a:pt x="180" y="36"/>
                </a:lnTo>
                <a:lnTo>
                  <a:pt x="200" y="36"/>
                </a:lnTo>
                <a:lnTo>
                  <a:pt x="202" y="46"/>
                </a:lnTo>
                <a:close/>
                <a:moveTo>
                  <a:pt x="216" y="0"/>
                </a:moveTo>
                <a:lnTo>
                  <a:pt x="218" y="8"/>
                </a:lnTo>
                <a:lnTo>
                  <a:pt x="200" y="8"/>
                </a:lnTo>
                <a:lnTo>
                  <a:pt x="200" y="0"/>
                </a:lnTo>
                <a:lnTo>
                  <a:pt x="216" y="0"/>
                </a:lnTo>
                <a:close/>
                <a:moveTo>
                  <a:pt x="200" y="32"/>
                </a:moveTo>
                <a:lnTo>
                  <a:pt x="180" y="32"/>
                </a:lnTo>
                <a:lnTo>
                  <a:pt x="180" y="22"/>
                </a:lnTo>
                <a:lnTo>
                  <a:pt x="198" y="22"/>
                </a:lnTo>
                <a:lnTo>
                  <a:pt x="200" y="32"/>
                </a:lnTo>
                <a:close/>
                <a:moveTo>
                  <a:pt x="198" y="20"/>
                </a:moveTo>
                <a:lnTo>
                  <a:pt x="180" y="20"/>
                </a:lnTo>
                <a:lnTo>
                  <a:pt x="178" y="10"/>
                </a:lnTo>
                <a:lnTo>
                  <a:pt x="196" y="10"/>
                </a:lnTo>
                <a:lnTo>
                  <a:pt x="198" y="20"/>
                </a:lnTo>
                <a:close/>
                <a:moveTo>
                  <a:pt x="194" y="0"/>
                </a:moveTo>
                <a:lnTo>
                  <a:pt x="194" y="8"/>
                </a:lnTo>
                <a:lnTo>
                  <a:pt x="178" y="8"/>
                </a:lnTo>
                <a:lnTo>
                  <a:pt x="176" y="0"/>
                </a:lnTo>
                <a:lnTo>
                  <a:pt x="194" y="0"/>
                </a:lnTo>
                <a:close/>
                <a:moveTo>
                  <a:pt x="176" y="46"/>
                </a:moveTo>
                <a:lnTo>
                  <a:pt x="156" y="46"/>
                </a:lnTo>
                <a:lnTo>
                  <a:pt x="156" y="36"/>
                </a:lnTo>
                <a:lnTo>
                  <a:pt x="174" y="36"/>
                </a:lnTo>
                <a:lnTo>
                  <a:pt x="176" y="46"/>
                </a:lnTo>
                <a:close/>
                <a:moveTo>
                  <a:pt x="174" y="32"/>
                </a:moveTo>
                <a:lnTo>
                  <a:pt x="156" y="32"/>
                </a:lnTo>
                <a:lnTo>
                  <a:pt x="156" y="22"/>
                </a:lnTo>
                <a:lnTo>
                  <a:pt x="174" y="22"/>
                </a:lnTo>
                <a:lnTo>
                  <a:pt x="174" y="32"/>
                </a:lnTo>
                <a:close/>
                <a:moveTo>
                  <a:pt x="174" y="20"/>
                </a:moveTo>
                <a:lnTo>
                  <a:pt x="156" y="20"/>
                </a:lnTo>
                <a:lnTo>
                  <a:pt x="156" y="10"/>
                </a:lnTo>
                <a:lnTo>
                  <a:pt x="172" y="10"/>
                </a:lnTo>
                <a:lnTo>
                  <a:pt x="174" y="20"/>
                </a:lnTo>
                <a:close/>
                <a:moveTo>
                  <a:pt x="172" y="0"/>
                </a:moveTo>
                <a:lnTo>
                  <a:pt x="172" y="8"/>
                </a:lnTo>
                <a:lnTo>
                  <a:pt x="156" y="8"/>
                </a:lnTo>
                <a:lnTo>
                  <a:pt x="156" y="0"/>
                </a:lnTo>
                <a:lnTo>
                  <a:pt x="172" y="0"/>
                </a:lnTo>
                <a:close/>
                <a:moveTo>
                  <a:pt x="134" y="0"/>
                </a:moveTo>
                <a:lnTo>
                  <a:pt x="150" y="0"/>
                </a:lnTo>
                <a:lnTo>
                  <a:pt x="150" y="8"/>
                </a:lnTo>
                <a:lnTo>
                  <a:pt x="134" y="8"/>
                </a:lnTo>
                <a:lnTo>
                  <a:pt x="134" y="0"/>
                </a:lnTo>
                <a:close/>
                <a:moveTo>
                  <a:pt x="134" y="10"/>
                </a:moveTo>
                <a:lnTo>
                  <a:pt x="150" y="10"/>
                </a:lnTo>
                <a:lnTo>
                  <a:pt x="150" y="20"/>
                </a:lnTo>
                <a:lnTo>
                  <a:pt x="132" y="20"/>
                </a:lnTo>
                <a:lnTo>
                  <a:pt x="134" y="10"/>
                </a:lnTo>
                <a:close/>
                <a:moveTo>
                  <a:pt x="132" y="22"/>
                </a:moveTo>
                <a:lnTo>
                  <a:pt x="150" y="22"/>
                </a:lnTo>
                <a:lnTo>
                  <a:pt x="150" y="32"/>
                </a:lnTo>
                <a:lnTo>
                  <a:pt x="132" y="32"/>
                </a:lnTo>
                <a:lnTo>
                  <a:pt x="132" y="22"/>
                </a:lnTo>
                <a:close/>
                <a:moveTo>
                  <a:pt x="132" y="36"/>
                </a:moveTo>
                <a:lnTo>
                  <a:pt x="150" y="36"/>
                </a:lnTo>
                <a:lnTo>
                  <a:pt x="150" y="46"/>
                </a:lnTo>
                <a:lnTo>
                  <a:pt x="130" y="46"/>
                </a:lnTo>
                <a:lnTo>
                  <a:pt x="132" y="36"/>
                </a:lnTo>
                <a:close/>
                <a:moveTo>
                  <a:pt x="112" y="0"/>
                </a:moveTo>
                <a:lnTo>
                  <a:pt x="130" y="0"/>
                </a:lnTo>
                <a:lnTo>
                  <a:pt x="128" y="8"/>
                </a:lnTo>
                <a:lnTo>
                  <a:pt x="112" y="8"/>
                </a:lnTo>
                <a:lnTo>
                  <a:pt x="112" y="0"/>
                </a:lnTo>
                <a:close/>
                <a:moveTo>
                  <a:pt x="110" y="10"/>
                </a:moveTo>
                <a:lnTo>
                  <a:pt x="128" y="10"/>
                </a:lnTo>
                <a:lnTo>
                  <a:pt x="128" y="20"/>
                </a:lnTo>
                <a:lnTo>
                  <a:pt x="110" y="20"/>
                </a:lnTo>
                <a:lnTo>
                  <a:pt x="110" y="10"/>
                </a:lnTo>
                <a:close/>
                <a:moveTo>
                  <a:pt x="126" y="22"/>
                </a:moveTo>
                <a:lnTo>
                  <a:pt x="126" y="32"/>
                </a:lnTo>
                <a:lnTo>
                  <a:pt x="106" y="32"/>
                </a:lnTo>
                <a:lnTo>
                  <a:pt x="108" y="22"/>
                </a:lnTo>
                <a:lnTo>
                  <a:pt x="126" y="22"/>
                </a:lnTo>
                <a:close/>
                <a:moveTo>
                  <a:pt x="126" y="36"/>
                </a:moveTo>
                <a:lnTo>
                  <a:pt x="124" y="46"/>
                </a:lnTo>
                <a:lnTo>
                  <a:pt x="104" y="46"/>
                </a:lnTo>
                <a:lnTo>
                  <a:pt x="106" y="36"/>
                </a:lnTo>
                <a:lnTo>
                  <a:pt x="126" y="36"/>
                </a:lnTo>
                <a:close/>
                <a:moveTo>
                  <a:pt x="92" y="0"/>
                </a:moveTo>
                <a:lnTo>
                  <a:pt x="108" y="0"/>
                </a:lnTo>
                <a:lnTo>
                  <a:pt x="106" y="8"/>
                </a:lnTo>
                <a:lnTo>
                  <a:pt x="88" y="8"/>
                </a:lnTo>
                <a:lnTo>
                  <a:pt x="92" y="0"/>
                </a:lnTo>
                <a:close/>
                <a:moveTo>
                  <a:pt x="106" y="10"/>
                </a:moveTo>
                <a:lnTo>
                  <a:pt x="104" y="20"/>
                </a:lnTo>
                <a:lnTo>
                  <a:pt x="86" y="20"/>
                </a:lnTo>
                <a:lnTo>
                  <a:pt x="88" y="10"/>
                </a:lnTo>
                <a:lnTo>
                  <a:pt x="106" y="10"/>
                </a:lnTo>
                <a:close/>
                <a:moveTo>
                  <a:pt x="80" y="36"/>
                </a:moveTo>
                <a:lnTo>
                  <a:pt x="100" y="36"/>
                </a:lnTo>
                <a:lnTo>
                  <a:pt x="98" y="46"/>
                </a:lnTo>
                <a:lnTo>
                  <a:pt x="78" y="46"/>
                </a:lnTo>
                <a:lnTo>
                  <a:pt x="80" y="36"/>
                </a:lnTo>
                <a:close/>
                <a:moveTo>
                  <a:pt x="76" y="32"/>
                </a:moveTo>
                <a:lnTo>
                  <a:pt x="56" y="32"/>
                </a:lnTo>
                <a:lnTo>
                  <a:pt x="60" y="22"/>
                </a:lnTo>
                <a:lnTo>
                  <a:pt x="78" y="22"/>
                </a:lnTo>
                <a:lnTo>
                  <a:pt x="76" y="32"/>
                </a:lnTo>
                <a:close/>
                <a:moveTo>
                  <a:pt x="82" y="32"/>
                </a:moveTo>
                <a:lnTo>
                  <a:pt x="84" y="22"/>
                </a:lnTo>
                <a:lnTo>
                  <a:pt x="102" y="22"/>
                </a:lnTo>
                <a:lnTo>
                  <a:pt x="100" y="32"/>
                </a:lnTo>
                <a:lnTo>
                  <a:pt x="82" y="32"/>
                </a:lnTo>
                <a:close/>
                <a:moveTo>
                  <a:pt x="70" y="0"/>
                </a:moveTo>
                <a:lnTo>
                  <a:pt x="86" y="0"/>
                </a:lnTo>
                <a:lnTo>
                  <a:pt x="84" y="8"/>
                </a:lnTo>
                <a:lnTo>
                  <a:pt x="66" y="8"/>
                </a:lnTo>
                <a:lnTo>
                  <a:pt x="70" y="0"/>
                </a:lnTo>
                <a:close/>
                <a:moveTo>
                  <a:pt x="82" y="10"/>
                </a:moveTo>
                <a:lnTo>
                  <a:pt x="80" y="20"/>
                </a:lnTo>
                <a:lnTo>
                  <a:pt x="62" y="20"/>
                </a:lnTo>
                <a:lnTo>
                  <a:pt x="66" y="10"/>
                </a:lnTo>
                <a:lnTo>
                  <a:pt x="82" y="10"/>
                </a:lnTo>
                <a:close/>
                <a:moveTo>
                  <a:pt x="50" y="0"/>
                </a:moveTo>
                <a:lnTo>
                  <a:pt x="66" y="0"/>
                </a:lnTo>
                <a:lnTo>
                  <a:pt x="62" y="8"/>
                </a:lnTo>
                <a:lnTo>
                  <a:pt x="44" y="8"/>
                </a:lnTo>
                <a:lnTo>
                  <a:pt x="50" y="0"/>
                </a:lnTo>
                <a:close/>
                <a:moveTo>
                  <a:pt x="60" y="10"/>
                </a:moveTo>
                <a:lnTo>
                  <a:pt x="58" y="20"/>
                </a:lnTo>
                <a:lnTo>
                  <a:pt x="40" y="20"/>
                </a:lnTo>
                <a:lnTo>
                  <a:pt x="44" y="10"/>
                </a:lnTo>
                <a:lnTo>
                  <a:pt x="60" y="10"/>
                </a:lnTo>
                <a:close/>
                <a:moveTo>
                  <a:pt x="56" y="22"/>
                </a:moveTo>
                <a:lnTo>
                  <a:pt x="52" y="32"/>
                </a:lnTo>
                <a:lnTo>
                  <a:pt x="32" y="32"/>
                </a:lnTo>
                <a:lnTo>
                  <a:pt x="38" y="22"/>
                </a:lnTo>
                <a:lnTo>
                  <a:pt x="56" y="22"/>
                </a:lnTo>
                <a:close/>
                <a:moveTo>
                  <a:pt x="28" y="0"/>
                </a:moveTo>
                <a:lnTo>
                  <a:pt x="44" y="0"/>
                </a:lnTo>
                <a:lnTo>
                  <a:pt x="40" y="8"/>
                </a:lnTo>
                <a:lnTo>
                  <a:pt x="22" y="8"/>
                </a:lnTo>
                <a:lnTo>
                  <a:pt x="28" y="0"/>
                </a:lnTo>
                <a:close/>
                <a:moveTo>
                  <a:pt x="22" y="10"/>
                </a:moveTo>
                <a:lnTo>
                  <a:pt x="38" y="10"/>
                </a:lnTo>
                <a:lnTo>
                  <a:pt x="34" y="20"/>
                </a:lnTo>
                <a:lnTo>
                  <a:pt x="16" y="20"/>
                </a:lnTo>
                <a:lnTo>
                  <a:pt x="22" y="10"/>
                </a:lnTo>
                <a:close/>
                <a:moveTo>
                  <a:pt x="14" y="22"/>
                </a:moveTo>
                <a:lnTo>
                  <a:pt x="32" y="22"/>
                </a:lnTo>
                <a:lnTo>
                  <a:pt x="26" y="32"/>
                </a:lnTo>
                <a:lnTo>
                  <a:pt x="8" y="32"/>
                </a:lnTo>
                <a:lnTo>
                  <a:pt x="14" y="22"/>
                </a:lnTo>
                <a:close/>
                <a:moveTo>
                  <a:pt x="20" y="46"/>
                </a:moveTo>
                <a:lnTo>
                  <a:pt x="0" y="46"/>
                </a:lnTo>
                <a:lnTo>
                  <a:pt x="6" y="36"/>
                </a:lnTo>
                <a:lnTo>
                  <a:pt x="26" y="36"/>
                </a:lnTo>
                <a:lnTo>
                  <a:pt x="20" y="46"/>
                </a:lnTo>
                <a:close/>
                <a:moveTo>
                  <a:pt x="46" y="46"/>
                </a:moveTo>
                <a:lnTo>
                  <a:pt x="26" y="46"/>
                </a:lnTo>
                <a:lnTo>
                  <a:pt x="32" y="36"/>
                </a:lnTo>
                <a:lnTo>
                  <a:pt x="50" y="36"/>
                </a:lnTo>
                <a:lnTo>
                  <a:pt x="46" y="46"/>
                </a:lnTo>
                <a:close/>
                <a:moveTo>
                  <a:pt x="56" y="36"/>
                </a:moveTo>
                <a:lnTo>
                  <a:pt x="74" y="36"/>
                </a:lnTo>
                <a:lnTo>
                  <a:pt x="72" y="46"/>
                </a:lnTo>
                <a:lnTo>
                  <a:pt x="52" y="46"/>
                </a:lnTo>
                <a:lnTo>
                  <a:pt x="56" y="36"/>
                </a:lnTo>
                <a:close/>
                <a:moveTo>
                  <a:pt x="262" y="46"/>
                </a:moveTo>
                <a:lnTo>
                  <a:pt x="256" y="36"/>
                </a:lnTo>
                <a:lnTo>
                  <a:pt x="276" y="36"/>
                </a:lnTo>
                <a:lnTo>
                  <a:pt x="282" y="46"/>
                </a:lnTo>
                <a:lnTo>
                  <a:pt x="262" y="46"/>
                </a:lnTo>
                <a:close/>
                <a:moveTo>
                  <a:pt x="288" y="46"/>
                </a:moveTo>
                <a:lnTo>
                  <a:pt x="282" y="36"/>
                </a:lnTo>
                <a:lnTo>
                  <a:pt x="300" y="36"/>
                </a:lnTo>
                <a:lnTo>
                  <a:pt x="308" y="46"/>
                </a:lnTo>
                <a:lnTo>
                  <a:pt x="288" y="46"/>
                </a:lnTo>
                <a:close/>
              </a:path>
            </a:pathLst>
          </a:custGeom>
          <a:solidFill>
            <a:srgbClr val="9FDD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6" name="Freeform 350"/>
          <p:cNvSpPr>
            <a:spLocks/>
          </p:cNvSpPr>
          <p:nvPr/>
        </p:nvSpPr>
        <p:spPr bwMode="auto">
          <a:xfrm>
            <a:off x="4905755" y="9973905"/>
            <a:ext cx="152556" cy="118957"/>
          </a:xfrm>
          <a:custGeom>
            <a:avLst/>
            <a:gdLst>
              <a:gd name="T0" fmla="*/ 312 w 336"/>
              <a:gd name="T1" fmla="*/ 148 h 262"/>
              <a:gd name="T2" fmla="*/ 336 w 336"/>
              <a:gd name="T3" fmla="*/ 26 h 262"/>
              <a:gd name="T4" fmla="*/ 212 w 336"/>
              <a:gd name="T5" fmla="*/ 0 h 262"/>
              <a:gd name="T6" fmla="*/ 242 w 336"/>
              <a:gd name="T7" fmla="*/ 44 h 262"/>
              <a:gd name="T8" fmla="*/ 84 w 336"/>
              <a:gd name="T9" fmla="*/ 156 h 262"/>
              <a:gd name="T10" fmla="*/ 128 w 336"/>
              <a:gd name="T11" fmla="*/ 178 h 262"/>
              <a:gd name="T12" fmla="*/ 0 w 336"/>
              <a:gd name="T13" fmla="*/ 262 h 262"/>
              <a:gd name="T14" fmla="*/ 204 w 336"/>
              <a:gd name="T15" fmla="*/ 184 h 262"/>
              <a:gd name="T16" fmla="*/ 164 w 336"/>
              <a:gd name="T17" fmla="*/ 154 h 262"/>
              <a:gd name="T18" fmla="*/ 284 w 336"/>
              <a:gd name="T19" fmla="*/ 106 h 262"/>
              <a:gd name="T20" fmla="*/ 312 w 336"/>
              <a:gd name="T21" fmla="*/ 148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6" h="262">
                <a:moveTo>
                  <a:pt x="312" y="148"/>
                </a:moveTo>
                <a:lnTo>
                  <a:pt x="336" y="26"/>
                </a:lnTo>
                <a:lnTo>
                  <a:pt x="212" y="0"/>
                </a:lnTo>
                <a:lnTo>
                  <a:pt x="242" y="44"/>
                </a:lnTo>
                <a:lnTo>
                  <a:pt x="84" y="156"/>
                </a:lnTo>
                <a:lnTo>
                  <a:pt x="128" y="178"/>
                </a:lnTo>
                <a:lnTo>
                  <a:pt x="0" y="262"/>
                </a:lnTo>
                <a:lnTo>
                  <a:pt x="204" y="184"/>
                </a:lnTo>
                <a:lnTo>
                  <a:pt x="164" y="154"/>
                </a:lnTo>
                <a:lnTo>
                  <a:pt x="284" y="106"/>
                </a:lnTo>
                <a:lnTo>
                  <a:pt x="312" y="1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7" name="Oval 525"/>
          <p:cNvSpPr>
            <a:spLocks noChangeArrowheads="1"/>
          </p:cNvSpPr>
          <p:nvPr/>
        </p:nvSpPr>
        <p:spPr bwMode="auto">
          <a:xfrm>
            <a:off x="2087787" y="8276462"/>
            <a:ext cx="922083" cy="581638"/>
          </a:xfrm>
          <a:prstGeom prst="snip2DiagRect">
            <a:avLst>
              <a:gd name="adj1" fmla="val 0"/>
              <a:gd name="adj2" fmla="val 9074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08" name="Oval 525"/>
          <p:cNvSpPr>
            <a:spLocks noChangeArrowheads="1"/>
          </p:cNvSpPr>
          <p:nvPr/>
        </p:nvSpPr>
        <p:spPr bwMode="auto">
          <a:xfrm>
            <a:off x="869383" y="7268588"/>
            <a:ext cx="768902" cy="531500"/>
          </a:xfrm>
          <a:prstGeom prst="snip2DiagRect">
            <a:avLst>
              <a:gd name="adj1" fmla="val 0"/>
              <a:gd name="adj2" fmla="val 12584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09" name="Oval 525"/>
          <p:cNvSpPr>
            <a:spLocks noChangeArrowheads="1"/>
          </p:cNvSpPr>
          <p:nvPr/>
        </p:nvSpPr>
        <p:spPr bwMode="auto">
          <a:xfrm>
            <a:off x="2105335" y="7387046"/>
            <a:ext cx="864096" cy="581841"/>
          </a:xfrm>
          <a:prstGeom prst="snip2DiagRect">
            <a:avLst>
              <a:gd name="adj1" fmla="val 0"/>
              <a:gd name="adj2" fmla="val 9459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10" name="Text Box 8"/>
          <p:cNvSpPr txBox="1">
            <a:spLocks noChangeArrowheads="1"/>
          </p:cNvSpPr>
          <p:nvPr/>
        </p:nvSpPr>
        <p:spPr bwMode="auto">
          <a:xfrm>
            <a:off x="2169653" y="8287255"/>
            <a:ext cx="493713" cy="131762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기술 타당성 검토</a:t>
            </a:r>
          </a:p>
        </p:txBody>
      </p:sp>
      <p:sp>
        <p:nvSpPr>
          <p:cNvPr id="611" name="Text Box 11"/>
          <p:cNvSpPr txBox="1">
            <a:spLocks noChangeArrowheads="1"/>
          </p:cNvSpPr>
          <p:nvPr/>
        </p:nvSpPr>
        <p:spPr bwMode="auto">
          <a:xfrm>
            <a:off x="2340462" y="7050444"/>
            <a:ext cx="493713" cy="131763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타당성 검토</a:t>
            </a:r>
          </a:p>
        </p:txBody>
      </p:sp>
      <p:sp>
        <p:nvSpPr>
          <p:cNvPr id="612" name="Text Box 14"/>
          <p:cNvSpPr txBox="1">
            <a:spLocks noChangeArrowheads="1"/>
          </p:cNvSpPr>
          <p:nvPr/>
        </p:nvSpPr>
        <p:spPr bwMode="auto">
          <a:xfrm>
            <a:off x="949312" y="7270627"/>
            <a:ext cx="492125" cy="130175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요구사항 수집</a:t>
            </a:r>
          </a:p>
        </p:txBody>
      </p:sp>
      <p:sp>
        <p:nvSpPr>
          <p:cNvPr id="613" name="Text Box 16"/>
          <p:cNvSpPr txBox="1">
            <a:spLocks noChangeArrowheads="1"/>
          </p:cNvSpPr>
          <p:nvPr/>
        </p:nvSpPr>
        <p:spPr bwMode="auto">
          <a:xfrm>
            <a:off x="2158619" y="7394391"/>
            <a:ext cx="663575" cy="144463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 타당성 검토</a:t>
            </a:r>
          </a:p>
        </p:txBody>
      </p:sp>
      <p:sp>
        <p:nvSpPr>
          <p:cNvPr id="614" name="Line 44"/>
          <p:cNvSpPr>
            <a:spLocks noChangeShapeType="1"/>
          </p:cNvSpPr>
          <p:nvPr/>
        </p:nvSpPr>
        <p:spPr bwMode="auto">
          <a:xfrm>
            <a:off x="1262286" y="7881540"/>
            <a:ext cx="0" cy="316288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15" name="모서리가 둥근 직사각형 614"/>
          <p:cNvSpPr/>
          <p:nvPr/>
        </p:nvSpPr>
        <p:spPr bwMode="auto">
          <a:xfrm flipH="1">
            <a:off x="2203890" y="7062325"/>
            <a:ext cx="108000" cy="108000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endParaRPr kumimoji="1" lang="ko-KR" altLang="en-US" sz="9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16" name="모서리가 둥근 직사각형 615"/>
          <p:cNvSpPr/>
          <p:nvPr/>
        </p:nvSpPr>
        <p:spPr bwMode="auto">
          <a:xfrm flipH="1">
            <a:off x="792237" y="7268588"/>
            <a:ext cx="136989" cy="121126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kumimoji="1" lang="ko-KR" altLang="en-US" sz="9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617" name="Picture 6"/>
          <p:cNvPicPr>
            <a:picLocks noChangeAspect="1" noChangeArrowheads="1"/>
          </p:cNvPicPr>
          <p:nvPr/>
        </p:nvPicPr>
        <p:blipFill>
          <a:blip r:embed="rId5" cstate="print">
            <a:lum contrast="-10000"/>
          </a:blip>
          <a:srcRect/>
          <a:stretch>
            <a:fillRect/>
          </a:stretch>
        </p:blipFill>
        <p:spPr bwMode="gray">
          <a:xfrm>
            <a:off x="2230935" y="8458814"/>
            <a:ext cx="475330" cy="264518"/>
          </a:xfrm>
          <a:prstGeom prst="rect">
            <a:avLst/>
          </a:prstGeom>
          <a:noFill/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</p:pic>
      <p:pic>
        <p:nvPicPr>
          <p:cNvPr id="618" name="그림 209" descr="군인아이콘 무계급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397" y="7415965"/>
            <a:ext cx="296863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9" name="모서리가 둥근 직사각형 618"/>
          <p:cNvSpPr/>
          <p:nvPr/>
        </p:nvSpPr>
        <p:spPr bwMode="auto">
          <a:xfrm flipH="1">
            <a:off x="2028012" y="7392207"/>
            <a:ext cx="108000" cy="109105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kumimoji="1" lang="ko-KR" altLang="en-US" sz="9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620" name="그룹 643"/>
          <p:cNvGrpSpPr>
            <a:grpSpLocks/>
          </p:cNvGrpSpPr>
          <p:nvPr/>
        </p:nvGrpSpPr>
        <p:grpSpPr bwMode="auto">
          <a:xfrm>
            <a:off x="2273640" y="7665518"/>
            <a:ext cx="253411" cy="216022"/>
            <a:chOff x="609600" y="6702710"/>
            <a:chExt cx="290513" cy="247650"/>
          </a:xfrm>
        </p:grpSpPr>
        <p:pic>
          <p:nvPicPr>
            <p:cNvPr id="621" name="Picture 61" descr="capture3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6702710"/>
              <a:ext cx="134938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2" name="Picture 62" descr="capture3"/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175" y="6702710"/>
              <a:ext cx="134938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23" name="Oval 63"/>
          <p:cNvSpPr>
            <a:spLocks noChangeArrowheads="1"/>
          </p:cNvSpPr>
          <p:nvPr/>
        </p:nvSpPr>
        <p:spPr bwMode="auto">
          <a:xfrm>
            <a:off x="2304105" y="7582433"/>
            <a:ext cx="193866" cy="11632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/>
            </a:pPr>
            <a:r>
              <a:rPr kumimoji="0" lang="en-US" altLang="ko-KR" sz="4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HA</a:t>
            </a:r>
          </a:p>
        </p:txBody>
      </p:sp>
      <p:grpSp>
        <p:nvGrpSpPr>
          <p:cNvPr id="624" name="그룹 646"/>
          <p:cNvGrpSpPr>
            <a:grpSpLocks/>
          </p:cNvGrpSpPr>
          <p:nvPr/>
        </p:nvGrpSpPr>
        <p:grpSpPr bwMode="auto">
          <a:xfrm>
            <a:off x="2438602" y="7675213"/>
            <a:ext cx="260077" cy="188327"/>
            <a:chOff x="1113230" y="6372914"/>
            <a:chExt cx="256300" cy="185564"/>
          </a:xfrm>
        </p:grpSpPr>
        <p:pic>
          <p:nvPicPr>
            <p:cNvPr id="625" name="그림 3" descr="Untitled-1.pn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3230" y="6372914"/>
              <a:ext cx="256300" cy="185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6" name="Rectangle 29"/>
            <p:cNvSpPr>
              <a:spLocks noChangeArrowheads="1"/>
            </p:cNvSpPr>
            <p:nvPr/>
          </p:nvSpPr>
          <p:spPr bwMode="auto">
            <a:xfrm>
              <a:off x="1132557" y="6460399"/>
              <a:ext cx="217528" cy="54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algn="ctr" defTabSz="995363" eaLnBrk="0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90000"/>
                <a:defRPr/>
              </a:pPr>
              <a:r>
                <a:rPr kumimoji="0" lang="en-US" altLang="ko-KR" sz="4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DB</a:t>
              </a:r>
            </a:p>
          </p:txBody>
        </p:sp>
      </p:grpSp>
      <p:sp>
        <p:nvSpPr>
          <p:cNvPr id="627" name="Line 39"/>
          <p:cNvSpPr>
            <a:spLocks noChangeShapeType="1"/>
          </p:cNvSpPr>
          <p:nvPr/>
        </p:nvSpPr>
        <p:spPr bwMode="auto">
          <a:xfrm>
            <a:off x="1675086" y="8591073"/>
            <a:ext cx="238737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628" name="그룹 627"/>
          <p:cNvGrpSpPr/>
          <p:nvPr/>
        </p:nvGrpSpPr>
        <p:grpSpPr>
          <a:xfrm>
            <a:off x="792237" y="8286136"/>
            <a:ext cx="846048" cy="531500"/>
            <a:chOff x="-3194212" y="3015891"/>
            <a:chExt cx="846048" cy="531500"/>
          </a:xfrm>
        </p:grpSpPr>
        <p:sp>
          <p:nvSpPr>
            <p:cNvPr id="629" name="Oval 525"/>
            <p:cNvSpPr>
              <a:spLocks noChangeArrowheads="1"/>
            </p:cNvSpPr>
            <p:nvPr/>
          </p:nvSpPr>
          <p:spPr bwMode="auto">
            <a:xfrm>
              <a:off x="-3129231" y="3015891"/>
              <a:ext cx="781067" cy="531500"/>
            </a:xfrm>
            <a:prstGeom prst="snip2DiagRect">
              <a:avLst>
                <a:gd name="adj1" fmla="val 0"/>
                <a:gd name="adj2" fmla="val 10072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91422" tIns="45713" rIns="91422" bIns="45713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600" spc="-100"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630" name="Text Box 55"/>
            <p:cNvSpPr txBox="1">
              <a:spLocks noChangeArrowheads="1"/>
            </p:cNvSpPr>
            <p:nvPr/>
          </p:nvSpPr>
          <p:spPr bwMode="auto">
            <a:xfrm>
              <a:off x="-3026168" y="3034662"/>
              <a:ext cx="492125" cy="114300"/>
            </a:xfrm>
            <a:prstGeom prst="rect">
              <a:avLst/>
            </a:prstGeom>
          </p:spPr>
          <p:txBody>
            <a:bodyPr wrap="none" lIns="-1" tIns="-1" rIns="-1" bIns="-1" anchor="ctr"/>
            <a:lstStyle/>
            <a:p>
              <a:pPr defTabSz="995363" latinLnBrk="0">
                <a:lnSpc>
                  <a:spcPct val="90000"/>
                </a:lnSpc>
                <a:buClr>
                  <a:srgbClr val="0000FF"/>
                </a:buClr>
                <a:buSzPct val="90000"/>
                <a:defRPr/>
              </a:pPr>
              <a:r>
                <a:rPr lang="ko-KR" altLang="en-US" sz="9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요구사항 정제</a:t>
              </a:r>
            </a:p>
          </p:txBody>
        </p:sp>
        <p:pic>
          <p:nvPicPr>
            <p:cNvPr id="631" name="Picture 6" descr="Folder Documents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38895" y="3153662"/>
              <a:ext cx="274637" cy="275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2" name="Picture 16" descr="D:\모스트비주얼\아이콘 작업\왜가리\35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724163" y="3276708"/>
              <a:ext cx="135990" cy="175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3" name="모서리가 둥근 직사각형 632"/>
            <p:cNvSpPr/>
            <p:nvPr/>
          </p:nvSpPr>
          <p:spPr bwMode="auto">
            <a:xfrm flipH="1">
              <a:off x="-3194212" y="3022584"/>
              <a:ext cx="136989" cy="121126"/>
            </a:xfrm>
            <a:prstGeom prst="roundRect">
              <a:avLst/>
            </a:prstGeom>
            <a:solidFill>
              <a:srgbClr val="11A0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900" b="1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2</a:t>
              </a:r>
              <a:endParaRPr kumimoji="1" lang="ko-KR" altLang="en-US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634" name="그룹 633"/>
          <p:cNvGrpSpPr/>
          <p:nvPr/>
        </p:nvGrpSpPr>
        <p:grpSpPr>
          <a:xfrm>
            <a:off x="3300420" y="7271731"/>
            <a:ext cx="948201" cy="537163"/>
            <a:chOff x="-3188926" y="3863713"/>
            <a:chExt cx="948201" cy="537163"/>
          </a:xfrm>
        </p:grpSpPr>
        <p:sp>
          <p:nvSpPr>
            <p:cNvPr id="635" name="Oval 525"/>
            <p:cNvSpPr>
              <a:spLocks noChangeArrowheads="1"/>
            </p:cNvSpPr>
            <p:nvPr/>
          </p:nvSpPr>
          <p:spPr bwMode="auto">
            <a:xfrm>
              <a:off x="-3117173" y="3869376"/>
              <a:ext cx="876448" cy="531500"/>
            </a:xfrm>
            <a:prstGeom prst="snip2DiagRect">
              <a:avLst>
                <a:gd name="adj1" fmla="val 0"/>
                <a:gd name="adj2" fmla="val 10072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91422" tIns="45713" rIns="91422" bIns="45713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600" spc="-100"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pic>
          <p:nvPicPr>
            <p:cNvPr id="636" name="Picture 57" descr="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720" t="6609" r="7553" b="78194"/>
            <a:stretch>
              <a:fillRect/>
            </a:stretch>
          </p:blipFill>
          <p:spPr bwMode="auto">
            <a:xfrm>
              <a:off x="-2840992" y="4088194"/>
              <a:ext cx="312738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7" name="그림 22" descr="해병대.png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669542" y="4065969"/>
              <a:ext cx="127000" cy="117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8" name="그림 25" descr="마린.png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50517" y="4115182"/>
              <a:ext cx="12858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9" name="그림 23" descr="공군.png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774317" y="4065969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0" name="Text Box 55"/>
            <p:cNvSpPr txBox="1">
              <a:spLocks noChangeArrowheads="1"/>
            </p:cNvSpPr>
            <p:nvPr/>
          </p:nvSpPr>
          <p:spPr bwMode="auto">
            <a:xfrm>
              <a:off x="-3020882" y="3875791"/>
              <a:ext cx="492125" cy="114300"/>
            </a:xfrm>
            <a:prstGeom prst="rect">
              <a:avLst/>
            </a:prstGeom>
          </p:spPr>
          <p:txBody>
            <a:bodyPr wrap="none" lIns="-1" tIns="-1" rIns="-1" bIns="-1" anchor="ctr"/>
            <a:lstStyle/>
            <a:p>
              <a:pPr defTabSz="995363" latinLnBrk="0">
                <a:lnSpc>
                  <a:spcPct val="90000"/>
                </a:lnSpc>
                <a:buClr>
                  <a:srgbClr val="0000FF"/>
                </a:buClr>
                <a:buSzPct val="90000"/>
                <a:defRPr/>
              </a:pPr>
              <a:r>
                <a:rPr lang="ko-KR" altLang="en-US" sz="9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형상관리 위원회 의결</a:t>
              </a:r>
            </a:p>
          </p:txBody>
        </p:sp>
        <p:sp>
          <p:nvSpPr>
            <p:cNvPr id="641" name="모서리가 둥근 직사각형 640"/>
            <p:cNvSpPr/>
            <p:nvPr/>
          </p:nvSpPr>
          <p:spPr bwMode="auto">
            <a:xfrm flipH="1">
              <a:off x="-3188926" y="3863713"/>
              <a:ext cx="136989" cy="121126"/>
            </a:xfrm>
            <a:prstGeom prst="roundRect">
              <a:avLst/>
            </a:prstGeom>
            <a:solidFill>
              <a:srgbClr val="11A0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900" b="1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4</a:t>
              </a:r>
              <a:endParaRPr kumimoji="1" lang="ko-KR" altLang="en-US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642" name="그룹 641"/>
          <p:cNvGrpSpPr/>
          <p:nvPr/>
        </p:nvGrpSpPr>
        <p:grpSpPr>
          <a:xfrm>
            <a:off x="3315094" y="8312203"/>
            <a:ext cx="933220" cy="541437"/>
            <a:chOff x="-3173945" y="4736140"/>
            <a:chExt cx="933220" cy="541437"/>
          </a:xfrm>
        </p:grpSpPr>
        <p:sp>
          <p:nvSpPr>
            <p:cNvPr id="643" name="Oval 525"/>
            <p:cNvSpPr>
              <a:spLocks noChangeArrowheads="1"/>
            </p:cNvSpPr>
            <p:nvPr/>
          </p:nvSpPr>
          <p:spPr bwMode="auto">
            <a:xfrm>
              <a:off x="-3092106" y="4746077"/>
              <a:ext cx="851381" cy="531500"/>
            </a:xfrm>
            <a:prstGeom prst="snip2DiagRect">
              <a:avLst>
                <a:gd name="adj1" fmla="val 0"/>
                <a:gd name="adj2" fmla="val 14802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91422" tIns="45713" rIns="91422" bIns="45713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600" spc="-100"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pic>
          <p:nvPicPr>
            <p:cNvPr id="644" name="Picture 20" descr="D:\모스트비주얼\아이콘 작업\왜가리\서버1.pn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11846" y="4876529"/>
              <a:ext cx="222325" cy="343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" name="그림 3" descr="Untitled-1.png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675435" y="5066469"/>
              <a:ext cx="219189" cy="156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6" name="Text Box 55"/>
            <p:cNvSpPr txBox="1">
              <a:spLocks noChangeArrowheads="1"/>
            </p:cNvSpPr>
            <p:nvPr/>
          </p:nvSpPr>
          <p:spPr bwMode="auto">
            <a:xfrm>
              <a:off x="-3005901" y="4748218"/>
              <a:ext cx="492125" cy="114300"/>
            </a:xfrm>
            <a:prstGeom prst="rect">
              <a:avLst/>
            </a:prstGeom>
          </p:spPr>
          <p:txBody>
            <a:bodyPr wrap="none" lIns="-1" tIns="-1" rIns="-1" bIns="-1" anchor="ctr"/>
            <a:lstStyle/>
            <a:p>
              <a:pPr defTabSz="995363" latinLnBrk="0">
                <a:lnSpc>
                  <a:spcPct val="90000"/>
                </a:lnSpc>
                <a:buClr>
                  <a:srgbClr val="0000FF"/>
                </a:buClr>
                <a:buSzPct val="90000"/>
                <a:defRPr/>
              </a:pPr>
              <a:r>
                <a:rPr lang="ko-KR" altLang="en-US" sz="9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형상 기준선 변경</a:t>
              </a:r>
            </a:p>
          </p:txBody>
        </p:sp>
        <p:sp>
          <p:nvSpPr>
            <p:cNvPr id="647" name="모서리가 둥근 직사각형 646"/>
            <p:cNvSpPr/>
            <p:nvPr/>
          </p:nvSpPr>
          <p:spPr bwMode="auto">
            <a:xfrm flipH="1">
              <a:off x="-3173945" y="4736140"/>
              <a:ext cx="136989" cy="121126"/>
            </a:xfrm>
            <a:prstGeom prst="roundRect">
              <a:avLst/>
            </a:prstGeom>
            <a:solidFill>
              <a:srgbClr val="11A0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900" b="1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5</a:t>
              </a:r>
              <a:endParaRPr kumimoji="1" lang="ko-KR" altLang="en-US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648" name="모서리가 둥근 직사각형 647"/>
          <p:cNvSpPr/>
          <p:nvPr/>
        </p:nvSpPr>
        <p:spPr bwMode="auto">
          <a:xfrm flipH="1">
            <a:off x="2036564" y="8298690"/>
            <a:ext cx="108000" cy="108000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endParaRPr kumimoji="1" lang="ko-KR" altLang="en-US" sz="9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49" name="모서리가 둥근 직사각형 648"/>
          <p:cNvSpPr/>
          <p:nvPr/>
        </p:nvSpPr>
        <p:spPr>
          <a:xfrm>
            <a:off x="1961319" y="7292555"/>
            <a:ext cx="1152128" cy="1677657"/>
          </a:xfrm>
          <a:prstGeom prst="roundRect">
            <a:avLst>
              <a:gd name="adj" fmla="val 7829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0" name="Line 44"/>
          <p:cNvSpPr>
            <a:spLocks noChangeShapeType="1"/>
          </p:cNvSpPr>
          <p:nvPr/>
        </p:nvSpPr>
        <p:spPr bwMode="auto">
          <a:xfrm>
            <a:off x="3836297" y="7897840"/>
            <a:ext cx="0" cy="316288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51" name="Line 39"/>
          <p:cNvSpPr>
            <a:spLocks noChangeShapeType="1"/>
          </p:cNvSpPr>
          <p:nvPr/>
        </p:nvSpPr>
        <p:spPr bwMode="auto">
          <a:xfrm flipH="1" flipV="1">
            <a:off x="3126147" y="7587029"/>
            <a:ext cx="222374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headEnd type="triangle" w="sm" len="med"/>
            <a:tailEnd type="non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52" name="Oval 525"/>
          <p:cNvSpPr>
            <a:spLocks noChangeArrowheads="1"/>
          </p:cNvSpPr>
          <p:nvPr/>
        </p:nvSpPr>
        <p:spPr bwMode="auto">
          <a:xfrm>
            <a:off x="2122416" y="9301547"/>
            <a:ext cx="876141" cy="531500"/>
          </a:xfrm>
          <a:prstGeom prst="snip2DiagRect">
            <a:avLst>
              <a:gd name="adj1" fmla="val 0"/>
              <a:gd name="adj2" fmla="val 9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53" name="Text Box 11"/>
          <p:cNvSpPr txBox="1">
            <a:spLocks noChangeArrowheads="1"/>
          </p:cNvSpPr>
          <p:nvPr/>
        </p:nvSpPr>
        <p:spPr bwMode="auto">
          <a:xfrm>
            <a:off x="2223695" y="9294248"/>
            <a:ext cx="493713" cy="131763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기능개선 수행</a:t>
            </a:r>
          </a:p>
        </p:txBody>
      </p:sp>
      <p:pic>
        <p:nvPicPr>
          <p:cNvPr id="654" name="그림 69" descr="45.png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88"/>
          <a:stretch>
            <a:fillRect/>
          </a:stretch>
        </p:blipFill>
        <p:spPr bwMode="auto">
          <a:xfrm>
            <a:off x="2354922" y="9489981"/>
            <a:ext cx="229072" cy="254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" name="그림 23" descr="공군.png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917" y="9528146"/>
            <a:ext cx="284118" cy="284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6" name="그룹 655"/>
          <p:cNvGrpSpPr/>
          <p:nvPr/>
        </p:nvGrpSpPr>
        <p:grpSpPr>
          <a:xfrm>
            <a:off x="824727" y="9305038"/>
            <a:ext cx="846048" cy="531500"/>
            <a:chOff x="-3194212" y="3015891"/>
            <a:chExt cx="846048" cy="531500"/>
          </a:xfrm>
        </p:grpSpPr>
        <p:sp>
          <p:nvSpPr>
            <p:cNvPr id="657" name="Oval 525"/>
            <p:cNvSpPr>
              <a:spLocks noChangeArrowheads="1"/>
            </p:cNvSpPr>
            <p:nvPr/>
          </p:nvSpPr>
          <p:spPr bwMode="auto">
            <a:xfrm>
              <a:off x="-3129231" y="3015891"/>
              <a:ext cx="781067" cy="531500"/>
            </a:xfrm>
            <a:prstGeom prst="snip2DiagRect">
              <a:avLst>
                <a:gd name="adj1" fmla="val 0"/>
                <a:gd name="adj2" fmla="val 10072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91422" tIns="45713" rIns="91422" bIns="45713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600" spc="-100"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658" name="Text Box 55"/>
            <p:cNvSpPr txBox="1">
              <a:spLocks noChangeArrowheads="1"/>
            </p:cNvSpPr>
            <p:nvPr/>
          </p:nvSpPr>
          <p:spPr bwMode="auto">
            <a:xfrm>
              <a:off x="-3026168" y="3034662"/>
              <a:ext cx="492125" cy="114300"/>
            </a:xfrm>
            <a:prstGeom prst="rect">
              <a:avLst/>
            </a:prstGeom>
          </p:spPr>
          <p:txBody>
            <a:bodyPr wrap="none" lIns="-1" tIns="-1" rIns="-1" bIns="-1" anchor="ctr"/>
            <a:lstStyle/>
            <a:p>
              <a:pPr defTabSz="995363" latinLnBrk="0">
                <a:lnSpc>
                  <a:spcPct val="90000"/>
                </a:lnSpc>
                <a:buClr>
                  <a:srgbClr val="0000FF"/>
                </a:buClr>
                <a:buSzPct val="90000"/>
                <a:defRPr/>
              </a:pPr>
              <a:r>
                <a:rPr lang="ko-KR" altLang="en-US" sz="9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개선결과서 작성</a:t>
              </a:r>
            </a:p>
          </p:txBody>
        </p:sp>
        <p:pic>
          <p:nvPicPr>
            <p:cNvPr id="659" name="Picture 6" descr="Folder Documents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38895" y="3153662"/>
              <a:ext cx="274637" cy="275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0" name="모서리가 둥근 직사각형 659"/>
            <p:cNvSpPr/>
            <p:nvPr/>
          </p:nvSpPr>
          <p:spPr bwMode="auto">
            <a:xfrm flipH="1">
              <a:off x="-3194212" y="3022584"/>
              <a:ext cx="136989" cy="121126"/>
            </a:xfrm>
            <a:prstGeom prst="roundRect">
              <a:avLst/>
            </a:prstGeom>
            <a:solidFill>
              <a:srgbClr val="11A0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900" b="1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8</a:t>
              </a:r>
              <a:endParaRPr kumimoji="1" lang="ko-KR" altLang="en-US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661" name="모서리가 둥근 직사각형 660"/>
          <p:cNvSpPr/>
          <p:nvPr/>
        </p:nvSpPr>
        <p:spPr bwMode="auto">
          <a:xfrm flipH="1">
            <a:off x="2069592" y="9293845"/>
            <a:ext cx="136989" cy="121126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7</a:t>
            </a:r>
            <a:endParaRPr kumimoji="1" lang="ko-KR" altLang="en-US" sz="9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662" name="그룹 661"/>
          <p:cNvGrpSpPr/>
          <p:nvPr/>
        </p:nvGrpSpPr>
        <p:grpSpPr>
          <a:xfrm>
            <a:off x="3330565" y="9302808"/>
            <a:ext cx="846048" cy="531500"/>
            <a:chOff x="-3194212" y="3015891"/>
            <a:chExt cx="846048" cy="531500"/>
          </a:xfrm>
        </p:grpSpPr>
        <p:sp>
          <p:nvSpPr>
            <p:cNvPr id="663" name="Oval 525"/>
            <p:cNvSpPr>
              <a:spLocks noChangeArrowheads="1"/>
            </p:cNvSpPr>
            <p:nvPr/>
          </p:nvSpPr>
          <p:spPr bwMode="auto">
            <a:xfrm>
              <a:off x="-3129231" y="3015891"/>
              <a:ext cx="781067" cy="531500"/>
            </a:xfrm>
            <a:prstGeom prst="snip2DiagRect">
              <a:avLst>
                <a:gd name="adj1" fmla="val 0"/>
                <a:gd name="adj2" fmla="val 10072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91422" tIns="45713" rIns="91422" bIns="45713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600" spc="-100"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664" name="Text Box 55"/>
            <p:cNvSpPr txBox="1">
              <a:spLocks noChangeArrowheads="1"/>
            </p:cNvSpPr>
            <p:nvPr/>
          </p:nvSpPr>
          <p:spPr bwMode="auto">
            <a:xfrm>
              <a:off x="-3026168" y="3034662"/>
              <a:ext cx="492125" cy="114300"/>
            </a:xfrm>
            <a:prstGeom prst="rect">
              <a:avLst/>
            </a:prstGeom>
          </p:spPr>
          <p:txBody>
            <a:bodyPr wrap="none" lIns="-1" tIns="-1" rIns="-1" bIns="-1" anchor="ctr"/>
            <a:lstStyle/>
            <a:p>
              <a:pPr defTabSz="995363" latinLnBrk="0">
                <a:lnSpc>
                  <a:spcPct val="90000"/>
                </a:lnSpc>
                <a:buClr>
                  <a:srgbClr val="0000FF"/>
                </a:buClr>
                <a:buSzPct val="90000"/>
                <a:defRPr/>
              </a:pPr>
              <a:r>
                <a:rPr lang="ko-KR" altLang="en-US" sz="9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기능개선 요구 등록</a:t>
              </a:r>
            </a:p>
          </p:txBody>
        </p:sp>
        <p:pic>
          <p:nvPicPr>
            <p:cNvPr id="665" name="Picture 6" descr="Folder Documents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38895" y="3153662"/>
              <a:ext cx="274637" cy="275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" name="모서리가 둥근 직사각형 665"/>
            <p:cNvSpPr/>
            <p:nvPr/>
          </p:nvSpPr>
          <p:spPr bwMode="auto">
            <a:xfrm flipH="1">
              <a:off x="-3194212" y="3022584"/>
              <a:ext cx="136989" cy="121126"/>
            </a:xfrm>
            <a:prstGeom prst="roundRect">
              <a:avLst/>
            </a:prstGeom>
            <a:solidFill>
              <a:srgbClr val="11A0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900" b="1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6</a:t>
              </a:r>
              <a:endParaRPr kumimoji="1" lang="ko-KR" altLang="en-US" sz="9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667" name="모서리가 둥근 직사각형 666"/>
          <p:cNvSpPr/>
          <p:nvPr/>
        </p:nvSpPr>
        <p:spPr bwMode="auto">
          <a:xfrm flipH="1">
            <a:off x="5415630" y="8644525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6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68" name="모서리가 둥근 직사각형 667"/>
          <p:cNvSpPr/>
          <p:nvPr/>
        </p:nvSpPr>
        <p:spPr bwMode="auto">
          <a:xfrm flipH="1">
            <a:off x="5415630" y="8898119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7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69" name="모서리가 둥근 직사각형 668"/>
          <p:cNvSpPr/>
          <p:nvPr/>
        </p:nvSpPr>
        <p:spPr bwMode="auto">
          <a:xfrm flipH="1">
            <a:off x="5415630" y="9151713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8</a:t>
            </a:r>
            <a:endParaRPr kumimoji="1" lang="ko-KR" altLang="en-US" sz="9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70" name="Rectangle 549"/>
          <p:cNvSpPr>
            <a:spLocks noChangeArrowheads="1"/>
          </p:cNvSpPr>
          <p:nvPr/>
        </p:nvSpPr>
        <p:spPr bwMode="auto">
          <a:xfrm>
            <a:off x="5648632" y="8644673"/>
            <a:ext cx="1156272" cy="14875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1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기능개선 목록 등록</a:t>
            </a:r>
          </a:p>
        </p:txBody>
      </p:sp>
      <p:sp>
        <p:nvSpPr>
          <p:cNvPr id="671" name="Rectangle 549"/>
          <p:cNvSpPr>
            <a:spLocks noChangeArrowheads="1"/>
          </p:cNvSpPr>
          <p:nvPr/>
        </p:nvSpPr>
        <p:spPr bwMode="auto">
          <a:xfrm>
            <a:off x="5636638" y="8895801"/>
            <a:ext cx="1240274" cy="14875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1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기능개선 수행</a:t>
            </a:r>
          </a:p>
        </p:txBody>
      </p:sp>
      <p:sp>
        <p:nvSpPr>
          <p:cNvPr id="672" name="Rectangle 549"/>
          <p:cNvSpPr>
            <a:spLocks noChangeArrowheads="1"/>
          </p:cNvSpPr>
          <p:nvPr/>
        </p:nvSpPr>
        <p:spPr bwMode="auto">
          <a:xfrm>
            <a:off x="5651440" y="9147829"/>
            <a:ext cx="1237865" cy="14875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개선결과서 작성</a:t>
            </a:r>
          </a:p>
        </p:txBody>
      </p:sp>
      <p:sp>
        <p:nvSpPr>
          <p:cNvPr id="673" name="Line 44"/>
          <p:cNvSpPr>
            <a:spLocks noChangeShapeType="1"/>
          </p:cNvSpPr>
          <p:nvPr/>
        </p:nvSpPr>
        <p:spPr bwMode="auto">
          <a:xfrm>
            <a:off x="3822623" y="8945599"/>
            <a:ext cx="0" cy="316288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74" name="Line 39"/>
          <p:cNvSpPr>
            <a:spLocks noChangeShapeType="1"/>
          </p:cNvSpPr>
          <p:nvPr/>
        </p:nvSpPr>
        <p:spPr bwMode="auto">
          <a:xfrm flipH="1">
            <a:off x="3061609" y="9589651"/>
            <a:ext cx="257653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75" name="Line 39"/>
          <p:cNvSpPr>
            <a:spLocks noChangeShapeType="1"/>
          </p:cNvSpPr>
          <p:nvPr/>
        </p:nvSpPr>
        <p:spPr bwMode="auto">
          <a:xfrm flipH="1">
            <a:off x="1770359" y="9589651"/>
            <a:ext cx="257653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750923" y="3582442"/>
            <a:ext cx="6265751" cy="2892728"/>
            <a:chOff x="750924" y="3582442"/>
            <a:chExt cx="4978308" cy="2892728"/>
          </a:xfrm>
        </p:grpSpPr>
        <p:grpSp>
          <p:nvGrpSpPr>
            <p:cNvPr id="835" name="그룹 834"/>
            <p:cNvGrpSpPr/>
            <p:nvPr/>
          </p:nvGrpSpPr>
          <p:grpSpPr>
            <a:xfrm>
              <a:off x="2308657" y="4179850"/>
              <a:ext cx="2267712" cy="2202388"/>
              <a:chOff x="2308657" y="6827520"/>
              <a:chExt cx="2267712" cy="3410716"/>
            </a:xfrm>
          </p:grpSpPr>
          <p:sp>
            <p:nvSpPr>
              <p:cNvPr id="836" name="Line 415"/>
              <p:cNvSpPr>
                <a:spLocks noChangeShapeType="1"/>
              </p:cNvSpPr>
              <p:nvPr/>
            </p:nvSpPr>
            <p:spPr bwMode="auto">
              <a:xfrm rot="5400000">
                <a:off x="603299" y="8532878"/>
                <a:ext cx="3410716" cy="0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  <a:prstDash val="sys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endParaRPr lang="ko-KR" altLang="en-US" spc="-5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837" name="Line 415"/>
              <p:cNvSpPr>
                <a:spLocks noChangeShapeType="1"/>
              </p:cNvSpPr>
              <p:nvPr/>
            </p:nvSpPr>
            <p:spPr bwMode="auto">
              <a:xfrm rot="5400000">
                <a:off x="1724963" y="8532878"/>
                <a:ext cx="3410716" cy="0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  <a:prstDash val="sys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endParaRPr lang="ko-KR" altLang="en-US" spc="-5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838" name="Line 415"/>
              <p:cNvSpPr>
                <a:spLocks noChangeShapeType="1"/>
              </p:cNvSpPr>
              <p:nvPr/>
            </p:nvSpPr>
            <p:spPr bwMode="auto">
              <a:xfrm rot="5400000">
                <a:off x="2871011" y="8532878"/>
                <a:ext cx="3410716" cy="0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  <a:prstDash val="sys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endParaRPr lang="ko-KR" altLang="en-US" spc="-5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  <p:sp>
          <p:nvSpPr>
            <p:cNvPr id="839" name="AutoShape 463"/>
            <p:cNvSpPr>
              <a:spLocks noChangeArrowheads="1"/>
            </p:cNvSpPr>
            <p:nvPr/>
          </p:nvSpPr>
          <p:spPr bwMode="auto">
            <a:xfrm rot="5400000">
              <a:off x="-148895" y="5075106"/>
              <a:ext cx="2278961" cy="479323"/>
            </a:xfrm>
            <a:prstGeom prst="homePlate">
              <a:avLst>
                <a:gd name="adj" fmla="val 32891"/>
              </a:avLst>
            </a:prstGeom>
            <a:solidFill>
              <a:srgbClr val="97D9F7"/>
            </a:solidFill>
            <a:ln>
              <a:noFill/>
            </a:ln>
            <a:effectLst>
              <a:outerShdw dist="38100" dir="5400000" algn="t" rotWithShape="0">
                <a:schemeClr val="bg1"/>
              </a:outer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914582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ko-KR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grpSp>
          <p:nvGrpSpPr>
            <p:cNvPr id="840" name="그룹 839"/>
            <p:cNvGrpSpPr/>
            <p:nvPr/>
          </p:nvGrpSpPr>
          <p:grpSpPr>
            <a:xfrm>
              <a:off x="1230827" y="3596105"/>
              <a:ext cx="4457932" cy="541054"/>
              <a:chOff x="1230827" y="6418672"/>
              <a:chExt cx="4457932" cy="441926"/>
            </a:xfrm>
          </p:grpSpPr>
          <p:sp>
            <p:nvSpPr>
              <p:cNvPr id="841" name="Line 409"/>
              <p:cNvSpPr>
                <a:spLocks noChangeShapeType="1"/>
              </p:cNvSpPr>
              <p:nvPr/>
            </p:nvSpPr>
            <p:spPr bwMode="auto">
              <a:xfrm rot="5400000">
                <a:off x="3340084" y="6742869"/>
                <a:ext cx="186844" cy="0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ko-KR" altLang="en-US" sz="120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842" name="Line 410"/>
              <p:cNvSpPr>
                <a:spLocks noChangeShapeType="1"/>
              </p:cNvSpPr>
              <p:nvPr/>
            </p:nvSpPr>
            <p:spPr bwMode="auto">
              <a:xfrm rot="10800000">
                <a:off x="2304255" y="6623733"/>
                <a:ext cx="3384504" cy="0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ko-KR" altLang="en-US" sz="120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843" name="Line 411"/>
              <p:cNvSpPr>
                <a:spLocks noChangeShapeType="1"/>
              </p:cNvSpPr>
              <p:nvPr/>
            </p:nvSpPr>
            <p:spPr bwMode="auto">
              <a:xfrm rot="5400000">
                <a:off x="2088166" y="6639635"/>
                <a:ext cx="441926" cy="0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ko-KR" altLang="en-US" sz="120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844" name="Line 412"/>
              <p:cNvSpPr>
                <a:spLocks noChangeShapeType="1"/>
              </p:cNvSpPr>
              <p:nvPr/>
            </p:nvSpPr>
            <p:spPr bwMode="auto">
              <a:xfrm rot="5400000">
                <a:off x="4464460" y="6742869"/>
                <a:ext cx="186844" cy="0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ko-KR" altLang="en-US" sz="120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845" name="Line 416"/>
              <p:cNvSpPr>
                <a:spLocks noChangeShapeType="1"/>
              </p:cNvSpPr>
              <p:nvPr/>
            </p:nvSpPr>
            <p:spPr bwMode="auto">
              <a:xfrm rot="5400000">
                <a:off x="1009864" y="6639635"/>
                <a:ext cx="441926" cy="0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ko-KR" altLang="en-US" sz="120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  <p:sp>
          <p:nvSpPr>
            <p:cNvPr id="846" name="Rectangle 387"/>
            <p:cNvSpPr>
              <a:spLocks noChangeArrowheads="1"/>
            </p:cNvSpPr>
            <p:nvPr/>
          </p:nvSpPr>
          <p:spPr bwMode="auto">
            <a:xfrm>
              <a:off x="757277" y="3582442"/>
              <a:ext cx="4971955" cy="20924"/>
            </a:xfrm>
            <a:prstGeom prst="rect">
              <a:avLst/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1449" tIns="45725" rIns="91449" bIns="45725"/>
            <a:lstStyle/>
            <a:p>
              <a:endParaRPr lang="ko-KR" altLang="en-US" sz="120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47" name="Rectangle 388"/>
            <p:cNvSpPr>
              <a:spLocks noChangeArrowheads="1"/>
            </p:cNvSpPr>
            <p:nvPr/>
          </p:nvSpPr>
          <p:spPr bwMode="auto">
            <a:xfrm>
              <a:off x="879138" y="3780417"/>
              <a:ext cx="256480" cy="146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B8C8E7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8100" dir="5400000" algn="ctr" rotWithShape="0">
                      <a:srgbClr val="B8C8E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구분</a:t>
              </a:r>
            </a:p>
          </p:txBody>
        </p:sp>
        <p:sp>
          <p:nvSpPr>
            <p:cNvPr id="848" name="Rectangle 389"/>
            <p:cNvSpPr>
              <a:spLocks noChangeArrowheads="1"/>
            </p:cNvSpPr>
            <p:nvPr/>
          </p:nvSpPr>
          <p:spPr bwMode="auto">
            <a:xfrm>
              <a:off x="3868811" y="3663408"/>
              <a:ext cx="384721" cy="146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B8C8E7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8100" dir="5400000" algn="ctr" rotWithShape="0">
                      <a:srgbClr val="B8C8E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95000"/>
                </a:lnSpc>
              </a:pPr>
              <a:r>
                <a:rPr lang="ko-KR" altLang="en-US" sz="100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제안사</a:t>
              </a:r>
            </a:p>
          </p:txBody>
        </p:sp>
        <p:sp>
          <p:nvSpPr>
            <p:cNvPr id="849" name="Line 391"/>
            <p:cNvSpPr>
              <a:spLocks noChangeShapeType="1"/>
            </p:cNvSpPr>
            <p:nvPr/>
          </p:nvSpPr>
          <p:spPr bwMode="auto">
            <a:xfrm>
              <a:off x="757277" y="4134511"/>
              <a:ext cx="4971955" cy="0"/>
            </a:xfrm>
            <a:prstGeom prst="line">
              <a:avLst/>
            </a:prstGeom>
            <a:noFill/>
            <a:ln w="6350">
              <a:solidFill>
                <a:srgbClr val="0B69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ko-KR" altLang="en-US" sz="120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50" name="Rectangle 408"/>
            <p:cNvSpPr>
              <a:spLocks noChangeArrowheads="1"/>
            </p:cNvSpPr>
            <p:nvPr/>
          </p:nvSpPr>
          <p:spPr bwMode="auto">
            <a:xfrm>
              <a:off x="1426952" y="3780417"/>
              <a:ext cx="769441" cy="146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B8C8E7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8100" dir="5400000" algn="ctr" rotWithShape="0">
                      <a:srgbClr val="B8C8E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95000"/>
                </a:lnSpc>
              </a:pPr>
              <a:r>
                <a:rPr lang="ko-KR" altLang="en-US" sz="100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사업주관기관</a:t>
              </a:r>
              <a:endParaRPr lang="ko-KR" altLang="en-US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51" name="Rectangle 413"/>
            <p:cNvSpPr>
              <a:spLocks noChangeArrowheads="1"/>
            </p:cNvSpPr>
            <p:nvPr/>
          </p:nvSpPr>
          <p:spPr bwMode="auto">
            <a:xfrm>
              <a:off x="3709758" y="3919178"/>
              <a:ext cx="682879" cy="146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B8C8E7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8100" dir="5400000" algn="ctr" rotWithShape="0">
                      <a:srgbClr val="B8C8E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95000"/>
                </a:lnSpc>
              </a:pPr>
              <a:r>
                <a:rPr lang="en-US" altLang="ko-KR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SW</a:t>
              </a: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개발 </a:t>
              </a:r>
              <a:r>
                <a:rPr lang="en-US" altLang="ko-KR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PL</a:t>
              </a:r>
              <a:endParaRPr lang="ko-KR" altLang="en-US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52" name="Rectangle 414"/>
            <p:cNvSpPr>
              <a:spLocks noChangeArrowheads="1"/>
            </p:cNvSpPr>
            <p:nvPr/>
          </p:nvSpPr>
          <p:spPr bwMode="auto">
            <a:xfrm>
              <a:off x="2556433" y="3919178"/>
              <a:ext cx="641201" cy="146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B8C8E7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8100" dir="5400000" algn="ctr" rotWithShape="0">
                      <a:srgbClr val="B8C8E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95000"/>
                </a:lnSpc>
              </a:pPr>
              <a:r>
                <a:rPr lang="ko-KR" altLang="en-US" sz="100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사업관리자</a:t>
              </a:r>
              <a:endParaRPr lang="ko-KR" altLang="en-US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53" name="Rectangle 415"/>
            <p:cNvSpPr>
              <a:spLocks noChangeArrowheads="1"/>
            </p:cNvSpPr>
            <p:nvPr/>
          </p:nvSpPr>
          <p:spPr bwMode="auto">
            <a:xfrm>
              <a:off x="4800000" y="3919178"/>
              <a:ext cx="641201" cy="146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B8C8E7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8100" dir="5400000" algn="ctr" rotWithShape="0">
                      <a:srgbClr val="B8C8E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업무담당자</a:t>
              </a:r>
            </a:p>
          </p:txBody>
        </p:sp>
        <p:sp>
          <p:nvSpPr>
            <p:cNvPr id="854" name="AutoShape 422" descr="121"/>
            <p:cNvSpPr>
              <a:spLocks noChangeArrowheads="1"/>
            </p:cNvSpPr>
            <p:nvPr/>
          </p:nvSpPr>
          <p:spPr bwMode="auto">
            <a:xfrm>
              <a:off x="4726717" y="4206918"/>
              <a:ext cx="883903" cy="3616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오류사항 및</a:t>
              </a:r>
              <a:endParaRPr lang="en-US" altLang="ko-KR" sz="1000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기능개선 요구 접수</a:t>
              </a:r>
            </a:p>
          </p:txBody>
        </p:sp>
        <p:sp>
          <p:nvSpPr>
            <p:cNvPr id="855" name="AutoShape 423" descr="121"/>
            <p:cNvSpPr>
              <a:spLocks noChangeArrowheads="1"/>
            </p:cNvSpPr>
            <p:nvPr/>
          </p:nvSpPr>
          <p:spPr bwMode="auto">
            <a:xfrm>
              <a:off x="4726717" y="4999006"/>
              <a:ext cx="883903" cy="3616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개선방안</a:t>
              </a:r>
              <a:b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</a:b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적용</a:t>
              </a:r>
              <a:endParaRPr lang="ko-KR" altLang="ko-KR" sz="1000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56" name="AutoShape 431" descr="121"/>
            <p:cNvSpPr>
              <a:spLocks noChangeArrowheads="1"/>
            </p:cNvSpPr>
            <p:nvPr/>
          </p:nvSpPr>
          <p:spPr bwMode="auto">
            <a:xfrm>
              <a:off x="3583290" y="4494950"/>
              <a:ext cx="883903" cy="3616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개선방안</a:t>
              </a:r>
              <a:endParaRPr lang="en-US" altLang="ko-KR" sz="1000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제시</a:t>
              </a:r>
              <a:endParaRPr lang="ko-KR" altLang="ko-KR" sz="1000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57" name="AutoShape 437" descr="121"/>
            <p:cNvSpPr>
              <a:spLocks noChangeArrowheads="1"/>
            </p:cNvSpPr>
            <p:nvPr/>
          </p:nvSpPr>
          <p:spPr bwMode="auto">
            <a:xfrm>
              <a:off x="1315487" y="4999006"/>
              <a:ext cx="883903" cy="3616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검토</a:t>
              </a:r>
            </a:p>
          </p:txBody>
        </p:sp>
        <p:sp>
          <p:nvSpPr>
            <p:cNvPr id="858" name="Rectangle 464"/>
            <p:cNvSpPr>
              <a:spLocks noChangeArrowheads="1"/>
            </p:cNvSpPr>
            <p:nvPr/>
          </p:nvSpPr>
          <p:spPr bwMode="auto">
            <a:xfrm>
              <a:off x="938832" y="4374530"/>
              <a:ext cx="101890" cy="1754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오</a:t>
              </a: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류</a:t>
              </a: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및</a:t>
              </a: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기</a:t>
              </a: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능</a:t>
              </a: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</a:t>
              </a: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선</a:t>
              </a: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절</a:t>
              </a:r>
              <a:endParaRPr lang="en-US" altLang="ko-KR" sz="1000" dirty="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>
                <a:lnSpc>
                  <a:spcPct val="95000"/>
                </a:lnSpc>
              </a:pPr>
              <a:r>
                <a:rPr lang="ko-KR" altLang="en-US" sz="1000" dirty="0">
                  <a:ln>
                    <a:solidFill>
                      <a:srgbClr val="11A0D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차</a:t>
              </a:r>
            </a:p>
          </p:txBody>
        </p:sp>
        <p:cxnSp>
          <p:nvCxnSpPr>
            <p:cNvPr id="859" name="AutoShape 471"/>
            <p:cNvCxnSpPr>
              <a:cxnSpLocks noChangeShapeType="1"/>
              <a:endCxn id="856" idx="3"/>
            </p:cNvCxnSpPr>
            <p:nvPr/>
          </p:nvCxnSpPr>
          <p:spPr bwMode="auto">
            <a:xfrm rot="10800000" flipV="1">
              <a:off x="4467193" y="4568579"/>
              <a:ext cx="573516" cy="107201"/>
            </a:xfrm>
            <a:prstGeom prst="bentConnector3">
              <a:avLst>
                <a:gd name="adj1" fmla="val -655"/>
              </a:avLst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0" name="AutoShape 472"/>
            <p:cNvCxnSpPr>
              <a:cxnSpLocks noChangeShapeType="1"/>
              <a:stCxn id="856" idx="1"/>
              <a:endCxn id="862" idx="3"/>
            </p:cNvCxnSpPr>
            <p:nvPr/>
          </p:nvCxnSpPr>
          <p:spPr bwMode="auto">
            <a:xfrm flipH="1">
              <a:off x="3311067" y="4675781"/>
              <a:ext cx="272223" cy="0"/>
            </a:xfrm>
            <a:prstGeom prst="straightConnector1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1" name="AutoShape 473"/>
            <p:cNvCxnSpPr>
              <a:cxnSpLocks noChangeShapeType="1"/>
              <a:stCxn id="857" idx="2"/>
              <a:endCxn id="863" idx="0"/>
            </p:cNvCxnSpPr>
            <p:nvPr/>
          </p:nvCxnSpPr>
          <p:spPr bwMode="auto">
            <a:xfrm rot="16200000" flipH="1">
              <a:off x="2242080" y="4876026"/>
              <a:ext cx="142394" cy="1111677"/>
            </a:xfrm>
            <a:prstGeom prst="bentConnector3">
              <a:avLst>
                <a:gd name="adj1" fmla="val 50000"/>
              </a:avLst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62" name="AutoShape 526" descr="121"/>
            <p:cNvSpPr>
              <a:spLocks noChangeArrowheads="1"/>
            </p:cNvSpPr>
            <p:nvPr/>
          </p:nvSpPr>
          <p:spPr bwMode="auto">
            <a:xfrm>
              <a:off x="2427164" y="4494950"/>
              <a:ext cx="883903" cy="3616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승인 및</a:t>
              </a:r>
              <a:endParaRPr lang="en-US" altLang="ko-KR" sz="1000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일정조정</a:t>
              </a:r>
              <a:endParaRPr lang="ko-KR" altLang="ko-KR" sz="1000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63" name="AutoShape 527" descr="121"/>
            <p:cNvSpPr>
              <a:spLocks noChangeArrowheads="1"/>
            </p:cNvSpPr>
            <p:nvPr/>
          </p:nvSpPr>
          <p:spPr bwMode="auto">
            <a:xfrm>
              <a:off x="2427164" y="5503062"/>
              <a:ext cx="883903" cy="402438"/>
            </a:xfrm>
            <a:prstGeom prst="diamond">
              <a:avLst/>
            </a:prstGeom>
            <a:solidFill>
              <a:srgbClr val="70BFE6"/>
            </a:solidFill>
            <a:ln w="6350" algn="ctr">
              <a:solidFill>
                <a:srgbClr val="97D9F7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종결여부</a:t>
              </a:r>
            </a:p>
          </p:txBody>
        </p:sp>
        <p:sp>
          <p:nvSpPr>
            <p:cNvPr id="864" name="Text Box 528"/>
            <p:cNvSpPr txBox="1">
              <a:spLocks noChangeArrowheads="1"/>
            </p:cNvSpPr>
            <p:nvPr/>
          </p:nvSpPr>
          <p:spPr bwMode="auto">
            <a:xfrm>
              <a:off x="2576165" y="5861093"/>
              <a:ext cx="168982" cy="136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1588"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922338"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r>
                <a:rPr lang="en-US" altLang="ko-KR" sz="8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Rix모던고딕 L" pitchFamily="18" charset="-127"/>
                  <a:ea typeface="Rix모던고딕 L" pitchFamily="18" charset="-127"/>
                </a:rPr>
                <a:t>Yes</a:t>
              </a:r>
            </a:p>
          </p:txBody>
        </p:sp>
        <p:sp>
          <p:nvSpPr>
            <p:cNvPr id="865" name="Text Box 529"/>
            <p:cNvSpPr txBox="1">
              <a:spLocks noChangeArrowheads="1"/>
            </p:cNvSpPr>
            <p:nvPr/>
          </p:nvSpPr>
          <p:spPr bwMode="auto">
            <a:xfrm>
              <a:off x="3341424" y="5522349"/>
              <a:ext cx="133236" cy="1365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1588"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922338"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r>
                <a:rPr lang="en-US" altLang="ko-KR" sz="8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Rix모던고딕 L" pitchFamily="18" charset="-127"/>
                  <a:ea typeface="Rix모던고딕 L" pitchFamily="18" charset="-127"/>
                </a:rPr>
                <a:t>No</a:t>
              </a:r>
            </a:p>
          </p:txBody>
        </p:sp>
        <p:sp>
          <p:nvSpPr>
            <p:cNvPr id="866" name="AutoShape 532" descr="121"/>
            <p:cNvSpPr>
              <a:spLocks noChangeArrowheads="1"/>
            </p:cNvSpPr>
            <p:nvPr/>
          </p:nvSpPr>
          <p:spPr bwMode="auto">
            <a:xfrm>
              <a:off x="2427163" y="6020576"/>
              <a:ext cx="883903" cy="3616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000" spc="-5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결과 관리</a:t>
              </a:r>
            </a:p>
          </p:txBody>
        </p:sp>
        <p:sp>
          <p:nvSpPr>
            <p:cNvPr id="867" name="모서리가 둥근 직사각형 866"/>
            <p:cNvSpPr/>
            <p:nvPr/>
          </p:nvSpPr>
          <p:spPr bwMode="auto">
            <a:xfrm flipH="1">
              <a:off x="1315487" y="4999006"/>
              <a:ext cx="160758" cy="162000"/>
            </a:xfrm>
            <a:prstGeom prst="roundRect">
              <a:avLst>
                <a:gd name="adj" fmla="val 0"/>
              </a:avLst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00" b="1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6</a:t>
              </a:r>
              <a:endParaRPr kumimoji="1" lang="ko-KR" altLang="en-US" sz="800" b="1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68" name="모서리가 둥근 직사각형 867"/>
            <p:cNvSpPr/>
            <p:nvPr/>
          </p:nvSpPr>
          <p:spPr bwMode="auto">
            <a:xfrm flipH="1">
              <a:off x="2427164" y="4494950"/>
              <a:ext cx="160758" cy="162000"/>
            </a:xfrm>
            <a:prstGeom prst="roundRect">
              <a:avLst>
                <a:gd name="adj" fmla="val 0"/>
              </a:avLst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00" b="1" spc="-5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3</a:t>
              </a:r>
              <a:endParaRPr kumimoji="1" lang="ko-KR" altLang="en-US" sz="800" b="1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69" name="모서리가 둥근 직사각형 868"/>
            <p:cNvSpPr/>
            <p:nvPr/>
          </p:nvSpPr>
          <p:spPr bwMode="auto">
            <a:xfrm flipH="1">
              <a:off x="3583290" y="4494950"/>
              <a:ext cx="160758" cy="162000"/>
            </a:xfrm>
            <a:prstGeom prst="roundRect">
              <a:avLst>
                <a:gd name="adj" fmla="val 0"/>
              </a:avLst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00" b="1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2</a:t>
              </a:r>
              <a:endParaRPr kumimoji="1" lang="ko-KR" altLang="en-US" sz="800" b="1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70" name="모서리가 둥근 직사각형 869"/>
            <p:cNvSpPr/>
            <p:nvPr/>
          </p:nvSpPr>
          <p:spPr bwMode="auto">
            <a:xfrm flipH="1">
              <a:off x="4726717" y="4206918"/>
              <a:ext cx="160758" cy="162000"/>
            </a:xfrm>
            <a:prstGeom prst="roundRect">
              <a:avLst>
                <a:gd name="adj" fmla="val 0"/>
              </a:avLst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00" b="1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1</a:t>
              </a:r>
              <a:endParaRPr kumimoji="1" lang="ko-KR" altLang="en-US" sz="800" b="1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71" name="모서리가 둥근 직사각형 870"/>
            <p:cNvSpPr/>
            <p:nvPr/>
          </p:nvSpPr>
          <p:spPr bwMode="auto">
            <a:xfrm flipH="1">
              <a:off x="2427163" y="6020576"/>
              <a:ext cx="160758" cy="162000"/>
            </a:xfrm>
            <a:prstGeom prst="roundRect">
              <a:avLst>
                <a:gd name="adj" fmla="val 0"/>
              </a:avLst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00" b="1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7</a:t>
              </a:r>
              <a:endParaRPr kumimoji="1" lang="ko-KR" altLang="en-US" sz="800" b="1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72" name="모서리가 둥근 직사각형 871"/>
            <p:cNvSpPr/>
            <p:nvPr/>
          </p:nvSpPr>
          <p:spPr bwMode="auto">
            <a:xfrm flipH="1">
              <a:off x="4726717" y="4999006"/>
              <a:ext cx="160758" cy="162000"/>
            </a:xfrm>
            <a:prstGeom prst="roundRect">
              <a:avLst>
                <a:gd name="adj" fmla="val 0"/>
              </a:avLst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00" b="1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4</a:t>
              </a:r>
              <a:endParaRPr kumimoji="1" lang="ko-KR" altLang="en-US" sz="800" b="1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cxnSp>
          <p:nvCxnSpPr>
            <p:cNvPr id="873" name="AutoShape 537"/>
            <p:cNvCxnSpPr>
              <a:cxnSpLocks noChangeShapeType="1"/>
              <a:stCxn id="854" idx="2"/>
              <a:endCxn id="855" idx="0"/>
            </p:cNvCxnSpPr>
            <p:nvPr/>
          </p:nvCxnSpPr>
          <p:spPr bwMode="auto">
            <a:xfrm>
              <a:off x="5168669" y="4568580"/>
              <a:ext cx="0" cy="430426"/>
            </a:xfrm>
            <a:prstGeom prst="straightConnector1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4" name="Rectangle 387"/>
            <p:cNvSpPr>
              <a:spLocks noChangeArrowheads="1"/>
            </p:cNvSpPr>
            <p:nvPr/>
          </p:nvSpPr>
          <p:spPr bwMode="auto">
            <a:xfrm>
              <a:off x="757277" y="6454246"/>
              <a:ext cx="4971955" cy="20924"/>
            </a:xfrm>
            <a:prstGeom prst="rect">
              <a:avLst/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1449" tIns="45725" rIns="91449" bIns="45725"/>
            <a:lstStyle/>
            <a:p>
              <a:endParaRPr lang="ko-KR" altLang="en-US" sz="1200">
                <a:ln>
                  <a:solidFill>
                    <a:srgbClr val="11A0DD">
                      <a:alpha val="0"/>
                    </a:srgb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cxnSp>
          <p:nvCxnSpPr>
            <p:cNvPr id="875" name="AutoShape 471"/>
            <p:cNvCxnSpPr>
              <a:cxnSpLocks noChangeShapeType="1"/>
            </p:cNvCxnSpPr>
            <p:nvPr/>
          </p:nvCxnSpPr>
          <p:spPr bwMode="auto">
            <a:xfrm rot="16200000" flipH="1">
              <a:off x="3851037" y="3778032"/>
              <a:ext cx="142394" cy="2299553"/>
            </a:xfrm>
            <a:prstGeom prst="bentConnector3">
              <a:avLst>
                <a:gd name="adj1" fmla="val 50000"/>
              </a:avLst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6" name="AutoShape 526" descr="121"/>
            <p:cNvSpPr>
              <a:spLocks noChangeArrowheads="1"/>
            </p:cNvSpPr>
            <p:nvPr/>
          </p:nvSpPr>
          <p:spPr bwMode="auto">
            <a:xfrm>
              <a:off x="2427164" y="4999006"/>
              <a:ext cx="883903" cy="3616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결과확인</a:t>
              </a:r>
              <a:endParaRPr lang="en-US" altLang="ko-KR" sz="1000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 fontAlgn="base" latinLnBrk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000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및 보고</a:t>
              </a:r>
              <a:endParaRPr lang="ko-KR" altLang="ko-KR" sz="1000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77" name="모서리가 둥근 직사각형 876"/>
            <p:cNvSpPr/>
            <p:nvPr/>
          </p:nvSpPr>
          <p:spPr bwMode="auto">
            <a:xfrm flipH="1">
              <a:off x="2427164" y="4999006"/>
              <a:ext cx="160758" cy="162000"/>
            </a:xfrm>
            <a:prstGeom prst="roundRect">
              <a:avLst>
                <a:gd name="adj" fmla="val 0"/>
              </a:avLst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00" b="1" spc="-50" dirty="0">
                  <a:ln>
                    <a:solidFill>
                      <a:srgbClr val="97D9F7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5</a:t>
              </a:r>
              <a:endParaRPr kumimoji="1" lang="ko-KR" altLang="en-US" sz="800" b="1" spc="-50" dirty="0">
                <a:ln>
                  <a:solidFill>
                    <a:srgbClr val="97D9F7">
                      <a:alpha val="0"/>
                    </a:srgbClr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cxnSp>
          <p:nvCxnSpPr>
            <p:cNvPr id="878" name="AutoShape 472"/>
            <p:cNvCxnSpPr>
              <a:cxnSpLocks noChangeShapeType="1"/>
              <a:stCxn id="855" idx="1"/>
              <a:endCxn id="876" idx="3"/>
            </p:cNvCxnSpPr>
            <p:nvPr/>
          </p:nvCxnSpPr>
          <p:spPr bwMode="auto">
            <a:xfrm flipH="1">
              <a:off x="3311067" y="5179837"/>
              <a:ext cx="1415650" cy="0"/>
            </a:xfrm>
            <a:prstGeom prst="straightConnector1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9" name="AutoShape 472"/>
            <p:cNvCxnSpPr>
              <a:cxnSpLocks noChangeShapeType="1"/>
              <a:stCxn id="876" idx="1"/>
              <a:endCxn id="857" idx="3"/>
            </p:cNvCxnSpPr>
            <p:nvPr/>
          </p:nvCxnSpPr>
          <p:spPr bwMode="auto">
            <a:xfrm flipH="1">
              <a:off x="2199390" y="5179837"/>
              <a:ext cx="227774" cy="0"/>
            </a:xfrm>
            <a:prstGeom prst="straightConnector1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0" name="AutoShape 471"/>
            <p:cNvCxnSpPr>
              <a:cxnSpLocks noChangeShapeType="1"/>
              <a:stCxn id="863" idx="3"/>
              <a:endCxn id="855" idx="2"/>
            </p:cNvCxnSpPr>
            <p:nvPr/>
          </p:nvCxnSpPr>
          <p:spPr bwMode="auto">
            <a:xfrm flipV="1">
              <a:off x="3311067" y="5360668"/>
              <a:ext cx="1857602" cy="343613"/>
            </a:xfrm>
            <a:prstGeom prst="bentConnector2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1" name="AutoShape 472"/>
            <p:cNvCxnSpPr>
              <a:cxnSpLocks noChangeShapeType="1"/>
              <a:stCxn id="863" idx="2"/>
              <a:endCxn id="866" idx="0"/>
            </p:cNvCxnSpPr>
            <p:nvPr/>
          </p:nvCxnSpPr>
          <p:spPr bwMode="auto">
            <a:xfrm flipH="1">
              <a:off x="2869115" y="5905500"/>
              <a:ext cx="1" cy="115076"/>
            </a:xfrm>
            <a:prstGeom prst="straightConnector1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D8B8C93F-F29B-4C39-8A74-A744078F8477}"/>
              </a:ext>
            </a:extLst>
          </p:cNvPr>
          <p:cNvSpPr txBox="1"/>
          <p:nvPr/>
        </p:nvSpPr>
        <p:spPr>
          <a:xfrm>
            <a:off x="4427280" y="1011951"/>
            <a:ext cx="2664840" cy="225935"/>
          </a:xfrm>
          <a:prstGeom prst="rect">
            <a:avLst/>
          </a:prstGeom>
          <a:noFill/>
        </p:spPr>
        <p:txBody>
          <a:bodyPr wrap="square" lIns="101829" tIns="50915" rIns="101829" bIns="50915" rtlCol="0" anchor="t">
            <a:spAutoFit/>
          </a:bodyPr>
          <a:lstStyle/>
          <a:p>
            <a:pPr algn="r" defTabSz="913663" fontAlgn="base" latinLnBrk="0">
              <a:spcBef>
                <a:spcPts val="200"/>
              </a:spcBef>
              <a:spcAft>
                <a:spcPct val="0"/>
              </a:spcAft>
            </a:pPr>
            <a:r>
              <a:rPr kumimoji="1" lang="en-US" altLang="ko-KR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3.4 </a:t>
            </a:r>
            <a:r>
              <a:rPr kumimoji="1" lang="ko-KR" altLang="en-US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 기능개선 방안</a:t>
            </a:r>
          </a:p>
        </p:txBody>
      </p:sp>
    </p:spTree>
    <p:extLst>
      <p:ext uri="{BB962C8B-B14F-4D97-AF65-F5344CB8AC3E}">
        <p14:creationId xmlns:p14="http://schemas.microsoft.com/office/powerpoint/2010/main" val="55474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2"/>
          <p:cNvSpPr txBox="1">
            <a:spLocks noChangeArrowheads="1"/>
          </p:cNvSpPr>
          <p:nvPr/>
        </p:nvSpPr>
        <p:spPr bwMode="auto">
          <a:xfrm>
            <a:off x="720873" y="135116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3.4.2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단독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PC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모드로 형상개선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(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요구사항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-004)</a:t>
            </a:r>
          </a:p>
        </p:txBody>
      </p:sp>
      <p:sp>
        <p:nvSpPr>
          <p:cNvPr id="163" name="Rectangle 3"/>
          <p:cNvSpPr txBox="1">
            <a:spLocks noChangeArrowheads="1"/>
          </p:cNvSpPr>
          <p:nvPr/>
        </p:nvSpPr>
        <p:spPr bwMode="auto">
          <a:xfrm>
            <a:off x="720873" y="1431270"/>
            <a:ext cx="6337006" cy="21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91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27138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5125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300"/>
              </a:spcBef>
            </a:pPr>
            <a:endParaRPr lang="en-US" altLang="ko-KR" spc="-50" dirty="0">
              <a:ln w="0"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just" eaLnBrk="1" fontAlgn="auto" hangingPunct="1">
              <a:spcBef>
                <a:spcPts val="300"/>
              </a:spcBef>
            </a:pP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분석모의모델에서 </a:t>
            </a: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공학급에서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전구급까지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폭넓은 모의를 지원하고 있으나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체계가 비대하여 모델을 운용하기 위해서는 분석서버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DB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서버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모의단말기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스위치 등 많은 하드웨어가 요구되며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이에 따른 부가적인 정보통신보안 대책 수립으로 비용뿐 아니라 관리적 부담까지 가중시키고 있습니다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분석모의모델을 경량화된 범용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DBMS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사용하여 고성능 워크스테이션에서 단독으로 구동될 수 있는 간이 모델을 개발하여 초기 도입비용을 절감하고 관리부담을 감소 시키겠습니다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164" name="그룹 163"/>
          <p:cNvGrpSpPr/>
          <p:nvPr/>
        </p:nvGrpSpPr>
        <p:grpSpPr>
          <a:xfrm>
            <a:off x="748623" y="2754350"/>
            <a:ext cx="6352126" cy="962339"/>
            <a:chOff x="739443" y="2694289"/>
            <a:chExt cx="6350829" cy="592501"/>
          </a:xfrm>
        </p:grpSpPr>
        <p:grpSp>
          <p:nvGrpSpPr>
            <p:cNvPr id="165" name="그룹 164"/>
            <p:cNvGrpSpPr/>
            <p:nvPr/>
          </p:nvGrpSpPr>
          <p:grpSpPr>
            <a:xfrm>
              <a:off x="739443" y="2694289"/>
              <a:ext cx="6350829" cy="592501"/>
              <a:chOff x="9427" y="3283689"/>
              <a:chExt cx="7057102" cy="592501"/>
            </a:xfrm>
          </p:grpSpPr>
          <p:sp>
            <p:nvSpPr>
              <p:cNvPr id="167" name="한쪽 모서리가 잘린 사각형 166"/>
              <p:cNvSpPr/>
              <p:nvPr/>
            </p:nvSpPr>
            <p:spPr bwMode="auto">
              <a:xfrm flipV="1">
                <a:off x="1268423" y="3283689"/>
                <a:ext cx="5761993" cy="591319"/>
              </a:xfrm>
              <a:prstGeom prst="snip1Rect">
                <a:avLst>
                  <a:gd name="adj" fmla="val 0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sp>
            <p:nvSpPr>
              <p:cNvPr id="173" name="Text Box 5"/>
              <p:cNvSpPr txBox="1">
                <a:spLocks noChangeArrowheads="1"/>
              </p:cNvSpPr>
              <p:nvPr/>
            </p:nvSpPr>
            <p:spPr bwMode="auto">
              <a:xfrm>
                <a:off x="509377" y="3659125"/>
                <a:ext cx="919328" cy="104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defTabSz="914031" eaLnBrk="1" latinLnBrk="0" hangingPunct="1">
                  <a:spcAft>
                    <a:spcPct val="0"/>
                  </a:spcAft>
                </a:pPr>
                <a:r>
                  <a:rPr lang="ko-KR" altLang="en-US" sz="1100" b="1" spc="-150" dirty="0">
                    <a:ln w="0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11A0DD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요구사항</a:t>
                </a:r>
                <a:endParaRPr lang="en-US" altLang="ko-KR" sz="11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cxnSp>
            <p:nvCxnSpPr>
              <p:cNvPr id="169" name="직선 연결선 168"/>
              <p:cNvCxnSpPr/>
              <p:nvPr/>
            </p:nvCxnSpPr>
            <p:spPr>
              <a:xfrm>
                <a:off x="9427" y="3870193"/>
                <a:ext cx="1225484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Text Box 5"/>
              <p:cNvSpPr txBox="1">
                <a:spLocks noChangeArrowheads="1"/>
              </p:cNvSpPr>
              <p:nvPr/>
            </p:nvSpPr>
            <p:spPr bwMode="auto">
              <a:xfrm>
                <a:off x="1483749" y="3336534"/>
                <a:ext cx="5157885" cy="4879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DB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관리체계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(DBMS) </a:t>
                </a:r>
                <a:r>
                  <a:rPr lang="ko-KR" altLang="en-US" sz="1100" b="1" spc="-50" dirty="0" err="1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운용성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 평가 및 개선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단독 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PC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운용을 위한 프로그램 수정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사후분석자료 정상 출력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통합테스트 및 모델 안정화</a:t>
                </a:r>
              </a:p>
            </p:txBody>
          </p:sp>
          <p:sp>
            <p:nvSpPr>
              <p:cNvPr id="171" name="직각 삼각형 170"/>
              <p:cNvSpPr/>
              <p:nvPr/>
            </p:nvSpPr>
            <p:spPr bwMode="auto">
              <a:xfrm rot="10800000" flipV="1">
                <a:off x="6704974" y="3479085"/>
                <a:ext cx="361555" cy="397105"/>
              </a:xfrm>
              <a:prstGeom prst="rtTriangl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cxnSp>
            <p:nvCxnSpPr>
              <p:cNvPr id="172" name="직선 연결선 171"/>
              <p:cNvCxnSpPr/>
              <p:nvPr/>
            </p:nvCxnSpPr>
            <p:spPr>
              <a:xfrm>
                <a:off x="9427" y="3286864"/>
                <a:ext cx="1225485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6" name="그림 1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533" y="2727456"/>
              <a:ext cx="431054" cy="229656"/>
            </a:xfrm>
            <a:prstGeom prst="rect">
              <a:avLst/>
            </a:prstGeom>
          </p:spPr>
        </p:pic>
      </p:grpSp>
      <p:grpSp>
        <p:nvGrpSpPr>
          <p:cNvPr id="180" name="그룹 179"/>
          <p:cNvGrpSpPr/>
          <p:nvPr/>
        </p:nvGrpSpPr>
        <p:grpSpPr>
          <a:xfrm>
            <a:off x="761851" y="3870474"/>
            <a:ext cx="6330269" cy="169302"/>
            <a:chOff x="761696" y="5435378"/>
            <a:chExt cx="6328976" cy="169277"/>
          </a:xfrm>
        </p:grpSpPr>
        <p:sp>
          <p:nvSpPr>
            <p:cNvPr id="181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단독</a:t>
              </a: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PC 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모드 개발 방안</a:t>
              </a:r>
            </a:p>
          </p:txBody>
        </p:sp>
        <p:grpSp>
          <p:nvGrpSpPr>
            <p:cNvPr id="182" name="그룹 181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183" name="타원 182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184" name="Picture 132" descr="ㅇ"/>
              <p:cNvPicPr>
                <a:picLocks noChangeAspect="1" noChangeArrowheads="1"/>
              </p:cNvPicPr>
              <p:nvPr/>
            </p:nvPicPr>
            <p:blipFill>
              <a:blip r:embed="rId3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185" name="그룹 184"/>
          <p:cNvGrpSpPr/>
          <p:nvPr/>
        </p:nvGrpSpPr>
        <p:grpSpPr>
          <a:xfrm>
            <a:off x="810286" y="7790121"/>
            <a:ext cx="6281844" cy="220813"/>
            <a:chOff x="810110" y="3061842"/>
            <a:chExt cx="6280561" cy="220781"/>
          </a:xfrm>
        </p:grpSpPr>
        <p:sp>
          <p:nvSpPr>
            <p:cNvPr id="186" name="Text Box 5"/>
            <p:cNvSpPr txBox="1">
              <a:spLocks noChangeArrowheads="1"/>
            </p:cNvSpPr>
            <p:nvPr/>
          </p:nvSpPr>
          <p:spPr bwMode="auto">
            <a:xfrm>
              <a:off x="1026766" y="3113346"/>
              <a:ext cx="6063905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개발 시 고려사항</a:t>
              </a:r>
            </a:p>
          </p:txBody>
        </p:sp>
        <p:sp>
          <p:nvSpPr>
            <p:cNvPr id="187" name="굽은 화살표 186"/>
            <p:cNvSpPr/>
            <p:nvPr/>
          </p:nvSpPr>
          <p:spPr bwMode="auto">
            <a:xfrm flipV="1">
              <a:off x="810110" y="3061842"/>
              <a:ext cx="180984" cy="172300"/>
            </a:xfrm>
            <a:prstGeom prst="ben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2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357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charset="0"/>
              </a:endParaRPr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810286" y="4179003"/>
            <a:ext cx="6281844" cy="220813"/>
            <a:chOff x="810110" y="3061842"/>
            <a:chExt cx="6280561" cy="220781"/>
          </a:xfrm>
        </p:grpSpPr>
        <p:sp>
          <p:nvSpPr>
            <p:cNvPr id="189" name="Text Box 5"/>
            <p:cNvSpPr txBox="1">
              <a:spLocks noChangeArrowheads="1"/>
            </p:cNvSpPr>
            <p:nvPr/>
          </p:nvSpPr>
          <p:spPr bwMode="auto">
            <a:xfrm>
              <a:off x="1026766" y="3113346"/>
              <a:ext cx="6063905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목표 체계 구성도</a:t>
              </a: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(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안</a:t>
              </a: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)</a:t>
              </a:r>
              <a:endParaRPr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90" name="굽은 화살표 189"/>
            <p:cNvSpPr/>
            <p:nvPr/>
          </p:nvSpPr>
          <p:spPr bwMode="auto">
            <a:xfrm flipV="1">
              <a:off x="810110" y="3061842"/>
              <a:ext cx="180984" cy="172300"/>
            </a:xfrm>
            <a:prstGeom prst="ben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2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357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charset="0"/>
              </a:endParaRPr>
            </a:p>
          </p:txBody>
        </p:sp>
      </p:grpSp>
      <p:sp>
        <p:nvSpPr>
          <p:cNvPr id="192" name="직사각형 191"/>
          <p:cNvSpPr/>
          <p:nvPr/>
        </p:nvSpPr>
        <p:spPr>
          <a:xfrm>
            <a:off x="949970" y="4533041"/>
            <a:ext cx="6118273" cy="311785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1" name="직사각형 200"/>
          <p:cNvSpPr/>
          <p:nvPr/>
        </p:nvSpPr>
        <p:spPr>
          <a:xfrm>
            <a:off x="1214736" y="4646788"/>
            <a:ext cx="5503563" cy="2860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8" name="Freeform 27"/>
          <p:cNvSpPr>
            <a:spLocks/>
          </p:cNvSpPr>
          <p:nvPr/>
        </p:nvSpPr>
        <p:spPr bwMode="auto">
          <a:xfrm>
            <a:off x="1880935" y="4950594"/>
            <a:ext cx="819514" cy="1096564"/>
          </a:xfrm>
          <a:custGeom>
            <a:avLst/>
            <a:gdLst>
              <a:gd name="T0" fmla="*/ 0 w 556"/>
              <a:gd name="T1" fmla="*/ 160 h 642"/>
              <a:gd name="T2" fmla="*/ 278 w 556"/>
              <a:gd name="T3" fmla="*/ 0 h 642"/>
              <a:gd name="T4" fmla="*/ 556 w 556"/>
              <a:gd name="T5" fmla="*/ 160 h 642"/>
              <a:gd name="T6" fmla="*/ 556 w 556"/>
              <a:gd name="T7" fmla="*/ 480 h 642"/>
              <a:gd name="T8" fmla="*/ 278 w 556"/>
              <a:gd name="T9" fmla="*/ 642 h 642"/>
              <a:gd name="T10" fmla="*/ 0 w 556"/>
              <a:gd name="T11" fmla="*/ 480 h 642"/>
              <a:gd name="T12" fmla="*/ 0 w 556"/>
              <a:gd name="T13" fmla="*/ 160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6" h="642">
                <a:moveTo>
                  <a:pt x="0" y="160"/>
                </a:moveTo>
                <a:lnTo>
                  <a:pt x="278" y="0"/>
                </a:lnTo>
                <a:lnTo>
                  <a:pt x="556" y="160"/>
                </a:lnTo>
                <a:lnTo>
                  <a:pt x="556" y="480"/>
                </a:lnTo>
                <a:lnTo>
                  <a:pt x="278" y="642"/>
                </a:lnTo>
                <a:lnTo>
                  <a:pt x="0" y="480"/>
                </a:lnTo>
                <a:lnTo>
                  <a:pt x="0" y="16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9" name="Freeform 27"/>
          <p:cNvSpPr>
            <a:spLocks/>
          </p:cNvSpPr>
          <p:nvPr/>
        </p:nvSpPr>
        <p:spPr bwMode="auto">
          <a:xfrm>
            <a:off x="5112717" y="4950594"/>
            <a:ext cx="792088" cy="1096564"/>
          </a:xfrm>
          <a:custGeom>
            <a:avLst/>
            <a:gdLst>
              <a:gd name="T0" fmla="*/ 0 w 556"/>
              <a:gd name="T1" fmla="*/ 160 h 642"/>
              <a:gd name="T2" fmla="*/ 278 w 556"/>
              <a:gd name="T3" fmla="*/ 0 h 642"/>
              <a:gd name="T4" fmla="*/ 556 w 556"/>
              <a:gd name="T5" fmla="*/ 160 h 642"/>
              <a:gd name="T6" fmla="*/ 556 w 556"/>
              <a:gd name="T7" fmla="*/ 480 h 642"/>
              <a:gd name="T8" fmla="*/ 278 w 556"/>
              <a:gd name="T9" fmla="*/ 642 h 642"/>
              <a:gd name="T10" fmla="*/ 0 w 556"/>
              <a:gd name="T11" fmla="*/ 480 h 642"/>
              <a:gd name="T12" fmla="*/ 0 w 556"/>
              <a:gd name="T13" fmla="*/ 160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6" h="642">
                <a:moveTo>
                  <a:pt x="0" y="160"/>
                </a:moveTo>
                <a:lnTo>
                  <a:pt x="278" y="0"/>
                </a:lnTo>
                <a:lnTo>
                  <a:pt x="556" y="160"/>
                </a:lnTo>
                <a:lnTo>
                  <a:pt x="556" y="480"/>
                </a:lnTo>
                <a:lnTo>
                  <a:pt x="278" y="642"/>
                </a:lnTo>
                <a:lnTo>
                  <a:pt x="0" y="480"/>
                </a:lnTo>
                <a:lnTo>
                  <a:pt x="0" y="16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모의엔진</a:t>
            </a: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0" name="Freeform 27"/>
          <p:cNvSpPr>
            <a:spLocks/>
          </p:cNvSpPr>
          <p:nvPr/>
        </p:nvSpPr>
        <p:spPr bwMode="auto">
          <a:xfrm>
            <a:off x="4581235" y="6302302"/>
            <a:ext cx="819514" cy="1096564"/>
          </a:xfrm>
          <a:custGeom>
            <a:avLst/>
            <a:gdLst>
              <a:gd name="T0" fmla="*/ 0 w 556"/>
              <a:gd name="T1" fmla="*/ 160 h 642"/>
              <a:gd name="T2" fmla="*/ 278 w 556"/>
              <a:gd name="T3" fmla="*/ 0 h 642"/>
              <a:gd name="T4" fmla="*/ 556 w 556"/>
              <a:gd name="T5" fmla="*/ 160 h 642"/>
              <a:gd name="T6" fmla="*/ 556 w 556"/>
              <a:gd name="T7" fmla="*/ 480 h 642"/>
              <a:gd name="T8" fmla="*/ 278 w 556"/>
              <a:gd name="T9" fmla="*/ 642 h 642"/>
              <a:gd name="T10" fmla="*/ 0 w 556"/>
              <a:gd name="T11" fmla="*/ 480 h 642"/>
              <a:gd name="T12" fmla="*/ 0 w 556"/>
              <a:gd name="T13" fmla="*/ 160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6" h="642">
                <a:moveTo>
                  <a:pt x="0" y="160"/>
                </a:moveTo>
                <a:lnTo>
                  <a:pt x="278" y="0"/>
                </a:lnTo>
                <a:lnTo>
                  <a:pt x="556" y="160"/>
                </a:lnTo>
                <a:lnTo>
                  <a:pt x="556" y="480"/>
                </a:lnTo>
                <a:lnTo>
                  <a:pt x="278" y="642"/>
                </a:lnTo>
                <a:lnTo>
                  <a:pt x="0" y="480"/>
                </a:lnTo>
                <a:lnTo>
                  <a:pt x="0" y="16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사후분석</a:t>
            </a: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자료구축기</a:t>
            </a: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3" name="Freeform 27"/>
          <p:cNvSpPr>
            <a:spLocks/>
          </p:cNvSpPr>
          <p:nvPr/>
        </p:nvSpPr>
        <p:spPr bwMode="auto">
          <a:xfrm>
            <a:off x="5724785" y="6302302"/>
            <a:ext cx="792088" cy="1096564"/>
          </a:xfrm>
          <a:custGeom>
            <a:avLst/>
            <a:gdLst>
              <a:gd name="T0" fmla="*/ 0 w 556"/>
              <a:gd name="T1" fmla="*/ 160 h 642"/>
              <a:gd name="T2" fmla="*/ 278 w 556"/>
              <a:gd name="T3" fmla="*/ 0 h 642"/>
              <a:gd name="T4" fmla="*/ 556 w 556"/>
              <a:gd name="T5" fmla="*/ 160 h 642"/>
              <a:gd name="T6" fmla="*/ 556 w 556"/>
              <a:gd name="T7" fmla="*/ 480 h 642"/>
              <a:gd name="T8" fmla="*/ 278 w 556"/>
              <a:gd name="T9" fmla="*/ 642 h 642"/>
              <a:gd name="T10" fmla="*/ 0 w 556"/>
              <a:gd name="T11" fmla="*/ 480 h 642"/>
              <a:gd name="T12" fmla="*/ 0 w 556"/>
              <a:gd name="T13" fmla="*/ 160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6" h="642">
                <a:moveTo>
                  <a:pt x="0" y="160"/>
                </a:moveTo>
                <a:lnTo>
                  <a:pt x="278" y="0"/>
                </a:lnTo>
                <a:lnTo>
                  <a:pt x="556" y="160"/>
                </a:lnTo>
                <a:lnTo>
                  <a:pt x="556" y="480"/>
                </a:lnTo>
                <a:lnTo>
                  <a:pt x="278" y="642"/>
                </a:lnTo>
                <a:lnTo>
                  <a:pt x="0" y="480"/>
                </a:lnTo>
                <a:lnTo>
                  <a:pt x="0" y="16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사후결과</a:t>
            </a: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파일</a:t>
            </a: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262" name="Picture 6" descr="Folder Document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805" y="6861446"/>
            <a:ext cx="402986" cy="403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3" name="그룹 646"/>
          <p:cNvGrpSpPr>
            <a:grpSpLocks/>
          </p:cNvGrpSpPr>
          <p:nvPr/>
        </p:nvGrpSpPr>
        <p:grpSpPr bwMode="auto">
          <a:xfrm>
            <a:off x="3420529" y="5670674"/>
            <a:ext cx="936104" cy="864096"/>
            <a:chOff x="1113230" y="6372914"/>
            <a:chExt cx="256300" cy="185564"/>
          </a:xfrm>
        </p:grpSpPr>
        <p:pic>
          <p:nvPicPr>
            <p:cNvPr id="264" name="그림 3" descr="Untitled-1.png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3230" y="6372914"/>
              <a:ext cx="256300" cy="185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5" name="Rectangle 29"/>
            <p:cNvSpPr>
              <a:spLocks noChangeArrowheads="1"/>
            </p:cNvSpPr>
            <p:nvPr/>
          </p:nvSpPr>
          <p:spPr bwMode="auto">
            <a:xfrm>
              <a:off x="1132557" y="6472821"/>
              <a:ext cx="217528" cy="297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algn="ctr" defTabSz="995363" eaLnBrk="0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90000"/>
                <a:defRPr/>
              </a:pPr>
              <a:r>
                <a:rPr kumimoji="1" lang="en-US" altLang="ko-KR" sz="10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DBMS</a:t>
              </a:r>
              <a:endParaRPr kumimoji="0" lang="en-US" altLang="ko-KR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pic>
        <p:nvPicPr>
          <p:cNvPr id="266" name="Picture 6"/>
          <p:cNvPicPr>
            <a:picLocks noChangeAspect="1" noChangeArrowheads="1"/>
          </p:cNvPicPr>
          <p:nvPr/>
        </p:nvPicPr>
        <p:blipFill>
          <a:blip r:embed="rId7" cstate="print">
            <a:lum contrast="-10000"/>
          </a:blip>
          <a:srcRect/>
          <a:stretch>
            <a:fillRect/>
          </a:stretch>
        </p:blipFill>
        <p:spPr bwMode="gray">
          <a:xfrm>
            <a:off x="2045099" y="5658184"/>
            <a:ext cx="475330" cy="264518"/>
          </a:xfrm>
          <a:prstGeom prst="rect">
            <a:avLst/>
          </a:prstGeom>
          <a:noFill/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</p:pic>
      <p:pic>
        <p:nvPicPr>
          <p:cNvPr id="267" name="Picture 20" descr="D:\모스트비주얼\아이콘 작업\왜가리\서버1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560" y="5475784"/>
            <a:ext cx="222325" cy="343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8" name="그림 69" descr="45.png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88"/>
          <a:stretch>
            <a:fillRect/>
          </a:stretch>
        </p:blipFill>
        <p:spPr bwMode="auto">
          <a:xfrm>
            <a:off x="4842150" y="6861446"/>
            <a:ext cx="270567" cy="3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9" name="직선 화살표 연결선 268"/>
          <p:cNvCxnSpPr/>
          <p:nvPr/>
        </p:nvCxnSpPr>
        <p:spPr>
          <a:xfrm flipV="1">
            <a:off x="4348509" y="5632842"/>
            <a:ext cx="692200" cy="325864"/>
          </a:xfrm>
          <a:prstGeom prst="straightConnector1">
            <a:avLst/>
          </a:prstGeom>
          <a:ln w="22225">
            <a:solidFill>
              <a:schemeClr val="bg1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/>
          <p:cNvCxnSpPr/>
          <p:nvPr/>
        </p:nvCxnSpPr>
        <p:spPr>
          <a:xfrm flipV="1">
            <a:off x="2728329" y="6227822"/>
            <a:ext cx="692200" cy="325864"/>
          </a:xfrm>
          <a:prstGeom prst="straightConnector1">
            <a:avLst/>
          </a:prstGeom>
          <a:ln w="22225">
            <a:solidFill>
              <a:schemeClr val="bg1">
                <a:lumMod val="75000"/>
              </a:schemeClr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화살표 연결선 270"/>
          <p:cNvCxnSpPr>
            <a:cxnSpLocks/>
          </p:cNvCxnSpPr>
          <p:nvPr/>
        </p:nvCxnSpPr>
        <p:spPr>
          <a:xfrm>
            <a:off x="5759700" y="5959470"/>
            <a:ext cx="147355" cy="431284"/>
          </a:xfrm>
          <a:prstGeom prst="straightConnector1">
            <a:avLst/>
          </a:prstGeom>
          <a:ln w="22225">
            <a:solidFill>
              <a:schemeClr val="bg1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화살표 연결선 273"/>
          <p:cNvCxnSpPr>
            <a:cxnSpLocks/>
          </p:cNvCxnSpPr>
          <p:nvPr/>
        </p:nvCxnSpPr>
        <p:spPr>
          <a:xfrm flipH="1">
            <a:off x="5439560" y="6858806"/>
            <a:ext cx="249221" cy="2640"/>
          </a:xfrm>
          <a:prstGeom prst="straightConnector1">
            <a:avLst/>
          </a:prstGeom>
          <a:ln w="22225">
            <a:solidFill>
              <a:schemeClr val="bg1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/>
          <p:cNvCxnSpPr/>
          <p:nvPr/>
        </p:nvCxnSpPr>
        <p:spPr>
          <a:xfrm>
            <a:off x="2771038" y="5743445"/>
            <a:ext cx="639098" cy="257305"/>
          </a:xfrm>
          <a:prstGeom prst="straightConnector1">
            <a:avLst/>
          </a:prstGeom>
          <a:ln w="22225">
            <a:solidFill>
              <a:schemeClr val="bg1">
                <a:lumMod val="75000"/>
              </a:schemeClr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화살표 연결선 281"/>
          <p:cNvCxnSpPr/>
          <p:nvPr/>
        </p:nvCxnSpPr>
        <p:spPr>
          <a:xfrm>
            <a:off x="2791636" y="5454650"/>
            <a:ext cx="2177065" cy="0"/>
          </a:xfrm>
          <a:prstGeom prst="straightConnector1">
            <a:avLst/>
          </a:prstGeom>
          <a:ln w="22225">
            <a:solidFill>
              <a:schemeClr val="bg1">
                <a:lumMod val="75000"/>
              </a:schemeClr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1" name="표 2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482788"/>
              </p:ext>
            </p:extLst>
          </p:nvPr>
        </p:nvGraphicFramePr>
        <p:xfrm>
          <a:off x="758679" y="8144159"/>
          <a:ext cx="6328230" cy="1998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5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   야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개   발      시      고   </a:t>
                      </a:r>
                      <a:r>
                        <a:rPr kumimoji="1" lang="ko-KR" altLang="en-US" sz="1000" b="1" kern="1200" spc="-50" baseline="0" dirty="0" err="1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려</a:t>
                      </a: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사   항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프로그램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단독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운용을 위한 프로그램 수정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TCP / IP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 통신 설계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DBMS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단독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PC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에서 운용가능한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DBMS</a:t>
                      </a: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표준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ODBC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규격 지원</a:t>
                      </a: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데이터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기존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DBMS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의 자료 이전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사후분석자료 정상 출력</a:t>
                      </a: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시험평가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 안정성 및 분석결과 신뢰도 보장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모의진행간 </a:t>
                      </a:r>
                      <a:r>
                        <a:rPr kumimoji="1" lang="ko-KR" altLang="en-US" sz="1000" kern="1200" spc="-50" dirty="0" err="1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크래쉬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및 분석결과 누락 방지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Ⅲ-7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의</a:t>
                      </a:r>
                      <a:r>
                        <a:rPr kumimoji="1" lang="en-US" altLang="ko-KR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『</a:t>
                      </a:r>
                      <a:r>
                        <a:rPr kumimoji="1" lang="ko-KR" altLang="en-US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기능개선 테스트 절차</a:t>
                      </a:r>
                      <a:r>
                        <a:rPr kumimoji="1" lang="en-US" altLang="ko-KR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』</a:t>
                      </a:r>
                      <a:r>
                        <a:rPr kumimoji="1" lang="ko-KR" altLang="en-US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 의한  테스트 진행</a:t>
                      </a: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2" name="직사각형 291"/>
          <p:cNvSpPr/>
          <p:nvPr/>
        </p:nvSpPr>
        <p:spPr>
          <a:xfrm>
            <a:off x="2068588" y="4662562"/>
            <a:ext cx="3708412" cy="237881"/>
          </a:xfrm>
          <a:prstGeom prst="rect">
            <a:avLst/>
          </a:prstGeom>
          <a:solidFill>
            <a:srgbClr val="0099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atin typeface="HY신명조" pitchFamily="18" charset="-127"/>
                <a:ea typeface="HY신명조" pitchFamily="18" charset="-127"/>
              </a:rPr>
              <a:t>워  </a:t>
            </a:r>
            <a:r>
              <a:rPr lang="ko-KR" altLang="en-US" sz="1200" b="1" dirty="0" err="1">
                <a:latin typeface="HY신명조" pitchFamily="18" charset="-127"/>
                <a:ea typeface="HY신명조" pitchFamily="18" charset="-127"/>
              </a:rPr>
              <a:t>크</a:t>
            </a:r>
            <a:r>
              <a:rPr lang="ko-KR" altLang="en-US" sz="1200" b="1" dirty="0">
                <a:latin typeface="HY신명조" pitchFamily="18" charset="-127"/>
                <a:ea typeface="HY신명조" pitchFamily="18" charset="-127"/>
              </a:rPr>
              <a:t>  </a:t>
            </a:r>
            <a:r>
              <a:rPr lang="ko-KR" altLang="en-US" sz="1200" b="1" dirty="0" err="1">
                <a:latin typeface="HY신명조" pitchFamily="18" charset="-127"/>
                <a:ea typeface="HY신명조" pitchFamily="18" charset="-127"/>
              </a:rPr>
              <a:t>스</a:t>
            </a:r>
            <a:r>
              <a:rPr lang="ko-KR" altLang="en-US" sz="1200" b="1" dirty="0">
                <a:latin typeface="HY신명조" pitchFamily="18" charset="-127"/>
                <a:ea typeface="HY신명조" pitchFamily="18" charset="-127"/>
              </a:rPr>
              <a:t>  테  이  </a:t>
            </a:r>
            <a:r>
              <a:rPr lang="ko-KR" altLang="en-US" sz="1200" b="1" dirty="0" err="1">
                <a:latin typeface="HY신명조" pitchFamily="18" charset="-127"/>
                <a:ea typeface="HY신명조" pitchFamily="18" charset="-127"/>
              </a:rPr>
              <a:t>션</a:t>
            </a:r>
            <a:endParaRPr lang="ko-KR" altLang="en-US" sz="1200" b="1" dirty="0">
              <a:latin typeface="HY신명조" pitchFamily="18" charset="-127"/>
              <a:ea typeface="HY신명조" pitchFamily="18" charset="-127"/>
            </a:endParaRPr>
          </a:p>
        </p:txBody>
      </p:sp>
      <p:pic>
        <p:nvPicPr>
          <p:cNvPr id="293" name="Picture 11" descr="note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055" y="6858806"/>
            <a:ext cx="430138" cy="46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직사각형 379"/>
          <p:cNvSpPr>
            <a:spLocks noChangeArrowheads="1"/>
          </p:cNvSpPr>
          <p:nvPr/>
        </p:nvSpPr>
        <p:spPr bwMode="auto">
          <a:xfrm>
            <a:off x="3570562" y="5270376"/>
            <a:ext cx="663657" cy="1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en-US" altLang="ko-KR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TCP / IP</a:t>
            </a:r>
            <a:endParaRPr kumimoji="1" lang="ko-KR" altLang="en-US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1" name="직사각형 379"/>
          <p:cNvSpPr>
            <a:spLocks noChangeArrowheads="1"/>
          </p:cNvSpPr>
          <p:nvPr/>
        </p:nvSpPr>
        <p:spPr bwMode="auto">
          <a:xfrm>
            <a:off x="4284625" y="5650574"/>
            <a:ext cx="663657" cy="1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en-US" altLang="ko-KR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ODBC</a:t>
            </a:r>
            <a:endParaRPr kumimoji="1" lang="ko-KR" altLang="en-US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2" name="직사각형 379"/>
          <p:cNvSpPr>
            <a:spLocks noChangeArrowheads="1"/>
          </p:cNvSpPr>
          <p:nvPr/>
        </p:nvSpPr>
        <p:spPr bwMode="auto">
          <a:xfrm>
            <a:off x="2736453" y="6210734"/>
            <a:ext cx="663657" cy="1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en-US" altLang="ko-KR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ODBC</a:t>
            </a:r>
            <a:endParaRPr kumimoji="1" lang="ko-KR" altLang="en-US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3" name="직사각형 379"/>
          <p:cNvSpPr>
            <a:spLocks noChangeArrowheads="1"/>
          </p:cNvSpPr>
          <p:nvPr/>
        </p:nvSpPr>
        <p:spPr bwMode="auto">
          <a:xfrm>
            <a:off x="2772457" y="5706678"/>
            <a:ext cx="663657" cy="1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en-US" altLang="ko-KR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ODBC</a:t>
            </a:r>
            <a:endParaRPr kumimoji="1" lang="ko-KR" altLang="en-US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9085222-4309-4506-A238-D0B62EEC8504}"/>
              </a:ext>
            </a:extLst>
          </p:cNvPr>
          <p:cNvCxnSpPr>
            <a:cxnSpLocks/>
          </p:cNvCxnSpPr>
          <p:nvPr/>
        </p:nvCxnSpPr>
        <p:spPr>
          <a:xfrm flipH="1" flipV="1">
            <a:off x="4356633" y="6329404"/>
            <a:ext cx="259820" cy="188594"/>
          </a:xfrm>
          <a:prstGeom prst="straightConnector1">
            <a:avLst/>
          </a:prstGeom>
          <a:ln w="22225">
            <a:solidFill>
              <a:schemeClr val="bg1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379">
            <a:extLst>
              <a:ext uri="{FF2B5EF4-FFF2-40B4-BE49-F238E27FC236}">
                <a16:creationId xmlns:a16="http://schemas.microsoft.com/office/drawing/2014/main" id="{24AEA638-771C-47AE-91FF-74CECF7AB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055" y="6298646"/>
            <a:ext cx="663657" cy="1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652332" fontAlgn="ctr" latinLnBrk="0">
              <a:lnSpc>
                <a:spcPct val="90000"/>
              </a:lnSpc>
              <a:spcAft>
                <a:spcPts val="20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</a:pPr>
            <a:r>
              <a:rPr kumimoji="1" lang="en-US" altLang="ko-KR" sz="900" b="1" spc="-7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ODBC</a:t>
            </a:r>
            <a:endParaRPr kumimoji="1" lang="ko-KR" altLang="en-US" sz="900" b="1" spc="-7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2" name="Freeform 27">
            <a:extLst>
              <a:ext uri="{FF2B5EF4-FFF2-40B4-BE49-F238E27FC236}">
                <a16:creationId xmlns:a16="http://schemas.microsoft.com/office/drawing/2014/main" id="{B6D43550-8894-46B2-B860-272E69A58A44}"/>
              </a:ext>
            </a:extLst>
          </p:cNvPr>
          <p:cNvSpPr>
            <a:spLocks/>
          </p:cNvSpPr>
          <p:nvPr/>
        </p:nvSpPr>
        <p:spPr bwMode="auto">
          <a:xfrm>
            <a:off x="1871026" y="6298646"/>
            <a:ext cx="819514" cy="1096564"/>
          </a:xfrm>
          <a:custGeom>
            <a:avLst/>
            <a:gdLst>
              <a:gd name="T0" fmla="*/ 0 w 556"/>
              <a:gd name="T1" fmla="*/ 160 h 642"/>
              <a:gd name="T2" fmla="*/ 278 w 556"/>
              <a:gd name="T3" fmla="*/ 0 h 642"/>
              <a:gd name="T4" fmla="*/ 556 w 556"/>
              <a:gd name="T5" fmla="*/ 160 h 642"/>
              <a:gd name="T6" fmla="*/ 556 w 556"/>
              <a:gd name="T7" fmla="*/ 480 h 642"/>
              <a:gd name="T8" fmla="*/ 278 w 556"/>
              <a:gd name="T9" fmla="*/ 642 h 642"/>
              <a:gd name="T10" fmla="*/ 0 w 556"/>
              <a:gd name="T11" fmla="*/ 480 h 642"/>
              <a:gd name="T12" fmla="*/ 0 w 556"/>
              <a:gd name="T13" fmla="*/ 160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6" h="642">
                <a:moveTo>
                  <a:pt x="0" y="160"/>
                </a:moveTo>
                <a:lnTo>
                  <a:pt x="278" y="0"/>
                </a:lnTo>
                <a:lnTo>
                  <a:pt x="556" y="160"/>
                </a:lnTo>
                <a:lnTo>
                  <a:pt x="556" y="480"/>
                </a:lnTo>
                <a:lnTo>
                  <a:pt x="278" y="642"/>
                </a:lnTo>
                <a:lnTo>
                  <a:pt x="0" y="480"/>
                </a:lnTo>
                <a:lnTo>
                  <a:pt x="0" y="16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자료편집기</a:t>
            </a: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092A79EA-DE38-4837-BDBF-95523A9D15C6}"/>
              </a:ext>
            </a:extLst>
          </p:cNvPr>
          <p:cNvGrpSpPr>
            <a:grpSpLocks noChangeAspect="1"/>
          </p:cNvGrpSpPr>
          <p:nvPr/>
        </p:nvGrpSpPr>
        <p:grpSpPr>
          <a:xfrm>
            <a:off x="2060249" y="6861446"/>
            <a:ext cx="460885" cy="289413"/>
            <a:chOff x="925972" y="4106417"/>
            <a:chExt cx="921770" cy="685878"/>
          </a:xfrm>
        </p:grpSpPr>
        <p:pic>
          <p:nvPicPr>
            <p:cNvPr id="64" name="Picture 2">
              <a:extLst>
                <a:ext uri="{FF2B5EF4-FFF2-40B4-BE49-F238E27FC236}">
                  <a16:creationId xmlns:a16="http://schemas.microsoft.com/office/drawing/2014/main" id="{4B850B08-0AB8-4AB0-BA45-D364DD3D88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lum bright="10000" contrast="10000"/>
            </a:blip>
            <a:srcRect/>
            <a:stretch>
              <a:fillRect/>
            </a:stretch>
          </p:blipFill>
          <p:spPr bwMode="auto">
            <a:xfrm>
              <a:off x="925972" y="4106417"/>
              <a:ext cx="773483" cy="545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5" name="Picture 2">
              <a:extLst>
                <a:ext uri="{FF2B5EF4-FFF2-40B4-BE49-F238E27FC236}">
                  <a16:creationId xmlns:a16="http://schemas.microsoft.com/office/drawing/2014/main" id="{7B757582-EAC7-498A-A5A9-5FE18F6666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lum bright="10000" contrast="10000"/>
            </a:blip>
            <a:srcRect t="8565" r="22372" b="26234"/>
            <a:stretch>
              <a:fillRect/>
            </a:stretch>
          </p:blipFill>
          <p:spPr bwMode="auto">
            <a:xfrm>
              <a:off x="1113887" y="4226338"/>
              <a:ext cx="733855" cy="5659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D2FECB-C48B-4D46-A3D3-FC59897BA618}"/>
              </a:ext>
            </a:extLst>
          </p:cNvPr>
          <p:cNvSpPr txBox="1"/>
          <p:nvPr/>
        </p:nvSpPr>
        <p:spPr>
          <a:xfrm>
            <a:off x="1755666" y="5004423"/>
            <a:ext cx="1055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상황도</a:t>
            </a:r>
            <a:endParaRPr kumimoji="1" lang="en-US" altLang="ko-KR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/>
            <a:r>
              <a:rPr kumimoji="1" lang="en-US" altLang="ko-KR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시나리오편집기</a:t>
            </a:r>
            <a:r>
              <a:rPr kumimoji="1" lang="en-US" altLang="ko-KR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</a:p>
          <a:p>
            <a:pPr algn="ctr"/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운용통제</a:t>
            </a:r>
            <a:r>
              <a:rPr kumimoji="1" lang="en-US" altLang="ko-KR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</a:p>
          <a:p>
            <a:pPr algn="ctr"/>
            <a:r>
              <a: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사후분석기</a:t>
            </a:r>
            <a:r>
              <a:rPr kumimoji="1" lang="en-US" altLang="ko-KR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kumimoji="1" lang="ko-KR" altLang="en-US" sz="1000" b="1" spc="-100" dirty="0">
              <a:ln>
                <a:solidFill>
                  <a:srgbClr val="91B1D7">
                    <a:alpha val="0"/>
                  </a:srgb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9751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2"/>
          <p:cNvSpPr txBox="1">
            <a:spLocks noChangeArrowheads="1"/>
          </p:cNvSpPr>
          <p:nvPr/>
        </p:nvSpPr>
        <p:spPr bwMode="auto">
          <a:xfrm>
            <a:off x="720873" y="135116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3.5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분석지원 방안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3.5.1 C4ISR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분석모델을 운용하는 분석업무 개요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188173" y="3654450"/>
            <a:ext cx="5879377" cy="5076564"/>
            <a:chOff x="1188173" y="6207558"/>
            <a:chExt cx="5879377" cy="4047691"/>
          </a:xfrm>
        </p:grpSpPr>
        <p:sp>
          <p:nvSpPr>
            <p:cNvPr id="5" name="직사각형 4"/>
            <p:cNvSpPr/>
            <p:nvPr/>
          </p:nvSpPr>
          <p:spPr>
            <a:xfrm>
              <a:off x="2123113" y="6381750"/>
              <a:ext cx="4924425" cy="387349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2092324" y="6207558"/>
              <a:ext cx="4975226" cy="447271"/>
              <a:chOff x="1894287" y="6281477"/>
              <a:chExt cx="5132991" cy="405073"/>
            </a:xfrm>
          </p:grpSpPr>
          <p:sp>
            <p:nvSpPr>
              <p:cNvPr id="73" name="갈매기형 수장 72"/>
              <p:cNvSpPr/>
              <p:nvPr/>
            </p:nvSpPr>
            <p:spPr>
              <a:xfrm>
                <a:off x="3258152" y="6289987"/>
                <a:ext cx="2847285" cy="396563"/>
              </a:xfrm>
              <a:prstGeom prst="chevron">
                <a:avLst>
                  <a:gd name="adj" fmla="val 19196"/>
                </a:avLst>
              </a:prstGeom>
              <a:solidFill>
                <a:srgbClr val="2DB3EF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74" name="갈매기형 수장 73"/>
              <p:cNvSpPr/>
              <p:nvPr/>
            </p:nvSpPr>
            <p:spPr>
              <a:xfrm>
                <a:off x="6045199" y="6289987"/>
                <a:ext cx="982079" cy="396563"/>
              </a:xfrm>
              <a:prstGeom prst="chevron">
                <a:avLst>
                  <a:gd name="adj" fmla="val 19196"/>
                </a:avLst>
              </a:prstGeom>
              <a:solidFill>
                <a:srgbClr val="0B699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200" b="1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75" name="오각형 74"/>
              <p:cNvSpPr/>
              <p:nvPr/>
            </p:nvSpPr>
            <p:spPr>
              <a:xfrm>
                <a:off x="1925345" y="6289987"/>
                <a:ext cx="1380345" cy="396563"/>
              </a:xfrm>
              <a:prstGeom prst="homePlate">
                <a:avLst>
                  <a:gd name="adj" fmla="val 19088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2" tIns="45713" rIns="91422" bIns="45713" anchor="ctr"/>
              <a:lstStyle/>
              <a:p>
                <a:pPr algn="ctr" defTabSz="1111250">
                  <a:lnSpc>
                    <a:spcPct val="120000"/>
                  </a:lnSpc>
                </a:pPr>
                <a:endParaRPr kumimoji="1" lang="ko-KR" altLang="en-US" sz="1100" kern="0" spc="-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76" name="Text Box 141"/>
              <p:cNvSpPr txBox="1">
                <a:spLocks noChangeArrowheads="1"/>
              </p:cNvSpPr>
              <p:nvPr/>
            </p:nvSpPr>
            <p:spPr bwMode="auto">
              <a:xfrm>
                <a:off x="2346563" y="6435572"/>
                <a:ext cx="496150" cy="13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1pPr algn="ctr" defTabSz="1111250" fontAlgn="base" latinLnBrk="0">
                  <a:spcBef>
                    <a:spcPct val="0"/>
                  </a:spcBef>
                  <a:spcAft>
                    <a:spcPct val="0"/>
                  </a:spcAft>
                  <a:defRPr kumimoji="1" sz="1100" b="1" spc="-5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0000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defRPr>
                </a:lvl1pPr>
                <a:lvl2pPr defTabSz="1111250">
                  <a:defRPr kumimoji="1">
                    <a:latin typeface="굴림" pitchFamily="50" charset="-127"/>
                    <a:ea typeface="굴림" pitchFamily="50" charset="-127"/>
                  </a:defRPr>
                </a:lvl2pPr>
                <a:lvl3pPr defTabSz="1111250">
                  <a:defRPr kumimoji="1">
                    <a:latin typeface="굴림" pitchFamily="50" charset="-127"/>
                    <a:ea typeface="굴림" pitchFamily="50" charset="-127"/>
                  </a:defRPr>
                </a:lvl3pPr>
                <a:lvl4pPr defTabSz="1111250">
                  <a:defRPr kumimoji="1">
                    <a:latin typeface="굴림" pitchFamily="50" charset="-127"/>
                    <a:ea typeface="굴림" pitchFamily="50" charset="-127"/>
                  </a:defRPr>
                </a:lvl4pPr>
                <a:lvl5pPr defTabSz="1111250">
                  <a:defRPr kumimoji="1">
                    <a:latin typeface="굴림" pitchFamily="50" charset="-127"/>
                    <a:ea typeface="굴림" pitchFamily="50" charset="-127"/>
                  </a:defRPr>
                </a:lvl5pPr>
                <a:lvl6pPr marL="25765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6pPr>
                <a:lvl7pPr marL="30337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7pPr>
                <a:lvl8pPr marL="34909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8pPr>
                <a:lvl9pPr marL="39481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r>
                  <a:rPr lang="ko-KR" altLang="en-US" sz="1000" dirty="0"/>
                  <a:t>분석준비</a:t>
                </a:r>
              </a:p>
            </p:txBody>
          </p:sp>
          <p:sp>
            <p:nvSpPr>
              <p:cNvPr id="77" name="Text Box 141"/>
              <p:cNvSpPr txBox="1">
                <a:spLocks noChangeArrowheads="1"/>
              </p:cNvSpPr>
              <p:nvPr/>
            </p:nvSpPr>
            <p:spPr bwMode="auto">
              <a:xfrm>
                <a:off x="4384913" y="6435572"/>
                <a:ext cx="496150" cy="13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1pPr algn="ctr" defTabSz="1111250" fontAlgn="base" latinLnBrk="0">
                  <a:spcBef>
                    <a:spcPct val="0"/>
                  </a:spcBef>
                  <a:spcAft>
                    <a:spcPct val="0"/>
                  </a:spcAft>
                  <a:defRPr kumimoji="1" sz="1100" b="1" spc="-5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0000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defRPr>
                </a:lvl1pPr>
                <a:lvl2pPr defTabSz="1111250">
                  <a:defRPr kumimoji="1">
                    <a:latin typeface="굴림" pitchFamily="50" charset="-127"/>
                    <a:ea typeface="굴림" pitchFamily="50" charset="-127"/>
                  </a:defRPr>
                </a:lvl2pPr>
                <a:lvl3pPr defTabSz="1111250">
                  <a:defRPr kumimoji="1">
                    <a:latin typeface="굴림" pitchFamily="50" charset="-127"/>
                    <a:ea typeface="굴림" pitchFamily="50" charset="-127"/>
                  </a:defRPr>
                </a:lvl3pPr>
                <a:lvl4pPr defTabSz="1111250">
                  <a:defRPr kumimoji="1">
                    <a:latin typeface="굴림" pitchFamily="50" charset="-127"/>
                    <a:ea typeface="굴림" pitchFamily="50" charset="-127"/>
                  </a:defRPr>
                </a:lvl4pPr>
                <a:lvl5pPr defTabSz="1111250">
                  <a:defRPr kumimoji="1">
                    <a:latin typeface="굴림" pitchFamily="50" charset="-127"/>
                    <a:ea typeface="굴림" pitchFamily="50" charset="-127"/>
                  </a:defRPr>
                </a:lvl5pPr>
                <a:lvl6pPr marL="25765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6pPr>
                <a:lvl7pPr marL="30337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7pPr>
                <a:lvl8pPr marL="34909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8pPr>
                <a:lvl9pPr marL="39481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r>
                  <a:rPr lang="ko-KR" altLang="en-US" sz="1000" dirty="0"/>
                  <a:t>분석실시</a:t>
                </a:r>
              </a:p>
            </p:txBody>
          </p:sp>
          <p:sp>
            <p:nvSpPr>
              <p:cNvPr id="78" name="Text Box 141"/>
              <p:cNvSpPr txBox="1">
                <a:spLocks noChangeArrowheads="1"/>
              </p:cNvSpPr>
              <p:nvPr/>
            </p:nvSpPr>
            <p:spPr bwMode="auto">
              <a:xfrm>
                <a:off x="6160824" y="6435572"/>
                <a:ext cx="811480" cy="13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ko-KR"/>
                </a:defPPr>
                <a:lvl1pPr algn="ctr" defTabSz="1111250" fontAlgn="base" latinLnBrk="0">
                  <a:spcBef>
                    <a:spcPct val="0"/>
                  </a:spcBef>
                  <a:spcAft>
                    <a:spcPct val="0"/>
                  </a:spcAft>
                  <a:defRPr kumimoji="1" sz="1100" b="1" spc="-5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00000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defRPr>
                </a:lvl1pPr>
                <a:lvl2pPr defTabSz="1111250">
                  <a:defRPr kumimoji="1">
                    <a:latin typeface="굴림" pitchFamily="50" charset="-127"/>
                    <a:ea typeface="굴림" pitchFamily="50" charset="-127"/>
                  </a:defRPr>
                </a:lvl2pPr>
                <a:lvl3pPr defTabSz="1111250">
                  <a:defRPr kumimoji="1">
                    <a:latin typeface="굴림" pitchFamily="50" charset="-127"/>
                    <a:ea typeface="굴림" pitchFamily="50" charset="-127"/>
                  </a:defRPr>
                </a:lvl3pPr>
                <a:lvl4pPr defTabSz="1111250">
                  <a:defRPr kumimoji="1">
                    <a:latin typeface="굴림" pitchFamily="50" charset="-127"/>
                    <a:ea typeface="굴림" pitchFamily="50" charset="-127"/>
                  </a:defRPr>
                </a:lvl4pPr>
                <a:lvl5pPr defTabSz="1111250">
                  <a:defRPr kumimoji="1">
                    <a:latin typeface="굴림" pitchFamily="50" charset="-127"/>
                    <a:ea typeface="굴림" pitchFamily="50" charset="-127"/>
                  </a:defRPr>
                </a:lvl5pPr>
                <a:lvl6pPr marL="25765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6pPr>
                <a:lvl7pPr marL="30337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7pPr>
                <a:lvl8pPr marL="34909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8pPr>
                <a:lvl9pPr marL="39481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r>
                  <a:rPr lang="ko-KR" altLang="en-US" sz="1000" dirty="0">
                    <a:solidFill>
                      <a:schemeClr val="bg1"/>
                    </a:solidFill>
                  </a:rPr>
                  <a:t>사후분석</a:t>
                </a:r>
              </a:p>
            </p:txBody>
          </p:sp>
          <p:sp>
            <p:nvSpPr>
              <p:cNvPr id="79" name="직사각형 78"/>
              <p:cNvSpPr/>
              <p:nvPr/>
            </p:nvSpPr>
            <p:spPr>
              <a:xfrm>
                <a:off x="1894287" y="6281477"/>
                <a:ext cx="5112938" cy="69158"/>
              </a:xfrm>
              <a:prstGeom prst="rect">
                <a:avLst/>
              </a:prstGeom>
              <a:solidFill>
                <a:schemeClr val="bg1">
                  <a:alpha val="2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sp>
          <p:nvSpPr>
            <p:cNvPr id="7" name="TextBox 6"/>
            <p:cNvSpPr txBox="1"/>
            <p:nvPr/>
          </p:nvSpPr>
          <p:spPr bwMode="auto">
            <a:xfrm>
              <a:off x="4230948" y="9980533"/>
              <a:ext cx="1086319" cy="173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100" b="1" dirty="0">
                  <a:ln w="0">
                    <a:solidFill>
                      <a:schemeClr val="bg1">
                        <a:alpha val="0"/>
                      </a:scheme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| </a:t>
              </a:r>
              <a:r>
                <a:rPr lang="ko-KR" altLang="en-US" sz="1100" b="1" dirty="0">
                  <a:ln w="0">
                    <a:solidFill>
                      <a:schemeClr val="bg1">
                        <a:alpha val="0"/>
                      </a:scheme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합성전장환경 </a:t>
              </a:r>
              <a:r>
                <a:rPr lang="en-US" altLang="ko-KR" sz="1100" b="1" dirty="0">
                  <a:ln w="0">
                    <a:solidFill>
                      <a:schemeClr val="bg1">
                        <a:alpha val="0"/>
                      </a:scheme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|</a:t>
              </a:r>
              <a:endParaRPr lang="ko-KR" altLang="en-US" sz="1100" b="1" dirty="0">
                <a:ln w="0">
                  <a:solidFill>
                    <a:schemeClr val="bg1">
                      <a:alpha val="0"/>
                    </a:scheme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187067" y="7083107"/>
              <a:ext cx="1131053" cy="28194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251021" y="7225522"/>
              <a:ext cx="863277" cy="258028"/>
            </a:xfrm>
            <a:prstGeom prst="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45713" anchor="ctr"/>
            <a:lstStyle>
              <a:defPPr>
                <a:defRPr lang="ko-KR"/>
              </a:defPPr>
              <a:lvl1pPr algn="ctr" defTabSz="914491" fontAlgn="base">
                <a:spcBef>
                  <a:spcPct val="0"/>
                </a:spcBef>
                <a:spcAft>
                  <a:spcPct val="0"/>
                </a:spcAft>
                <a:defRPr kumimoji="1" spc="-50"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pPr defTabSz="913204" latinLnBrk="0"/>
              <a:r>
                <a:rPr lang="en-US" altLang="ko-KR" sz="9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ISR </a:t>
              </a:r>
              <a:r>
                <a:rPr lang="ko-KR" altLang="en-US" sz="9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solidFill>
                    <a:schemeClr val="tx1"/>
                  </a:solidFill>
                </a:rPr>
                <a:t>제원</a:t>
              </a:r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2251116" y="7947190"/>
              <a:ext cx="863277" cy="258028"/>
            </a:xfrm>
            <a:prstGeom prst="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45713" anchor="ctr"/>
            <a:lstStyle>
              <a:defPPr>
                <a:defRPr lang="ko-KR"/>
              </a:defPPr>
              <a:lvl1pPr algn="ctr" fontAlgn="base" latinLnBrk="0">
                <a:spcBef>
                  <a:spcPct val="0"/>
                </a:spcBef>
                <a:spcAft>
                  <a:spcPct val="0"/>
                </a:spcAft>
                <a:defRPr kumimoji="1" sz="900" b="1" spc="-10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r>
                <a:rPr lang="en-US" altLang="ko-KR" spc="-50" dirty="0"/>
                <a:t>C2 </a:t>
              </a:r>
              <a:r>
                <a:rPr lang="ko-KR" altLang="en-US" spc="-50" dirty="0"/>
                <a:t>제원</a:t>
              </a:r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2251116" y="8308024"/>
              <a:ext cx="863277" cy="258028"/>
            </a:xfrm>
            <a:prstGeom prst="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45713" anchor="ctr"/>
            <a:lstStyle>
              <a:defPPr>
                <a:defRPr lang="ko-KR"/>
              </a:defPPr>
              <a:lvl1pPr algn="ctr" fontAlgn="base" latinLnBrk="0">
                <a:spcBef>
                  <a:spcPct val="0"/>
                </a:spcBef>
                <a:spcAft>
                  <a:spcPct val="0"/>
                </a:spcAft>
                <a:defRPr kumimoji="1" sz="900" b="1" spc="-10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r>
                <a:rPr lang="ko-KR" altLang="en-US" spc="-50" dirty="0"/>
                <a:t>교전 제원</a:t>
              </a:r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2251116" y="8668858"/>
              <a:ext cx="863277" cy="493639"/>
            </a:xfrm>
            <a:prstGeom prst="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45713" anchor="ctr"/>
            <a:lstStyle>
              <a:defPPr>
                <a:defRPr lang="ko-KR"/>
              </a:defPPr>
              <a:lvl1pPr algn="ctr" fontAlgn="base" latinLnBrk="0">
                <a:spcBef>
                  <a:spcPct val="0"/>
                </a:spcBef>
                <a:spcAft>
                  <a:spcPct val="0"/>
                </a:spcAft>
                <a:defRPr kumimoji="1" sz="900" b="1" spc="-10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r>
                <a:rPr lang="ko-KR" altLang="en-US" spc="-50" dirty="0"/>
                <a:t>부대</a:t>
              </a:r>
              <a:r>
                <a:rPr lang="en-US" altLang="ko-KR" spc="-50" dirty="0"/>
                <a:t>, </a:t>
              </a:r>
              <a:r>
                <a:rPr lang="ko-KR" altLang="en-US" spc="-50" dirty="0"/>
                <a:t>지형</a:t>
              </a:r>
              <a:r>
                <a:rPr lang="en-US" altLang="ko-KR" spc="-50" dirty="0"/>
                <a:t>,</a:t>
              </a:r>
            </a:p>
            <a:p>
              <a:r>
                <a:rPr lang="ko-KR" altLang="en-US" spc="-50" dirty="0"/>
                <a:t>기상</a:t>
              </a:r>
              <a:r>
                <a:rPr lang="en-US" altLang="ko-KR" spc="-50" dirty="0"/>
                <a:t>, </a:t>
              </a:r>
              <a:r>
                <a:rPr lang="ko-KR" altLang="en-US" spc="-50" dirty="0" err="1"/>
                <a:t>파라미터</a:t>
              </a:r>
              <a:endParaRPr lang="ko-KR" altLang="en-US" spc="-50" dirty="0"/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2244794" y="9265304"/>
              <a:ext cx="863373" cy="387098"/>
            </a:xfrm>
            <a:prstGeom prst="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45713" anchor="ctr"/>
            <a:lstStyle>
              <a:defPPr>
                <a:defRPr lang="ko-KR"/>
              </a:defPPr>
              <a:lvl1pPr algn="ctr" fontAlgn="base" latinLnBrk="0">
                <a:spcBef>
                  <a:spcPct val="0"/>
                </a:spcBef>
                <a:spcAft>
                  <a:spcPct val="0"/>
                </a:spcAft>
                <a:defRPr kumimoji="1" sz="900" b="1" spc="-10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r>
                <a:rPr lang="ko-KR" altLang="en-US" spc="-50" dirty="0"/>
                <a:t>시나리오 명령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458065" y="7083107"/>
              <a:ext cx="2630169" cy="24488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458066" y="9591507"/>
              <a:ext cx="2630169" cy="311014"/>
            </a:xfrm>
            <a:prstGeom prst="rect">
              <a:avLst/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dirty="0">
                  <a:ln w="0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상  황  도</a:t>
              </a: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6216141" y="7083107"/>
              <a:ext cx="735466" cy="28194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순서도: 판단 17"/>
            <p:cNvSpPr/>
            <p:nvPr/>
          </p:nvSpPr>
          <p:spPr>
            <a:xfrm>
              <a:off x="4355529" y="7925058"/>
              <a:ext cx="890063" cy="590047"/>
            </a:xfrm>
            <a:prstGeom prst="flowChartDecision">
              <a:avLst/>
            </a:prstGeom>
            <a:solidFill>
              <a:srgbClr val="0B699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4444445" y="8141007"/>
              <a:ext cx="74028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100" dirty="0" err="1">
                  <a:ln w="0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DevSim</a:t>
              </a:r>
              <a:endParaRPr lang="ko-KR" altLang="en-US" sz="1100" dirty="0">
                <a:ln w="0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3772132" y="7705809"/>
              <a:ext cx="1344627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3772132" y="8827385"/>
              <a:ext cx="1344627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27"/>
            <p:cNvSpPr>
              <a:spLocks/>
            </p:cNvSpPr>
            <p:nvPr/>
          </p:nvSpPr>
          <p:spPr bwMode="auto">
            <a:xfrm>
              <a:off x="3952262" y="7259686"/>
              <a:ext cx="708161" cy="874322"/>
            </a:xfrm>
            <a:custGeom>
              <a:avLst/>
              <a:gdLst>
                <a:gd name="T0" fmla="*/ 0 w 556"/>
                <a:gd name="T1" fmla="*/ 160 h 642"/>
                <a:gd name="T2" fmla="*/ 278 w 556"/>
                <a:gd name="T3" fmla="*/ 0 h 642"/>
                <a:gd name="T4" fmla="*/ 556 w 556"/>
                <a:gd name="T5" fmla="*/ 160 h 642"/>
                <a:gd name="T6" fmla="*/ 556 w 556"/>
                <a:gd name="T7" fmla="*/ 480 h 642"/>
                <a:gd name="T8" fmla="*/ 278 w 556"/>
                <a:gd name="T9" fmla="*/ 642 h 642"/>
                <a:gd name="T10" fmla="*/ 0 w 556"/>
                <a:gd name="T11" fmla="*/ 480 h 642"/>
                <a:gd name="T12" fmla="*/ 0 w 556"/>
                <a:gd name="T13" fmla="*/ 16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6" h="642">
                  <a:moveTo>
                    <a:pt x="0" y="160"/>
                  </a:moveTo>
                  <a:lnTo>
                    <a:pt x="278" y="0"/>
                  </a:lnTo>
                  <a:lnTo>
                    <a:pt x="556" y="160"/>
                  </a:lnTo>
                  <a:lnTo>
                    <a:pt x="556" y="480"/>
                  </a:lnTo>
                  <a:lnTo>
                    <a:pt x="278" y="642"/>
                  </a:lnTo>
                  <a:lnTo>
                    <a:pt x="0" y="48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ISR</a:t>
              </a:r>
              <a:endPara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auto">
            <a:xfrm>
              <a:off x="4930053" y="7259686"/>
              <a:ext cx="708161" cy="874322"/>
            </a:xfrm>
            <a:custGeom>
              <a:avLst/>
              <a:gdLst>
                <a:gd name="T0" fmla="*/ 0 w 556"/>
                <a:gd name="T1" fmla="*/ 160 h 642"/>
                <a:gd name="T2" fmla="*/ 278 w 556"/>
                <a:gd name="T3" fmla="*/ 0 h 642"/>
                <a:gd name="T4" fmla="*/ 556 w 556"/>
                <a:gd name="T5" fmla="*/ 160 h 642"/>
                <a:gd name="T6" fmla="*/ 556 w 556"/>
                <a:gd name="T7" fmla="*/ 480 h 642"/>
                <a:gd name="T8" fmla="*/ 278 w 556"/>
                <a:gd name="T9" fmla="*/ 642 h 642"/>
                <a:gd name="T10" fmla="*/ 0 w 556"/>
                <a:gd name="T11" fmla="*/ 480 h 642"/>
                <a:gd name="T12" fmla="*/ 0 w 556"/>
                <a:gd name="T13" fmla="*/ 16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6" h="642">
                  <a:moveTo>
                    <a:pt x="0" y="160"/>
                  </a:moveTo>
                  <a:lnTo>
                    <a:pt x="278" y="0"/>
                  </a:lnTo>
                  <a:lnTo>
                    <a:pt x="556" y="160"/>
                  </a:lnTo>
                  <a:lnTo>
                    <a:pt x="556" y="480"/>
                  </a:lnTo>
                  <a:lnTo>
                    <a:pt x="278" y="642"/>
                  </a:lnTo>
                  <a:lnTo>
                    <a:pt x="0" y="48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통신</a:t>
              </a:r>
            </a:p>
          </p:txBody>
        </p:sp>
        <p:sp>
          <p:nvSpPr>
            <p:cNvPr id="24" name="Freeform 27"/>
            <p:cNvSpPr>
              <a:spLocks/>
            </p:cNvSpPr>
            <p:nvPr/>
          </p:nvSpPr>
          <p:spPr bwMode="auto">
            <a:xfrm>
              <a:off x="3952262" y="8305189"/>
              <a:ext cx="708161" cy="874322"/>
            </a:xfrm>
            <a:custGeom>
              <a:avLst/>
              <a:gdLst>
                <a:gd name="T0" fmla="*/ 0 w 556"/>
                <a:gd name="T1" fmla="*/ 160 h 642"/>
                <a:gd name="T2" fmla="*/ 278 w 556"/>
                <a:gd name="T3" fmla="*/ 0 h 642"/>
                <a:gd name="T4" fmla="*/ 556 w 556"/>
                <a:gd name="T5" fmla="*/ 160 h 642"/>
                <a:gd name="T6" fmla="*/ 556 w 556"/>
                <a:gd name="T7" fmla="*/ 480 h 642"/>
                <a:gd name="T8" fmla="*/ 278 w 556"/>
                <a:gd name="T9" fmla="*/ 642 h 642"/>
                <a:gd name="T10" fmla="*/ 0 w 556"/>
                <a:gd name="T11" fmla="*/ 480 h 642"/>
                <a:gd name="T12" fmla="*/ 0 w 556"/>
                <a:gd name="T13" fmla="*/ 16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6" h="642">
                  <a:moveTo>
                    <a:pt x="0" y="160"/>
                  </a:moveTo>
                  <a:lnTo>
                    <a:pt x="278" y="0"/>
                  </a:lnTo>
                  <a:lnTo>
                    <a:pt x="556" y="160"/>
                  </a:lnTo>
                  <a:lnTo>
                    <a:pt x="556" y="480"/>
                  </a:lnTo>
                  <a:lnTo>
                    <a:pt x="278" y="642"/>
                  </a:lnTo>
                  <a:lnTo>
                    <a:pt x="0" y="48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C2</a:t>
              </a:r>
              <a:endParaRPr kumimoji="1" lang="ko-KR" altLang="en-US" sz="1000" b="1" spc="-100" dirty="0">
                <a:ln>
                  <a:solidFill>
                    <a:srgbClr val="91B1D7">
                      <a:alpha val="0"/>
                    </a:srgb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cxnSp>
          <p:nvCxnSpPr>
            <p:cNvPr id="25" name="직선 연결선 24"/>
            <p:cNvCxnSpPr>
              <a:stCxn id="23" idx="4"/>
              <a:endCxn id="50" idx="1"/>
            </p:cNvCxnSpPr>
            <p:nvPr/>
          </p:nvCxnSpPr>
          <p:spPr>
            <a:xfrm>
              <a:off x="5284134" y="8134008"/>
              <a:ext cx="0" cy="17118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>
              <a:stCxn id="22" idx="4"/>
              <a:endCxn id="24" idx="1"/>
            </p:cNvCxnSpPr>
            <p:nvPr/>
          </p:nvCxnSpPr>
          <p:spPr>
            <a:xfrm>
              <a:off x="4306343" y="8134008"/>
              <a:ext cx="0" cy="17118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꺾인 연결선 26"/>
            <p:cNvCxnSpPr>
              <a:stCxn id="9" idx="3"/>
            </p:cNvCxnSpPr>
            <p:nvPr/>
          </p:nvCxnSpPr>
          <p:spPr>
            <a:xfrm>
              <a:off x="3114298" y="7354535"/>
              <a:ext cx="487612" cy="371052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꺾인 연결선 27"/>
            <p:cNvCxnSpPr/>
            <p:nvPr/>
          </p:nvCxnSpPr>
          <p:spPr>
            <a:xfrm flipV="1">
              <a:off x="3114298" y="7723843"/>
              <a:ext cx="487612" cy="345900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>
            <a:xfrm>
              <a:off x="3109833" y="7725587"/>
              <a:ext cx="436537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 bwMode="auto">
            <a:xfrm>
              <a:off x="2251116" y="7586356"/>
              <a:ext cx="863277" cy="258028"/>
            </a:xfrm>
            <a:prstGeom prst="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45713" anchor="ctr"/>
            <a:lstStyle>
              <a:defPPr>
                <a:defRPr lang="ko-KR"/>
              </a:defPPr>
              <a:lvl1pPr algn="ctr" fontAlgn="base" latinLnBrk="0">
                <a:spcBef>
                  <a:spcPct val="0"/>
                </a:spcBef>
                <a:spcAft>
                  <a:spcPct val="0"/>
                </a:spcAft>
                <a:defRPr kumimoji="1" sz="900" b="1" spc="-10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r>
                <a:rPr lang="ko-KR" altLang="en-US" spc="-50" dirty="0"/>
                <a:t>통신 제원</a:t>
              </a:r>
            </a:p>
          </p:txBody>
        </p:sp>
        <p:grpSp>
          <p:nvGrpSpPr>
            <p:cNvPr id="31" name="그룹 30"/>
            <p:cNvGrpSpPr/>
            <p:nvPr/>
          </p:nvGrpSpPr>
          <p:grpSpPr>
            <a:xfrm>
              <a:off x="3550930" y="7142472"/>
              <a:ext cx="249322" cy="2340679"/>
              <a:chOff x="3395243" y="7291536"/>
              <a:chExt cx="260360" cy="2041317"/>
            </a:xfrm>
          </p:grpSpPr>
          <p:sp>
            <p:nvSpPr>
              <p:cNvPr id="71" name="직사각형 70"/>
              <p:cNvSpPr/>
              <p:nvPr/>
            </p:nvSpPr>
            <p:spPr>
              <a:xfrm>
                <a:off x="3395243" y="7291536"/>
                <a:ext cx="260360" cy="2041317"/>
              </a:xfrm>
              <a:prstGeom prst="rect">
                <a:avLst/>
              </a:prstGeom>
              <a:solidFill>
                <a:srgbClr val="11A0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2" tIns="45713" rIns="91422" bIns="45713" anchor="ctr"/>
              <a:lstStyle/>
              <a:p>
                <a:pPr algn="ctr"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400" b="1" spc="-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 bwMode="auto">
              <a:xfrm>
                <a:off x="3441666" y="7753322"/>
                <a:ext cx="160701" cy="11177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square" lIns="0" tIns="0" rIns="0" bIns="0" rtlCol="0">
                <a:sp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000" b="1" spc="-100" dirty="0">
                    <a:ln>
                      <a:solidFill>
                        <a:srgbClr val="91B1D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데  이  터  베  이  </a:t>
                </a:r>
                <a:r>
                  <a:rPr kumimoji="1" lang="ko-KR" altLang="en-US" sz="1000" b="1" spc="-100" dirty="0" err="1">
                    <a:ln>
                      <a:solidFill>
                        <a:srgbClr val="91B1D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스</a:t>
                </a:r>
                <a:endParaRPr kumimoji="1" lang="ko-KR" altLang="en-US" sz="10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  <p:cxnSp>
          <p:nvCxnSpPr>
            <p:cNvPr id="32" name="직선 연결선 31"/>
            <p:cNvCxnSpPr/>
            <p:nvPr/>
          </p:nvCxnSpPr>
          <p:spPr>
            <a:xfrm>
              <a:off x="3109833" y="8839026"/>
              <a:ext cx="436537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꺾인 연결선 32"/>
            <p:cNvCxnSpPr>
              <a:stCxn id="11" idx="3"/>
            </p:cNvCxnSpPr>
            <p:nvPr/>
          </p:nvCxnSpPr>
          <p:spPr>
            <a:xfrm flipV="1">
              <a:off x="3114394" y="7725587"/>
              <a:ext cx="243710" cy="711451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3109833" y="9368938"/>
              <a:ext cx="436537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5964765" y="7395690"/>
              <a:ext cx="436537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5964765" y="8367798"/>
              <a:ext cx="436537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5964765" y="9267898"/>
              <a:ext cx="436537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 bwMode="auto">
            <a:xfrm>
              <a:off x="6298537" y="7215669"/>
              <a:ext cx="569993" cy="365613"/>
            </a:xfrm>
            <a:prstGeom prst="rect">
              <a:avLst/>
            </a:prstGeom>
            <a:solidFill>
              <a:srgbClr val="94D8F6"/>
            </a:solidFill>
            <a:ln>
              <a:noFill/>
            </a:ln>
            <a:effectLst/>
          </p:spPr>
          <p:txBody>
            <a:bodyPr wrap="none" lIns="91422" tIns="45713" rIns="91422" bIns="45713" anchor="ctr"/>
            <a:lstStyle>
              <a:defPPr>
                <a:defRPr lang="ko-KR"/>
              </a:defPPr>
              <a:lvl1pPr algn="ctr" fontAlgn="base" latinLnBrk="0">
                <a:spcBef>
                  <a:spcPct val="0"/>
                </a:spcBef>
                <a:spcAft>
                  <a:spcPct val="0"/>
                </a:spcAft>
                <a:defRPr kumimoji="1" sz="900" b="1" spc="-10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r>
                <a:rPr lang="ko-KR" altLang="en-US" dirty="0"/>
                <a:t>성능척도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6298537" y="8182205"/>
              <a:ext cx="569993" cy="365613"/>
            </a:xfrm>
            <a:prstGeom prst="rect">
              <a:avLst/>
            </a:prstGeom>
            <a:solidFill>
              <a:srgbClr val="94D8F6"/>
            </a:solidFill>
            <a:ln>
              <a:noFill/>
            </a:ln>
            <a:effectLst/>
          </p:spPr>
          <p:txBody>
            <a:bodyPr wrap="none" lIns="91422" tIns="45713" rIns="91422" bIns="45713" anchor="ctr"/>
            <a:lstStyle>
              <a:defPPr>
                <a:defRPr lang="ko-KR"/>
              </a:defPPr>
              <a:lvl1pPr algn="ctr" fontAlgn="base" latinLnBrk="0">
                <a:spcBef>
                  <a:spcPct val="0"/>
                </a:spcBef>
                <a:spcAft>
                  <a:spcPct val="0"/>
                </a:spcAft>
                <a:defRPr kumimoji="1" sz="900" b="1" spc="-10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r>
                <a:rPr lang="ko-KR" altLang="en-US" dirty="0"/>
                <a:t>효과척도</a:t>
              </a:r>
            </a:p>
          </p:txBody>
        </p:sp>
        <p:sp>
          <p:nvSpPr>
            <p:cNvPr id="42" name="TextBox 41"/>
            <p:cNvSpPr txBox="1"/>
            <p:nvPr/>
          </p:nvSpPr>
          <p:spPr bwMode="auto">
            <a:xfrm>
              <a:off x="6298537" y="9087878"/>
              <a:ext cx="569993" cy="365613"/>
            </a:xfrm>
            <a:prstGeom prst="rect">
              <a:avLst/>
            </a:prstGeom>
            <a:solidFill>
              <a:srgbClr val="94D8F6"/>
            </a:solidFill>
            <a:ln>
              <a:noFill/>
            </a:ln>
            <a:effectLst/>
          </p:spPr>
          <p:txBody>
            <a:bodyPr wrap="none" lIns="91422" tIns="45713" rIns="91422" bIns="45713" anchor="ctr"/>
            <a:lstStyle>
              <a:defPPr>
                <a:defRPr lang="ko-KR"/>
              </a:defPPr>
              <a:lvl1pPr algn="ctr" fontAlgn="base" latinLnBrk="0">
                <a:spcBef>
                  <a:spcPct val="0"/>
                </a:spcBef>
                <a:spcAft>
                  <a:spcPct val="0"/>
                </a:spcAft>
                <a:defRPr kumimoji="1" sz="900" b="1" spc="-10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r>
                <a:rPr lang="ko-KR" altLang="en-US" dirty="0"/>
                <a:t>기여척도</a:t>
              </a:r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3975280" y="6722375"/>
              <a:ext cx="1653928" cy="23804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algn="ctr">
              <a:solidFill>
                <a:srgbClr val="97D9F7"/>
              </a:solidFill>
              <a:miter lim="800000"/>
              <a:headEnd/>
              <a:tailEnd/>
            </a:ln>
            <a:effectLst/>
          </p:spPr>
          <p:txBody>
            <a:bodyPr wrap="none" lIns="91449" tIns="45725" rIns="91449" bIns="45725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합동</a:t>
              </a:r>
              <a:r>
                <a:rPr kumimoji="1" lang="en-US" altLang="ko-KR" sz="10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/</a:t>
              </a:r>
              <a:r>
                <a:rPr kumimoji="1" lang="ko-KR" altLang="en-US" sz="10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각 군 모의</a:t>
              </a:r>
            </a:p>
          </p:txBody>
        </p:sp>
        <p:cxnSp>
          <p:nvCxnSpPr>
            <p:cNvPr id="45" name="직선 연결선 44"/>
            <p:cNvCxnSpPr>
              <a:stCxn id="43" idx="2"/>
              <a:endCxn id="18" idx="0"/>
            </p:cNvCxnSpPr>
            <p:nvPr/>
          </p:nvCxnSpPr>
          <p:spPr>
            <a:xfrm flipH="1">
              <a:off x="4800561" y="6960418"/>
              <a:ext cx="1683" cy="9646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/>
          </p:nvCxnSpPr>
          <p:spPr>
            <a:xfrm>
              <a:off x="5472332" y="8827385"/>
              <a:ext cx="3478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그룹 46"/>
            <p:cNvGrpSpPr/>
            <p:nvPr/>
          </p:nvGrpSpPr>
          <p:grpSpPr>
            <a:xfrm>
              <a:off x="1243559" y="7117561"/>
              <a:ext cx="493790" cy="1708765"/>
              <a:chOff x="813515" y="6952785"/>
              <a:chExt cx="515651" cy="1708765"/>
            </a:xfrm>
          </p:grpSpPr>
          <p:grpSp>
            <p:nvGrpSpPr>
              <p:cNvPr id="59" name="그룹 58"/>
              <p:cNvGrpSpPr/>
              <p:nvPr/>
            </p:nvGrpSpPr>
            <p:grpSpPr>
              <a:xfrm>
                <a:off x="813515" y="7379505"/>
                <a:ext cx="515651" cy="405745"/>
                <a:chOff x="3198067" y="874495"/>
                <a:chExt cx="515651" cy="405745"/>
              </a:xfrm>
            </p:grpSpPr>
            <p:pic>
              <p:nvPicPr>
                <p:cNvPr id="69" name="Picture 47" descr="business icon_26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3263012" y="941861"/>
                  <a:ext cx="450706" cy="3190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70" name="Picture 48" descr="business icon_03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198067" y="874495"/>
                  <a:ext cx="312990" cy="4057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60" name="그룹 59"/>
              <p:cNvGrpSpPr/>
              <p:nvPr/>
            </p:nvGrpSpPr>
            <p:grpSpPr>
              <a:xfrm>
                <a:off x="813515" y="7821465"/>
                <a:ext cx="515651" cy="405745"/>
                <a:chOff x="3198067" y="874495"/>
                <a:chExt cx="515651" cy="405745"/>
              </a:xfrm>
            </p:grpSpPr>
            <p:pic>
              <p:nvPicPr>
                <p:cNvPr id="67" name="Picture 47" descr="business icon_26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3263012" y="941861"/>
                  <a:ext cx="450706" cy="3190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68" name="Picture 48" descr="business icon_03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198067" y="874495"/>
                  <a:ext cx="312990" cy="4057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61" name="그룹 60"/>
              <p:cNvGrpSpPr/>
              <p:nvPr/>
            </p:nvGrpSpPr>
            <p:grpSpPr>
              <a:xfrm>
                <a:off x="813515" y="8255805"/>
                <a:ext cx="515651" cy="405745"/>
                <a:chOff x="3198067" y="874495"/>
                <a:chExt cx="515651" cy="405745"/>
              </a:xfrm>
            </p:grpSpPr>
            <p:pic>
              <p:nvPicPr>
                <p:cNvPr id="65" name="Picture 47" descr="business icon_26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3263012" y="941861"/>
                  <a:ext cx="450706" cy="3190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66" name="Picture 48" descr="business icon_03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198067" y="874495"/>
                  <a:ext cx="312990" cy="4057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62" name="그룹 61"/>
              <p:cNvGrpSpPr/>
              <p:nvPr/>
            </p:nvGrpSpPr>
            <p:grpSpPr>
              <a:xfrm>
                <a:off x="813515" y="6952785"/>
                <a:ext cx="515651" cy="405745"/>
                <a:chOff x="3198067" y="874495"/>
                <a:chExt cx="515651" cy="405745"/>
              </a:xfrm>
            </p:grpSpPr>
            <p:pic>
              <p:nvPicPr>
                <p:cNvPr id="63" name="Picture 47" descr="business icon_26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3263012" y="941861"/>
                  <a:ext cx="450706" cy="3190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64" name="Picture 48" descr="business icon_03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198067" y="874495"/>
                  <a:ext cx="312990" cy="4057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sp>
          <p:nvSpPr>
            <p:cNvPr id="48" name="왼쪽/오른쪽 화살표 47"/>
            <p:cNvSpPr/>
            <p:nvPr/>
          </p:nvSpPr>
          <p:spPr>
            <a:xfrm>
              <a:off x="1622200" y="7809230"/>
              <a:ext cx="494369" cy="312420"/>
            </a:xfrm>
            <a:prstGeom prst="leftRightArrow">
              <a:avLst/>
            </a:prstGeom>
            <a:solidFill>
              <a:srgbClr val="11A0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45713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4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grpSp>
          <p:nvGrpSpPr>
            <p:cNvPr id="49" name="그룹 48"/>
            <p:cNvGrpSpPr/>
            <p:nvPr/>
          </p:nvGrpSpPr>
          <p:grpSpPr>
            <a:xfrm>
              <a:off x="1188173" y="8923397"/>
              <a:ext cx="847250" cy="979124"/>
              <a:chOff x="4693742" y="7622686"/>
              <a:chExt cx="1193116" cy="979124"/>
            </a:xfrm>
          </p:grpSpPr>
          <p:sp>
            <p:nvSpPr>
              <p:cNvPr id="57" name="AutoShape 221"/>
              <p:cNvSpPr>
                <a:spLocks noChangeArrowheads="1"/>
              </p:cNvSpPr>
              <p:nvPr/>
            </p:nvSpPr>
            <p:spPr bwMode="auto">
              <a:xfrm>
                <a:off x="4694564" y="7814043"/>
                <a:ext cx="1191471" cy="787767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5400" dir="5400000" algn="ctr" rotWithShape="0">
                        <a:srgbClr val="EFF1F0"/>
                      </a:outerShdw>
                    </a:effectLst>
                  </a14:hiddenEffects>
                </a:ext>
              </a:extLst>
            </p:spPr>
            <p:txBody>
              <a:bodyPr lIns="54005" tIns="18002" rIns="54005" bIns="18002" anchor="ctr"/>
              <a:lstStyle>
                <a:lvl1pPr marL="88900" indent="-889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203200" indent="-112713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298450" indent="-93663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68249" indent="-68249" defTabSz="652332" fontAlgn="base" latinLnBrk="0">
                  <a:spcBef>
                    <a:spcPts val="100"/>
                  </a:spcBef>
                  <a:spcAft>
                    <a:spcPts val="100"/>
                  </a:spcAft>
                  <a:buClr>
                    <a:prstClr val="black">
                      <a:lumMod val="65000"/>
                      <a:lumOff val="35000"/>
                    </a:prstClr>
                  </a:buClr>
                  <a:buSzPct val="80000"/>
                  <a:buFontTx/>
                  <a:buChar char="•"/>
                </a:pPr>
                <a:r>
                  <a:rPr lang="ko-KR" altLang="en-US" sz="900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전력</a:t>
                </a:r>
                <a:r>
                  <a:rPr lang="en-US" altLang="ko-KR" sz="900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1</a:t>
                </a:r>
              </a:p>
              <a:p>
                <a:pPr marL="68249" indent="-68249" defTabSz="652332" fontAlgn="base" latinLnBrk="0">
                  <a:spcBef>
                    <a:spcPts val="100"/>
                  </a:spcBef>
                  <a:spcAft>
                    <a:spcPts val="100"/>
                  </a:spcAft>
                  <a:buClr>
                    <a:prstClr val="black">
                      <a:lumMod val="65000"/>
                      <a:lumOff val="35000"/>
                    </a:prstClr>
                  </a:buClr>
                  <a:buSzPct val="80000"/>
                  <a:buFontTx/>
                  <a:buChar char="•"/>
                </a:pPr>
                <a:r>
                  <a:rPr lang="ko-KR" altLang="en-US" sz="900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전력</a:t>
                </a:r>
                <a:r>
                  <a:rPr lang="en-US" altLang="ko-KR" sz="900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2</a:t>
                </a:r>
                <a:endParaRPr lang="ko-KR" altLang="en-US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68249" indent="-68249" defTabSz="652332" fontAlgn="base" latinLnBrk="0">
                  <a:spcBef>
                    <a:spcPts val="100"/>
                  </a:spcBef>
                  <a:spcAft>
                    <a:spcPts val="100"/>
                  </a:spcAft>
                  <a:buClr>
                    <a:prstClr val="black">
                      <a:lumMod val="65000"/>
                      <a:lumOff val="35000"/>
                    </a:prstClr>
                  </a:buClr>
                  <a:buSzPct val="80000"/>
                  <a:buFontTx/>
                  <a:buChar char="•"/>
                </a:pPr>
                <a:r>
                  <a:rPr lang="ko-KR" altLang="en-US" sz="900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모의분석</a:t>
                </a:r>
              </a:p>
              <a:p>
                <a:pPr marL="68249" indent="-68249" defTabSz="652332" fontAlgn="base" latinLnBrk="0">
                  <a:spcBef>
                    <a:spcPts val="100"/>
                  </a:spcBef>
                  <a:spcAft>
                    <a:spcPts val="100"/>
                  </a:spcAft>
                  <a:buClr>
                    <a:prstClr val="black">
                      <a:lumMod val="65000"/>
                      <a:lumOff val="35000"/>
                    </a:prstClr>
                  </a:buClr>
                  <a:buSzPct val="80000"/>
                  <a:buFontTx/>
                  <a:buChar char="•"/>
                </a:pPr>
                <a:r>
                  <a:rPr lang="ko-KR" altLang="en-US" sz="900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합동실험</a:t>
                </a:r>
              </a:p>
            </p:txBody>
          </p:sp>
          <p:sp>
            <p:nvSpPr>
              <p:cNvPr id="58" name="AutoShape 223" descr="ob_공통-02"/>
              <p:cNvSpPr>
                <a:spLocks noChangeArrowheads="1"/>
              </p:cNvSpPr>
              <p:nvPr/>
            </p:nvSpPr>
            <p:spPr bwMode="auto">
              <a:xfrm>
                <a:off x="4693742" y="7622686"/>
                <a:ext cx="1193116" cy="199486"/>
              </a:xfrm>
              <a:prstGeom prst="roundRect">
                <a:avLst>
                  <a:gd name="adj" fmla="val 0"/>
                </a:avLst>
              </a:prstGeom>
              <a:solidFill>
                <a:srgbClr val="C7C7C7"/>
              </a:solidFill>
              <a:ln w="6350" algn="ctr">
                <a:solidFill>
                  <a:srgbClr val="C7C7C7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1111250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000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분석전문가</a:t>
                </a:r>
              </a:p>
            </p:txBody>
          </p:sp>
        </p:grpSp>
        <p:sp>
          <p:nvSpPr>
            <p:cNvPr id="50" name="Freeform 27"/>
            <p:cNvSpPr>
              <a:spLocks/>
            </p:cNvSpPr>
            <p:nvPr/>
          </p:nvSpPr>
          <p:spPr bwMode="auto">
            <a:xfrm>
              <a:off x="4930053" y="8305189"/>
              <a:ext cx="708161" cy="874322"/>
            </a:xfrm>
            <a:custGeom>
              <a:avLst/>
              <a:gdLst>
                <a:gd name="T0" fmla="*/ 0 w 556"/>
                <a:gd name="T1" fmla="*/ 160 h 642"/>
                <a:gd name="T2" fmla="*/ 278 w 556"/>
                <a:gd name="T3" fmla="*/ 0 h 642"/>
                <a:gd name="T4" fmla="*/ 556 w 556"/>
                <a:gd name="T5" fmla="*/ 160 h 642"/>
                <a:gd name="T6" fmla="*/ 556 w 556"/>
                <a:gd name="T7" fmla="*/ 480 h 642"/>
                <a:gd name="T8" fmla="*/ 278 w 556"/>
                <a:gd name="T9" fmla="*/ 642 h 642"/>
                <a:gd name="T10" fmla="*/ 0 w 556"/>
                <a:gd name="T11" fmla="*/ 480 h 642"/>
                <a:gd name="T12" fmla="*/ 0 w 556"/>
                <a:gd name="T13" fmla="*/ 16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6" h="642">
                  <a:moveTo>
                    <a:pt x="0" y="160"/>
                  </a:moveTo>
                  <a:lnTo>
                    <a:pt x="278" y="0"/>
                  </a:lnTo>
                  <a:lnTo>
                    <a:pt x="556" y="160"/>
                  </a:lnTo>
                  <a:lnTo>
                    <a:pt x="556" y="480"/>
                  </a:lnTo>
                  <a:lnTo>
                    <a:pt x="278" y="642"/>
                  </a:lnTo>
                  <a:lnTo>
                    <a:pt x="0" y="48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b="1" spc="-100" dirty="0">
                  <a:ln>
                    <a:solidFill>
                      <a:srgbClr val="91B1D7">
                        <a:alpha val="0"/>
                      </a:srgb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교전</a:t>
              </a:r>
            </a:p>
          </p:txBody>
        </p:sp>
        <p:grpSp>
          <p:nvGrpSpPr>
            <p:cNvPr id="51" name="그룹 50"/>
            <p:cNvGrpSpPr/>
            <p:nvPr/>
          </p:nvGrpSpPr>
          <p:grpSpPr>
            <a:xfrm>
              <a:off x="5776500" y="7142472"/>
              <a:ext cx="249322" cy="2340679"/>
              <a:chOff x="3395243" y="7291536"/>
              <a:chExt cx="260360" cy="2041317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395243" y="7291536"/>
                <a:ext cx="260360" cy="2041317"/>
              </a:xfrm>
              <a:prstGeom prst="rect">
                <a:avLst/>
              </a:prstGeom>
              <a:solidFill>
                <a:srgbClr val="11A0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2" tIns="45713" rIns="91422" bIns="45713" anchor="ctr"/>
              <a:lstStyle/>
              <a:p>
                <a:pPr algn="ctr"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400" b="1" spc="-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 bwMode="auto">
              <a:xfrm>
                <a:off x="3441666" y="7467670"/>
                <a:ext cx="160701" cy="1726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square" lIns="0" tIns="0" rIns="0" bIns="0" rtlCol="0">
                <a:sp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000" b="1" spc="-100" dirty="0">
                    <a:ln>
                      <a:solidFill>
                        <a:srgbClr val="91B1D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  후  분  석  자  </a:t>
                </a:r>
                <a:r>
                  <a:rPr kumimoji="1" lang="ko-KR" altLang="en-US" sz="1000" b="1" spc="-100" dirty="0" err="1">
                    <a:ln>
                      <a:solidFill>
                        <a:srgbClr val="91B1D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료</a:t>
                </a:r>
                <a:r>
                  <a:rPr kumimoji="1" lang="ko-KR" altLang="en-US" sz="1000" b="1" spc="-100" dirty="0">
                    <a:ln>
                      <a:solidFill>
                        <a:srgbClr val="91B1D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   생  성  기</a:t>
                </a:r>
              </a:p>
            </p:txBody>
          </p:sp>
        </p:grpSp>
        <p:cxnSp>
          <p:nvCxnSpPr>
            <p:cNvPr id="52" name="직선 연결선 51"/>
            <p:cNvCxnSpPr/>
            <p:nvPr/>
          </p:nvCxnSpPr>
          <p:spPr>
            <a:xfrm>
              <a:off x="3775722" y="9353699"/>
              <a:ext cx="151701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5292737" y="9170682"/>
              <a:ext cx="0" cy="17118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그룹 88"/>
          <p:cNvGrpSpPr/>
          <p:nvPr/>
        </p:nvGrpSpPr>
        <p:grpSpPr>
          <a:xfrm>
            <a:off x="761851" y="3269124"/>
            <a:ext cx="6330269" cy="169302"/>
            <a:chOff x="761696" y="5435378"/>
            <a:chExt cx="6328976" cy="169277"/>
          </a:xfrm>
        </p:grpSpPr>
        <p:sp>
          <p:nvSpPr>
            <p:cNvPr id="90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C4ISR</a:t>
              </a: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분석모델을 운용하는 분석업무 개념</a:t>
              </a:r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92" name="타원 91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93" name="Picture 132" descr="ㅇ"/>
              <p:cNvPicPr>
                <a:picLocks noChangeAspect="1" noChangeArrowheads="1"/>
              </p:cNvPicPr>
              <p:nvPr/>
            </p:nvPicPr>
            <p:blipFill>
              <a:blip r:embed="rId4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105" name="그룹 104"/>
          <p:cNvGrpSpPr/>
          <p:nvPr/>
        </p:nvGrpSpPr>
        <p:grpSpPr>
          <a:xfrm>
            <a:off x="748623" y="2485799"/>
            <a:ext cx="6352126" cy="592587"/>
            <a:chOff x="739443" y="2694289"/>
            <a:chExt cx="6350829" cy="592501"/>
          </a:xfrm>
        </p:grpSpPr>
        <p:grpSp>
          <p:nvGrpSpPr>
            <p:cNvPr id="106" name="그룹 105"/>
            <p:cNvGrpSpPr/>
            <p:nvPr/>
          </p:nvGrpSpPr>
          <p:grpSpPr>
            <a:xfrm>
              <a:off x="739443" y="2694289"/>
              <a:ext cx="6350829" cy="592501"/>
              <a:chOff x="9427" y="3283689"/>
              <a:chExt cx="7057102" cy="592501"/>
            </a:xfrm>
          </p:grpSpPr>
          <p:sp>
            <p:nvSpPr>
              <p:cNvPr id="108" name="한쪽 모서리가 잘린 사각형 107"/>
              <p:cNvSpPr/>
              <p:nvPr/>
            </p:nvSpPr>
            <p:spPr bwMode="auto">
              <a:xfrm flipV="1">
                <a:off x="1268423" y="3283689"/>
                <a:ext cx="5761993" cy="591319"/>
              </a:xfrm>
              <a:prstGeom prst="snip1Rect">
                <a:avLst>
                  <a:gd name="adj" fmla="val 0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grpSp>
            <p:nvGrpSpPr>
              <p:cNvPr id="109" name="그룹 108"/>
              <p:cNvGrpSpPr/>
              <p:nvPr/>
            </p:nvGrpSpPr>
            <p:grpSpPr>
              <a:xfrm>
                <a:off x="509377" y="3493141"/>
                <a:ext cx="919328" cy="358934"/>
                <a:chOff x="3633586" y="1875938"/>
                <a:chExt cx="919328" cy="358934"/>
              </a:xfrm>
            </p:grpSpPr>
            <p:sp>
              <p:nvSpPr>
                <p:cNvPr id="114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633586" y="2019428"/>
                  <a:ext cx="919328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defTabSz="914031" eaLnBrk="1" latinLnBrk="0" hangingPunct="1">
                    <a:spcAft>
                      <a:spcPct val="0"/>
                    </a:spcAft>
                  </a:pPr>
                  <a:r>
                    <a:rPr lang="en-US" altLang="ko-KR" sz="1400" b="1" spc="-150" dirty="0">
                      <a:ln w="0"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1A0DD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Message</a:t>
                  </a:r>
                </a:p>
              </p:txBody>
            </p:sp>
            <p:sp>
              <p:nvSpPr>
                <p:cNvPr id="115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651479" y="1875938"/>
                  <a:ext cx="478673" cy="169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defTabSz="914031" eaLnBrk="1" latinLnBrk="0" hangingPunct="1">
                    <a:spcAft>
                      <a:spcPct val="0"/>
                    </a:spcAft>
                  </a:pPr>
                  <a:r>
                    <a:rPr lang="en-US" altLang="ko-KR" sz="1100" b="1" spc="-150" dirty="0">
                      <a:ln w="0"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1A0DD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Key</a:t>
                  </a:r>
                </a:p>
              </p:txBody>
            </p:sp>
          </p:grpSp>
          <p:cxnSp>
            <p:nvCxnSpPr>
              <p:cNvPr id="110" name="직선 연결선 109"/>
              <p:cNvCxnSpPr/>
              <p:nvPr/>
            </p:nvCxnSpPr>
            <p:spPr>
              <a:xfrm>
                <a:off x="9427" y="3870193"/>
                <a:ext cx="1225484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Text Box 5"/>
              <p:cNvSpPr txBox="1">
                <a:spLocks noChangeArrowheads="1"/>
              </p:cNvSpPr>
              <p:nvPr/>
            </p:nvSpPr>
            <p:spPr bwMode="auto">
              <a:xfrm>
                <a:off x="1483749" y="3475676"/>
                <a:ext cx="5157885" cy="169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분석단계별 사용자 지원</a:t>
                </a:r>
              </a:p>
            </p:txBody>
          </p:sp>
          <p:sp>
            <p:nvSpPr>
              <p:cNvPr id="112" name="직각 삼각형 111"/>
              <p:cNvSpPr/>
              <p:nvPr/>
            </p:nvSpPr>
            <p:spPr bwMode="auto">
              <a:xfrm rot="10800000" flipV="1">
                <a:off x="6704974" y="3479085"/>
                <a:ext cx="361555" cy="397105"/>
              </a:xfrm>
              <a:prstGeom prst="rtTriangl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cxnSp>
            <p:nvCxnSpPr>
              <p:cNvPr id="113" name="직선 연결선 112"/>
              <p:cNvCxnSpPr/>
              <p:nvPr/>
            </p:nvCxnSpPr>
            <p:spPr>
              <a:xfrm>
                <a:off x="9427" y="3286864"/>
                <a:ext cx="1225485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7" name="그림 10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0533" y="2727456"/>
              <a:ext cx="431054" cy="429077"/>
            </a:xfrm>
            <a:prstGeom prst="rect">
              <a:avLst/>
            </a:prstGeom>
          </p:spPr>
        </p:pic>
      </p:grpSp>
      <p:sp>
        <p:nvSpPr>
          <p:cNvPr id="116" name="Rectangle 3"/>
          <p:cNvSpPr txBox="1">
            <a:spLocks noChangeArrowheads="1"/>
          </p:cNvSpPr>
          <p:nvPr/>
        </p:nvSpPr>
        <p:spPr bwMode="auto">
          <a:xfrm>
            <a:off x="720873" y="1820224"/>
            <a:ext cx="6337006" cy="21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91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27138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5125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300"/>
              </a:spcBef>
            </a:pP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 분석전문가에 의한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 운영 절차가 진행되는 동안 각 단계 요구에 맞추어 분석준비 단계에서는 모델의 기능을 고려한 시나리오 모의 방안 및 기초자료 구축방안을 제시하고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분석실시간 발생되는 각종 장애를 조치하며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결과를 효과적으로 분석할 수 있도록 지원하겠습니다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731835" y="8810526"/>
            <a:ext cx="6326055" cy="1420813"/>
            <a:chOff x="731835" y="9021322"/>
            <a:chExt cx="6326055" cy="1257741"/>
          </a:xfrm>
        </p:grpSpPr>
        <p:sp>
          <p:nvSpPr>
            <p:cNvPr id="100" name="대각선 방향의 모서리가 잘린 사각형 99"/>
            <p:cNvSpPr/>
            <p:nvPr/>
          </p:nvSpPr>
          <p:spPr>
            <a:xfrm>
              <a:off x="731835" y="9119616"/>
              <a:ext cx="6326055" cy="1159447"/>
            </a:xfrm>
            <a:prstGeom prst="snip2DiagRect">
              <a:avLst>
                <a:gd name="adj1" fmla="val 0"/>
                <a:gd name="adj2" fmla="val 2504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아래쪽 화살표 100"/>
            <p:cNvSpPr/>
            <p:nvPr/>
          </p:nvSpPr>
          <p:spPr>
            <a:xfrm>
              <a:off x="2555322" y="9021322"/>
              <a:ext cx="2679080" cy="584250"/>
            </a:xfrm>
            <a:prstGeom prst="downArrow">
              <a:avLst>
                <a:gd name="adj1" fmla="val 68488"/>
                <a:gd name="adj2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2" name="직사각형 101"/>
          <p:cNvSpPr/>
          <p:nvPr/>
        </p:nvSpPr>
        <p:spPr>
          <a:xfrm>
            <a:off x="2745480" y="9503723"/>
            <a:ext cx="2286203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b="1" spc="-10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단계별 적시 지원으로</a:t>
            </a:r>
            <a:endParaRPr lang="en-US" altLang="ko-KR" sz="1400" b="1" spc="-10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400" b="1" spc="-10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효과적인 분석업무 수행 지원</a:t>
            </a:r>
          </a:p>
        </p:txBody>
      </p:sp>
      <p:pic>
        <p:nvPicPr>
          <p:cNvPr id="103" name="그림 102" descr="그림2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135295" y="9599900"/>
            <a:ext cx="732230" cy="71529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DF270C1E-9C8D-490F-84D7-962145945160}"/>
              </a:ext>
            </a:extLst>
          </p:cNvPr>
          <p:cNvSpPr txBox="1"/>
          <p:nvPr/>
        </p:nvSpPr>
        <p:spPr>
          <a:xfrm>
            <a:off x="4427280" y="1011951"/>
            <a:ext cx="2664840" cy="225935"/>
          </a:xfrm>
          <a:prstGeom prst="rect">
            <a:avLst/>
          </a:prstGeom>
          <a:noFill/>
        </p:spPr>
        <p:txBody>
          <a:bodyPr wrap="square" lIns="101829" tIns="50915" rIns="101829" bIns="50915" rtlCol="0" anchor="t">
            <a:spAutoFit/>
          </a:bodyPr>
          <a:lstStyle/>
          <a:p>
            <a:pPr algn="r" defTabSz="913663" fontAlgn="base" latinLnBrk="0">
              <a:spcBef>
                <a:spcPts val="200"/>
              </a:spcBef>
              <a:spcAft>
                <a:spcPct val="0"/>
              </a:spcAft>
            </a:pPr>
            <a:r>
              <a:rPr kumimoji="1" lang="en-US" altLang="ko-KR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3.5 </a:t>
            </a:r>
            <a:r>
              <a:rPr kumimoji="1" lang="ko-KR" altLang="en-US" sz="800" spc="-50" dirty="0" err="1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분석지원</a:t>
            </a:r>
            <a:r>
              <a:rPr kumimoji="1" lang="ko-KR" altLang="en-US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방안</a:t>
            </a:r>
          </a:p>
        </p:txBody>
      </p:sp>
    </p:spTree>
    <p:extLst>
      <p:ext uri="{BB962C8B-B14F-4D97-AF65-F5344CB8AC3E}">
        <p14:creationId xmlns:p14="http://schemas.microsoft.com/office/powerpoint/2010/main" val="411222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761851" y="3582442"/>
            <a:ext cx="6330269" cy="169302"/>
            <a:chOff x="761696" y="5435378"/>
            <a:chExt cx="6328976" cy="169277"/>
          </a:xfrm>
        </p:grpSpPr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분석업무 수행 절차</a:t>
              </a: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13" name="타원 12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14" name="Picture 132" descr="ㅇ"/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3" name="그룹 22"/>
          <p:cNvGrpSpPr/>
          <p:nvPr/>
        </p:nvGrpSpPr>
        <p:grpSpPr>
          <a:xfrm>
            <a:off x="1507123" y="3946543"/>
            <a:ext cx="1668701" cy="1251353"/>
            <a:chOff x="2731909" y="2690407"/>
            <a:chExt cx="3030716" cy="1908079"/>
          </a:xfrm>
        </p:grpSpPr>
        <p:sp>
          <p:nvSpPr>
            <p:cNvPr id="24" name="Oval 525"/>
            <p:cNvSpPr>
              <a:spLocks noChangeArrowheads="1"/>
            </p:cNvSpPr>
            <p:nvPr/>
          </p:nvSpPr>
          <p:spPr bwMode="auto">
            <a:xfrm>
              <a:off x="2731909" y="2690407"/>
              <a:ext cx="3030716" cy="305171"/>
            </a:xfrm>
            <a:prstGeom prst="round2Same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54000" anchor="ctr"/>
            <a:lstStyle/>
            <a:p>
              <a:pPr algn="ctr" defTabSz="913663" fontAlgn="base" latinLnBrk="0">
                <a:spcAft>
                  <a:spcPct val="0"/>
                </a:spcAft>
              </a:pPr>
              <a:r>
                <a:rPr kumimoji="1" lang="ko-KR" altLang="en-US" sz="10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분석내용 및 범위 설정</a:t>
              </a:r>
            </a:p>
          </p:txBody>
        </p:sp>
        <p:sp>
          <p:nvSpPr>
            <p:cNvPr id="25" name="Oval 525"/>
            <p:cNvSpPr>
              <a:spLocks noChangeArrowheads="1"/>
            </p:cNvSpPr>
            <p:nvPr/>
          </p:nvSpPr>
          <p:spPr bwMode="auto">
            <a:xfrm>
              <a:off x="2731909" y="2987819"/>
              <a:ext cx="3030716" cy="1610667"/>
            </a:xfrm>
            <a:prstGeom prst="snip1Rect">
              <a:avLst>
                <a:gd name="adj" fmla="val 0"/>
              </a:avLst>
            </a:prstGeom>
            <a:solidFill>
              <a:srgbClr val="EAEAEA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4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6" name="Oval 525"/>
            <p:cNvSpPr>
              <a:spLocks noChangeArrowheads="1"/>
            </p:cNvSpPr>
            <p:nvPr/>
          </p:nvSpPr>
          <p:spPr bwMode="auto">
            <a:xfrm>
              <a:off x="2954936" y="3281377"/>
              <a:ext cx="2584660" cy="357126"/>
            </a:xfrm>
            <a:prstGeom prst="trapezoid">
              <a:avLst>
                <a:gd name="adj" fmla="val 4923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4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543892" y="4621840"/>
            <a:ext cx="1563202" cy="559103"/>
          </a:xfrm>
          <a:prstGeom prst="rect">
            <a:avLst/>
          </a:prstGeom>
          <a:noFill/>
        </p:spPr>
        <p:txBody>
          <a:bodyPr wrap="square" lIns="91413" tIns="45708" rIns="91413" bIns="45708" rtlCol="0">
            <a:spAutoFit/>
          </a:bodyPr>
          <a:lstStyle/>
          <a:p>
            <a:pPr marL="68249" indent="-68249" defTabSz="652332" latinLnBrk="0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 목표 확인</a:t>
            </a:r>
            <a:endParaRPr kumimoji="1" lang="en-US" altLang="ko-KR" sz="900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8249" indent="-68249" defTabSz="652332" latinLnBrk="0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분석범위 설정</a:t>
            </a:r>
            <a:endParaRPr kumimoji="1" lang="en-US" altLang="ko-KR" sz="900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8249" indent="-68249" defTabSz="652332" latinLnBrk="0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 방법</a:t>
            </a:r>
          </a:p>
        </p:txBody>
      </p:sp>
      <p:grpSp>
        <p:nvGrpSpPr>
          <p:cNvPr id="28" name="그룹 27"/>
          <p:cNvGrpSpPr/>
          <p:nvPr/>
        </p:nvGrpSpPr>
        <p:grpSpPr>
          <a:xfrm>
            <a:off x="3372975" y="3946543"/>
            <a:ext cx="1668701" cy="1251353"/>
            <a:chOff x="2731909" y="2690407"/>
            <a:chExt cx="3030716" cy="1908079"/>
          </a:xfrm>
        </p:grpSpPr>
        <p:sp>
          <p:nvSpPr>
            <p:cNvPr id="29" name="Oval 525"/>
            <p:cNvSpPr>
              <a:spLocks noChangeArrowheads="1"/>
            </p:cNvSpPr>
            <p:nvPr/>
          </p:nvSpPr>
          <p:spPr bwMode="auto">
            <a:xfrm>
              <a:off x="2731909" y="2690407"/>
              <a:ext cx="3030716" cy="305171"/>
            </a:xfrm>
            <a:prstGeom prst="round2Same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54000" anchor="ctr"/>
            <a:lstStyle/>
            <a:p>
              <a:pPr algn="ctr" defTabSz="913663" fontAlgn="base" latinLnBrk="0">
                <a:spcAft>
                  <a:spcPct val="0"/>
                </a:spcAft>
              </a:pPr>
              <a:r>
                <a:rPr kumimoji="1" lang="ko-KR" altLang="en-US" sz="10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자료수집</a:t>
              </a:r>
            </a:p>
          </p:txBody>
        </p:sp>
        <p:sp>
          <p:nvSpPr>
            <p:cNvPr id="30" name="Oval 525"/>
            <p:cNvSpPr>
              <a:spLocks noChangeArrowheads="1"/>
            </p:cNvSpPr>
            <p:nvPr/>
          </p:nvSpPr>
          <p:spPr bwMode="auto">
            <a:xfrm>
              <a:off x="2731909" y="2987819"/>
              <a:ext cx="3030716" cy="1610667"/>
            </a:xfrm>
            <a:prstGeom prst="snip1Rect">
              <a:avLst>
                <a:gd name="adj" fmla="val 0"/>
              </a:avLst>
            </a:prstGeom>
            <a:solidFill>
              <a:srgbClr val="EAEAEA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4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1" name="Oval 525"/>
            <p:cNvSpPr>
              <a:spLocks noChangeArrowheads="1"/>
            </p:cNvSpPr>
            <p:nvPr/>
          </p:nvSpPr>
          <p:spPr bwMode="auto">
            <a:xfrm>
              <a:off x="2954936" y="3281377"/>
              <a:ext cx="2584660" cy="357126"/>
            </a:xfrm>
            <a:prstGeom prst="trapezoid">
              <a:avLst>
                <a:gd name="adj" fmla="val 4923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4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409743" y="4638794"/>
            <a:ext cx="1548446" cy="559103"/>
          </a:xfrm>
          <a:prstGeom prst="rect">
            <a:avLst/>
          </a:prstGeom>
          <a:noFill/>
        </p:spPr>
        <p:txBody>
          <a:bodyPr wrap="none" lIns="91413" tIns="45708" rIns="91413" bIns="45708" rtlCol="0">
            <a:spAutoFit/>
          </a:bodyPr>
          <a:lstStyle/>
          <a:p>
            <a:pPr marL="68249" indent="-68249" defTabSz="652332" latinLnBrk="0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 err="1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파라미터</a:t>
            </a: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및 무기체계 제원</a:t>
            </a:r>
            <a:endParaRPr kumimoji="1" lang="en-US" altLang="ko-KR" sz="900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8249" indent="-68249" defTabSz="652332" latinLnBrk="0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부대편제 및 지휘관계</a:t>
            </a:r>
            <a:endParaRPr kumimoji="1" lang="en-US" altLang="ko-KR" sz="900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8249" indent="-68249" defTabSz="652332" latinLnBrk="0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작전계획</a:t>
            </a:r>
          </a:p>
        </p:txBody>
      </p:sp>
      <p:pic>
        <p:nvPicPr>
          <p:cNvPr id="33" name="Picture 16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4897" y="4146583"/>
            <a:ext cx="53181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" name="Picture 15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flipH="1">
            <a:off x="2012910" y="4144256"/>
            <a:ext cx="547854" cy="487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5" name="그룹 34"/>
          <p:cNvGrpSpPr/>
          <p:nvPr/>
        </p:nvGrpSpPr>
        <p:grpSpPr>
          <a:xfrm>
            <a:off x="5238827" y="3946542"/>
            <a:ext cx="1668701" cy="1380055"/>
            <a:chOff x="1692337" y="4141259"/>
            <a:chExt cx="1668701" cy="1678800"/>
          </a:xfrm>
        </p:grpSpPr>
        <p:grpSp>
          <p:nvGrpSpPr>
            <p:cNvPr id="36" name="그룹 35"/>
            <p:cNvGrpSpPr/>
            <p:nvPr/>
          </p:nvGrpSpPr>
          <p:grpSpPr>
            <a:xfrm>
              <a:off x="1692337" y="4141259"/>
              <a:ext cx="1668701" cy="1522237"/>
              <a:chOff x="2731909" y="2690407"/>
              <a:chExt cx="3030716" cy="1908079"/>
            </a:xfrm>
          </p:grpSpPr>
          <p:sp>
            <p:nvSpPr>
              <p:cNvPr id="38" name="Oval 525"/>
              <p:cNvSpPr>
                <a:spLocks noChangeArrowheads="1"/>
              </p:cNvSpPr>
              <p:nvPr/>
            </p:nvSpPr>
            <p:spPr bwMode="auto">
              <a:xfrm>
                <a:off x="2731909" y="2690407"/>
                <a:ext cx="3030716" cy="305171"/>
              </a:xfrm>
              <a:prstGeom prst="round2SameRect">
                <a:avLst/>
              </a:prstGeom>
              <a:solidFill>
                <a:srgbClr val="D1EE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2" tIns="45713" rIns="91422" bIns="54000" anchor="ctr"/>
              <a:lstStyle/>
              <a:p>
                <a:pPr algn="ctr" defTabSz="913663" fontAlgn="base" latinLnBrk="0">
                  <a:spcAft>
                    <a:spcPct val="0"/>
                  </a:spcAft>
                </a:pPr>
                <a:r>
                  <a:rPr kumimoji="1" lang="ko-KR" altLang="en-US" sz="10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기초자료 및 시나리오 작성</a:t>
                </a:r>
              </a:p>
            </p:txBody>
          </p:sp>
          <p:sp>
            <p:nvSpPr>
              <p:cNvPr id="39" name="Oval 525"/>
              <p:cNvSpPr>
                <a:spLocks noChangeArrowheads="1"/>
              </p:cNvSpPr>
              <p:nvPr/>
            </p:nvSpPr>
            <p:spPr bwMode="auto">
              <a:xfrm>
                <a:off x="2731909" y="2987819"/>
                <a:ext cx="3030716" cy="1610667"/>
              </a:xfrm>
              <a:prstGeom prst="snip1Rect">
                <a:avLst>
                  <a:gd name="adj" fmla="val 0"/>
                </a:avLst>
              </a:prstGeom>
              <a:solidFill>
                <a:srgbClr val="EAEAEA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ko-KR" sz="1400" b="1" spc="-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40" name="Oval 525"/>
              <p:cNvSpPr>
                <a:spLocks noChangeArrowheads="1"/>
              </p:cNvSpPr>
              <p:nvPr/>
            </p:nvSpPr>
            <p:spPr bwMode="auto">
              <a:xfrm>
                <a:off x="2954936" y="3281377"/>
                <a:ext cx="2584660" cy="357126"/>
              </a:xfrm>
              <a:prstGeom prst="trapezoid">
                <a:avLst>
                  <a:gd name="adj" fmla="val 4923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ko-KR" sz="1400" b="1" spc="-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1729105" y="4940244"/>
              <a:ext cx="1080369" cy="879815"/>
            </a:xfrm>
            <a:prstGeom prst="rect">
              <a:avLst/>
            </a:prstGeom>
            <a:noFill/>
          </p:spPr>
          <p:txBody>
            <a:bodyPr wrap="none" lIns="91413" tIns="45708" rIns="91413" bIns="45708" rtlCol="0">
              <a:spAutoFit/>
            </a:bodyPr>
            <a:lstStyle/>
            <a:p>
              <a:pPr marL="68249" indent="-68249" defTabSz="652332" latinLnBrk="0">
                <a:spcBef>
                  <a:spcPts val="2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80000"/>
                <a:buFontTx/>
                <a:buChar char="•"/>
              </a:pPr>
              <a:r>
                <a:rPr kumimoji="1" lang="ko-KR" altLang="en-US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기초</a:t>
              </a:r>
              <a:r>
                <a:rPr kumimoji="1" lang="en-US" altLang="ko-KR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DB </a:t>
              </a:r>
              <a:r>
                <a:rPr kumimoji="1" lang="ko-KR" altLang="en-US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작성</a:t>
              </a:r>
              <a:endParaRPr kumimoji="1" lang="en-US" altLang="ko-KR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marL="68249" indent="-68249" defTabSz="652332" latinLnBrk="0">
                <a:spcBef>
                  <a:spcPts val="2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80000"/>
                <a:buFontTx/>
                <a:buChar char="•"/>
              </a:pPr>
              <a:r>
                <a:rPr kumimoji="1" lang="ko-KR" altLang="en-US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지형 </a:t>
              </a:r>
              <a:r>
                <a:rPr kumimoji="1" lang="en-US" altLang="ko-KR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/ </a:t>
              </a:r>
              <a:r>
                <a:rPr kumimoji="1" lang="ko-KR" altLang="en-US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기상 선택</a:t>
              </a:r>
              <a:endParaRPr kumimoji="1" lang="en-US" altLang="ko-KR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marL="68249" indent="-68249" defTabSz="652332" latinLnBrk="0">
                <a:spcBef>
                  <a:spcPts val="2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80000"/>
                <a:buFontTx/>
                <a:buChar char="•"/>
              </a:pPr>
              <a:r>
                <a:rPr kumimoji="1" lang="ko-KR" altLang="en-US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부대생성</a:t>
              </a:r>
              <a:r>
                <a:rPr kumimoji="1" lang="en-US" altLang="ko-KR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kumimoji="1" lang="ko-KR" altLang="en-US" sz="900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및 배치</a:t>
              </a:r>
              <a:endParaRPr kumimoji="1" lang="en-US" altLang="ko-KR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marL="68249" indent="-68249" defTabSz="652332" latinLnBrk="0">
                <a:spcBef>
                  <a:spcPts val="2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80000"/>
                <a:buFontTx/>
                <a:buChar char="•"/>
              </a:pPr>
              <a:endPara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pic>
        <p:nvPicPr>
          <p:cNvPr id="41" name="Picture 13" descr="\\Samba\문서디자인\수영\12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flipH="1">
            <a:off x="5754528" y="4161384"/>
            <a:ext cx="5429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2" name="그룹 41"/>
          <p:cNvGrpSpPr/>
          <p:nvPr/>
        </p:nvGrpSpPr>
        <p:grpSpPr>
          <a:xfrm>
            <a:off x="2298875" y="6444135"/>
            <a:ext cx="1668701" cy="856052"/>
            <a:chOff x="2731909" y="2690407"/>
            <a:chExt cx="3030716" cy="1732559"/>
          </a:xfrm>
        </p:grpSpPr>
        <p:sp>
          <p:nvSpPr>
            <p:cNvPr id="43" name="Oval 525"/>
            <p:cNvSpPr>
              <a:spLocks noChangeArrowheads="1"/>
            </p:cNvSpPr>
            <p:nvPr/>
          </p:nvSpPr>
          <p:spPr bwMode="auto">
            <a:xfrm>
              <a:off x="2731909" y="2690407"/>
              <a:ext cx="3030716" cy="305171"/>
            </a:xfrm>
            <a:prstGeom prst="round2Same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54000" anchor="ctr"/>
            <a:lstStyle/>
            <a:p>
              <a:pPr algn="ctr" defTabSz="913663" fontAlgn="base" latinLnBrk="0">
                <a:spcAft>
                  <a:spcPct val="0"/>
                </a:spcAft>
              </a:pPr>
              <a:r>
                <a:rPr kumimoji="1" lang="ko-KR" altLang="en-US" sz="10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협조 및 조정</a:t>
              </a:r>
            </a:p>
          </p:txBody>
        </p:sp>
        <p:sp>
          <p:nvSpPr>
            <p:cNvPr id="44" name="Oval 525"/>
            <p:cNvSpPr>
              <a:spLocks noChangeArrowheads="1"/>
            </p:cNvSpPr>
            <p:nvPr/>
          </p:nvSpPr>
          <p:spPr bwMode="auto">
            <a:xfrm>
              <a:off x="2731909" y="2987819"/>
              <a:ext cx="3030716" cy="1435147"/>
            </a:xfrm>
            <a:prstGeom prst="snip1Rect">
              <a:avLst>
                <a:gd name="adj" fmla="val 0"/>
              </a:avLst>
            </a:prstGeom>
            <a:solidFill>
              <a:srgbClr val="EAEAEA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4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45" name="Oval 525"/>
            <p:cNvSpPr>
              <a:spLocks noChangeArrowheads="1"/>
            </p:cNvSpPr>
            <p:nvPr/>
          </p:nvSpPr>
          <p:spPr bwMode="auto">
            <a:xfrm>
              <a:off x="2954936" y="3281376"/>
              <a:ext cx="2584660" cy="357126"/>
            </a:xfrm>
            <a:prstGeom prst="trapezoid">
              <a:avLst>
                <a:gd name="adj" fmla="val 4923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4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335643" y="6891173"/>
            <a:ext cx="1580506" cy="394956"/>
          </a:xfrm>
          <a:prstGeom prst="rect">
            <a:avLst/>
          </a:prstGeom>
          <a:noFill/>
        </p:spPr>
        <p:txBody>
          <a:bodyPr wrap="none" lIns="91413" tIns="45708" rIns="91413" bIns="45708" rtlCol="0">
            <a:spAutoFit/>
          </a:bodyPr>
          <a:lstStyle/>
          <a:p>
            <a:pPr marL="68249" indent="-68249" defTabSz="652332" latinLnBrk="0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모의논리 적합성 검토</a:t>
            </a:r>
          </a:p>
          <a:p>
            <a:pPr marL="68249" indent="-68249" defTabSz="652332" latinLnBrk="0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기초자료 및 시나리오 확인 </a:t>
            </a:r>
          </a:p>
        </p:txBody>
      </p:sp>
      <p:pic>
        <p:nvPicPr>
          <p:cNvPr id="51" name="Picture 15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32378" y="6465530"/>
            <a:ext cx="683318" cy="6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3" name="그룹 52"/>
          <p:cNvGrpSpPr/>
          <p:nvPr/>
        </p:nvGrpSpPr>
        <p:grpSpPr>
          <a:xfrm>
            <a:off x="4433738" y="6444135"/>
            <a:ext cx="1668701" cy="856052"/>
            <a:chOff x="2731909" y="2690407"/>
            <a:chExt cx="3030716" cy="1732559"/>
          </a:xfrm>
        </p:grpSpPr>
        <p:sp>
          <p:nvSpPr>
            <p:cNvPr id="57" name="Oval 525"/>
            <p:cNvSpPr>
              <a:spLocks noChangeArrowheads="1"/>
            </p:cNvSpPr>
            <p:nvPr/>
          </p:nvSpPr>
          <p:spPr bwMode="auto">
            <a:xfrm>
              <a:off x="2731909" y="2690407"/>
              <a:ext cx="3030716" cy="305171"/>
            </a:xfrm>
            <a:prstGeom prst="round2SameRect">
              <a:avLst/>
            </a:prstGeom>
            <a:solidFill>
              <a:srgbClr val="D1EE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54000" anchor="ctr"/>
            <a:lstStyle/>
            <a:p>
              <a:pPr algn="ctr" defTabSz="913663" fontAlgn="base" latinLnBrk="0">
                <a:spcAft>
                  <a:spcPct val="0"/>
                </a:spcAft>
              </a:pPr>
              <a:r>
                <a:rPr kumimoji="1" lang="ko-KR" altLang="en-US" sz="10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분석자료검토</a:t>
              </a:r>
            </a:p>
          </p:txBody>
        </p:sp>
        <p:sp>
          <p:nvSpPr>
            <p:cNvPr id="58" name="Oval 525"/>
            <p:cNvSpPr>
              <a:spLocks noChangeArrowheads="1"/>
            </p:cNvSpPr>
            <p:nvPr/>
          </p:nvSpPr>
          <p:spPr bwMode="auto">
            <a:xfrm>
              <a:off x="2731909" y="2987819"/>
              <a:ext cx="3030716" cy="1435147"/>
            </a:xfrm>
            <a:prstGeom prst="snip1Rect">
              <a:avLst>
                <a:gd name="adj" fmla="val 0"/>
              </a:avLst>
            </a:prstGeom>
            <a:solidFill>
              <a:srgbClr val="EAEAEA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defTabSz="91449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 altLang="ko-KR" sz="14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cxnSp>
        <p:nvCxnSpPr>
          <p:cNvPr id="61" name="꺾인 연결선 60"/>
          <p:cNvCxnSpPr>
            <a:stCxn id="25" idx="1"/>
            <a:endCxn id="130" idx="3"/>
          </p:cNvCxnSpPr>
          <p:nvPr/>
        </p:nvCxnSpPr>
        <p:spPr>
          <a:xfrm rot="16200000" flipH="1">
            <a:off x="3146902" y="4392468"/>
            <a:ext cx="253847" cy="1864702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30" idx="1"/>
            <a:endCxn id="130" idx="3"/>
          </p:cNvCxnSpPr>
          <p:nvPr/>
        </p:nvCxnSpPr>
        <p:spPr>
          <a:xfrm rot="5400000">
            <a:off x="4079828" y="5324244"/>
            <a:ext cx="253847" cy="1150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62"/>
          <p:cNvCxnSpPr>
            <a:stCxn id="39" idx="1"/>
            <a:endCxn id="130" idx="3"/>
          </p:cNvCxnSpPr>
          <p:nvPr/>
        </p:nvCxnSpPr>
        <p:spPr>
          <a:xfrm rot="5400000">
            <a:off x="5012754" y="4391318"/>
            <a:ext cx="253847" cy="1867002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58" idx="2"/>
            <a:endCxn id="44" idx="0"/>
          </p:cNvCxnSpPr>
          <p:nvPr/>
        </p:nvCxnSpPr>
        <p:spPr>
          <a:xfrm flipH="1">
            <a:off x="3967576" y="6945636"/>
            <a:ext cx="4661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44" idx="2"/>
            <a:endCxn id="131" idx="2"/>
          </p:cNvCxnSpPr>
          <p:nvPr/>
        </p:nvCxnSpPr>
        <p:spPr>
          <a:xfrm rot="10800000" flipH="1">
            <a:off x="2298875" y="5985424"/>
            <a:ext cx="1072950" cy="960212"/>
          </a:xfrm>
          <a:prstGeom prst="bentConnector3">
            <a:avLst>
              <a:gd name="adj1" fmla="val -21306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131" idx="0"/>
            <a:endCxn id="58" idx="0"/>
          </p:cNvCxnSpPr>
          <p:nvPr/>
        </p:nvCxnSpPr>
        <p:spPr>
          <a:xfrm>
            <a:off x="5040526" y="5985424"/>
            <a:ext cx="1061913" cy="960212"/>
          </a:xfrm>
          <a:prstGeom prst="bentConnector3">
            <a:avLst>
              <a:gd name="adj1" fmla="val 12152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/>
          <p:cNvGrpSpPr/>
          <p:nvPr/>
        </p:nvGrpSpPr>
        <p:grpSpPr>
          <a:xfrm>
            <a:off x="5620673" y="6749283"/>
            <a:ext cx="429123" cy="460644"/>
            <a:chOff x="19442113" y="2130425"/>
            <a:chExt cx="606425" cy="631825"/>
          </a:xfrm>
          <a:solidFill>
            <a:schemeClr val="bg1"/>
          </a:solidFill>
        </p:grpSpPr>
        <p:sp>
          <p:nvSpPr>
            <p:cNvPr id="68" name="Freeform 303"/>
            <p:cNvSpPr>
              <a:spLocks noEditPoints="1"/>
            </p:cNvSpPr>
            <p:nvPr/>
          </p:nvSpPr>
          <p:spPr bwMode="auto">
            <a:xfrm>
              <a:off x="19543713" y="2327275"/>
              <a:ext cx="444500" cy="374650"/>
            </a:xfrm>
            <a:custGeom>
              <a:avLst/>
              <a:gdLst>
                <a:gd name="T0" fmla="*/ 70 w 280"/>
                <a:gd name="T1" fmla="*/ 152 h 236"/>
                <a:gd name="T2" fmla="*/ 70 w 280"/>
                <a:gd name="T3" fmla="*/ 152 h 236"/>
                <a:gd name="T4" fmla="*/ 70 w 280"/>
                <a:gd name="T5" fmla="*/ 152 h 236"/>
                <a:gd name="T6" fmla="*/ 44 w 280"/>
                <a:gd name="T7" fmla="*/ 230 h 236"/>
                <a:gd name="T8" fmla="*/ 44 w 280"/>
                <a:gd name="T9" fmla="*/ 230 h 236"/>
                <a:gd name="T10" fmla="*/ 44 w 280"/>
                <a:gd name="T11" fmla="*/ 232 h 236"/>
                <a:gd name="T12" fmla="*/ 46 w 280"/>
                <a:gd name="T13" fmla="*/ 234 h 236"/>
                <a:gd name="T14" fmla="*/ 46 w 280"/>
                <a:gd name="T15" fmla="*/ 234 h 236"/>
                <a:gd name="T16" fmla="*/ 48 w 280"/>
                <a:gd name="T17" fmla="*/ 236 h 236"/>
                <a:gd name="T18" fmla="*/ 52 w 280"/>
                <a:gd name="T19" fmla="*/ 236 h 236"/>
                <a:gd name="T20" fmla="*/ 128 w 280"/>
                <a:gd name="T21" fmla="*/ 212 h 236"/>
                <a:gd name="T22" fmla="*/ 128 w 280"/>
                <a:gd name="T23" fmla="*/ 212 h 236"/>
                <a:gd name="T24" fmla="*/ 130 w 280"/>
                <a:gd name="T25" fmla="*/ 212 h 236"/>
                <a:gd name="T26" fmla="*/ 130 w 280"/>
                <a:gd name="T27" fmla="*/ 212 h 236"/>
                <a:gd name="T28" fmla="*/ 132 w 280"/>
                <a:gd name="T29" fmla="*/ 210 h 236"/>
                <a:gd name="T30" fmla="*/ 134 w 280"/>
                <a:gd name="T31" fmla="*/ 208 h 236"/>
                <a:gd name="T32" fmla="*/ 280 w 280"/>
                <a:gd name="T33" fmla="*/ 62 h 236"/>
                <a:gd name="T34" fmla="*/ 220 w 280"/>
                <a:gd name="T35" fmla="*/ 0 h 236"/>
                <a:gd name="T36" fmla="*/ 114 w 280"/>
                <a:gd name="T37" fmla="*/ 106 h 236"/>
                <a:gd name="T38" fmla="*/ 8 w 280"/>
                <a:gd name="T39" fmla="*/ 106 h 236"/>
                <a:gd name="T40" fmla="*/ 8 w 280"/>
                <a:gd name="T41" fmla="*/ 106 h 236"/>
                <a:gd name="T42" fmla="*/ 4 w 280"/>
                <a:gd name="T43" fmla="*/ 106 h 236"/>
                <a:gd name="T44" fmla="*/ 2 w 280"/>
                <a:gd name="T45" fmla="*/ 108 h 236"/>
                <a:gd name="T46" fmla="*/ 0 w 280"/>
                <a:gd name="T47" fmla="*/ 114 h 236"/>
                <a:gd name="T48" fmla="*/ 0 w 280"/>
                <a:gd name="T49" fmla="*/ 114 h 236"/>
                <a:gd name="T50" fmla="*/ 2 w 280"/>
                <a:gd name="T51" fmla="*/ 120 h 236"/>
                <a:gd name="T52" fmla="*/ 4 w 280"/>
                <a:gd name="T53" fmla="*/ 122 h 236"/>
                <a:gd name="T54" fmla="*/ 8 w 280"/>
                <a:gd name="T55" fmla="*/ 122 h 236"/>
                <a:gd name="T56" fmla="*/ 100 w 280"/>
                <a:gd name="T57" fmla="*/ 122 h 236"/>
                <a:gd name="T58" fmla="*/ 72 w 280"/>
                <a:gd name="T59" fmla="*/ 148 h 236"/>
                <a:gd name="T60" fmla="*/ 72 w 280"/>
                <a:gd name="T61" fmla="*/ 148 h 236"/>
                <a:gd name="T62" fmla="*/ 72 w 280"/>
                <a:gd name="T63" fmla="*/ 150 h 236"/>
                <a:gd name="T64" fmla="*/ 70 w 280"/>
                <a:gd name="T65" fmla="*/ 152 h 236"/>
                <a:gd name="T66" fmla="*/ 70 w 280"/>
                <a:gd name="T67" fmla="*/ 152 h 236"/>
                <a:gd name="T68" fmla="*/ 94 w 280"/>
                <a:gd name="T69" fmla="*/ 138 h 236"/>
                <a:gd name="T70" fmla="*/ 208 w 280"/>
                <a:gd name="T71" fmla="*/ 24 h 236"/>
                <a:gd name="T72" fmla="*/ 208 w 280"/>
                <a:gd name="T73" fmla="*/ 24 h 236"/>
                <a:gd name="T74" fmla="*/ 212 w 280"/>
                <a:gd name="T75" fmla="*/ 24 h 236"/>
                <a:gd name="T76" fmla="*/ 216 w 280"/>
                <a:gd name="T77" fmla="*/ 24 h 236"/>
                <a:gd name="T78" fmla="*/ 216 w 280"/>
                <a:gd name="T79" fmla="*/ 24 h 236"/>
                <a:gd name="T80" fmla="*/ 218 w 280"/>
                <a:gd name="T81" fmla="*/ 28 h 236"/>
                <a:gd name="T82" fmla="*/ 216 w 280"/>
                <a:gd name="T83" fmla="*/ 32 h 236"/>
                <a:gd name="T84" fmla="*/ 102 w 280"/>
                <a:gd name="T85" fmla="*/ 146 h 236"/>
                <a:gd name="T86" fmla="*/ 102 w 280"/>
                <a:gd name="T87" fmla="*/ 146 h 236"/>
                <a:gd name="T88" fmla="*/ 98 w 280"/>
                <a:gd name="T89" fmla="*/ 148 h 236"/>
                <a:gd name="T90" fmla="*/ 94 w 280"/>
                <a:gd name="T91" fmla="*/ 146 h 236"/>
                <a:gd name="T92" fmla="*/ 94 w 280"/>
                <a:gd name="T93" fmla="*/ 146 h 236"/>
                <a:gd name="T94" fmla="*/ 94 w 280"/>
                <a:gd name="T95" fmla="*/ 142 h 236"/>
                <a:gd name="T96" fmla="*/ 94 w 280"/>
                <a:gd name="T97" fmla="*/ 138 h 236"/>
                <a:gd name="T98" fmla="*/ 94 w 280"/>
                <a:gd name="T99" fmla="*/ 138 h 236"/>
                <a:gd name="T100" fmla="*/ 116 w 280"/>
                <a:gd name="T101" fmla="*/ 204 h 236"/>
                <a:gd name="T102" fmla="*/ 84 w 280"/>
                <a:gd name="T103" fmla="*/ 214 h 236"/>
                <a:gd name="T104" fmla="*/ 68 w 280"/>
                <a:gd name="T105" fmla="*/ 198 h 236"/>
                <a:gd name="T106" fmla="*/ 78 w 280"/>
                <a:gd name="T107" fmla="*/ 166 h 236"/>
                <a:gd name="T108" fmla="*/ 116 w 280"/>
                <a:gd name="T109" fmla="*/ 20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80" h="236">
                  <a:moveTo>
                    <a:pt x="70" y="152"/>
                  </a:moveTo>
                  <a:lnTo>
                    <a:pt x="70" y="152"/>
                  </a:lnTo>
                  <a:lnTo>
                    <a:pt x="70" y="152"/>
                  </a:lnTo>
                  <a:lnTo>
                    <a:pt x="44" y="230"/>
                  </a:lnTo>
                  <a:lnTo>
                    <a:pt x="44" y="230"/>
                  </a:lnTo>
                  <a:lnTo>
                    <a:pt x="44" y="232"/>
                  </a:lnTo>
                  <a:lnTo>
                    <a:pt x="46" y="234"/>
                  </a:lnTo>
                  <a:lnTo>
                    <a:pt x="46" y="234"/>
                  </a:lnTo>
                  <a:lnTo>
                    <a:pt x="48" y="236"/>
                  </a:lnTo>
                  <a:lnTo>
                    <a:pt x="52" y="236"/>
                  </a:lnTo>
                  <a:lnTo>
                    <a:pt x="128" y="212"/>
                  </a:lnTo>
                  <a:lnTo>
                    <a:pt x="128" y="212"/>
                  </a:lnTo>
                  <a:lnTo>
                    <a:pt x="130" y="212"/>
                  </a:lnTo>
                  <a:lnTo>
                    <a:pt x="130" y="212"/>
                  </a:lnTo>
                  <a:lnTo>
                    <a:pt x="132" y="210"/>
                  </a:lnTo>
                  <a:lnTo>
                    <a:pt x="134" y="208"/>
                  </a:lnTo>
                  <a:lnTo>
                    <a:pt x="280" y="62"/>
                  </a:lnTo>
                  <a:lnTo>
                    <a:pt x="220" y="0"/>
                  </a:lnTo>
                  <a:lnTo>
                    <a:pt x="114" y="106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4" y="106"/>
                  </a:lnTo>
                  <a:lnTo>
                    <a:pt x="2" y="108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2" y="120"/>
                  </a:lnTo>
                  <a:lnTo>
                    <a:pt x="4" y="122"/>
                  </a:lnTo>
                  <a:lnTo>
                    <a:pt x="8" y="122"/>
                  </a:lnTo>
                  <a:lnTo>
                    <a:pt x="100" y="122"/>
                  </a:lnTo>
                  <a:lnTo>
                    <a:pt x="72" y="148"/>
                  </a:lnTo>
                  <a:lnTo>
                    <a:pt x="72" y="148"/>
                  </a:lnTo>
                  <a:lnTo>
                    <a:pt x="72" y="150"/>
                  </a:lnTo>
                  <a:lnTo>
                    <a:pt x="70" y="152"/>
                  </a:lnTo>
                  <a:lnTo>
                    <a:pt x="70" y="152"/>
                  </a:lnTo>
                  <a:close/>
                  <a:moveTo>
                    <a:pt x="94" y="138"/>
                  </a:moveTo>
                  <a:lnTo>
                    <a:pt x="208" y="24"/>
                  </a:lnTo>
                  <a:lnTo>
                    <a:pt x="208" y="24"/>
                  </a:lnTo>
                  <a:lnTo>
                    <a:pt x="212" y="24"/>
                  </a:lnTo>
                  <a:lnTo>
                    <a:pt x="216" y="24"/>
                  </a:lnTo>
                  <a:lnTo>
                    <a:pt x="216" y="24"/>
                  </a:lnTo>
                  <a:lnTo>
                    <a:pt x="218" y="28"/>
                  </a:lnTo>
                  <a:lnTo>
                    <a:pt x="216" y="32"/>
                  </a:lnTo>
                  <a:lnTo>
                    <a:pt x="102" y="146"/>
                  </a:lnTo>
                  <a:lnTo>
                    <a:pt x="102" y="146"/>
                  </a:lnTo>
                  <a:lnTo>
                    <a:pt x="98" y="148"/>
                  </a:lnTo>
                  <a:lnTo>
                    <a:pt x="94" y="146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4" y="138"/>
                  </a:lnTo>
                  <a:lnTo>
                    <a:pt x="94" y="138"/>
                  </a:lnTo>
                  <a:close/>
                  <a:moveTo>
                    <a:pt x="116" y="204"/>
                  </a:moveTo>
                  <a:lnTo>
                    <a:pt x="84" y="214"/>
                  </a:lnTo>
                  <a:lnTo>
                    <a:pt x="68" y="198"/>
                  </a:lnTo>
                  <a:lnTo>
                    <a:pt x="78" y="166"/>
                  </a:lnTo>
                  <a:lnTo>
                    <a:pt x="11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Freeform 304"/>
            <p:cNvSpPr>
              <a:spLocks/>
            </p:cNvSpPr>
            <p:nvPr/>
          </p:nvSpPr>
          <p:spPr bwMode="auto">
            <a:xfrm>
              <a:off x="19908838" y="2266950"/>
              <a:ext cx="139700" cy="142875"/>
            </a:xfrm>
            <a:custGeom>
              <a:avLst/>
              <a:gdLst>
                <a:gd name="T0" fmla="*/ 60 w 88"/>
                <a:gd name="T1" fmla="*/ 90 h 90"/>
                <a:gd name="T2" fmla="*/ 82 w 88"/>
                <a:gd name="T3" fmla="*/ 68 h 90"/>
                <a:gd name="T4" fmla="*/ 82 w 88"/>
                <a:gd name="T5" fmla="*/ 68 h 90"/>
                <a:gd name="T6" fmla="*/ 86 w 88"/>
                <a:gd name="T7" fmla="*/ 62 h 90"/>
                <a:gd name="T8" fmla="*/ 88 w 88"/>
                <a:gd name="T9" fmla="*/ 56 h 90"/>
                <a:gd name="T10" fmla="*/ 88 w 88"/>
                <a:gd name="T11" fmla="*/ 50 h 90"/>
                <a:gd name="T12" fmla="*/ 84 w 88"/>
                <a:gd name="T13" fmla="*/ 44 h 90"/>
                <a:gd name="T14" fmla="*/ 44 w 88"/>
                <a:gd name="T15" fmla="*/ 4 h 90"/>
                <a:gd name="T16" fmla="*/ 44 w 88"/>
                <a:gd name="T17" fmla="*/ 4 h 90"/>
                <a:gd name="T18" fmla="*/ 40 w 88"/>
                <a:gd name="T19" fmla="*/ 0 h 90"/>
                <a:gd name="T20" fmla="*/ 34 w 88"/>
                <a:gd name="T21" fmla="*/ 0 h 90"/>
                <a:gd name="T22" fmla="*/ 28 w 88"/>
                <a:gd name="T23" fmla="*/ 2 h 90"/>
                <a:gd name="T24" fmla="*/ 22 w 88"/>
                <a:gd name="T25" fmla="*/ 6 h 90"/>
                <a:gd name="T26" fmla="*/ 0 w 88"/>
                <a:gd name="T27" fmla="*/ 28 h 90"/>
                <a:gd name="T28" fmla="*/ 60 w 88"/>
                <a:gd name="T2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90">
                  <a:moveTo>
                    <a:pt x="60" y="90"/>
                  </a:moveTo>
                  <a:lnTo>
                    <a:pt x="82" y="68"/>
                  </a:lnTo>
                  <a:lnTo>
                    <a:pt x="82" y="68"/>
                  </a:lnTo>
                  <a:lnTo>
                    <a:pt x="86" y="62"/>
                  </a:lnTo>
                  <a:lnTo>
                    <a:pt x="88" y="56"/>
                  </a:lnTo>
                  <a:lnTo>
                    <a:pt x="88" y="50"/>
                  </a:lnTo>
                  <a:lnTo>
                    <a:pt x="84" y="44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0" y="0"/>
                  </a:lnTo>
                  <a:lnTo>
                    <a:pt x="34" y="0"/>
                  </a:lnTo>
                  <a:lnTo>
                    <a:pt x="28" y="2"/>
                  </a:lnTo>
                  <a:lnTo>
                    <a:pt x="22" y="6"/>
                  </a:lnTo>
                  <a:lnTo>
                    <a:pt x="0" y="28"/>
                  </a:lnTo>
                  <a:lnTo>
                    <a:pt x="6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Freeform 305"/>
            <p:cNvSpPr>
              <a:spLocks/>
            </p:cNvSpPr>
            <p:nvPr/>
          </p:nvSpPr>
          <p:spPr bwMode="auto">
            <a:xfrm>
              <a:off x="19543713" y="2317750"/>
              <a:ext cx="250825" cy="12700"/>
            </a:xfrm>
            <a:custGeom>
              <a:avLst/>
              <a:gdLst>
                <a:gd name="T0" fmla="*/ 8 w 158"/>
                <a:gd name="T1" fmla="*/ 8 h 8"/>
                <a:gd name="T2" fmla="*/ 152 w 158"/>
                <a:gd name="T3" fmla="*/ 8 h 8"/>
                <a:gd name="T4" fmla="*/ 152 w 158"/>
                <a:gd name="T5" fmla="*/ 8 h 8"/>
                <a:gd name="T6" fmla="*/ 156 w 158"/>
                <a:gd name="T7" fmla="*/ 8 h 8"/>
                <a:gd name="T8" fmla="*/ 158 w 158"/>
                <a:gd name="T9" fmla="*/ 6 h 8"/>
                <a:gd name="T10" fmla="*/ 158 w 158"/>
                <a:gd name="T11" fmla="*/ 4 h 8"/>
                <a:gd name="T12" fmla="*/ 158 w 158"/>
                <a:gd name="T13" fmla="*/ 4 h 8"/>
                <a:gd name="T14" fmla="*/ 158 w 158"/>
                <a:gd name="T15" fmla="*/ 2 h 8"/>
                <a:gd name="T16" fmla="*/ 156 w 158"/>
                <a:gd name="T17" fmla="*/ 0 h 8"/>
                <a:gd name="T18" fmla="*/ 152 w 158"/>
                <a:gd name="T19" fmla="*/ 0 h 8"/>
                <a:gd name="T20" fmla="*/ 8 w 158"/>
                <a:gd name="T21" fmla="*/ 0 h 8"/>
                <a:gd name="T22" fmla="*/ 8 w 158"/>
                <a:gd name="T23" fmla="*/ 0 h 8"/>
                <a:gd name="T24" fmla="*/ 2 w 158"/>
                <a:gd name="T25" fmla="*/ 0 h 8"/>
                <a:gd name="T26" fmla="*/ 2 w 158"/>
                <a:gd name="T27" fmla="*/ 2 h 8"/>
                <a:gd name="T28" fmla="*/ 0 w 158"/>
                <a:gd name="T29" fmla="*/ 4 h 8"/>
                <a:gd name="T30" fmla="*/ 0 w 158"/>
                <a:gd name="T31" fmla="*/ 4 h 8"/>
                <a:gd name="T32" fmla="*/ 2 w 158"/>
                <a:gd name="T33" fmla="*/ 6 h 8"/>
                <a:gd name="T34" fmla="*/ 2 w 158"/>
                <a:gd name="T35" fmla="*/ 8 h 8"/>
                <a:gd name="T36" fmla="*/ 8 w 158"/>
                <a:gd name="T37" fmla="*/ 8 h 8"/>
                <a:gd name="T38" fmla="*/ 8 w 15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8" h="8">
                  <a:moveTo>
                    <a:pt x="8" y="8"/>
                  </a:moveTo>
                  <a:lnTo>
                    <a:pt x="152" y="8"/>
                  </a:lnTo>
                  <a:lnTo>
                    <a:pt x="152" y="8"/>
                  </a:lnTo>
                  <a:lnTo>
                    <a:pt x="156" y="8"/>
                  </a:lnTo>
                  <a:lnTo>
                    <a:pt x="158" y="6"/>
                  </a:lnTo>
                  <a:lnTo>
                    <a:pt x="158" y="4"/>
                  </a:lnTo>
                  <a:lnTo>
                    <a:pt x="158" y="4"/>
                  </a:lnTo>
                  <a:lnTo>
                    <a:pt x="158" y="2"/>
                  </a:lnTo>
                  <a:lnTo>
                    <a:pt x="156" y="0"/>
                  </a:lnTo>
                  <a:lnTo>
                    <a:pt x="152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8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Freeform 306"/>
            <p:cNvSpPr>
              <a:spLocks/>
            </p:cNvSpPr>
            <p:nvPr/>
          </p:nvSpPr>
          <p:spPr bwMode="auto">
            <a:xfrm>
              <a:off x="19543713" y="2393950"/>
              <a:ext cx="250825" cy="25400"/>
            </a:xfrm>
            <a:custGeom>
              <a:avLst/>
              <a:gdLst>
                <a:gd name="T0" fmla="*/ 8 w 158"/>
                <a:gd name="T1" fmla="*/ 16 h 16"/>
                <a:gd name="T2" fmla="*/ 152 w 158"/>
                <a:gd name="T3" fmla="*/ 16 h 16"/>
                <a:gd name="T4" fmla="*/ 152 w 158"/>
                <a:gd name="T5" fmla="*/ 16 h 16"/>
                <a:gd name="T6" fmla="*/ 154 w 158"/>
                <a:gd name="T7" fmla="*/ 16 h 16"/>
                <a:gd name="T8" fmla="*/ 156 w 158"/>
                <a:gd name="T9" fmla="*/ 14 h 16"/>
                <a:gd name="T10" fmla="*/ 158 w 158"/>
                <a:gd name="T11" fmla="*/ 8 h 16"/>
                <a:gd name="T12" fmla="*/ 158 w 158"/>
                <a:gd name="T13" fmla="*/ 8 h 16"/>
                <a:gd name="T14" fmla="*/ 156 w 158"/>
                <a:gd name="T15" fmla="*/ 2 h 16"/>
                <a:gd name="T16" fmla="*/ 154 w 158"/>
                <a:gd name="T17" fmla="*/ 0 h 16"/>
                <a:gd name="T18" fmla="*/ 152 w 158"/>
                <a:gd name="T19" fmla="*/ 0 h 16"/>
                <a:gd name="T20" fmla="*/ 8 w 158"/>
                <a:gd name="T21" fmla="*/ 0 h 16"/>
                <a:gd name="T22" fmla="*/ 8 w 158"/>
                <a:gd name="T23" fmla="*/ 0 h 16"/>
                <a:gd name="T24" fmla="*/ 4 w 158"/>
                <a:gd name="T25" fmla="*/ 0 h 16"/>
                <a:gd name="T26" fmla="*/ 2 w 158"/>
                <a:gd name="T27" fmla="*/ 2 h 16"/>
                <a:gd name="T28" fmla="*/ 0 w 158"/>
                <a:gd name="T29" fmla="*/ 8 h 16"/>
                <a:gd name="T30" fmla="*/ 0 w 158"/>
                <a:gd name="T31" fmla="*/ 8 h 16"/>
                <a:gd name="T32" fmla="*/ 2 w 158"/>
                <a:gd name="T33" fmla="*/ 14 h 16"/>
                <a:gd name="T34" fmla="*/ 4 w 158"/>
                <a:gd name="T35" fmla="*/ 16 h 16"/>
                <a:gd name="T36" fmla="*/ 8 w 158"/>
                <a:gd name="T37" fmla="*/ 16 h 16"/>
                <a:gd name="T38" fmla="*/ 8 w 158"/>
                <a:gd name="T3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8" h="16">
                  <a:moveTo>
                    <a:pt x="8" y="16"/>
                  </a:moveTo>
                  <a:lnTo>
                    <a:pt x="152" y="16"/>
                  </a:lnTo>
                  <a:lnTo>
                    <a:pt x="152" y="16"/>
                  </a:lnTo>
                  <a:lnTo>
                    <a:pt x="154" y="16"/>
                  </a:lnTo>
                  <a:lnTo>
                    <a:pt x="156" y="1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2"/>
                  </a:lnTo>
                  <a:lnTo>
                    <a:pt x="154" y="0"/>
                  </a:lnTo>
                  <a:lnTo>
                    <a:pt x="152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14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Freeform 307"/>
            <p:cNvSpPr>
              <a:spLocks/>
            </p:cNvSpPr>
            <p:nvPr/>
          </p:nvSpPr>
          <p:spPr bwMode="auto">
            <a:xfrm>
              <a:off x="19442113" y="2130425"/>
              <a:ext cx="469900" cy="631825"/>
            </a:xfrm>
            <a:custGeom>
              <a:avLst/>
              <a:gdLst>
                <a:gd name="T0" fmla="*/ 266 w 296"/>
                <a:gd name="T1" fmla="*/ 398 h 398"/>
                <a:gd name="T2" fmla="*/ 288 w 296"/>
                <a:gd name="T3" fmla="*/ 388 h 398"/>
                <a:gd name="T4" fmla="*/ 296 w 296"/>
                <a:gd name="T5" fmla="*/ 258 h 398"/>
                <a:gd name="T6" fmla="*/ 274 w 296"/>
                <a:gd name="T7" fmla="*/ 366 h 398"/>
                <a:gd name="T8" fmla="*/ 272 w 296"/>
                <a:gd name="T9" fmla="*/ 374 h 398"/>
                <a:gd name="T10" fmla="*/ 120 w 296"/>
                <a:gd name="T11" fmla="*/ 378 h 398"/>
                <a:gd name="T12" fmla="*/ 112 w 296"/>
                <a:gd name="T13" fmla="*/ 378 h 398"/>
                <a:gd name="T14" fmla="*/ 98 w 296"/>
                <a:gd name="T15" fmla="*/ 374 h 398"/>
                <a:gd name="T16" fmla="*/ 26 w 296"/>
                <a:gd name="T17" fmla="*/ 374 h 398"/>
                <a:gd name="T18" fmla="*/ 24 w 296"/>
                <a:gd name="T19" fmla="*/ 56 h 398"/>
                <a:gd name="T20" fmla="*/ 26 w 296"/>
                <a:gd name="T21" fmla="*/ 46 h 398"/>
                <a:gd name="T22" fmla="*/ 56 w 296"/>
                <a:gd name="T23" fmla="*/ 60 h 398"/>
                <a:gd name="T24" fmla="*/ 58 w 296"/>
                <a:gd name="T25" fmla="*/ 64 h 398"/>
                <a:gd name="T26" fmla="*/ 70 w 296"/>
                <a:gd name="T27" fmla="*/ 64 h 398"/>
                <a:gd name="T28" fmla="*/ 72 w 296"/>
                <a:gd name="T29" fmla="*/ 46 h 398"/>
                <a:gd name="T30" fmla="*/ 112 w 296"/>
                <a:gd name="T31" fmla="*/ 60 h 398"/>
                <a:gd name="T32" fmla="*/ 120 w 296"/>
                <a:gd name="T33" fmla="*/ 66 h 398"/>
                <a:gd name="T34" fmla="*/ 128 w 296"/>
                <a:gd name="T35" fmla="*/ 62 h 398"/>
                <a:gd name="T36" fmla="*/ 168 w 296"/>
                <a:gd name="T37" fmla="*/ 46 h 398"/>
                <a:gd name="T38" fmla="*/ 168 w 296"/>
                <a:gd name="T39" fmla="*/ 64 h 398"/>
                <a:gd name="T40" fmla="*/ 172 w 296"/>
                <a:gd name="T41" fmla="*/ 66 h 398"/>
                <a:gd name="T42" fmla="*/ 176 w 296"/>
                <a:gd name="T43" fmla="*/ 60 h 398"/>
                <a:gd name="T44" fmla="*/ 224 w 296"/>
                <a:gd name="T45" fmla="*/ 60 h 398"/>
                <a:gd name="T46" fmla="*/ 226 w 296"/>
                <a:gd name="T47" fmla="*/ 66 h 398"/>
                <a:gd name="T48" fmla="*/ 230 w 296"/>
                <a:gd name="T49" fmla="*/ 66 h 398"/>
                <a:gd name="T50" fmla="*/ 232 w 296"/>
                <a:gd name="T51" fmla="*/ 46 h 398"/>
                <a:gd name="T52" fmla="*/ 270 w 296"/>
                <a:gd name="T53" fmla="*/ 46 h 398"/>
                <a:gd name="T54" fmla="*/ 272 w 296"/>
                <a:gd name="T55" fmla="*/ 106 h 398"/>
                <a:gd name="T56" fmla="*/ 296 w 296"/>
                <a:gd name="T57" fmla="*/ 56 h 398"/>
                <a:gd name="T58" fmla="*/ 288 w 296"/>
                <a:gd name="T59" fmla="*/ 32 h 398"/>
                <a:gd name="T60" fmla="*/ 266 w 296"/>
                <a:gd name="T61" fmla="*/ 22 h 398"/>
                <a:gd name="T62" fmla="*/ 232 w 296"/>
                <a:gd name="T63" fmla="*/ 8 h 398"/>
                <a:gd name="T64" fmla="*/ 228 w 296"/>
                <a:gd name="T65" fmla="*/ 0 h 398"/>
                <a:gd name="T66" fmla="*/ 224 w 296"/>
                <a:gd name="T67" fmla="*/ 2 h 398"/>
                <a:gd name="T68" fmla="*/ 176 w 296"/>
                <a:gd name="T69" fmla="*/ 22 h 398"/>
                <a:gd name="T70" fmla="*/ 176 w 296"/>
                <a:gd name="T71" fmla="*/ 2 h 398"/>
                <a:gd name="T72" fmla="*/ 172 w 296"/>
                <a:gd name="T73" fmla="*/ 0 h 398"/>
                <a:gd name="T74" fmla="*/ 168 w 296"/>
                <a:gd name="T75" fmla="*/ 8 h 398"/>
                <a:gd name="T76" fmla="*/ 128 w 296"/>
                <a:gd name="T77" fmla="*/ 8 h 398"/>
                <a:gd name="T78" fmla="*/ 126 w 296"/>
                <a:gd name="T79" fmla="*/ 2 h 398"/>
                <a:gd name="T80" fmla="*/ 114 w 296"/>
                <a:gd name="T81" fmla="*/ 2 h 398"/>
                <a:gd name="T82" fmla="*/ 112 w 296"/>
                <a:gd name="T83" fmla="*/ 22 h 398"/>
                <a:gd name="T84" fmla="*/ 72 w 296"/>
                <a:gd name="T85" fmla="*/ 8 h 398"/>
                <a:gd name="T86" fmla="*/ 64 w 296"/>
                <a:gd name="T87" fmla="*/ 0 h 398"/>
                <a:gd name="T88" fmla="*/ 56 w 296"/>
                <a:gd name="T89" fmla="*/ 4 h 398"/>
                <a:gd name="T90" fmla="*/ 28 w 296"/>
                <a:gd name="T91" fmla="*/ 22 h 398"/>
                <a:gd name="T92" fmla="*/ 16 w 296"/>
                <a:gd name="T93" fmla="*/ 24 h 398"/>
                <a:gd name="T94" fmla="*/ 2 w 296"/>
                <a:gd name="T95" fmla="*/ 44 h 398"/>
                <a:gd name="T96" fmla="*/ 0 w 296"/>
                <a:gd name="T97" fmla="*/ 366 h 398"/>
                <a:gd name="T98" fmla="*/ 16 w 296"/>
                <a:gd name="T99" fmla="*/ 396 h 398"/>
                <a:gd name="T100" fmla="*/ 28 w 296"/>
                <a:gd name="T101" fmla="*/ 398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6" h="398">
                  <a:moveTo>
                    <a:pt x="28" y="398"/>
                  </a:moveTo>
                  <a:lnTo>
                    <a:pt x="266" y="398"/>
                  </a:lnTo>
                  <a:lnTo>
                    <a:pt x="266" y="398"/>
                  </a:lnTo>
                  <a:lnTo>
                    <a:pt x="272" y="398"/>
                  </a:lnTo>
                  <a:lnTo>
                    <a:pt x="278" y="396"/>
                  </a:lnTo>
                  <a:lnTo>
                    <a:pt x="288" y="388"/>
                  </a:lnTo>
                  <a:lnTo>
                    <a:pt x="294" y="378"/>
                  </a:lnTo>
                  <a:lnTo>
                    <a:pt x="296" y="366"/>
                  </a:lnTo>
                  <a:lnTo>
                    <a:pt x="296" y="258"/>
                  </a:lnTo>
                  <a:lnTo>
                    <a:pt x="272" y="280"/>
                  </a:lnTo>
                  <a:lnTo>
                    <a:pt x="272" y="366"/>
                  </a:lnTo>
                  <a:lnTo>
                    <a:pt x="274" y="366"/>
                  </a:lnTo>
                  <a:lnTo>
                    <a:pt x="274" y="366"/>
                  </a:lnTo>
                  <a:lnTo>
                    <a:pt x="274" y="370"/>
                  </a:lnTo>
                  <a:lnTo>
                    <a:pt x="272" y="374"/>
                  </a:lnTo>
                  <a:lnTo>
                    <a:pt x="266" y="374"/>
                  </a:lnTo>
                  <a:lnTo>
                    <a:pt x="132" y="374"/>
                  </a:lnTo>
                  <a:lnTo>
                    <a:pt x="120" y="378"/>
                  </a:lnTo>
                  <a:lnTo>
                    <a:pt x="120" y="378"/>
                  </a:lnTo>
                  <a:lnTo>
                    <a:pt x="112" y="378"/>
                  </a:lnTo>
                  <a:lnTo>
                    <a:pt x="112" y="378"/>
                  </a:lnTo>
                  <a:lnTo>
                    <a:pt x="108" y="378"/>
                  </a:lnTo>
                  <a:lnTo>
                    <a:pt x="104" y="376"/>
                  </a:lnTo>
                  <a:lnTo>
                    <a:pt x="98" y="374"/>
                  </a:lnTo>
                  <a:lnTo>
                    <a:pt x="28" y="374"/>
                  </a:lnTo>
                  <a:lnTo>
                    <a:pt x="28" y="374"/>
                  </a:lnTo>
                  <a:lnTo>
                    <a:pt x="26" y="374"/>
                  </a:lnTo>
                  <a:lnTo>
                    <a:pt x="24" y="372"/>
                  </a:lnTo>
                  <a:lnTo>
                    <a:pt x="24" y="366"/>
                  </a:lnTo>
                  <a:lnTo>
                    <a:pt x="24" y="56"/>
                  </a:lnTo>
                  <a:lnTo>
                    <a:pt x="24" y="56"/>
                  </a:lnTo>
                  <a:lnTo>
                    <a:pt x="24" y="50"/>
                  </a:lnTo>
                  <a:lnTo>
                    <a:pt x="26" y="46"/>
                  </a:lnTo>
                  <a:lnTo>
                    <a:pt x="28" y="46"/>
                  </a:lnTo>
                  <a:lnTo>
                    <a:pt x="56" y="46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6" y="62"/>
                  </a:lnTo>
                  <a:lnTo>
                    <a:pt x="58" y="64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0" y="64"/>
                  </a:lnTo>
                  <a:lnTo>
                    <a:pt x="72" y="62"/>
                  </a:lnTo>
                  <a:lnTo>
                    <a:pt x="72" y="60"/>
                  </a:lnTo>
                  <a:lnTo>
                    <a:pt x="72" y="46"/>
                  </a:lnTo>
                  <a:lnTo>
                    <a:pt x="112" y="46"/>
                  </a:lnTo>
                  <a:lnTo>
                    <a:pt x="112" y="60"/>
                  </a:lnTo>
                  <a:lnTo>
                    <a:pt x="112" y="60"/>
                  </a:lnTo>
                  <a:lnTo>
                    <a:pt x="112" y="62"/>
                  </a:lnTo>
                  <a:lnTo>
                    <a:pt x="114" y="64"/>
                  </a:lnTo>
                  <a:lnTo>
                    <a:pt x="120" y="66"/>
                  </a:lnTo>
                  <a:lnTo>
                    <a:pt x="120" y="66"/>
                  </a:lnTo>
                  <a:lnTo>
                    <a:pt x="126" y="64"/>
                  </a:lnTo>
                  <a:lnTo>
                    <a:pt x="128" y="62"/>
                  </a:lnTo>
                  <a:lnTo>
                    <a:pt x="128" y="60"/>
                  </a:lnTo>
                  <a:lnTo>
                    <a:pt x="128" y="46"/>
                  </a:lnTo>
                  <a:lnTo>
                    <a:pt x="168" y="46"/>
                  </a:lnTo>
                  <a:lnTo>
                    <a:pt x="168" y="60"/>
                  </a:lnTo>
                  <a:lnTo>
                    <a:pt x="168" y="60"/>
                  </a:lnTo>
                  <a:lnTo>
                    <a:pt x="168" y="64"/>
                  </a:lnTo>
                  <a:lnTo>
                    <a:pt x="170" y="66"/>
                  </a:lnTo>
                  <a:lnTo>
                    <a:pt x="172" y="66"/>
                  </a:lnTo>
                  <a:lnTo>
                    <a:pt x="172" y="66"/>
                  </a:lnTo>
                  <a:lnTo>
                    <a:pt x="174" y="66"/>
                  </a:lnTo>
                  <a:lnTo>
                    <a:pt x="176" y="64"/>
                  </a:lnTo>
                  <a:lnTo>
                    <a:pt x="176" y="60"/>
                  </a:lnTo>
                  <a:lnTo>
                    <a:pt x="176" y="46"/>
                  </a:lnTo>
                  <a:lnTo>
                    <a:pt x="224" y="46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6"/>
                  </a:lnTo>
                  <a:lnTo>
                    <a:pt x="228" y="66"/>
                  </a:lnTo>
                  <a:lnTo>
                    <a:pt x="228" y="66"/>
                  </a:lnTo>
                  <a:lnTo>
                    <a:pt x="230" y="66"/>
                  </a:lnTo>
                  <a:lnTo>
                    <a:pt x="232" y="64"/>
                  </a:lnTo>
                  <a:lnTo>
                    <a:pt x="232" y="60"/>
                  </a:lnTo>
                  <a:lnTo>
                    <a:pt x="232" y="46"/>
                  </a:lnTo>
                  <a:lnTo>
                    <a:pt x="266" y="46"/>
                  </a:lnTo>
                  <a:lnTo>
                    <a:pt x="266" y="46"/>
                  </a:lnTo>
                  <a:lnTo>
                    <a:pt x="270" y="46"/>
                  </a:lnTo>
                  <a:lnTo>
                    <a:pt x="270" y="50"/>
                  </a:lnTo>
                  <a:lnTo>
                    <a:pt x="272" y="56"/>
                  </a:lnTo>
                  <a:lnTo>
                    <a:pt x="272" y="106"/>
                  </a:lnTo>
                  <a:lnTo>
                    <a:pt x="280" y="98"/>
                  </a:lnTo>
                  <a:lnTo>
                    <a:pt x="296" y="84"/>
                  </a:lnTo>
                  <a:lnTo>
                    <a:pt x="296" y="56"/>
                  </a:lnTo>
                  <a:lnTo>
                    <a:pt x="296" y="56"/>
                  </a:lnTo>
                  <a:lnTo>
                    <a:pt x="294" y="44"/>
                  </a:lnTo>
                  <a:lnTo>
                    <a:pt x="288" y="32"/>
                  </a:lnTo>
                  <a:lnTo>
                    <a:pt x="278" y="24"/>
                  </a:lnTo>
                  <a:lnTo>
                    <a:pt x="272" y="22"/>
                  </a:lnTo>
                  <a:lnTo>
                    <a:pt x="266" y="22"/>
                  </a:lnTo>
                  <a:lnTo>
                    <a:pt x="232" y="22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32" y="2"/>
                  </a:lnTo>
                  <a:lnTo>
                    <a:pt x="230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6" y="0"/>
                  </a:lnTo>
                  <a:lnTo>
                    <a:pt x="224" y="2"/>
                  </a:lnTo>
                  <a:lnTo>
                    <a:pt x="224" y="8"/>
                  </a:lnTo>
                  <a:lnTo>
                    <a:pt x="224" y="22"/>
                  </a:lnTo>
                  <a:lnTo>
                    <a:pt x="176" y="22"/>
                  </a:lnTo>
                  <a:lnTo>
                    <a:pt x="176" y="8"/>
                  </a:lnTo>
                  <a:lnTo>
                    <a:pt x="176" y="8"/>
                  </a:lnTo>
                  <a:lnTo>
                    <a:pt x="176" y="2"/>
                  </a:lnTo>
                  <a:lnTo>
                    <a:pt x="174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70" y="0"/>
                  </a:lnTo>
                  <a:lnTo>
                    <a:pt x="168" y="2"/>
                  </a:lnTo>
                  <a:lnTo>
                    <a:pt x="168" y="8"/>
                  </a:lnTo>
                  <a:lnTo>
                    <a:pt x="168" y="22"/>
                  </a:lnTo>
                  <a:lnTo>
                    <a:pt x="128" y="22"/>
                  </a:lnTo>
                  <a:lnTo>
                    <a:pt x="128" y="8"/>
                  </a:lnTo>
                  <a:lnTo>
                    <a:pt x="128" y="8"/>
                  </a:lnTo>
                  <a:lnTo>
                    <a:pt x="128" y="4"/>
                  </a:lnTo>
                  <a:lnTo>
                    <a:pt x="126" y="2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14" y="2"/>
                  </a:lnTo>
                  <a:lnTo>
                    <a:pt x="112" y="4"/>
                  </a:lnTo>
                  <a:lnTo>
                    <a:pt x="112" y="8"/>
                  </a:lnTo>
                  <a:lnTo>
                    <a:pt x="112" y="22"/>
                  </a:lnTo>
                  <a:lnTo>
                    <a:pt x="72" y="22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2" y="4"/>
                  </a:lnTo>
                  <a:lnTo>
                    <a:pt x="70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8" y="2"/>
                  </a:lnTo>
                  <a:lnTo>
                    <a:pt x="56" y="4"/>
                  </a:lnTo>
                  <a:lnTo>
                    <a:pt x="56" y="8"/>
                  </a:lnTo>
                  <a:lnTo>
                    <a:pt x="56" y="22"/>
                  </a:lnTo>
                  <a:lnTo>
                    <a:pt x="28" y="22"/>
                  </a:lnTo>
                  <a:lnTo>
                    <a:pt x="28" y="22"/>
                  </a:lnTo>
                  <a:lnTo>
                    <a:pt x="22" y="22"/>
                  </a:lnTo>
                  <a:lnTo>
                    <a:pt x="16" y="24"/>
                  </a:lnTo>
                  <a:lnTo>
                    <a:pt x="12" y="28"/>
                  </a:lnTo>
                  <a:lnTo>
                    <a:pt x="8" y="32"/>
                  </a:lnTo>
                  <a:lnTo>
                    <a:pt x="2" y="44"/>
                  </a:lnTo>
                  <a:lnTo>
                    <a:pt x="0" y="56"/>
                  </a:lnTo>
                  <a:lnTo>
                    <a:pt x="0" y="366"/>
                  </a:lnTo>
                  <a:lnTo>
                    <a:pt x="0" y="366"/>
                  </a:lnTo>
                  <a:lnTo>
                    <a:pt x="2" y="378"/>
                  </a:lnTo>
                  <a:lnTo>
                    <a:pt x="8" y="388"/>
                  </a:lnTo>
                  <a:lnTo>
                    <a:pt x="16" y="396"/>
                  </a:lnTo>
                  <a:lnTo>
                    <a:pt x="22" y="398"/>
                  </a:lnTo>
                  <a:lnTo>
                    <a:pt x="28" y="398"/>
                  </a:lnTo>
                  <a:lnTo>
                    <a:pt x="28" y="3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73" name="직사각형 72"/>
          <p:cNvSpPr/>
          <p:nvPr/>
        </p:nvSpPr>
        <p:spPr>
          <a:xfrm>
            <a:off x="707873" y="3946544"/>
            <a:ext cx="543412" cy="1251353"/>
          </a:xfrm>
          <a:prstGeom prst="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582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4" name="이등변 삼각형 73"/>
          <p:cNvSpPr/>
          <p:nvPr/>
        </p:nvSpPr>
        <p:spPr>
          <a:xfrm rot="5400000">
            <a:off x="1222656" y="4090718"/>
            <a:ext cx="130718" cy="79883"/>
          </a:xfrm>
          <a:prstGeom prst="triangle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582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75" name="직선 연결선 74"/>
          <p:cNvCxnSpPr/>
          <p:nvPr/>
        </p:nvCxnSpPr>
        <p:spPr>
          <a:xfrm>
            <a:off x="1359568" y="3901753"/>
            <a:ext cx="5681312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707873" y="5275068"/>
            <a:ext cx="543412" cy="1110961"/>
          </a:xfrm>
          <a:prstGeom prst="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582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7" name="이등변 삼각형 76"/>
          <p:cNvSpPr/>
          <p:nvPr/>
        </p:nvSpPr>
        <p:spPr>
          <a:xfrm rot="5400000">
            <a:off x="1222656" y="5411802"/>
            <a:ext cx="130718" cy="79883"/>
          </a:xfrm>
          <a:prstGeom prst="triangle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582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707873" y="6444135"/>
            <a:ext cx="543412" cy="1058017"/>
          </a:xfrm>
          <a:prstGeom prst="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582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9" name="이등변 삼각형 78"/>
          <p:cNvSpPr/>
          <p:nvPr/>
        </p:nvSpPr>
        <p:spPr>
          <a:xfrm rot="5400000">
            <a:off x="1222656" y="6572449"/>
            <a:ext cx="130718" cy="79883"/>
          </a:xfrm>
          <a:prstGeom prst="triangle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582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43900" y="3971273"/>
            <a:ext cx="447504" cy="600140"/>
          </a:xfrm>
          <a:prstGeom prst="rect">
            <a:avLst/>
          </a:prstGeom>
          <a:noFill/>
        </p:spPr>
        <p:txBody>
          <a:bodyPr wrap="none" lIns="91413" tIns="45708" rIns="91413" bIns="45708" rtlCol="0">
            <a:spAutoFit/>
          </a:bodyPr>
          <a:lstStyle/>
          <a:p>
            <a:pPr algn="ctr" defTabSz="913663" fontAlgn="base" latinLnBrk="0">
              <a:spcAft>
                <a:spcPct val="0"/>
              </a:spcAft>
            </a:pPr>
            <a:r>
              <a:rPr kumimoji="1"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</a:t>
            </a:r>
            <a:endParaRPr kumimoji="1" lang="en-US" altLang="ko-KR" sz="1100" b="1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913663" fontAlgn="base" latinLnBrk="0">
              <a:spcAft>
                <a:spcPct val="0"/>
              </a:spcAft>
            </a:pPr>
            <a:r>
              <a:rPr kumimoji="1"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준비</a:t>
            </a:r>
            <a:endParaRPr kumimoji="1" lang="en-US" altLang="ko-KR" sz="1100" b="1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913663" fontAlgn="base" latinLnBrk="0">
              <a:spcAft>
                <a:spcPct val="0"/>
              </a:spcAft>
            </a:pPr>
            <a:r>
              <a:rPr kumimoji="1"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단계</a:t>
            </a:r>
            <a:endParaRPr kumimoji="1" lang="en-US" altLang="ko-KR" sz="1100" b="1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43899" y="5333750"/>
            <a:ext cx="447504" cy="600140"/>
          </a:xfrm>
          <a:prstGeom prst="rect">
            <a:avLst/>
          </a:prstGeom>
          <a:noFill/>
        </p:spPr>
        <p:txBody>
          <a:bodyPr wrap="none" lIns="91413" tIns="45708" rIns="91413" bIns="45708" rtlCol="0">
            <a:spAutoFit/>
          </a:bodyPr>
          <a:lstStyle/>
          <a:p>
            <a:pPr algn="ctr" defTabSz="913663" fontAlgn="base" latinLnBrk="0">
              <a:spcAft>
                <a:spcPct val="0"/>
              </a:spcAft>
            </a:pPr>
            <a:r>
              <a:rPr kumimoji="1"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</a:t>
            </a:r>
            <a:endParaRPr kumimoji="1" lang="en-US" altLang="ko-KR" sz="1100" b="1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913663" fontAlgn="base" latinLnBrk="0">
              <a:spcAft>
                <a:spcPct val="0"/>
              </a:spcAft>
            </a:pPr>
            <a:r>
              <a:rPr kumimoji="1"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실시</a:t>
            </a:r>
            <a:endParaRPr kumimoji="1" lang="en-US" altLang="ko-KR" sz="1100" b="1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913663" fontAlgn="base" latinLnBrk="0">
              <a:spcAft>
                <a:spcPct val="0"/>
              </a:spcAft>
            </a:pPr>
            <a:r>
              <a:rPr kumimoji="1"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단계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3899" y="6433961"/>
            <a:ext cx="447504" cy="600140"/>
          </a:xfrm>
          <a:prstGeom prst="rect">
            <a:avLst/>
          </a:prstGeom>
          <a:noFill/>
        </p:spPr>
        <p:txBody>
          <a:bodyPr wrap="none" lIns="91413" tIns="45708" rIns="91413" bIns="45708" rtlCol="0">
            <a:spAutoFit/>
          </a:bodyPr>
          <a:lstStyle/>
          <a:p>
            <a:pPr algn="ctr" defTabSz="913663" fontAlgn="base" latinLnBrk="0">
              <a:spcAft>
                <a:spcPct val="0"/>
              </a:spcAft>
            </a:pPr>
            <a:r>
              <a:rPr kumimoji="1"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사후</a:t>
            </a:r>
            <a:endParaRPr kumimoji="1" lang="en-US" altLang="ko-KR" sz="1100" b="1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913663" fontAlgn="base" latinLnBrk="0">
              <a:spcAft>
                <a:spcPct val="0"/>
              </a:spcAft>
            </a:pPr>
            <a:r>
              <a:rPr kumimoji="1"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</a:t>
            </a:r>
            <a:endParaRPr kumimoji="1" lang="en-US" altLang="ko-KR" sz="1100" b="1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 defTabSz="913663" fontAlgn="base" latinLnBrk="0">
              <a:spcAft>
                <a:spcPct val="0"/>
              </a:spcAft>
            </a:pPr>
            <a:r>
              <a:rPr kumimoji="1" lang="ko-KR" altLang="en-US" sz="1100" b="1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단계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2357" y="4770600"/>
            <a:ext cx="453916" cy="369308"/>
          </a:xfrm>
          <a:prstGeom prst="rect">
            <a:avLst/>
          </a:prstGeom>
          <a:noFill/>
        </p:spPr>
        <p:txBody>
          <a:bodyPr wrap="none" lIns="91413" tIns="45708" rIns="91413" bIns="45708" rtlCol="0">
            <a:spAutoFit/>
          </a:bodyPr>
          <a:lstStyle/>
          <a:p>
            <a:pPr algn="ctr" defTabSz="913663" fontAlgn="base" latinLnBrk="0">
              <a:spcAft>
                <a:spcPct val="0"/>
              </a:spcAft>
            </a:pPr>
            <a:r>
              <a:rPr kumimoji="1" lang="en-US" altLang="ko-KR" b="1" spc="-50" dirty="0">
                <a:ln w="3810">
                  <a:solidFill>
                    <a:prstClr val="white"/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356" y="5993418"/>
            <a:ext cx="453917" cy="369308"/>
          </a:xfrm>
          <a:prstGeom prst="rect">
            <a:avLst/>
          </a:prstGeom>
          <a:noFill/>
        </p:spPr>
        <p:txBody>
          <a:bodyPr wrap="none" lIns="91413" tIns="45708" rIns="91413" bIns="45708" rtlCol="0">
            <a:spAutoFit/>
          </a:bodyPr>
          <a:lstStyle/>
          <a:p>
            <a:pPr algn="ctr" defTabSz="913663" fontAlgn="base" latinLnBrk="0">
              <a:spcAft>
                <a:spcPct val="0"/>
              </a:spcAft>
            </a:pPr>
            <a:r>
              <a:rPr kumimoji="1" lang="en-US" altLang="ko-KR" b="1" spc="-50" dirty="0">
                <a:ln w="3810">
                  <a:solidFill>
                    <a:prstClr val="white"/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2356" y="7080929"/>
            <a:ext cx="453917" cy="369308"/>
          </a:xfrm>
          <a:prstGeom prst="rect">
            <a:avLst/>
          </a:prstGeom>
          <a:noFill/>
        </p:spPr>
        <p:txBody>
          <a:bodyPr wrap="none" lIns="91413" tIns="45708" rIns="91413" bIns="45708" rtlCol="0">
            <a:spAutoFit/>
          </a:bodyPr>
          <a:lstStyle/>
          <a:p>
            <a:pPr algn="ctr" defTabSz="913663" fontAlgn="base" latinLnBrk="0">
              <a:spcAft>
                <a:spcPct val="0"/>
              </a:spcAft>
            </a:pPr>
            <a:r>
              <a:rPr kumimoji="1" lang="en-US" altLang="ko-KR" b="1" spc="-50" dirty="0">
                <a:ln w="3810">
                  <a:solidFill>
                    <a:prstClr val="white"/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03</a:t>
            </a:r>
          </a:p>
        </p:txBody>
      </p:sp>
      <p:cxnSp>
        <p:nvCxnSpPr>
          <p:cNvPr id="118" name="직선 연결선 117"/>
          <p:cNvCxnSpPr/>
          <p:nvPr/>
        </p:nvCxnSpPr>
        <p:spPr>
          <a:xfrm>
            <a:off x="1359568" y="7502153"/>
            <a:ext cx="5681312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그룹 124"/>
          <p:cNvGrpSpPr/>
          <p:nvPr/>
        </p:nvGrpSpPr>
        <p:grpSpPr>
          <a:xfrm>
            <a:off x="3371825" y="5451743"/>
            <a:ext cx="1668701" cy="910982"/>
            <a:chOff x="4474936" y="6702828"/>
            <a:chExt cx="1668701" cy="1382210"/>
          </a:xfrm>
        </p:grpSpPr>
        <p:grpSp>
          <p:nvGrpSpPr>
            <p:cNvPr id="126" name="그룹 125"/>
            <p:cNvGrpSpPr/>
            <p:nvPr/>
          </p:nvGrpSpPr>
          <p:grpSpPr>
            <a:xfrm>
              <a:off x="4474936" y="6702828"/>
              <a:ext cx="1668701" cy="1382210"/>
              <a:chOff x="2731909" y="2690407"/>
              <a:chExt cx="3030716" cy="1732559"/>
            </a:xfrm>
          </p:grpSpPr>
          <p:sp>
            <p:nvSpPr>
              <p:cNvPr id="130" name="Oval 525"/>
              <p:cNvSpPr>
                <a:spLocks noChangeArrowheads="1"/>
              </p:cNvSpPr>
              <p:nvPr/>
            </p:nvSpPr>
            <p:spPr bwMode="auto">
              <a:xfrm>
                <a:off x="2731909" y="2690407"/>
                <a:ext cx="3030716" cy="305171"/>
              </a:xfrm>
              <a:prstGeom prst="round2SameRect">
                <a:avLst/>
              </a:prstGeom>
              <a:solidFill>
                <a:srgbClr val="D1EE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2" tIns="45713" rIns="91422" bIns="54000" anchor="ctr"/>
              <a:lstStyle/>
              <a:p>
                <a:pPr algn="ctr" defTabSz="913663" fontAlgn="base" latinLnBrk="0">
                  <a:spcAft>
                    <a:spcPct val="0"/>
                  </a:spcAft>
                </a:pPr>
                <a:r>
                  <a:rPr kumimoji="1" lang="ko-KR" altLang="en-US" sz="10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분석실시</a:t>
                </a:r>
              </a:p>
            </p:txBody>
          </p:sp>
          <p:sp>
            <p:nvSpPr>
              <p:cNvPr id="131" name="Oval 525"/>
              <p:cNvSpPr>
                <a:spLocks noChangeArrowheads="1"/>
              </p:cNvSpPr>
              <p:nvPr/>
            </p:nvSpPr>
            <p:spPr bwMode="auto">
              <a:xfrm>
                <a:off x="2731909" y="2987819"/>
                <a:ext cx="3030716" cy="1435147"/>
              </a:xfrm>
              <a:prstGeom prst="snip1Rect">
                <a:avLst>
                  <a:gd name="adj" fmla="val 0"/>
                </a:avLst>
              </a:prstGeom>
              <a:solidFill>
                <a:srgbClr val="EAEAEA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defTabSz="914491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ko-KR" sz="1400" b="1" spc="-50">
                  <a:solidFill>
                    <a:srgbClr val="000000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  <p:grpSp>
          <p:nvGrpSpPr>
            <p:cNvPr id="127" name="그룹 126"/>
            <p:cNvGrpSpPr/>
            <p:nvPr/>
          </p:nvGrpSpPr>
          <p:grpSpPr>
            <a:xfrm>
              <a:off x="4885355" y="7010409"/>
              <a:ext cx="839430" cy="986881"/>
              <a:chOff x="4799822" y="6625950"/>
              <a:chExt cx="839430" cy="986881"/>
            </a:xfrm>
          </p:grpSpPr>
          <p:pic>
            <p:nvPicPr>
              <p:cNvPr id="128" name="Picture 157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799822" y="6625950"/>
                <a:ext cx="746125" cy="9868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29" name="Picture 166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091770" y="6767724"/>
                <a:ext cx="547482" cy="751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</p:grpSp>
      <p:sp>
        <p:nvSpPr>
          <p:cNvPr id="50" name="TextBox 49"/>
          <p:cNvSpPr txBox="1"/>
          <p:nvPr/>
        </p:nvSpPr>
        <p:spPr>
          <a:xfrm>
            <a:off x="4547262" y="6629370"/>
            <a:ext cx="1213419" cy="584751"/>
          </a:xfrm>
          <a:prstGeom prst="rect">
            <a:avLst/>
          </a:prstGeom>
          <a:noFill/>
        </p:spPr>
        <p:txBody>
          <a:bodyPr wrap="none" lIns="91413" tIns="45708" rIns="91413" bIns="45708" rtlCol="0">
            <a:spAutoFit/>
          </a:bodyPr>
          <a:lstStyle/>
          <a:p>
            <a:pPr marL="68249" indent="-68249" defTabSz="652332" latinLnBrk="0">
              <a:spcBef>
                <a:spcPts val="3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en-US" altLang="ko-KR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ISR, </a:t>
            </a: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통신 척도 확인</a:t>
            </a:r>
            <a:endParaRPr kumimoji="1" lang="en-US" altLang="ko-KR" sz="900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8249" indent="-68249" defTabSz="652332" latinLnBrk="0">
              <a:spcBef>
                <a:spcPts val="3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전투력 비교</a:t>
            </a:r>
            <a:endParaRPr kumimoji="1" lang="en-US" altLang="ko-KR" sz="900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8249" indent="-68249" defTabSz="652332" latinLnBrk="0">
              <a:spcBef>
                <a:spcPts val="300"/>
              </a:spcBef>
              <a:buClr>
                <a:prstClr val="black">
                  <a:lumMod val="65000"/>
                  <a:lumOff val="35000"/>
                </a:prstClr>
              </a:buClr>
              <a:buSzPct val="80000"/>
              <a:buFontTx/>
              <a:buChar char="•"/>
            </a:pPr>
            <a:r>
              <a:rPr kumimoji="1" lang="ko-KR" altLang="en-US" sz="900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목표달성 여부</a:t>
            </a:r>
            <a:endParaRPr kumimoji="1" lang="en-US" altLang="ko-KR" sz="900" spc="-50" dirty="0">
              <a:ln w="0"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143" name="그룹 142"/>
          <p:cNvGrpSpPr/>
          <p:nvPr/>
        </p:nvGrpSpPr>
        <p:grpSpPr>
          <a:xfrm>
            <a:off x="761851" y="7733620"/>
            <a:ext cx="6330269" cy="169302"/>
            <a:chOff x="761696" y="5435378"/>
            <a:chExt cx="6328976" cy="169277"/>
          </a:xfrm>
        </p:grpSpPr>
        <p:sp>
          <p:nvSpPr>
            <p:cNvPr id="144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분석 단계별 지원사항</a:t>
              </a:r>
            </a:p>
          </p:txBody>
        </p:sp>
        <p:grpSp>
          <p:nvGrpSpPr>
            <p:cNvPr id="145" name="그룹 144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146" name="타원 145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147" name="Picture 132" descr="ㅇ"/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aphicFrame>
        <p:nvGraphicFramePr>
          <p:cNvPr id="148" name="표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85806"/>
              </p:ext>
            </p:extLst>
          </p:nvPr>
        </p:nvGraphicFramePr>
        <p:xfrm>
          <a:off x="720271" y="8042213"/>
          <a:ext cx="6328230" cy="2136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5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단 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지   원   사   항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분석준비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교육 및 교육자료 제공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모의기능 확인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기초자료 및 시나리오 작성 방법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분석실시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 질의사항 접수 및 처리사항기록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장애 조치</a:t>
                      </a: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사후분석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분석자료 해석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FAQ</a:t>
                      </a:r>
                      <a:r>
                        <a:rPr kumimoji="1" lang="en-US" altLang="ko-KR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kern="1200" spc="-50" baseline="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및 트러블슈팅 가이드 작성 및 배포</a:t>
                      </a: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7" name="Rectangle 2"/>
          <p:cNvSpPr txBox="1">
            <a:spLocks noChangeArrowheads="1"/>
          </p:cNvSpPr>
          <p:nvPr/>
        </p:nvSpPr>
        <p:spPr bwMode="auto">
          <a:xfrm>
            <a:off x="720873" y="135116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3.5.2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분석업무 지원 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요구사항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-005)</a:t>
            </a:r>
          </a:p>
        </p:txBody>
      </p:sp>
      <p:grpSp>
        <p:nvGrpSpPr>
          <p:cNvPr id="88" name="그룹 87"/>
          <p:cNvGrpSpPr/>
          <p:nvPr/>
        </p:nvGrpSpPr>
        <p:grpSpPr>
          <a:xfrm>
            <a:off x="748623" y="1789572"/>
            <a:ext cx="6352126" cy="1588565"/>
            <a:chOff x="739443" y="2694289"/>
            <a:chExt cx="6350829" cy="592501"/>
          </a:xfrm>
        </p:grpSpPr>
        <p:grpSp>
          <p:nvGrpSpPr>
            <p:cNvPr id="89" name="그룹 88"/>
            <p:cNvGrpSpPr/>
            <p:nvPr/>
          </p:nvGrpSpPr>
          <p:grpSpPr>
            <a:xfrm>
              <a:off x="739443" y="2694289"/>
              <a:ext cx="6350829" cy="592501"/>
              <a:chOff x="9427" y="3283689"/>
              <a:chExt cx="7057102" cy="592501"/>
            </a:xfrm>
          </p:grpSpPr>
          <p:sp>
            <p:nvSpPr>
              <p:cNvPr id="91" name="한쪽 모서리가 잘린 사각형 90"/>
              <p:cNvSpPr/>
              <p:nvPr/>
            </p:nvSpPr>
            <p:spPr bwMode="auto">
              <a:xfrm flipV="1">
                <a:off x="1268423" y="3283689"/>
                <a:ext cx="5761993" cy="591319"/>
              </a:xfrm>
              <a:prstGeom prst="snip1Rect">
                <a:avLst>
                  <a:gd name="adj" fmla="val 0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sp>
            <p:nvSpPr>
              <p:cNvPr id="92" name="Text Box 5"/>
              <p:cNvSpPr txBox="1">
                <a:spLocks noChangeArrowheads="1"/>
              </p:cNvSpPr>
              <p:nvPr/>
            </p:nvSpPr>
            <p:spPr bwMode="auto">
              <a:xfrm>
                <a:off x="509377" y="3727311"/>
                <a:ext cx="919328" cy="104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defTabSz="914031" eaLnBrk="1" latinLnBrk="0" hangingPunct="1">
                  <a:spcAft>
                    <a:spcPct val="0"/>
                  </a:spcAft>
                </a:pPr>
                <a:r>
                  <a:rPr lang="ko-KR" altLang="en-US" sz="1100" b="1" spc="-150" dirty="0">
                    <a:ln w="0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11A0DD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요구사항</a:t>
                </a:r>
                <a:endParaRPr lang="en-US" altLang="ko-KR" sz="11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cxnSp>
            <p:nvCxnSpPr>
              <p:cNvPr id="93" name="직선 연결선 92"/>
              <p:cNvCxnSpPr/>
              <p:nvPr/>
            </p:nvCxnSpPr>
            <p:spPr>
              <a:xfrm>
                <a:off x="9427" y="3870193"/>
                <a:ext cx="1225484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 Box 5"/>
              <p:cNvSpPr txBox="1">
                <a:spLocks noChangeArrowheads="1"/>
              </p:cNvSpPr>
              <p:nvPr/>
            </p:nvSpPr>
            <p:spPr bwMode="auto">
              <a:xfrm>
                <a:off x="1483749" y="3393970"/>
                <a:ext cx="5157885" cy="3730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분석업무 지원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(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모의논리 설명 및 데이터 구축 등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)</a:t>
                </a: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사용자 교육자료 작성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및 교육지원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사용자 질의사항 접수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처리사항기록 및 보고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자주 발생하는 질의사항에 대하여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 FAQ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정리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체계 사용방법에 대한 설명 지원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95" name="직각 삼각형 94"/>
              <p:cNvSpPr/>
              <p:nvPr/>
            </p:nvSpPr>
            <p:spPr bwMode="auto">
              <a:xfrm rot="10800000" flipV="1">
                <a:off x="6704974" y="3479085"/>
                <a:ext cx="361555" cy="397105"/>
              </a:xfrm>
              <a:prstGeom prst="rtTriangl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cxnSp>
            <p:nvCxnSpPr>
              <p:cNvPr id="96" name="직선 연결선 95"/>
              <p:cNvCxnSpPr/>
              <p:nvPr/>
            </p:nvCxnSpPr>
            <p:spPr>
              <a:xfrm>
                <a:off x="9427" y="3286864"/>
                <a:ext cx="1225485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0" name="그림 8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70533" y="2727456"/>
              <a:ext cx="431054" cy="162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931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"/>
          <p:cNvSpPr txBox="1">
            <a:spLocks noChangeArrowheads="1"/>
          </p:cNvSpPr>
          <p:nvPr/>
        </p:nvSpPr>
        <p:spPr bwMode="auto">
          <a:xfrm>
            <a:off x="720873" y="135116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3.5.3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장애대응 계획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761851" y="2297016"/>
            <a:ext cx="6330269" cy="169302"/>
            <a:chOff x="761696" y="5435378"/>
            <a:chExt cx="6328976" cy="169277"/>
          </a:xfrm>
        </p:grpSpPr>
        <p:sp>
          <p:nvSpPr>
            <p:cNvPr id="50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장애대응 계획</a:t>
              </a:r>
            </a:p>
          </p:txBody>
        </p:sp>
        <p:grpSp>
          <p:nvGrpSpPr>
            <p:cNvPr id="51" name="그룹 50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52" name="타원 51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53" name="Picture 132" descr="ㅇ"/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54" name="그룹 53"/>
          <p:cNvGrpSpPr/>
          <p:nvPr/>
        </p:nvGrpSpPr>
        <p:grpSpPr>
          <a:xfrm>
            <a:off x="810286" y="2605545"/>
            <a:ext cx="6281844" cy="220813"/>
            <a:chOff x="810110" y="3061842"/>
            <a:chExt cx="6280561" cy="220781"/>
          </a:xfrm>
        </p:grpSpPr>
        <p:sp>
          <p:nvSpPr>
            <p:cNvPr id="56" name="Text Box 5"/>
            <p:cNvSpPr txBox="1">
              <a:spLocks noChangeArrowheads="1"/>
            </p:cNvSpPr>
            <p:nvPr/>
          </p:nvSpPr>
          <p:spPr bwMode="auto">
            <a:xfrm>
              <a:off x="1026766" y="3113346"/>
              <a:ext cx="6063905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장애 대응 절차</a:t>
              </a:r>
            </a:p>
          </p:txBody>
        </p:sp>
        <p:sp>
          <p:nvSpPr>
            <p:cNvPr id="57" name="굽은 화살표 56"/>
            <p:cNvSpPr/>
            <p:nvPr/>
          </p:nvSpPr>
          <p:spPr bwMode="auto">
            <a:xfrm flipV="1">
              <a:off x="810110" y="3061842"/>
              <a:ext cx="180984" cy="172300"/>
            </a:xfrm>
            <a:prstGeom prst="ben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2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357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charset="0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810286" y="6184743"/>
            <a:ext cx="6281844" cy="220813"/>
            <a:chOff x="810110" y="3061842"/>
            <a:chExt cx="6280561" cy="220781"/>
          </a:xfrm>
        </p:grpSpPr>
        <p:sp>
          <p:nvSpPr>
            <p:cNvPr id="59" name="Text Box 5"/>
            <p:cNvSpPr txBox="1">
              <a:spLocks noChangeArrowheads="1"/>
            </p:cNvSpPr>
            <p:nvPr/>
          </p:nvSpPr>
          <p:spPr bwMode="auto">
            <a:xfrm>
              <a:off x="1026766" y="3113346"/>
              <a:ext cx="6063905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장애 대응을 위한 백업정책 수립</a:t>
              </a:r>
              <a:r>
                <a:rPr lang="en-US" altLang="ko-KR" sz="1100" b="1" spc="-5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(</a:t>
              </a:r>
              <a:r>
                <a:rPr lang="ko-KR" altLang="en-US" sz="1100" b="1" spc="-5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예시</a:t>
              </a:r>
              <a:r>
                <a:rPr lang="en-US" altLang="ko-KR" sz="1100" b="1" spc="-5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)</a:t>
              </a:r>
            </a:p>
          </p:txBody>
        </p:sp>
        <p:sp>
          <p:nvSpPr>
            <p:cNvPr id="60" name="굽은 화살표 59"/>
            <p:cNvSpPr/>
            <p:nvPr/>
          </p:nvSpPr>
          <p:spPr bwMode="auto">
            <a:xfrm flipV="1">
              <a:off x="810110" y="3061842"/>
              <a:ext cx="180984" cy="172300"/>
            </a:xfrm>
            <a:prstGeom prst="bentArrow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2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3571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b="1" spc="-5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charset="0"/>
              </a:endParaRPr>
            </a:p>
          </p:txBody>
        </p:sp>
      </p:grpSp>
      <p:sp>
        <p:nvSpPr>
          <p:cNvPr id="61" name="Rectangle 546"/>
          <p:cNvSpPr>
            <a:spLocks noChangeArrowheads="1"/>
          </p:cNvSpPr>
          <p:nvPr/>
        </p:nvSpPr>
        <p:spPr bwMode="auto">
          <a:xfrm>
            <a:off x="712915" y="2957918"/>
            <a:ext cx="3646543" cy="2877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5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2" name="Freeform 547"/>
          <p:cNvSpPr>
            <a:spLocks/>
          </p:cNvSpPr>
          <p:nvPr/>
        </p:nvSpPr>
        <p:spPr bwMode="auto">
          <a:xfrm>
            <a:off x="3997507" y="2957919"/>
            <a:ext cx="361950" cy="463550"/>
          </a:xfrm>
          <a:custGeom>
            <a:avLst/>
            <a:gdLst>
              <a:gd name="T0" fmla="*/ 228 w 228"/>
              <a:gd name="T1" fmla="*/ 0 h 292"/>
              <a:gd name="T2" fmla="*/ 0 w 228"/>
              <a:gd name="T3" fmla="*/ 98 h 292"/>
              <a:gd name="T4" fmla="*/ 0 w 228"/>
              <a:gd name="T5" fmla="*/ 292 h 292"/>
              <a:gd name="T6" fmla="*/ 228 w 228"/>
              <a:gd name="T7" fmla="*/ 195 h 292"/>
              <a:gd name="T8" fmla="*/ 228 w 228"/>
              <a:gd name="T9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92">
                <a:moveTo>
                  <a:pt x="228" y="0"/>
                </a:moveTo>
                <a:lnTo>
                  <a:pt x="0" y="98"/>
                </a:lnTo>
                <a:lnTo>
                  <a:pt x="0" y="292"/>
                </a:lnTo>
                <a:lnTo>
                  <a:pt x="228" y="195"/>
                </a:lnTo>
                <a:lnTo>
                  <a:pt x="22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b="1"/>
          </a:p>
        </p:txBody>
      </p:sp>
      <p:sp>
        <p:nvSpPr>
          <p:cNvPr id="63" name="Rectangle 548"/>
          <p:cNvSpPr>
            <a:spLocks noChangeArrowheads="1"/>
          </p:cNvSpPr>
          <p:nvPr/>
        </p:nvSpPr>
        <p:spPr bwMode="auto">
          <a:xfrm>
            <a:off x="3997507" y="3113494"/>
            <a:ext cx="3049203" cy="2862250"/>
          </a:xfrm>
          <a:prstGeom prst="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5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4" name="직사각형 6"/>
          <p:cNvSpPr>
            <a:spLocks noChangeArrowheads="1"/>
          </p:cNvSpPr>
          <p:nvPr/>
        </p:nvSpPr>
        <p:spPr bwMode="auto">
          <a:xfrm>
            <a:off x="4898381" y="3112084"/>
            <a:ext cx="1247457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백업 및 복구 절차</a:t>
            </a:r>
          </a:p>
        </p:txBody>
      </p:sp>
      <p:sp>
        <p:nvSpPr>
          <p:cNvPr id="65" name="Rectangle 548"/>
          <p:cNvSpPr>
            <a:spLocks noChangeArrowheads="1"/>
          </p:cNvSpPr>
          <p:nvPr/>
        </p:nvSpPr>
        <p:spPr bwMode="auto">
          <a:xfrm>
            <a:off x="4062650" y="3395389"/>
            <a:ext cx="2918918" cy="2520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6" name="Text Box 13"/>
          <p:cNvSpPr txBox="1">
            <a:spLocks noChangeArrowheads="1"/>
          </p:cNvSpPr>
          <p:nvPr/>
        </p:nvSpPr>
        <p:spPr bwMode="auto">
          <a:xfrm>
            <a:off x="3681313" y="3975701"/>
            <a:ext cx="492125" cy="9695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보관</a:t>
            </a:r>
          </a:p>
        </p:txBody>
      </p:sp>
      <p:sp>
        <p:nvSpPr>
          <p:cNvPr id="67" name="Freeform 40"/>
          <p:cNvSpPr>
            <a:spLocks/>
          </p:cNvSpPr>
          <p:nvPr/>
        </p:nvSpPr>
        <p:spPr bwMode="auto">
          <a:xfrm>
            <a:off x="4174542" y="3506123"/>
            <a:ext cx="643784" cy="643784"/>
          </a:xfrm>
          <a:custGeom>
            <a:avLst/>
            <a:gdLst>
              <a:gd name="T0" fmla="*/ 255 w 255"/>
              <a:gd name="T1" fmla="*/ 128 h 255"/>
              <a:gd name="T2" fmla="*/ 255 w 255"/>
              <a:gd name="T3" fmla="*/ 128 h 255"/>
              <a:gd name="T4" fmla="*/ 255 w 255"/>
              <a:gd name="T5" fmla="*/ 141 h 255"/>
              <a:gd name="T6" fmla="*/ 254 w 255"/>
              <a:gd name="T7" fmla="*/ 154 h 255"/>
              <a:gd name="T8" fmla="*/ 251 w 255"/>
              <a:gd name="T9" fmla="*/ 167 h 255"/>
              <a:gd name="T10" fmla="*/ 246 w 255"/>
              <a:gd name="T11" fmla="*/ 178 h 255"/>
              <a:gd name="T12" fmla="*/ 241 w 255"/>
              <a:gd name="T13" fmla="*/ 189 h 255"/>
              <a:gd name="T14" fmla="*/ 234 w 255"/>
              <a:gd name="T15" fmla="*/ 199 h 255"/>
              <a:gd name="T16" fmla="*/ 226 w 255"/>
              <a:gd name="T17" fmla="*/ 210 h 255"/>
              <a:gd name="T18" fmla="*/ 218 w 255"/>
              <a:gd name="T19" fmla="*/ 218 h 255"/>
              <a:gd name="T20" fmla="*/ 209 w 255"/>
              <a:gd name="T21" fmla="*/ 226 h 255"/>
              <a:gd name="T22" fmla="*/ 199 w 255"/>
              <a:gd name="T23" fmla="*/ 234 h 255"/>
              <a:gd name="T24" fmla="*/ 189 w 255"/>
              <a:gd name="T25" fmla="*/ 241 h 255"/>
              <a:gd name="T26" fmla="*/ 178 w 255"/>
              <a:gd name="T27" fmla="*/ 246 h 255"/>
              <a:gd name="T28" fmla="*/ 167 w 255"/>
              <a:gd name="T29" fmla="*/ 251 h 255"/>
              <a:gd name="T30" fmla="*/ 154 w 255"/>
              <a:gd name="T31" fmla="*/ 254 h 255"/>
              <a:gd name="T32" fmla="*/ 141 w 255"/>
              <a:gd name="T33" fmla="*/ 255 h 255"/>
              <a:gd name="T34" fmla="*/ 128 w 255"/>
              <a:gd name="T35" fmla="*/ 255 h 255"/>
              <a:gd name="T36" fmla="*/ 128 w 255"/>
              <a:gd name="T37" fmla="*/ 255 h 255"/>
              <a:gd name="T38" fmla="*/ 115 w 255"/>
              <a:gd name="T39" fmla="*/ 255 h 255"/>
              <a:gd name="T40" fmla="*/ 102 w 255"/>
              <a:gd name="T41" fmla="*/ 254 h 255"/>
              <a:gd name="T42" fmla="*/ 89 w 255"/>
              <a:gd name="T43" fmla="*/ 251 h 255"/>
              <a:gd name="T44" fmla="*/ 78 w 255"/>
              <a:gd name="T45" fmla="*/ 246 h 255"/>
              <a:gd name="T46" fmla="*/ 66 w 255"/>
              <a:gd name="T47" fmla="*/ 241 h 255"/>
              <a:gd name="T48" fmla="*/ 57 w 255"/>
              <a:gd name="T49" fmla="*/ 234 h 255"/>
              <a:gd name="T50" fmla="*/ 47 w 255"/>
              <a:gd name="T51" fmla="*/ 226 h 255"/>
              <a:gd name="T52" fmla="*/ 37 w 255"/>
              <a:gd name="T53" fmla="*/ 218 h 255"/>
              <a:gd name="T54" fmla="*/ 29 w 255"/>
              <a:gd name="T55" fmla="*/ 210 h 255"/>
              <a:gd name="T56" fmla="*/ 21 w 255"/>
              <a:gd name="T57" fmla="*/ 199 h 255"/>
              <a:gd name="T58" fmla="*/ 15 w 255"/>
              <a:gd name="T59" fmla="*/ 189 h 255"/>
              <a:gd name="T60" fmla="*/ 10 w 255"/>
              <a:gd name="T61" fmla="*/ 178 h 255"/>
              <a:gd name="T62" fmla="*/ 5 w 255"/>
              <a:gd name="T63" fmla="*/ 167 h 255"/>
              <a:gd name="T64" fmla="*/ 2 w 255"/>
              <a:gd name="T65" fmla="*/ 154 h 255"/>
              <a:gd name="T66" fmla="*/ 0 w 255"/>
              <a:gd name="T67" fmla="*/ 141 h 255"/>
              <a:gd name="T68" fmla="*/ 0 w 255"/>
              <a:gd name="T69" fmla="*/ 128 h 255"/>
              <a:gd name="T70" fmla="*/ 0 w 255"/>
              <a:gd name="T71" fmla="*/ 128 h 255"/>
              <a:gd name="T72" fmla="*/ 0 w 255"/>
              <a:gd name="T73" fmla="*/ 115 h 255"/>
              <a:gd name="T74" fmla="*/ 2 w 255"/>
              <a:gd name="T75" fmla="*/ 102 h 255"/>
              <a:gd name="T76" fmla="*/ 5 w 255"/>
              <a:gd name="T77" fmla="*/ 91 h 255"/>
              <a:gd name="T78" fmla="*/ 10 w 255"/>
              <a:gd name="T79" fmla="*/ 78 h 255"/>
              <a:gd name="T80" fmla="*/ 15 w 255"/>
              <a:gd name="T81" fmla="*/ 66 h 255"/>
              <a:gd name="T82" fmla="*/ 21 w 255"/>
              <a:gd name="T83" fmla="*/ 57 h 255"/>
              <a:gd name="T84" fmla="*/ 29 w 255"/>
              <a:gd name="T85" fmla="*/ 47 h 255"/>
              <a:gd name="T86" fmla="*/ 37 w 255"/>
              <a:gd name="T87" fmla="*/ 37 h 255"/>
              <a:gd name="T88" fmla="*/ 47 w 255"/>
              <a:gd name="T89" fmla="*/ 29 h 255"/>
              <a:gd name="T90" fmla="*/ 57 w 255"/>
              <a:gd name="T91" fmla="*/ 23 h 255"/>
              <a:gd name="T92" fmla="*/ 66 w 255"/>
              <a:gd name="T93" fmla="*/ 16 h 255"/>
              <a:gd name="T94" fmla="*/ 78 w 255"/>
              <a:gd name="T95" fmla="*/ 10 h 255"/>
              <a:gd name="T96" fmla="*/ 89 w 255"/>
              <a:gd name="T97" fmla="*/ 7 h 255"/>
              <a:gd name="T98" fmla="*/ 102 w 255"/>
              <a:gd name="T99" fmla="*/ 3 h 255"/>
              <a:gd name="T100" fmla="*/ 115 w 255"/>
              <a:gd name="T101" fmla="*/ 0 h 255"/>
              <a:gd name="T102" fmla="*/ 128 w 255"/>
              <a:gd name="T103" fmla="*/ 0 h 255"/>
              <a:gd name="T104" fmla="*/ 255 w 255"/>
              <a:gd name="T105" fmla="*/ 0 h 255"/>
              <a:gd name="T106" fmla="*/ 255 w 255"/>
              <a:gd name="T107" fmla="*/ 12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5" h="255">
                <a:moveTo>
                  <a:pt x="255" y="128"/>
                </a:moveTo>
                <a:lnTo>
                  <a:pt x="255" y="128"/>
                </a:lnTo>
                <a:lnTo>
                  <a:pt x="255" y="141"/>
                </a:lnTo>
                <a:lnTo>
                  <a:pt x="254" y="154"/>
                </a:lnTo>
                <a:lnTo>
                  <a:pt x="251" y="167"/>
                </a:lnTo>
                <a:lnTo>
                  <a:pt x="246" y="178"/>
                </a:lnTo>
                <a:lnTo>
                  <a:pt x="241" y="189"/>
                </a:lnTo>
                <a:lnTo>
                  <a:pt x="234" y="199"/>
                </a:lnTo>
                <a:lnTo>
                  <a:pt x="226" y="210"/>
                </a:lnTo>
                <a:lnTo>
                  <a:pt x="218" y="218"/>
                </a:lnTo>
                <a:lnTo>
                  <a:pt x="209" y="226"/>
                </a:lnTo>
                <a:lnTo>
                  <a:pt x="199" y="234"/>
                </a:lnTo>
                <a:lnTo>
                  <a:pt x="189" y="241"/>
                </a:lnTo>
                <a:lnTo>
                  <a:pt x="178" y="246"/>
                </a:lnTo>
                <a:lnTo>
                  <a:pt x="167" y="251"/>
                </a:lnTo>
                <a:lnTo>
                  <a:pt x="154" y="254"/>
                </a:lnTo>
                <a:lnTo>
                  <a:pt x="141" y="255"/>
                </a:lnTo>
                <a:lnTo>
                  <a:pt x="128" y="255"/>
                </a:lnTo>
                <a:lnTo>
                  <a:pt x="128" y="255"/>
                </a:lnTo>
                <a:lnTo>
                  <a:pt x="115" y="255"/>
                </a:lnTo>
                <a:lnTo>
                  <a:pt x="102" y="254"/>
                </a:lnTo>
                <a:lnTo>
                  <a:pt x="89" y="251"/>
                </a:lnTo>
                <a:lnTo>
                  <a:pt x="78" y="246"/>
                </a:lnTo>
                <a:lnTo>
                  <a:pt x="66" y="241"/>
                </a:lnTo>
                <a:lnTo>
                  <a:pt x="57" y="234"/>
                </a:lnTo>
                <a:lnTo>
                  <a:pt x="47" y="226"/>
                </a:lnTo>
                <a:lnTo>
                  <a:pt x="37" y="218"/>
                </a:lnTo>
                <a:lnTo>
                  <a:pt x="29" y="210"/>
                </a:lnTo>
                <a:lnTo>
                  <a:pt x="21" y="199"/>
                </a:lnTo>
                <a:lnTo>
                  <a:pt x="15" y="189"/>
                </a:lnTo>
                <a:lnTo>
                  <a:pt x="10" y="178"/>
                </a:lnTo>
                <a:lnTo>
                  <a:pt x="5" y="167"/>
                </a:lnTo>
                <a:lnTo>
                  <a:pt x="2" y="154"/>
                </a:lnTo>
                <a:lnTo>
                  <a:pt x="0" y="141"/>
                </a:lnTo>
                <a:lnTo>
                  <a:pt x="0" y="128"/>
                </a:lnTo>
                <a:lnTo>
                  <a:pt x="0" y="128"/>
                </a:lnTo>
                <a:lnTo>
                  <a:pt x="0" y="115"/>
                </a:lnTo>
                <a:lnTo>
                  <a:pt x="2" y="102"/>
                </a:lnTo>
                <a:lnTo>
                  <a:pt x="5" y="91"/>
                </a:lnTo>
                <a:lnTo>
                  <a:pt x="10" y="78"/>
                </a:lnTo>
                <a:lnTo>
                  <a:pt x="15" y="66"/>
                </a:lnTo>
                <a:lnTo>
                  <a:pt x="21" y="57"/>
                </a:lnTo>
                <a:lnTo>
                  <a:pt x="29" y="47"/>
                </a:lnTo>
                <a:lnTo>
                  <a:pt x="37" y="37"/>
                </a:lnTo>
                <a:lnTo>
                  <a:pt x="47" y="29"/>
                </a:lnTo>
                <a:lnTo>
                  <a:pt x="57" y="23"/>
                </a:lnTo>
                <a:lnTo>
                  <a:pt x="66" y="16"/>
                </a:lnTo>
                <a:lnTo>
                  <a:pt x="78" y="10"/>
                </a:lnTo>
                <a:lnTo>
                  <a:pt x="89" y="7"/>
                </a:lnTo>
                <a:lnTo>
                  <a:pt x="102" y="3"/>
                </a:lnTo>
                <a:lnTo>
                  <a:pt x="115" y="0"/>
                </a:lnTo>
                <a:lnTo>
                  <a:pt x="128" y="0"/>
                </a:lnTo>
                <a:lnTo>
                  <a:pt x="255" y="0"/>
                </a:lnTo>
                <a:lnTo>
                  <a:pt x="255" y="128"/>
                </a:lnTo>
                <a:close/>
              </a:path>
            </a:pathLst>
          </a:custGeom>
          <a:solidFill>
            <a:srgbClr val="99D8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8" name="양쪽 모서리가 둥근 사각형 67"/>
          <p:cNvSpPr/>
          <p:nvPr/>
        </p:nvSpPr>
        <p:spPr bwMode="auto">
          <a:xfrm>
            <a:off x="4284914" y="3537518"/>
            <a:ext cx="443637" cy="503284"/>
          </a:xfrm>
          <a:prstGeom prst="round2SameRect">
            <a:avLst>
              <a:gd name="adj1" fmla="val 20612"/>
              <a:gd name="adj2" fmla="val 0"/>
            </a:avLst>
          </a:prstGeom>
          <a:noFill/>
          <a:ln w="3175">
            <a:noFill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1042988" eaLnBrk="0" latinLnBrk="0" hangingPunct="0">
              <a:lnSpc>
                <a:spcPct val="90000"/>
              </a:lnSpc>
              <a:spcBef>
                <a:spcPts val="0"/>
              </a:spcBef>
              <a:buClr>
                <a:srgbClr val="292929"/>
              </a:buClr>
              <a:buSzPct val="100000"/>
              <a:tabLst>
                <a:tab pos="5648325" algn="l"/>
              </a:tabLst>
              <a:defRPr/>
            </a:pPr>
            <a:r>
              <a:rPr kumimoji="0" lang="ko-KR" altLang="en-US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백업</a:t>
            </a:r>
            <a:br>
              <a:rPr kumimoji="0" lang="en-US" altLang="ko-KR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</a:br>
            <a:r>
              <a:rPr kumimoji="0" lang="ko-KR" altLang="en-US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절차</a:t>
            </a:r>
          </a:p>
        </p:txBody>
      </p:sp>
      <p:sp>
        <p:nvSpPr>
          <p:cNvPr id="69" name="모서리가 둥근 직사각형 68"/>
          <p:cNvSpPr/>
          <p:nvPr/>
        </p:nvSpPr>
        <p:spPr bwMode="auto">
          <a:xfrm flipH="1">
            <a:off x="4947579" y="3490883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 bwMode="auto">
          <a:xfrm flipH="1">
            <a:off x="4947579" y="3672469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 bwMode="auto">
          <a:xfrm flipH="1">
            <a:off x="4947579" y="3854055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 bwMode="auto">
          <a:xfrm flipH="1">
            <a:off x="4947579" y="4035641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4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 bwMode="auto">
          <a:xfrm flipH="1">
            <a:off x="4947579" y="4217227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4" name="Rectangle 549"/>
          <p:cNvSpPr>
            <a:spLocks noChangeArrowheads="1"/>
          </p:cNvSpPr>
          <p:nvPr/>
        </p:nvSpPr>
        <p:spPr bwMode="auto">
          <a:xfrm>
            <a:off x="5160367" y="3666436"/>
            <a:ext cx="1132928" cy="15234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백업 실시</a:t>
            </a:r>
          </a:p>
        </p:txBody>
      </p:sp>
      <p:sp>
        <p:nvSpPr>
          <p:cNvPr id="75" name="Rectangle 549"/>
          <p:cNvSpPr>
            <a:spLocks noChangeArrowheads="1"/>
          </p:cNvSpPr>
          <p:nvPr/>
        </p:nvSpPr>
        <p:spPr bwMode="auto">
          <a:xfrm>
            <a:off x="5160601" y="3838789"/>
            <a:ext cx="1156272" cy="15234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백업 결과 확인</a:t>
            </a:r>
          </a:p>
        </p:txBody>
      </p:sp>
      <p:sp>
        <p:nvSpPr>
          <p:cNvPr id="76" name="Rectangle 549"/>
          <p:cNvSpPr>
            <a:spLocks noChangeArrowheads="1"/>
          </p:cNvSpPr>
          <p:nvPr/>
        </p:nvSpPr>
        <p:spPr bwMode="auto">
          <a:xfrm>
            <a:off x="5185923" y="4029608"/>
            <a:ext cx="1240274" cy="13388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백업 실패 시 재 백업 수행</a:t>
            </a:r>
          </a:p>
        </p:txBody>
      </p:sp>
      <p:sp>
        <p:nvSpPr>
          <p:cNvPr id="77" name="Rectangle 549"/>
          <p:cNvSpPr>
            <a:spLocks noChangeArrowheads="1"/>
          </p:cNvSpPr>
          <p:nvPr/>
        </p:nvSpPr>
        <p:spPr bwMode="auto">
          <a:xfrm>
            <a:off x="5183389" y="4211194"/>
            <a:ext cx="1237865" cy="15234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9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백업 이력관리</a:t>
            </a:r>
          </a:p>
        </p:txBody>
      </p:sp>
      <p:sp>
        <p:nvSpPr>
          <p:cNvPr id="78" name="Rectangle 549"/>
          <p:cNvSpPr>
            <a:spLocks noChangeArrowheads="1"/>
          </p:cNvSpPr>
          <p:nvPr/>
        </p:nvSpPr>
        <p:spPr bwMode="auto">
          <a:xfrm>
            <a:off x="5190787" y="4402011"/>
            <a:ext cx="1006615" cy="15234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9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보관</a:t>
            </a:r>
          </a:p>
        </p:txBody>
      </p:sp>
      <p:sp>
        <p:nvSpPr>
          <p:cNvPr id="79" name="Rectangle 549"/>
          <p:cNvSpPr>
            <a:spLocks noChangeArrowheads="1"/>
          </p:cNvSpPr>
          <p:nvPr/>
        </p:nvSpPr>
        <p:spPr bwMode="auto">
          <a:xfrm>
            <a:off x="5160367" y="3494083"/>
            <a:ext cx="1132928" cy="15234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algn="l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kumimoji="0"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백업 정책 설정</a:t>
            </a:r>
          </a:p>
        </p:txBody>
      </p:sp>
      <p:sp>
        <p:nvSpPr>
          <p:cNvPr id="80" name="Freeform 238"/>
          <p:cNvSpPr>
            <a:spLocks/>
          </p:cNvSpPr>
          <p:nvPr/>
        </p:nvSpPr>
        <p:spPr bwMode="auto">
          <a:xfrm>
            <a:off x="4509332" y="4013758"/>
            <a:ext cx="45304" cy="45304"/>
          </a:xfrm>
          <a:custGeom>
            <a:avLst/>
            <a:gdLst>
              <a:gd name="T0" fmla="*/ 34 w 76"/>
              <a:gd name="T1" fmla="*/ 0 h 76"/>
              <a:gd name="T2" fmla="*/ 72 w 76"/>
              <a:gd name="T3" fmla="*/ 0 h 76"/>
              <a:gd name="T4" fmla="*/ 72 w 76"/>
              <a:gd name="T5" fmla="*/ 0 h 76"/>
              <a:gd name="T6" fmla="*/ 74 w 76"/>
              <a:gd name="T7" fmla="*/ 2 h 76"/>
              <a:gd name="T8" fmla="*/ 76 w 76"/>
              <a:gd name="T9" fmla="*/ 4 h 76"/>
              <a:gd name="T10" fmla="*/ 76 w 76"/>
              <a:gd name="T11" fmla="*/ 42 h 76"/>
              <a:gd name="T12" fmla="*/ 76 w 76"/>
              <a:gd name="T13" fmla="*/ 42 h 76"/>
              <a:gd name="T14" fmla="*/ 76 w 76"/>
              <a:gd name="T15" fmla="*/ 42 h 76"/>
              <a:gd name="T16" fmla="*/ 76 w 76"/>
              <a:gd name="T17" fmla="*/ 42 h 76"/>
              <a:gd name="T18" fmla="*/ 74 w 76"/>
              <a:gd name="T19" fmla="*/ 46 h 76"/>
              <a:gd name="T20" fmla="*/ 72 w 76"/>
              <a:gd name="T21" fmla="*/ 46 h 76"/>
              <a:gd name="T22" fmla="*/ 72 w 76"/>
              <a:gd name="T23" fmla="*/ 46 h 76"/>
              <a:gd name="T24" fmla="*/ 68 w 76"/>
              <a:gd name="T25" fmla="*/ 46 h 76"/>
              <a:gd name="T26" fmla="*/ 68 w 76"/>
              <a:gd name="T27" fmla="*/ 46 h 76"/>
              <a:gd name="T28" fmla="*/ 68 w 76"/>
              <a:gd name="T29" fmla="*/ 46 h 76"/>
              <a:gd name="T30" fmla="*/ 68 w 76"/>
              <a:gd name="T31" fmla="*/ 46 h 76"/>
              <a:gd name="T32" fmla="*/ 68 w 76"/>
              <a:gd name="T33" fmla="*/ 46 h 76"/>
              <a:gd name="T34" fmla="*/ 68 w 76"/>
              <a:gd name="T35" fmla="*/ 46 h 76"/>
              <a:gd name="T36" fmla="*/ 68 w 76"/>
              <a:gd name="T37" fmla="*/ 44 h 76"/>
              <a:gd name="T38" fmla="*/ 62 w 76"/>
              <a:gd name="T39" fmla="*/ 40 h 76"/>
              <a:gd name="T40" fmla="*/ 56 w 76"/>
              <a:gd name="T41" fmla="*/ 44 h 76"/>
              <a:gd name="T42" fmla="*/ 26 w 76"/>
              <a:gd name="T43" fmla="*/ 74 h 76"/>
              <a:gd name="T44" fmla="*/ 26 w 76"/>
              <a:gd name="T45" fmla="*/ 74 h 76"/>
              <a:gd name="T46" fmla="*/ 24 w 76"/>
              <a:gd name="T47" fmla="*/ 76 h 76"/>
              <a:gd name="T48" fmla="*/ 24 w 76"/>
              <a:gd name="T49" fmla="*/ 76 h 76"/>
              <a:gd name="T50" fmla="*/ 20 w 76"/>
              <a:gd name="T51" fmla="*/ 74 h 76"/>
              <a:gd name="T52" fmla="*/ 2 w 76"/>
              <a:gd name="T53" fmla="*/ 56 h 76"/>
              <a:gd name="T54" fmla="*/ 2 w 76"/>
              <a:gd name="T55" fmla="*/ 56 h 76"/>
              <a:gd name="T56" fmla="*/ 0 w 76"/>
              <a:gd name="T57" fmla="*/ 52 h 76"/>
              <a:gd name="T58" fmla="*/ 0 w 76"/>
              <a:gd name="T59" fmla="*/ 52 h 76"/>
              <a:gd name="T60" fmla="*/ 2 w 76"/>
              <a:gd name="T61" fmla="*/ 50 h 76"/>
              <a:gd name="T62" fmla="*/ 32 w 76"/>
              <a:gd name="T63" fmla="*/ 20 h 76"/>
              <a:gd name="T64" fmla="*/ 38 w 76"/>
              <a:gd name="T65" fmla="*/ 14 h 76"/>
              <a:gd name="T66" fmla="*/ 32 w 76"/>
              <a:gd name="T67" fmla="*/ 8 h 76"/>
              <a:gd name="T68" fmla="*/ 30 w 76"/>
              <a:gd name="T69" fmla="*/ 8 h 76"/>
              <a:gd name="T70" fmla="*/ 30 w 76"/>
              <a:gd name="T71" fmla="*/ 8 h 76"/>
              <a:gd name="T72" fmla="*/ 30 w 76"/>
              <a:gd name="T73" fmla="*/ 6 h 76"/>
              <a:gd name="T74" fmla="*/ 30 w 76"/>
              <a:gd name="T75" fmla="*/ 2 h 76"/>
              <a:gd name="T76" fmla="*/ 30 w 76"/>
              <a:gd name="T77" fmla="*/ 2 h 76"/>
              <a:gd name="T78" fmla="*/ 32 w 76"/>
              <a:gd name="T79" fmla="*/ 0 h 76"/>
              <a:gd name="T80" fmla="*/ 34 w 76"/>
              <a:gd name="T81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" h="76">
                <a:moveTo>
                  <a:pt x="34" y="0"/>
                </a:moveTo>
                <a:lnTo>
                  <a:pt x="72" y="0"/>
                </a:lnTo>
                <a:lnTo>
                  <a:pt x="72" y="0"/>
                </a:lnTo>
                <a:lnTo>
                  <a:pt x="74" y="2"/>
                </a:lnTo>
                <a:lnTo>
                  <a:pt x="76" y="4"/>
                </a:lnTo>
                <a:lnTo>
                  <a:pt x="76" y="42"/>
                </a:lnTo>
                <a:lnTo>
                  <a:pt x="76" y="42"/>
                </a:lnTo>
                <a:lnTo>
                  <a:pt x="76" y="42"/>
                </a:lnTo>
                <a:lnTo>
                  <a:pt x="76" y="42"/>
                </a:lnTo>
                <a:lnTo>
                  <a:pt x="74" y="46"/>
                </a:lnTo>
                <a:lnTo>
                  <a:pt x="72" y="46"/>
                </a:lnTo>
                <a:lnTo>
                  <a:pt x="72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4"/>
                </a:lnTo>
                <a:lnTo>
                  <a:pt x="62" y="40"/>
                </a:lnTo>
                <a:lnTo>
                  <a:pt x="56" y="44"/>
                </a:lnTo>
                <a:lnTo>
                  <a:pt x="26" y="74"/>
                </a:lnTo>
                <a:lnTo>
                  <a:pt x="26" y="74"/>
                </a:lnTo>
                <a:lnTo>
                  <a:pt x="24" y="76"/>
                </a:lnTo>
                <a:lnTo>
                  <a:pt x="24" y="76"/>
                </a:lnTo>
                <a:lnTo>
                  <a:pt x="20" y="74"/>
                </a:lnTo>
                <a:lnTo>
                  <a:pt x="2" y="56"/>
                </a:lnTo>
                <a:lnTo>
                  <a:pt x="2" y="56"/>
                </a:lnTo>
                <a:lnTo>
                  <a:pt x="0" y="52"/>
                </a:lnTo>
                <a:lnTo>
                  <a:pt x="0" y="52"/>
                </a:lnTo>
                <a:lnTo>
                  <a:pt x="2" y="50"/>
                </a:lnTo>
                <a:lnTo>
                  <a:pt x="32" y="20"/>
                </a:lnTo>
                <a:lnTo>
                  <a:pt x="38" y="14"/>
                </a:lnTo>
                <a:lnTo>
                  <a:pt x="32" y="8"/>
                </a:lnTo>
                <a:lnTo>
                  <a:pt x="30" y="8"/>
                </a:lnTo>
                <a:lnTo>
                  <a:pt x="30" y="8"/>
                </a:lnTo>
                <a:lnTo>
                  <a:pt x="30" y="6"/>
                </a:lnTo>
                <a:lnTo>
                  <a:pt x="30" y="2"/>
                </a:lnTo>
                <a:lnTo>
                  <a:pt x="30" y="2"/>
                </a:lnTo>
                <a:lnTo>
                  <a:pt x="32" y="0"/>
                </a:lnTo>
                <a:lnTo>
                  <a:pt x="3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" name="Freeform 239"/>
          <p:cNvSpPr>
            <a:spLocks/>
          </p:cNvSpPr>
          <p:nvPr/>
        </p:nvSpPr>
        <p:spPr bwMode="auto">
          <a:xfrm>
            <a:off x="4509332" y="4013758"/>
            <a:ext cx="45304" cy="45304"/>
          </a:xfrm>
          <a:custGeom>
            <a:avLst/>
            <a:gdLst>
              <a:gd name="T0" fmla="*/ 34 w 76"/>
              <a:gd name="T1" fmla="*/ 0 h 76"/>
              <a:gd name="T2" fmla="*/ 72 w 76"/>
              <a:gd name="T3" fmla="*/ 0 h 76"/>
              <a:gd name="T4" fmla="*/ 72 w 76"/>
              <a:gd name="T5" fmla="*/ 0 h 76"/>
              <a:gd name="T6" fmla="*/ 74 w 76"/>
              <a:gd name="T7" fmla="*/ 2 h 76"/>
              <a:gd name="T8" fmla="*/ 76 w 76"/>
              <a:gd name="T9" fmla="*/ 4 h 76"/>
              <a:gd name="T10" fmla="*/ 76 w 76"/>
              <a:gd name="T11" fmla="*/ 42 h 76"/>
              <a:gd name="T12" fmla="*/ 76 w 76"/>
              <a:gd name="T13" fmla="*/ 42 h 76"/>
              <a:gd name="T14" fmla="*/ 76 w 76"/>
              <a:gd name="T15" fmla="*/ 42 h 76"/>
              <a:gd name="T16" fmla="*/ 76 w 76"/>
              <a:gd name="T17" fmla="*/ 42 h 76"/>
              <a:gd name="T18" fmla="*/ 74 w 76"/>
              <a:gd name="T19" fmla="*/ 46 h 76"/>
              <a:gd name="T20" fmla="*/ 72 w 76"/>
              <a:gd name="T21" fmla="*/ 46 h 76"/>
              <a:gd name="T22" fmla="*/ 72 w 76"/>
              <a:gd name="T23" fmla="*/ 46 h 76"/>
              <a:gd name="T24" fmla="*/ 68 w 76"/>
              <a:gd name="T25" fmla="*/ 46 h 76"/>
              <a:gd name="T26" fmla="*/ 68 w 76"/>
              <a:gd name="T27" fmla="*/ 46 h 76"/>
              <a:gd name="T28" fmla="*/ 68 w 76"/>
              <a:gd name="T29" fmla="*/ 46 h 76"/>
              <a:gd name="T30" fmla="*/ 68 w 76"/>
              <a:gd name="T31" fmla="*/ 46 h 76"/>
              <a:gd name="T32" fmla="*/ 68 w 76"/>
              <a:gd name="T33" fmla="*/ 46 h 76"/>
              <a:gd name="T34" fmla="*/ 68 w 76"/>
              <a:gd name="T35" fmla="*/ 46 h 76"/>
              <a:gd name="T36" fmla="*/ 68 w 76"/>
              <a:gd name="T37" fmla="*/ 44 h 76"/>
              <a:gd name="T38" fmla="*/ 62 w 76"/>
              <a:gd name="T39" fmla="*/ 40 h 76"/>
              <a:gd name="T40" fmla="*/ 56 w 76"/>
              <a:gd name="T41" fmla="*/ 44 h 76"/>
              <a:gd name="T42" fmla="*/ 26 w 76"/>
              <a:gd name="T43" fmla="*/ 74 h 76"/>
              <a:gd name="T44" fmla="*/ 26 w 76"/>
              <a:gd name="T45" fmla="*/ 74 h 76"/>
              <a:gd name="T46" fmla="*/ 24 w 76"/>
              <a:gd name="T47" fmla="*/ 76 h 76"/>
              <a:gd name="T48" fmla="*/ 24 w 76"/>
              <a:gd name="T49" fmla="*/ 76 h 76"/>
              <a:gd name="T50" fmla="*/ 20 w 76"/>
              <a:gd name="T51" fmla="*/ 74 h 76"/>
              <a:gd name="T52" fmla="*/ 2 w 76"/>
              <a:gd name="T53" fmla="*/ 56 h 76"/>
              <a:gd name="T54" fmla="*/ 2 w 76"/>
              <a:gd name="T55" fmla="*/ 56 h 76"/>
              <a:gd name="T56" fmla="*/ 0 w 76"/>
              <a:gd name="T57" fmla="*/ 52 h 76"/>
              <a:gd name="T58" fmla="*/ 0 w 76"/>
              <a:gd name="T59" fmla="*/ 52 h 76"/>
              <a:gd name="T60" fmla="*/ 2 w 76"/>
              <a:gd name="T61" fmla="*/ 50 h 76"/>
              <a:gd name="T62" fmla="*/ 32 w 76"/>
              <a:gd name="T63" fmla="*/ 20 h 76"/>
              <a:gd name="T64" fmla="*/ 38 w 76"/>
              <a:gd name="T65" fmla="*/ 14 h 76"/>
              <a:gd name="T66" fmla="*/ 32 w 76"/>
              <a:gd name="T67" fmla="*/ 8 h 76"/>
              <a:gd name="T68" fmla="*/ 30 w 76"/>
              <a:gd name="T69" fmla="*/ 8 h 76"/>
              <a:gd name="T70" fmla="*/ 30 w 76"/>
              <a:gd name="T71" fmla="*/ 8 h 76"/>
              <a:gd name="T72" fmla="*/ 30 w 76"/>
              <a:gd name="T73" fmla="*/ 6 h 76"/>
              <a:gd name="T74" fmla="*/ 30 w 76"/>
              <a:gd name="T75" fmla="*/ 2 h 76"/>
              <a:gd name="T76" fmla="*/ 30 w 76"/>
              <a:gd name="T77" fmla="*/ 2 h 76"/>
              <a:gd name="T78" fmla="*/ 32 w 76"/>
              <a:gd name="T79" fmla="*/ 0 h 76"/>
              <a:gd name="T80" fmla="*/ 34 w 76"/>
              <a:gd name="T81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" h="76">
                <a:moveTo>
                  <a:pt x="34" y="0"/>
                </a:moveTo>
                <a:lnTo>
                  <a:pt x="72" y="0"/>
                </a:lnTo>
                <a:lnTo>
                  <a:pt x="72" y="0"/>
                </a:lnTo>
                <a:lnTo>
                  <a:pt x="74" y="2"/>
                </a:lnTo>
                <a:lnTo>
                  <a:pt x="76" y="4"/>
                </a:lnTo>
                <a:lnTo>
                  <a:pt x="76" y="42"/>
                </a:lnTo>
                <a:lnTo>
                  <a:pt x="76" y="42"/>
                </a:lnTo>
                <a:lnTo>
                  <a:pt x="76" y="42"/>
                </a:lnTo>
                <a:lnTo>
                  <a:pt x="76" y="42"/>
                </a:lnTo>
                <a:lnTo>
                  <a:pt x="74" y="46"/>
                </a:lnTo>
                <a:lnTo>
                  <a:pt x="72" y="46"/>
                </a:lnTo>
                <a:lnTo>
                  <a:pt x="72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6"/>
                </a:lnTo>
                <a:lnTo>
                  <a:pt x="68" y="44"/>
                </a:lnTo>
                <a:lnTo>
                  <a:pt x="62" y="40"/>
                </a:lnTo>
                <a:lnTo>
                  <a:pt x="56" y="44"/>
                </a:lnTo>
                <a:lnTo>
                  <a:pt x="26" y="74"/>
                </a:lnTo>
                <a:lnTo>
                  <a:pt x="26" y="74"/>
                </a:lnTo>
                <a:lnTo>
                  <a:pt x="24" y="76"/>
                </a:lnTo>
                <a:lnTo>
                  <a:pt x="24" y="76"/>
                </a:lnTo>
                <a:lnTo>
                  <a:pt x="20" y="74"/>
                </a:lnTo>
                <a:lnTo>
                  <a:pt x="2" y="56"/>
                </a:lnTo>
                <a:lnTo>
                  <a:pt x="2" y="56"/>
                </a:lnTo>
                <a:lnTo>
                  <a:pt x="0" y="52"/>
                </a:lnTo>
                <a:lnTo>
                  <a:pt x="0" y="52"/>
                </a:lnTo>
                <a:lnTo>
                  <a:pt x="2" y="50"/>
                </a:lnTo>
                <a:lnTo>
                  <a:pt x="32" y="20"/>
                </a:lnTo>
                <a:lnTo>
                  <a:pt x="38" y="14"/>
                </a:lnTo>
                <a:lnTo>
                  <a:pt x="32" y="8"/>
                </a:lnTo>
                <a:lnTo>
                  <a:pt x="30" y="8"/>
                </a:lnTo>
                <a:lnTo>
                  <a:pt x="30" y="8"/>
                </a:lnTo>
                <a:lnTo>
                  <a:pt x="30" y="6"/>
                </a:lnTo>
                <a:lnTo>
                  <a:pt x="30" y="2"/>
                </a:lnTo>
                <a:lnTo>
                  <a:pt x="30" y="2"/>
                </a:lnTo>
                <a:lnTo>
                  <a:pt x="32" y="0"/>
                </a:lnTo>
                <a:lnTo>
                  <a:pt x="34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2" name="Freeform 240"/>
          <p:cNvSpPr>
            <a:spLocks/>
          </p:cNvSpPr>
          <p:nvPr/>
        </p:nvSpPr>
        <p:spPr bwMode="auto">
          <a:xfrm>
            <a:off x="4431838" y="4091252"/>
            <a:ext cx="45304" cy="45304"/>
          </a:xfrm>
          <a:custGeom>
            <a:avLst/>
            <a:gdLst>
              <a:gd name="T0" fmla="*/ 52 w 76"/>
              <a:gd name="T1" fmla="*/ 0 h 76"/>
              <a:gd name="T2" fmla="*/ 52 w 76"/>
              <a:gd name="T3" fmla="*/ 0 h 76"/>
              <a:gd name="T4" fmla="*/ 56 w 76"/>
              <a:gd name="T5" fmla="*/ 2 h 76"/>
              <a:gd name="T6" fmla="*/ 74 w 76"/>
              <a:gd name="T7" fmla="*/ 20 h 76"/>
              <a:gd name="T8" fmla="*/ 74 w 76"/>
              <a:gd name="T9" fmla="*/ 20 h 76"/>
              <a:gd name="T10" fmla="*/ 76 w 76"/>
              <a:gd name="T11" fmla="*/ 24 h 76"/>
              <a:gd name="T12" fmla="*/ 76 w 76"/>
              <a:gd name="T13" fmla="*/ 24 h 76"/>
              <a:gd name="T14" fmla="*/ 74 w 76"/>
              <a:gd name="T15" fmla="*/ 28 h 76"/>
              <a:gd name="T16" fmla="*/ 44 w 76"/>
              <a:gd name="T17" fmla="*/ 56 h 76"/>
              <a:gd name="T18" fmla="*/ 38 w 76"/>
              <a:gd name="T19" fmla="*/ 62 h 76"/>
              <a:gd name="T20" fmla="*/ 44 w 76"/>
              <a:gd name="T21" fmla="*/ 68 h 76"/>
              <a:gd name="T22" fmla="*/ 44 w 76"/>
              <a:gd name="T23" fmla="*/ 68 h 76"/>
              <a:gd name="T24" fmla="*/ 44 w 76"/>
              <a:gd name="T25" fmla="*/ 68 h 76"/>
              <a:gd name="T26" fmla="*/ 46 w 76"/>
              <a:gd name="T27" fmla="*/ 70 h 76"/>
              <a:gd name="T28" fmla="*/ 46 w 76"/>
              <a:gd name="T29" fmla="*/ 74 h 76"/>
              <a:gd name="T30" fmla="*/ 46 w 76"/>
              <a:gd name="T31" fmla="*/ 74 h 76"/>
              <a:gd name="T32" fmla="*/ 44 w 76"/>
              <a:gd name="T33" fmla="*/ 76 h 76"/>
              <a:gd name="T34" fmla="*/ 42 w 76"/>
              <a:gd name="T35" fmla="*/ 76 h 76"/>
              <a:gd name="T36" fmla="*/ 4 w 76"/>
              <a:gd name="T37" fmla="*/ 76 h 76"/>
              <a:gd name="T38" fmla="*/ 4 w 76"/>
              <a:gd name="T39" fmla="*/ 76 h 76"/>
              <a:gd name="T40" fmla="*/ 2 w 76"/>
              <a:gd name="T41" fmla="*/ 76 h 76"/>
              <a:gd name="T42" fmla="*/ 0 w 76"/>
              <a:gd name="T43" fmla="*/ 72 h 76"/>
              <a:gd name="T44" fmla="*/ 0 w 76"/>
              <a:gd name="T45" fmla="*/ 34 h 76"/>
              <a:gd name="T46" fmla="*/ 0 w 76"/>
              <a:gd name="T47" fmla="*/ 34 h 76"/>
              <a:gd name="T48" fmla="*/ 0 w 76"/>
              <a:gd name="T49" fmla="*/ 34 h 76"/>
              <a:gd name="T50" fmla="*/ 0 w 76"/>
              <a:gd name="T51" fmla="*/ 34 h 76"/>
              <a:gd name="T52" fmla="*/ 2 w 76"/>
              <a:gd name="T53" fmla="*/ 32 h 76"/>
              <a:gd name="T54" fmla="*/ 4 w 76"/>
              <a:gd name="T55" fmla="*/ 30 h 76"/>
              <a:gd name="T56" fmla="*/ 4 w 76"/>
              <a:gd name="T57" fmla="*/ 30 h 76"/>
              <a:gd name="T58" fmla="*/ 8 w 76"/>
              <a:gd name="T59" fmla="*/ 30 h 76"/>
              <a:gd name="T60" fmla="*/ 8 w 76"/>
              <a:gd name="T61" fmla="*/ 30 h 76"/>
              <a:gd name="T62" fmla="*/ 8 w 76"/>
              <a:gd name="T63" fmla="*/ 30 h 76"/>
              <a:gd name="T64" fmla="*/ 8 w 76"/>
              <a:gd name="T65" fmla="*/ 30 h 76"/>
              <a:gd name="T66" fmla="*/ 8 w 76"/>
              <a:gd name="T67" fmla="*/ 32 h 76"/>
              <a:gd name="T68" fmla="*/ 8 w 76"/>
              <a:gd name="T69" fmla="*/ 32 h 76"/>
              <a:gd name="T70" fmla="*/ 8 w 76"/>
              <a:gd name="T71" fmla="*/ 32 h 76"/>
              <a:gd name="T72" fmla="*/ 14 w 76"/>
              <a:gd name="T73" fmla="*/ 38 h 76"/>
              <a:gd name="T74" fmla="*/ 20 w 76"/>
              <a:gd name="T75" fmla="*/ 32 h 76"/>
              <a:gd name="T76" fmla="*/ 48 w 76"/>
              <a:gd name="T77" fmla="*/ 2 h 76"/>
              <a:gd name="T78" fmla="*/ 48 w 76"/>
              <a:gd name="T79" fmla="*/ 2 h 76"/>
              <a:gd name="T80" fmla="*/ 52 w 76"/>
              <a:gd name="T81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" h="76">
                <a:moveTo>
                  <a:pt x="52" y="0"/>
                </a:moveTo>
                <a:lnTo>
                  <a:pt x="52" y="0"/>
                </a:lnTo>
                <a:lnTo>
                  <a:pt x="56" y="2"/>
                </a:lnTo>
                <a:lnTo>
                  <a:pt x="74" y="20"/>
                </a:lnTo>
                <a:lnTo>
                  <a:pt x="74" y="20"/>
                </a:lnTo>
                <a:lnTo>
                  <a:pt x="76" y="24"/>
                </a:lnTo>
                <a:lnTo>
                  <a:pt x="76" y="24"/>
                </a:lnTo>
                <a:lnTo>
                  <a:pt x="74" y="28"/>
                </a:lnTo>
                <a:lnTo>
                  <a:pt x="44" y="56"/>
                </a:lnTo>
                <a:lnTo>
                  <a:pt x="38" y="62"/>
                </a:lnTo>
                <a:lnTo>
                  <a:pt x="44" y="68"/>
                </a:lnTo>
                <a:lnTo>
                  <a:pt x="44" y="68"/>
                </a:lnTo>
                <a:lnTo>
                  <a:pt x="44" y="68"/>
                </a:lnTo>
                <a:lnTo>
                  <a:pt x="46" y="70"/>
                </a:lnTo>
                <a:lnTo>
                  <a:pt x="46" y="74"/>
                </a:lnTo>
                <a:lnTo>
                  <a:pt x="46" y="74"/>
                </a:lnTo>
                <a:lnTo>
                  <a:pt x="44" y="76"/>
                </a:lnTo>
                <a:lnTo>
                  <a:pt x="42" y="76"/>
                </a:lnTo>
                <a:lnTo>
                  <a:pt x="4" y="76"/>
                </a:lnTo>
                <a:lnTo>
                  <a:pt x="4" y="76"/>
                </a:lnTo>
                <a:lnTo>
                  <a:pt x="2" y="76"/>
                </a:lnTo>
                <a:lnTo>
                  <a:pt x="0" y="72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2" y="32"/>
                </a:lnTo>
                <a:lnTo>
                  <a:pt x="4" y="30"/>
                </a:lnTo>
                <a:lnTo>
                  <a:pt x="4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14" y="38"/>
                </a:lnTo>
                <a:lnTo>
                  <a:pt x="20" y="32"/>
                </a:lnTo>
                <a:lnTo>
                  <a:pt x="48" y="2"/>
                </a:lnTo>
                <a:lnTo>
                  <a:pt x="48" y="2"/>
                </a:lnTo>
                <a:lnTo>
                  <a:pt x="5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3" name="Freeform 241"/>
          <p:cNvSpPr>
            <a:spLocks/>
          </p:cNvSpPr>
          <p:nvPr/>
        </p:nvSpPr>
        <p:spPr bwMode="auto">
          <a:xfrm>
            <a:off x="4431838" y="4091252"/>
            <a:ext cx="45304" cy="45304"/>
          </a:xfrm>
          <a:custGeom>
            <a:avLst/>
            <a:gdLst>
              <a:gd name="T0" fmla="*/ 52 w 76"/>
              <a:gd name="T1" fmla="*/ 0 h 76"/>
              <a:gd name="T2" fmla="*/ 52 w 76"/>
              <a:gd name="T3" fmla="*/ 0 h 76"/>
              <a:gd name="T4" fmla="*/ 56 w 76"/>
              <a:gd name="T5" fmla="*/ 2 h 76"/>
              <a:gd name="T6" fmla="*/ 74 w 76"/>
              <a:gd name="T7" fmla="*/ 20 h 76"/>
              <a:gd name="T8" fmla="*/ 74 w 76"/>
              <a:gd name="T9" fmla="*/ 20 h 76"/>
              <a:gd name="T10" fmla="*/ 76 w 76"/>
              <a:gd name="T11" fmla="*/ 24 h 76"/>
              <a:gd name="T12" fmla="*/ 76 w 76"/>
              <a:gd name="T13" fmla="*/ 24 h 76"/>
              <a:gd name="T14" fmla="*/ 74 w 76"/>
              <a:gd name="T15" fmla="*/ 28 h 76"/>
              <a:gd name="T16" fmla="*/ 44 w 76"/>
              <a:gd name="T17" fmla="*/ 56 h 76"/>
              <a:gd name="T18" fmla="*/ 38 w 76"/>
              <a:gd name="T19" fmla="*/ 62 h 76"/>
              <a:gd name="T20" fmla="*/ 44 w 76"/>
              <a:gd name="T21" fmla="*/ 68 h 76"/>
              <a:gd name="T22" fmla="*/ 44 w 76"/>
              <a:gd name="T23" fmla="*/ 68 h 76"/>
              <a:gd name="T24" fmla="*/ 44 w 76"/>
              <a:gd name="T25" fmla="*/ 68 h 76"/>
              <a:gd name="T26" fmla="*/ 46 w 76"/>
              <a:gd name="T27" fmla="*/ 70 h 76"/>
              <a:gd name="T28" fmla="*/ 46 w 76"/>
              <a:gd name="T29" fmla="*/ 74 h 76"/>
              <a:gd name="T30" fmla="*/ 46 w 76"/>
              <a:gd name="T31" fmla="*/ 74 h 76"/>
              <a:gd name="T32" fmla="*/ 44 w 76"/>
              <a:gd name="T33" fmla="*/ 76 h 76"/>
              <a:gd name="T34" fmla="*/ 42 w 76"/>
              <a:gd name="T35" fmla="*/ 76 h 76"/>
              <a:gd name="T36" fmla="*/ 4 w 76"/>
              <a:gd name="T37" fmla="*/ 76 h 76"/>
              <a:gd name="T38" fmla="*/ 4 w 76"/>
              <a:gd name="T39" fmla="*/ 76 h 76"/>
              <a:gd name="T40" fmla="*/ 2 w 76"/>
              <a:gd name="T41" fmla="*/ 76 h 76"/>
              <a:gd name="T42" fmla="*/ 0 w 76"/>
              <a:gd name="T43" fmla="*/ 72 h 76"/>
              <a:gd name="T44" fmla="*/ 0 w 76"/>
              <a:gd name="T45" fmla="*/ 34 h 76"/>
              <a:gd name="T46" fmla="*/ 0 w 76"/>
              <a:gd name="T47" fmla="*/ 34 h 76"/>
              <a:gd name="T48" fmla="*/ 0 w 76"/>
              <a:gd name="T49" fmla="*/ 34 h 76"/>
              <a:gd name="T50" fmla="*/ 0 w 76"/>
              <a:gd name="T51" fmla="*/ 34 h 76"/>
              <a:gd name="T52" fmla="*/ 2 w 76"/>
              <a:gd name="T53" fmla="*/ 32 h 76"/>
              <a:gd name="T54" fmla="*/ 4 w 76"/>
              <a:gd name="T55" fmla="*/ 30 h 76"/>
              <a:gd name="T56" fmla="*/ 4 w 76"/>
              <a:gd name="T57" fmla="*/ 30 h 76"/>
              <a:gd name="T58" fmla="*/ 8 w 76"/>
              <a:gd name="T59" fmla="*/ 30 h 76"/>
              <a:gd name="T60" fmla="*/ 8 w 76"/>
              <a:gd name="T61" fmla="*/ 30 h 76"/>
              <a:gd name="T62" fmla="*/ 8 w 76"/>
              <a:gd name="T63" fmla="*/ 30 h 76"/>
              <a:gd name="T64" fmla="*/ 8 w 76"/>
              <a:gd name="T65" fmla="*/ 30 h 76"/>
              <a:gd name="T66" fmla="*/ 8 w 76"/>
              <a:gd name="T67" fmla="*/ 32 h 76"/>
              <a:gd name="T68" fmla="*/ 8 w 76"/>
              <a:gd name="T69" fmla="*/ 32 h 76"/>
              <a:gd name="T70" fmla="*/ 8 w 76"/>
              <a:gd name="T71" fmla="*/ 32 h 76"/>
              <a:gd name="T72" fmla="*/ 14 w 76"/>
              <a:gd name="T73" fmla="*/ 38 h 76"/>
              <a:gd name="T74" fmla="*/ 20 w 76"/>
              <a:gd name="T75" fmla="*/ 32 h 76"/>
              <a:gd name="T76" fmla="*/ 48 w 76"/>
              <a:gd name="T77" fmla="*/ 2 h 76"/>
              <a:gd name="T78" fmla="*/ 48 w 76"/>
              <a:gd name="T79" fmla="*/ 2 h 76"/>
              <a:gd name="T80" fmla="*/ 52 w 76"/>
              <a:gd name="T81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" h="76">
                <a:moveTo>
                  <a:pt x="52" y="0"/>
                </a:moveTo>
                <a:lnTo>
                  <a:pt x="52" y="0"/>
                </a:lnTo>
                <a:lnTo>
                  <a:pt x="56" y="2"/>
                </a:lnTo>
                <a:lnTo>
                  <a:pt x="74" y="20"/>
                </a:lnTo>
                <a:lnTo>
                  <a:pt x="74" y="20"/>
                </a:lnTo>
                <a:lnTo>
                  <a:pt x="76" y="24"/>
                </a:lnTo>
                <a:lnTo>
                  <a:pt x="76" y="24"/>
                </a:lnTo>
                <a:lnTo>
                  <a:pt x="74" y="28"/>
                </a:lnTo>
                <a:lnTo>
                  <a:pt x="44" y="56"/>
                </a:lnTo>
                <a:lnTo>
                  <a:pt x="38" y="62"/>
                </a:lnTo>
                <a:lnTo>
                  <a:pt x="44" y="68"/>
                </a:lnTo>
                <a:lnTo>
                  <a:pt x="44" y="68"/>
                </a:lnTo>
                <a:lnTo>
                  <a:pt x="44" y="68"/>
                </a:lnTo>
                <a:lnTo>
                  <a:pt x="46" y="70"/>
                </a:lnTo>
                <a:lnTo>
                  <a:pt x="46" y="74"/>
                </a:lnTo>
                <a:lnTo>
                  <a:pt x="46" y="74"/>
                </a:lnTo>
                <a:lnTo>
                  <a:pt x="44" y="76"/>
                </a:lnTo>
                <a:lnTo>
                  <a:pt x="42" y="76"/>
                </a:lnTo>
                <a:lnTo>
                  <a:pt x="4" y="76"/>
                </a:lnTo>
                <a:lnTo>
                  <a:pt x="4" y="76"/>
                </a:lnTo>
                <a:lnTo>
                  <a:pt x="2" y="76"/>
                </a:lnTo>
                <a:lnTo>
                  <a:pt x="0" y="72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0" y="34"/>
                </a:lnTo>
                <a:lnTo>
                  <a:pt x="2" y="32"/>
                </a:lnTo>
                <a:lnTo>
                  <a:pt x="4" y="30"/>
                </a:lnTo>
                <a:lnTo>
                  <a:pt x="4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32"/>
                </a:lnTo>
                <a:lnTo>
                  <a:pt x="8" y="32"/>
                </a:lnTo>
                <a:lnTo>
                  <a:pt x="8" y="32"/>
                </a:lnTo>
                <a:lnTo>
                  <a:pt x="14" y="38"/>
                </a:lnTo>
                <a:lnTo>
                  <a:pt x="20" y="32"/>
                </a:lnTo>
                <a:lnTo>
                  <a:pt x="48" y="2"/>
                </a:lnTo>
                <a:lnTo>
                  <a:pt x="48" y="2"/>
                </a:lnTo>
                <a:lnTo>
                  <a:pt x="52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4" name="Freeform 242"/>
          <p:cNvSpPr>
            <a:spLocks/>
          </p:cNvSpPr>
          <p:nvPr/>
        </p:nvSpPr>
        <p:spPr bwMode="auto">
          <a:xfrm>
            <a:off x="4431838" y="4013758"/>
            <a:ext cx="45304" cy="45304"/>
          </a:xfrm>
          <a:custGeom>
            <a:avLst/>
            <a:gdLst>
              <a:gd name="T0" fmla="*/ 42 w 76"/>
              <a:gd name="T1" fmla="*/ 0 h 76"/>
              <a:gd name="T2" fmla="*/ 42 w 76"/>
              <a:gd name="T3" fmla="*/ 0 h 76"/>
              <a:gd name="T4" fmla="*/ 44 w 76"/>
              <a:gd name="T5" fmla="*/ 0 h 76"/>
              <a:gd name="T6" fmla="*/ 46 w 76"/>
              <a:gd name="T7" fmla="*/ 2 h 76"/>
              <a:gd name="T8" fmla="*/ 46 w 76"/>
              <a:gd name="T9" fmla="*/ 2 h 76"/>
              <a:gd name="T10" fmla="*/ 46 w 76"/>
              <a:gd name="T11" fmla="*/ 6 h 76"/>
              <a:gd name="T12" fmla="*/ 44 w 76"/>
              <a:gd name="T13" fmla="*/ 8 h 76"/>
              <a:gd name="T14" fmla="*/ 44 w 76"/>
              <a:gd name="T15" fmla="*/ 8 h 76"/>
              <a:gd name="T16" fmla="*/ 38 w 76"/>
              <a:gd name="T17" fmla="*/ 14 h 76"/>
              <a:gd name="T18" fmla="*/ 44 w 76"/>
              <a:gd name="T19" fmla="*/ 20 h 76"/>
              <a:gd name="T20" fmla="*/ 74 w 76"/>
              <a:gd name="T21" fmla="*/ 50 h 76"/>
              <a:gd name="T22" fmla="*/ 74 w 76"/>
              <a:gd name="T23" fmla="*/ 50 h 76"/>
              <a:gd name="T24" fmla="*/ 76 w 76"/>
              <a:gd name="T25" fmla="*/ 52 h 76"/>
              <a:gd name="T26" fmla="*/ 76 w 76"/>
              <a:gd name="T27" fmla="*/ 52 h 76"/>
              <a:gd name="T28" fmla="*/ 74 w 76"/>
              <a:gd name="T29" fmla="*/ 56 h 76"/>
              <a:gd name="T30" fmla="*/ 56 w 76"/>
              <a:gd name="T31" fmla="*/ 74 h 76"/>
              <a:gd name="T32" fmla="*/ 56 w 76"/>
              <a:gd name="T33" fmla="*/ 74 h 76"/>
              <a:gd name="T34" fmla="*/ 52 w 76"/>
              <a:gd name="T35" fmla="*/ 76 h 76"/>
              <a:gd name="T36" fmla="*/ 52 w 76"/>
              <a:gd name="T37" fmla="*/ 76 h 76"/>
              <a:gd name="T38" fmla="*/ 48 w 76"/>
              <a:gd name="T39" fmla="*/ 74 h 76"/>
              <a:gd name="T40" fmla="*/ 20 w 76"/>
              <a:gd name="T41" fmla="*/ 44 h 76"/>
              <a:gd name="T42" fmla="*/ 14 w 76"/>
              <a:gd name="T43" fmla="*/ 40 h 76"/>
              <a:gd name="T44" fmla="*/ 8 w 76"/>
              <a:gd name="T45" fmla="*/ 44 h 76"/>
              <a:gd name="T46" fmla="*/ 8 w 76"/>
              <a:gd name="T47" fmla="*/ 46 h 76"/>
              <a:gd name="T48" fmla="*/ 8 w 76"/>
              <a:gd name="T49" fmla="*/ 46 h 76"/>
              <a:gd name="T50" fmla="*/ 8 w 76"/>
              <a:gd name="T51" fmla="*/ 46 h 76"/>
              <a:gd name="T52" fmla="*/ 8 w 76"/>
              <a:gd name="T53" fmla="*/ 46 h 76"/>
              <a:gd name="T54" fmla="*/ 8 w 76"/>
              <a:gd name="T55" fmla="*/ 46 h 76"/>
              <a:gd name="T56" fmla="*/ 4 w 76"/>
              <a:gd name="T57" fmla="*/ 46 h 76"/>
              <a:gd name="T58" fmla="*/ 4 w 76"/>
              <a:gd name="T59" fmla="*/ 46 h 76"/>
              <a:gd name="T60" fmla="*/ 2 w 76"/>
              <a:gd name="T61" fmla="*/ 46 h 76"/>
              <a:gd name="T62" fmla="*/ 0 w 76"/>
              <a:gd name="T63" fmla="*/ 42 h 76"/>
              <a:gd name="T64" fmla="*/ 0 w 76"/>
              <a:gd name="T65" fmla="*/ 42 h 76"/>
              <a:gd name="T66" fmla="*/ 0 w 76"/>
              <a:gd name="T67" fmla="*/ 4 h 76"/>
              <a:gd name="T68" fmla="*/ 0 w 76"/>
              <a:gd name="T69" fmla="*/ 4 h 76"/>
              <a:gd name="T70" fmla="*/ 2 w 76"/>
              <a:gd name="T71" fmla="*/ 2 h 76"/>
              <a:gd name="T72" fmla="*/ 4 w 76"/>
              <a:gd name="T73" fmla="*/ 0 h 76"/>
              <a:gd name="T74" fmla="*/ 42 w 76"/>
              <a:gd name="T75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6" h="76">
                <a:moveTo>
                  <a:pt x="42" y="0"/>
                </a:moveTo>
                <a:lnTo>
                  <a:pt x="42" y="0"/>
                </a:lnTo>
                <a:lnTo>
                  <a:pt x="44" y="0"/>
                </a:lnTo>
                <a:lnTo>
                  <a:pt x="46" y="2"/>
                </a:lnTo>
                <a:lnTo>
                  <a:pt x="46" y="2"/>
                </a:lnTo>
                <a:lnTo>
                  <a:pt x="46" y="6"/>
                </a:lnTo>
                <a:lnTo>
                  <a:pt x="44" y="8"/>
                </a:lnTo>
                <a:lnTo>
                  <a:pt x="44" y="8"/>
                </a:lnTo>
                <a:lnTo>
                  <a:pt x="38" y="14"/>
                </a:lnTo>
                <a:lnTo>
                  <a:pt x="44" y="20"/>
                </a:lnTo>
                <a:lnTo>
                  <a:pt x="74" y="50"/>
                </a:lnTo>
                <a:lnTo>
                  <a:pt x="74" y="50"/>
                </a:lnTo>
                <a:lnTo>
                  <a:pt x="76" y="52"/>
                </a:lnTo>
                <a:lnTo>
                  <a:pt x="76" y="52"/>
                </a:lnTo>
                <a:lnTo>
                  <a:pt x="74" y="56"/>
                </a:lnTo>
                <a:lnTo>
                  <a:pt x="56" y="74"/>
                </a:lnTo>
                <a:lnTo>
                  <a:pt x="56" y="74"/>
                </a:lnTo>
                <a:lnTo>
                  <a:pt x="52" y="76"/>
                </a:lnTo>
                <a:lnTo>
                  <a:pt x="52" y="76"/>
                </a:lnTo>
                <a:lnTo>
                  <a:pt x="48" y="74"/>
                </a:lnTo>
                <a:lnTo>
                  <a:pt x="20" y="44"/>
                </a:lnTo>
                <a:lnTo>
                  <a:pt x="14" y="40"/>
                </a:lnTo>
                <a:lnTo>
                  <a:pt x="8" y="44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0" y="42"/>
                </a:lnTo>
                <a:lnTo>
                  <a:pt x="0" y="42"/>
                </a:lnTo>
                <a:lnTo>
                  <a:pt x="0" y="4"/>
                </a:lnTo>
                <a:lnTo>
                  <a:pt x="0" y="4"/>
                </a:lnTo>
                <a:lnTo>
                  <a:pt x="2" y="2"/>
                </a:lnTo>
                <a:lnTo>
                  <a:pt x="4" y="0"/>
                </a:lnTo>
                <a:lnTo>
                  <a:pt x="4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5" name="Freeform 243"/>
          <p:cNvSpPr>
            <a:spLocks/>
          </p:cNvSpPr>
          <p:nvPr/>
        </p:nvSpPr>
        <p:spPr bwMode="auto">
          <a:xfrm>
            <a:off x="4431838" y="4013758"/>
            <a:ext cx="45304" cy="45304"/>
          </a:xfrm>
          <a:custGeom>
            <a:avLst/>
            <a:gdLst>
              <a:gd name="T0" fmla="*/ 42 w 76"/>
              <a:gd name="T1" fmla="*/ 0 h 76"/>
              <a:gd name="T2" fmla="*/ 42 w 76"/>
              <a:gd name="T3" fmla="*/ 0 h 76"/>
              <a:gd name="T4" fmla="*/ 44 w 76"/>
              <a:gd name="T5" fmla="*/ 0 h 76"/>
              <a:gd name="T6" fmla="*/ 46 w 76"/>
              <a:gd name="T7" fmla="*/ 2 h 76"/>
              <a:gd name="T8" fmla="*/ 46 w 76"/>
              <a:gd name="T9" fmla="*/ 2 h 76"/>
              <a:gd name="T10" fmla="*/ 46 w 76"/>
              <a:gd name="T11" fmla="*/ 6 h 76"/>
              <a:gd name="T12" fmla="*/ 44 w 76"/>
              <a:gd name="T13" fmla="*/ 8 h 76"/>
              <a:gd name="T14" fmla="*/ 44 w 76"/>
              <a:gd name="T15" fmla="*/ 8 h 76"/>
              <a:gd name="T16" fmla="*/ 38 w 76"/>
              <a:gd name="T17" fmla="*/ 14 h 76"/>
              <a:gd name="T18" fmla="*/ 44 w 76"/>
              <a:gd name="T19" fmla="*/ 20 h 76"/>
              <a:gd name="T20" fmla="*/ 74 w 76"/>
              <a:gd name="T21" fmla="*/ 50 h 76"/>
              <a:gd name="T22" fmla="*/ 74 w 76"/>
              <a:gd name="T23" fmla="*/ 50 h 76"/>
              <a:gd name="T24" fmla="*/ 76 w 76"/>
              <a:gd name="T25" fmla="*/ 52 h 76"/>
              <a:gd name="T26" fmla="*/ 76 w 76"/>
              <a:gd name="T27" fmla="*/ 52 h 76"/>
              <a:gd name="T28" fmla="*/ 74 w 76"/>
              <a:gd name="T29" fmla="*/ 56 h 76"/>
              <a:gd name="T30" fmla="*/ 56 w 76"/>
              <a:gd name="T31" fmla="*/ 74 h 76"/>
              <a:gd name="T32" fmla="*/ 56 w 76"/>
              <a:gd name="T33" fmla="*/ 74 h 76"/>
              <a:gd name="T34" fmla="*/ 52 w 76"/>
              <a:gd name="T35" fmla="*/ 76 h 76"/>
              <a:gd name="T36" fmla="*/ 52 w 76"/>
              <a:gd name="T37" fmla="*/ 76 h 76"/>
              <a:gd name="T38" fmla="*/ 48 w 76"/>
              <a:gd name="T39" fmla="*/ 74 h 76"/>
              <a:gd name="T40" fmla="*/ 20 w 76"/>
              <a:gd name="T41" fmla="*/ 44 h 76"/>
              <a:gd name="T42" fmla="*/ 14 w 76"/>
              <a:gd name="T43" fmla="*/ 40 h 76"/>
              <a:gd name="T44" fmla="*/ 8 w 76"/>
              <a:gd name="T45" fmla="*/ 44 h 76"/>
              <a:gd name="T46" fmla="*/ 8 w 76"/>
              <a:gd name="T47" fmla="*/ 46 h 76"/>
              <a:gd name="T48" fmla="*/ 8 w 76"/>
              <a:gd name="T49" fmla="*/ 46 h 76"/>
              <a:gd name="T50" fmla="*/ 8 w 76"/>
              <a:gd name="T51" fmla="*/ 46 h 76"/>
              <a:gd name="T52" fmla="*/ 8 w 76"/>
              <a:gd name="T53" fmla="*/ 46 h 76"/>
              <a:gd name="T54" fmla="*/ 8 w 76"/>
              <a:gd name="T55" fmla="*/ 46 h 76"/>
              <a:gd name="T56" fmla="*/ 4 w 76"/>
              <a:gd name="T57" fmla="*/ 46 h 76"/>
              <a:gd name="T58" fmla="*/ 4 w 76"/>
              <a:gd name="T59" fmla="*/ 46 h 76"/>
              <a:gd name="T60" fmla="*/ 2 w 76"/>
              <a:gd name="T61" fmla="*/ 46 h 76"/>
              <a:gd name="T62" fmla="*/ 0 w 76"/>
              <a:gd name="T63" fmla="*/ 42 h 76"/>
              <a:gd name="T64" fmla="*/ 0 w 76"/>
              <a:gd name="T65" fmla="*/ 42 h 76"/>
              <a:gd name="T66" fmla="*/ 0 w 76"/>
              <a:gd name="T67" fmla="*/ 4 h 76"/>
              <a:gd name="T68" fmla="*/ 0 w 76"/>
              <a:gd name="T69" fmla="*/ 4 h 76"/>
              <a:gd name="T70" fmla="*/ 2 w 76"/>
              <a:gd name="T71" fmla="*/ 2 h 76"/>
              <a:gd name="T72" fmla="*/ 4 w 76"/>
              <a:gd name="T73" fmla="*/ 0 h 76"/>
              <a:gd name="T74" fmla="*/ 42 w 76"/>
              <a:gd name="T75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6" h="76">
                <a:moveTo>
                  <a:pt x="42" y="0"/>
                </a:moveTo>
                <a:lnTo>
                  <a:pt x="42" y="0"/>
                </a:lnTo>
                <a:lnTo>
                  <a:pt x="44" y="0"/>
                </a:lnTo>
                <a:lnTo>
                  <a:pt x="46" y="2"/>
                </a:lnTo>
                <a:lnTo>
                  <a:pt x="46" y="2"/>
                </a:lnTo>
                <a:lnTo>
                  <a:pt x="46" y="6"/>
                </a:lnTo>
                <a:lnTo>
                  <a:pt x="44" y="8"/>
                </a:lnTo>
                <a:lnTo>
                  <a:pt x="44" y="8"/>
                </a:lnTo>
                <a:lnTo>
                  <a:pt x="38" y="14"/>
                </a:lnTo>
                <a:lnTo>
                  <a:pt x="44" y="20"/>
                </a:lnTo>
                <a:lnTo>
                  <a:pt x="74" y="50"/>
                </a:lnTo>
                <a:lnTo>
                  <a:pt x="74" y="50"/>
                </a:lnTo>
                <a:lnTo>
                  <a:pt x="76" y="52"/>
                </a:lnTo>
                <a:lnTo>
                  <a:pt x="76" y="52"/>
                </a:lnTo>
                <a:lnTo>
                  <a:pt x="74" y="56"/>
                </a:lnTo>
                <a:lnTo>
                  <a:pt x="56" y="74"/>
                </a:lnTo>
                <a:lnTo>
                  <a:pt x="56" y="74"/>
                </a:lnTo>
                <a:lnTo>
                  <a:pt x="52" y="76"/>
                </a:lnTo>
                <a:lnTo>
                  <a:pt x="52" y="76"/>
                </a:lnTo>
                <a:lnTo>
                  <a:pt x="48" y="74"/>
                </a:lnTo>
                <a:lnTo>
                  <a:pt x="20" y="44"/>
                </a:lnTo>
                <a:lnTo>
                  <a:pt x="14" y="40"/>
                </a:lnTo>
                <a:lnTo>
                  <a:pt x="8" y="44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8" y="46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0" y="42"/>
                </a:lnTo>
                <a:lnTo>
                  <a:pt x="0" y="42"/>
                </a:lnTo>
                <a:lnTo>
                  <a:pt x="0" y="4"/>
                </a:lnTo>
                <a:lnTo>
                  <a:pt x="0" y="4"/>
                </a:lnTo>
                <a:lnTo>
                  <a:pt x="2" y="2"/>
                </a:lnTo>
                <a:lnTo>
                  <a:pt x="4" y="0"/>
                </a:lnTo>
                <a:lnTo>
                  <a:pt x="42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6" name="Freeform 244"/>
          <p:cNvSpPr>
            <a:spLocks/>
          </p:cNvSpPr>
          <p:nvPr/>
        </p:nvSpPr>
        <p:spPr bwMode="auto">
          <a:xfrm>
            <a:off x="4509332" y="4091252"/>
            <a:ext cx="45304" cy="45304"/>
          </a:xfrm>
          <a:custGeom>
            <a:avLst/>
            <a:gdLst>
              <a:gd name="T0" fmla="*/ 24 w 76"/>
              <a:gd name="T1" fmla="*/ 0 h 76"/>
              <a:gd name="T2" fmla="*/ 24 w 76"/>
              <a:gd name="T3" fmla="*/ 0 h 76"/>
              <a:gd name="T4" fmla="*/ 26 w 76"/>
              <a:gd name="T5" fmla="*/ 2 h 76"/>
              <a:gd name="T6" fmla="*/ 56 w 76"/>
              <a:gd name="T7" fmla="*/ 32 h 76"/>
              <a:gd name="T8" fmla="*/ 62 w 76"/>
              <a:gd name="T9" fmla="*/ 38 h 76"/>
              <a:gd name="T10" fmla="*/ 68 w 76"/>
              <a:gd name="T11" fmla="*/ 32 h 76"/>
              <a:gd name="T12" fmla="*/ 68 w 76"/>
              <a:gd name="T13" fmla="*/ 32 h 76"/>
              <a:gd name="T14" fmla="*/ 68 w 76"/>
              <a:gd name="T15" fmla="*/ 30 h 76"/>
              <a:gd name="T16" fmla="*/ 68 w 76"/>
              <a:gd name="T17" fmla="*/ 30 h 76"/>
              <a:gd name="T18" fmla="*/ 68 w 76"/>
              <a:gd name="T19" fmla="*/ 30 h 76"/>
              <a:gd name="T20" fmla="*/ 68 w 76"/>
              <a:gd name="T21" fmla="*/ 30 h 76"/>
              <a:gd name="T22" fmla="*/ 72 w 76"/>
              <a:gd name="T23" fmla="*/ 30 h 76"/>
              <a:gd name="T24" fmla="*/ 72 w 76"/>
              <a:gd name="T25" fmla="*/ 30 h 76"/>
              <a:gd name="T26" fmla="*/ 74 w 76"/>
              <a:gd name="T27" fmla="*/ 32 h 76"/>
              <a:gd name="T28" fmla="*/ 76 w 76"/>
              <a:gd name="T29" fmla="*/ 34 h 76"/>
              <a:gd name="T30" fmla="*/ 76 w 76"/>
              <a:gd name="T31" fmla="*/ 34 h 76"/>
              <a:gd name="T32" fmla="*/ 76 w 76"/>
              <a:gd name="T33" fmla="*/ 72 h 76"/>
              <a:gd name="T34" fmla="*/ 76 w 76"/>
              <a:gd name="T35" fmla="*/ 72 h 76"/>
              <a:gd name="T36" fmla="*/ 74 w 76"/>
              <a:gd name="T37" fmla="*/ 76 h 76"/>
              <a:gd name="T38" fmla="*/ 72 w 76"/>
              <a:gd name="T39" fmla="*/ 76 h 76"/>
              <a:gd name="T40" fmla="*/ 34 w 76"/>
              <a:gd name="T41" fmla="*/ 76 h 76"/>
              <a:gd name="T42" fmla="*/ 34 w 76"/>
              <a:gd name="T43" fmla="*/ 76 h 76"/>
              <a:gd name="T44" fmla="*/ 32 w 76"/>
              <a:gd name="T45" fmla="*/ 76 h 76"/>
              <a:gd name="T46" fmla="*/ 30 w 76"/>
              <a:gd name="T47" fmla="*/ 74 h 76"/>
              <a:gd name="T48" fmla="*/ 30 w 76"/>
              <a:gd name="T49" fmla="*/ 74 h 76"/>
              <a:gd name="T50" fmla="*/ 30 w 76"/>
              <a:gd name="T51" fmla="*/ 70 h 76"/>
              <a:gd name="T52" fmla="*/ 30 w 76"/>
              <a:gd name="T53" fmla="*/ 68 h 76"/>
              <a:gd name="T54" fmla="*/ 32 w 76"/>
              <a:gd name="T55" fmla="*/ 68 h 76"/>
              <a:gd name="T56" fmla="*/ 38 w 76"/>
              <a:gd name="T57" fmla="*/ 62 h 76"/>
              <a:gd name="T58" fmla="*/ 32 w 76"/>
              <a:gd name="T59" fmla="*/ 56 h 76"/>
              <a:gd name="T60" fmla="*/ 2 w 76"/>
              <a:gd name="T61" fmla="*/ 28 h 76"/>
              <a:gd name="T62" fmla="*/ 2 w 76"/>
              <a:gd name="T63" fmla="*/ 28 h 76"/>
              <a:gd name="T64" fmla="*/ 0 w 76"/>
              <a:gd name="T65" fmla="*/ 24 h 76"/>
              <a:gd name="T66" fmla="*/ 0 w 76"/>
              <a:gd name="T67" fmla="*/ 24 h 76"/>
              <a:gd name="T68" fmla="*/ 2 w 76"/>
              <a:gd name="T69" fmla="*/ 20 h 76"/>
              <a:gd name="T70" fmla="*/ 20 w 76"/>
              <a:gd name="T71" fmla="*/ 2 h 76"/>
              <a:gd name="T72" fmla="*/ 20 w 76"/>
              <a:gd name="T73" fmla="*/ 2 h 76"/>
              <a:gd name="T74" fmla="*/ 24 w 76"/>
              <a:gd name="T75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6" h="76">
                <a:moveTo>
                  <a:pt x="24" y="0"/>
                </a:moveTo>
                <a:lnTo>
                  <a:pt x="24" y="0"/>
                </a:lnTo>
                <a:lnTo>
                  <a:pt x="26" y="2"/>
                </a:lnTo>
                <a:lnTo>
                  <a:pt x="56" y="32"/>
                </a:lnTo>
                <a:lnTo>
                  <a:pt x="62" y="38"/>
                </a:lnTo>
                <a:lnTo>
                  <a:pt x="68" y="32"/>
                </a:lnTo>
                <a:lnTo>
                  <a:pt x="68" y="32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72" y="30"/>
                </a:lnTo>
                <a:lnTo>
                  <a:pt x="72" y="30"/>
                </a:lnTo>
                <a:lnTo>
                  <a:pt x="74" y="32"/>
                </a:lnTo>
                <a:lnTo>
                  <a:pt x="76" y="34"/>
                </a:lnTo>
                <a:lnTo>
                  <a:pt x="76" y="34"/>
                </a:lnTo>
                <a:lnTo>
                  <a:pt x="76" y="72"/>
                </a:lnTo>
                <a:lnTo>
                  <a:pt x="76" y="72"/>
                </a:lnTo>
                <a:lnTo>
                  <a:pt x="74" y="76"/>
                </a:lnTo>
                <a:lnTo>
                  <a:pt x="72" y="76"/>
                </a:lnTo>
                <a:lnTo>
                  <a:pt x="34" y="76"/>
                </a:lnTo>
                <a:lnTo>
                  <a:pt x="34" y="76"/>
                </a:lnTo>
                <a:lnTo>
                  <a:pt x="32" y="76"/>
                </a:lnTo>
                <a:lnTo>
                  <a:pt x="30" y="74"/>
                </a:lnTo>
                <a:lnTo>
                  <a:pt x="30" y="74"/>
                </a:lnTo>
                <a:lnTo>
                  <a:pt x="30" y="70"/>
                </a:lnTo>
                <a:lnTo>
                  <a:pt x="30" y="68"/>
                </a:lnTo>
                <a:lnTo>
                  <a:pt x="32" y="68"/>
                </a:lnTo>
                <a:lnTo>
                  <a:pt x="38" y="62"/>
                </a:lnTo>
                <a:lnTo>
                  <a:pt x="32" y="56"/>
                </a:lnTo>
                <a:lnTo>
                  <a:pt x="2" y="28"/>
                </a:lnTo>
                <a:lnTo>
                  <a:pt x="2" y="28"/>
                </a:lnTo>
                <a:lnTo>
                  <a:pt x="0" y="24"/>
                </a:lnTo>
                <a:lnTo>
                  <a:pt x="0" y="24"/>
                </a:lnTo>
                <a:lnTo>
                  <a:pt x="2" y="20"/>
                </a:lnTo>
                <a:lnTo>
                  <a:pt x="20" y="2"/>
                </a:lnTo>
                <a:lnTo>
                  <a:pt x="20" y="2"/>
                </a:lnTo>
                <a:lnTo>
                  <a:pt x="2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7" name="Freeform 245"/>
          <p:cNvSpPr>
            <a:spLocks/>
          </p:cNvSpPr>
          <p:nvPr/>
        </p:nvSpPr>
        <p:spPr bwMode="auto">
          <a:xfrm>
            <a:off x="4509332" y="4091252"/>
            <a:ext cx="45304" cy="45304"/>
          </a:xfrm>
          <a:custGeom>
            <a:avLst/>
            <a:gdLst>
              <a:gd name="T0" fmla="*/ 24 w 76"/>
              <a:gd name="T1" fmla="*/ 0 h 76"/>
              <a:gd name="T2" fmla="*/ 24 w 76"/>
              <a:gd name="T3" fmla="*/ 0 h 76"/>
              <a:gd name="T4" fmla="*/ 26 w 76"/>
              <a:gd name="T5" fmla="*/ 2 h 76"/>
              <a:gd name="T6" fmla="*/ 56 w 76"/>
              <a:gd name="T7" fmla="*/ 32 h 76"/>
              <a:gd name="T8" fmla="*/ 62 w 76"/>
              <a:gd name="T9" fmla="*/ 38 h 76"/>
              <a:gd name="T10" fmla="*/ 68 w 76"/>
              <a:gd name="T11" fmla="*/ 32 h 76"/>
              <a:gd name="T12" fmla="*/ 68 w 76"/>
              <a:gd name="T13" fmla="*/ 32 h 76"/>
              <a:gd name="T14" fmla="*/ 68 w 76"/>
              <a:gd name="T15" fmla="*/ 30 h 76"/>
              <a:gd name="T16" fmla="*/ 68 w 76"/>
              <a:gd name="T17" fmla="*/ 30 h 76"/>
              <a:gd name="T18" fmla="*/ 68 w 76"/>
              <a:gd name="T19" fmla="*/ 30 h 76"/>
              <a:gd name="T20" fmla="*/ 68 w 76"/>
              <a:gd name="T21" fmla="*/ 30 h 76"/>
              <a:gd name="T22" fmla="*/ 72 w 76"/>
              <a:gd name="T23" fmla="*/ 30 h 76"/>
              <a:gd name="T24" fmla="*/ 72 w 76"/>
              <a:gd name="T25" fmla="*/ 30 h 76"/>
              <a:gd name="T26" fmla="*/ 74 w 76"/>
              <a:gd name="T27" fmla="*/ 32 h 76"/>
              <a:gd name="T28" fmla="*/ 76 w 76"/>
              <a:gd name="T29" fmla="*/ 34 h 76"/>
              <a:gd name="T30" fmla="*/ 76 w 76"/>
              <a:gd name="T31" fmla="*/ 34 h 76"/>
              <a:gd name="T32" fmla="*/ 76 w 76"/>
              <a:gd name="T33" fmla="*/ 72 h 76"/>
              <a:gd name="T34" fmla="*/ 76 w 76"/>
              <a:gd name="T35" fmla="*/ 72 h 76"/>
              <a:gd name="T36" fmla="*/ 74 w 76"/>
              <a:gd name="T37" fmla="*/ 76 h 76"/>
              <a:gd name="T38" fmla="*/ 72 w 76"/>
              <a:gd name="T39" fmla="*/ 76 h 76"/>
              <a:gd name="T40" fmla="*/ 34 w 76"/>
              <a:gd name="T41" fmla="*/ 76 h 76"/>
              <a:gd name="T42" fmla="*/ 34 w 76"/>
              <a:gd name="T43" fmla="*/ 76 h 76"/>
              <a:gd name="T44" fmla="*/ 32 w 76"/>
              <a:gd name="T45" fmla="*/ 76 h 76"/>
              <a:gd name="T46" fmla="*/ 30 w 76"/>
              <a:gd name="T47" fmla="*/ 74 h 76"/>
              <a:gd name="T48" fmla="*/ 30 w 76"/>
              <a:gd name="T49" fmla="*/ 74 h 76"/>
              <a:gd name="T50" fmla="*/ 30 w 76"/>
              <a:gd name="T51" fmla="*/ 70 h 76"/>
              <a:gd name="T52" fmla="*/ 30 w 76"/>
              <a:gd name="T53" fmla="*/ 68 h 76"/>
              <a:gd name="T54" fmla="*/ 32 w 76"/>
              <a:gd name="T55" fmla="*/ 68 h 76"/>
              <a:gd name="T56" fmla="*/ 38 w 76"/>
              <a:gd name="T57" fmla="*/ 62 h 76"/>
              <a:gd name="T58" fmla="*/ 32 w 76"/>
              <a:gd name="T59" fmla="*/ 56 h 76"/>
              <a:gd name="T60" fmla="*/ 2 w 76"/>
              <a:gd name="T61" fmla="*/ 28 h 76"/>
              <a:gd name="T62" fmla="*/ 2 w 76"/>
              <a:gd name="T63" fmla="*/ 28 h 76"/>
              <a:gd name="T64" fmla="*/ 0 w 76"/>
              <a:gd name="T65" fmla="*/ 24 h 76"/>
              <a:gd name="T66" fmla="*/ 0 w 76"/>
              <a:gd name="T67" fmla="*/ 24 h 76"/>
              <a:gd name="T68" fmla="*/ 2 w 76"/>
              <a:gd name="T69" fmla="*/ 20 h 76"/>
              <a:gd name="T70" fmla="*/ 20 w 76"/>
              <a:gd name="T71" fmla="*/ 2 h 76"/>
              <a:gd name="T72" fmla="*/ 20 w 76"/>
              <a:gd name="T73" fmla="*/ 2 h 76"/>
              <a:gd name="T74" fmla="*/ 24 w 76"/>
              <a:gd name="T75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6" h="76">
                <a:moveTo>
                  <a:pt x="24" y="0"/>
                </a:moveTo>
                <a:lnTo>
                  <a:pt x="24" y="0"/>
                </a:lnTo>
                <a:lnTo>
                  <a:pt x="26" y="2"/>
                </a:lnTo>
                <a:lnTo>
                  <a:pt x="56" y="32"/>
                </a:lnTo>
                <a:lnTo>
                  <a:pt x="62" y="38"/>
                </a:lnTo>
                <a:lnTo>
                  <a:pt x="68" y="32"/>
                </a:lnTo>
                <a:lnTo>
                  <a:pt x="68" y="32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68" y="30"/>
                </a:lnTo>
                <a:lnTo>
                  <a:pt x="72" y="30"/>
                </a:lnTo>
                <a:lnTo>
                  <a:pt x="72" y="30"/>
                </a:lnTo>
                <a:lnTo>
                  <a:pt x="74" y="32"/>
                </a:lnTo>
                <a:lnTo>
                  <a:pt x="76" y="34"/>
                </a:lnTo>
                <a:lnTo>
                  <a:pt x="76" y="34"/>
                </a:lnTo>
                <a:lnTo>
                  <a:pt x="76" y="72"/>
                </a:lnTo>
                <a:lnTo>
                  <a:pt x="76" y="72"/>
                </a:lnTo>
                <a:lnTo>
                  <a:pt x="74" y="76"/>
                </a:lnTo>
                <a:lnTo>
                  <a:pt x="72" y="76"/>
                </a:lnTo>
                <a:lnTo>
                  <a:pt x="34" y="76"/>
                </a:lnTo>
                <a:lnTo>
                  <a:pt x="34" y="76"/>
                </a:lnTo>
                <a:lnTo>
                  <a:pt x="32" y="76"/>
                </a:lnTo>
                <a:lnTo>
                  <a:pt x="30" y="74"/>
                </a:lnTo>
                <a:lnTo>
                  <a:pt x="30" y="74"/>
                </a:lnTo>
                <a:lnTo>
                  <a:pt x="30" y="70"/>
                </a:lnTo>
                <a:lnTo>
                  <a:pt x="30" y="68"/>
                </a:lnTo>
                <a:lnTo>
                  <a:pt x="32" y="68"/>
                </a:lnTo>
                <a:lnTo>
                  <a:pt x="38" y="62"/>
                </a:lnTo>
                <a:lnTo>
                  <a:pt x="32" y="56"/>
                </a:lnTo>
                <a:lnTo>
                  <a:pt x="2" y="28"/>
                </a:lnTo>
                <a:lnTo>
                  <a:pt x="2" y="28"/>
                </a:lnTo>
                <a:lnTo>
                  <a:pt x="0" y="24"/>
                </a:lnTo>
                <a:lnTo>
                  <a:pt x="0" y="24"/>
                </a:lnTo>
                <a:lnTo>
                  <a:pt x="2" y="20"/>
                </a:lnTo>
                <a:lnTo>
                  <a:pt x="20" y="2"/>
                </a:lnTo>
                <a:lnTo>
                  <a:pt x="20" y="2"/>
                </a:lnTo>
                <a:lnTo>
                  <a:pt x="24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8" name="Freeform 246"/>
          <p:cNvSpPr>
            <a:spLocks noEditPoints="1"/>
          </p:cNvSpPr>
          <p:nvPr/>
        </p:nvSpPr>
        <p:spPr bwMode="auto">
          <a:xfrm>
            <a:off x="4391303" y="3974415"/>
            <a:ext cx="81070" cy="79878"/>
          </a:xfrm>
          <a:custGeom>
            <a:avLst/>
            <a:gdLst>
              <a:gd name="T0" fmla="*/ 128 w 136"/>
              <a:gd name="T1" fmla="*/ 8 h 134"/>
              <a:gd name="T2" fmla="*/ 128 w 136"/>
              <a:gd name="T3" fmla="*/ 30 h 134"/>
              <a:gd name="T4" fmla="*/ 128 w 136"/>
              <a:gd name="T5" fmla="*/ 30 h 134"/>
              <a:gd name="T6" fmla="*/ 70 w 136"/>
              <a:gd name="T7" fmla="*/ 30 h 134"/>
              <a:gd name="T8" fmla="*/ 56 w 136"/>
              <a:gd name="T9" fmla="*/ 34 h 134"/>
              <a:gd name="T10" fmla="*/ 44 w 136"/>
              <a:gd name="T11" fmla="*/ 42 h 134"/>
              <a:gd name="T12" fmla="*/ 36 w 136"/>
              <a:gd name="T13" fmla="*/ 54 h 134"/>
              <a:gd name="T14" fmla="*/ 32 w 136"/>
              <a:gd name="T15" fmla="*/ 68 h 134"/>
              <a:gd name="T16" fmla="*/ 32 w 136"/>
              <a:gd name="T17" fmla="*/ 126 h 134"/>
              <a:gd name="T18" fmla="*/ 10 w 136"/>
              <a:gd name="T19" fmla="*/ 126 h 134"/>
              <a:gd name="T20" fmla="*/ 8 w 136"/>
              <a:gd name="T21" fmla="*/ 126 h 134"/>
              <a:gd name="T22" fmla="*/ 8 w 136"/>
              <a:gd name="T23" fmla="*/ 68 h 134"/>
              <a:gd name="T24" fmla="*/ 14 w 136"/>
              <a:gd name="T25" fmla="*/ 44 h 134"/>
              <a:gd name="T26" fmla="*/ 26 w 136"/>
              <a:gd name="T27" fmla="*/ 26 h 134"/>
              <a:gd name="T28" fmla="*/ 46 w 136"/>
              <a:gd name="T29" fmla="*/ 12 h 134"/>
              <a:gd name="T30" fmla="*/ 70 w 136"/>
              <a:gd name="T31" fmla="*/ 8 h 134"/>
              <a:gd name="T32" fmla="*/ 128 w 136"/>
              <a:gd name="T33" fmla="*/ 0 h 134"/>
              <a:gd name="T34" fmla="*/ 70 w 136"/>
              <a:gd name="T35" fmla="*/ 0 h 134"/>
              <a:gd name="T36" fmla="*/ 44 w 136"/>
              <a:gd name="T37" fmla="*/ 4 h 134"/>
              <a:gd name="T38" fmla="*/ 22 w 136"/>
              <a:gd name="T39" fmla="*/ 20 h 134"/>
              <a:gd name="T40" fmla="*/ 6 w 136"/>
              <a:gd name="T41" fmla="*/ 42 h 134"/>
              <a:gd name="T42" fmla="*/ 0 w 136"/>
              <a:gd name="T43" fmla="*/ 68 h 134"/>
              <a:gd name="T44" fmla="*/ 0 w 136"/>
              <a:gd name="T45" fmla="*/ 126 h 134"/>
              <a:gd name="T46" fmla="*/ 4 w 136"/>
              <a:gd name="T47" fmla="*/ 132 h 134"/>
              <a:gd name="T48" fmla="*/ 10 w 136"/>
              <a:gd name="T49" fmla="*/ 134 h 134"/>
              <a:gd name="T50" fmla="*/ 32 w 136"/>
              <a:gd name="T51" fmla="*/ 134 h 134"/>
              <a:gd name="T52" fmla="*/ 38 w 136"/>
              <a:gd name="T53" fmla="*/ 132 h 134"/>
              <a:gd name="T54" fmla="*/ 40 w 136"/>
              <a:gd name="T55" fmla="*/ 126 h 134"/>
              <a:gd name="T56" fmla="*/ 40 w 136"/>
              <a:gd name="T57" fmla="*/ 68 h 134"/>
              <a:gd name="T58" fmla="*/ 42 w 136"/>
              <a:gd name="T59" fmla="*/ 56 h 134"/>
              <a:gd name="T60" fmla="*/ 58 w 136"/>
              <a:gd name="T61" fmla="*/ 40 h 134"/>
              <a:gd name="T62" fmla="*/ 70 w 136"/>
              <a:gd name="T63" fmla="*/ 38 h 134"/>
              <a:gd name="T64" fmla="*/ 128 w 136"/>
              <a:gd name="T65" fmla="*/ 38 h 134"/>
              <a:gd name="T66" fmla="*/ 134 w 136"/>
              <a:gd name="T67" fmla="*/ 36 h 134"/>
              <a:gd name="T68" fmla="*/ 136 w 136"/>
              <a:gd name="T69" fmla="*/ 30 h 134"/>
              <a:gd name="T70" fmla="*/ 136 w 136"/>
              <a:gd name="T71" fmla="*/ 8 h 134"/>
              <a:gd name="T72" fmla="*/ 134 w 136"/>
              <a:gd name="T73" fmla="*/ 2 h 134"/>
              <a:gd name="T74" fmla="*/ 128 w 136"/>
              <a:gd name="T75" fmla="*/ 0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" h="134">
                <a:moveTo>
                  <a:pt x="128" y="8"/>
                </a:moveTo>
                <a:lnTo>
                  <a:pt x="128" y="8"/>
                </a:lnTo>
                <a:lnTo>
                  <a:pt x="128" y="8"/>
                </a:lnTo>
                <a:lnTo>
                  <a:pt x="128" y="30"/>
                </a:lnTo>
                <a:lnTo>
                  <a:pt x="128" y="30"/>
                </a:lnTo>
                <a:lnTo>
                  <a:pt x="128" y="30"/>
                </a:lnTo>
                <a:lnTo>
                  <a:pt x="70" y="30"/>
                </a:lnTo>
                <a:lnTo>
                  <a:pt x="70" y="30"/>
                </a:lnTo>
                <a:lnTo>
                  <a:pt x="62" y="32"/>
                </a:lnTo>
                <a:lnTo>
                  <a:pt x="56" y="34"/>
                </a:lnTo>
                <a:lnTo>
                  <a:pt x="48" y="36"/>
                </a:lnTo>
                <a:lnTo>
                  <a:pt x="44" y="42"/>
                </a:lnTo>
                <a:lnTo>
                  <a:pt x="38" y="48"/>
                </a:lnTo>
                <a:lnTo>
                  <a:pt x="36" y="54"/>
                </a:lnTo>
                <a:lnTo>
                  <a:pt x="32" y="60"/>
                </a:lnTo>
                <a:lnTo>
                  <a:pt x="32" y="68"/>
                </a:lnTo>
                <a:lnTo>
                  <a:pt x="32" y="126"/>
                </a:lnTo>
                <a:lnTo>
                  <a:pt x="32" y="126"/>
                </a:lnTo>
                <a:lnTo>
                  <a:pt x="32" y="126"/>
                </a:lnTo>
                <a:lnTo>
                  <a:pt x="10" y="126"/>
                </a:lnTo>
                <a:lnTo>
                  <a:pt x="10" y="126"/>
                </a:lnTo>
                <a:lnTo>
                  <a:pt x="8" y="126"/>
                </a:lnTo>
                <a:lnTo>
                  <a:pt x="8" y="68"/>
                </a:lnTo>
                <a:lnTo>
                  <a:pt x="8" y="68"/>
                </a:lnTo>
                <a:lnTo>
                  <a:pt x="10" y="56"/>
                </a:lnTo>
                <a:lnTo>
                  <a:pt x="14" y="44"/>
                </a:lnTo>
                <a:lnTo>
                  <a:pt x="20" y="34"/>
                </a:lnTo>
                <a:lnTo>
                  <a:pt x="26" y="26"/>
                </a:lnTo>
                <a:lnTo>
                  <a:pt x="36" y="18"/>
                </a:lnTo>
                <a:lnTo>
                  <a:pt x="46" y="12"/>
                </a:lnTo>
                <a:lnTo>
                  <a:pt x="58" y="8"/>
                </a:lnTo>
                <a:lnTo>
                  <a:pt x="70" y="8"/>
                </a:lnTo>
                <a:lnTo>
                  <a:pt x="128" y="8"/>
                </a:lnTo>
                <a:close/>
                <a:moveTo>
                  <a:pt x="128" y="0"/>
                </a:moveTo>
                <a:lnTo>
                  <a:pt x="70" y="0"/>
                </a:lnTo>
                <a:lnTo>
                  <a:pt x="70" y="0"/>
                </a:lnTo>
                <a:lnTo>
                  <a:pt x="56" y="0"/>
                </a:lnTo>
                <a:lnTo>
                  <a:pt x="44" y="4"/>
                </a:lnTo>
                <a:lnTo>
                  <a:pt x="32" y="12"/>
                </a:lnTo>
                <a:lnTo>
                  <a:pt x="22" y="20"/>
                </a:lnTo>
                <a:lnTo>
                  <a:pt x="12" y="30"/>
                </a:lnTo>
                <a:lnTo>
                  <a:pt x="6" y="42"/>
                </a:lnTo>
                <a:lnTo>
                  <a:pt x="2" y="54"/>
                </a:lnTo>
                <a:lnTo>
                  <a:pt x="0" y="68"/>
                </a:lnTo>
                <a:lnTo>
                  <a:pt x="0" y="126"/>
                </a:lnTo>
                <a:lnTo>
                  <a:pt x="0" y="126"/>
                </a:lnTo>
                <a:lnTo>
                  <a:pt x="2" y="130"/>
                </a:lnTo>
                <a:lnTo>
                  <a:pt x="4" y="132"/>
                </a:lnTo>
                <a:lnTo>
                  <a:pt x="6" y="134"/>
                </a:lnTo>
                <a:lnTo>
                  <a:pt x="10" y="134"/>
                </a:lnTo>
                <a:lnTo>
                  <a:pt x="32" y="134"/>
                </a:lnTo>
                <a:lnTo>
                  <a:pt x="32" y="134"/>
                </a:lnTo>
                <a:lnTo>
                  <a:pt x="34" y="134"/>
                </a:lnTo>
                <a:lnTo>
                  <a:pt x="38" y="132"/>
                </a:lnTo>
                <a:lnTo>
                  <a:pt x="40" y="130"/>
                </a:lnTo>
                <a:lnTo>
                  <a:pt x="40" y="126"/>
                </a:lnTo>
                <a:lnTo>
                  <a:pt x="40" y="68"/>
                </a:lnTo>
                <a:lnTo>
                  <a:pt x="40" y="68"/>
                </a:lnTo>
                <a:lnTo>
                  <a:pt x="40" y="62"/>
                </a:lnTo>
                <a:lnTo>
                  <a:pt x="42" y="56"/>
                </a:lnTo>
                <a:lnTo>
                  <a:pt x="48" y="48"/>
                </a:lnTo>
                <a:lnTo>
                  <a:pt x="58" y="40"/>
                </a:lnTo>
                <a:lnTo>
                  <a:pt x="64" y="40"/>
                </a:lnTo>
                <a:lnTo>
                  <a:pt x="70" y="38"/>
                </a:lnTo>
                <a:lnTo>
                  <a:pt x="128" y="38"/>
                </a:lnTo>
                <a:lnTo>
                  <a:pt x="128" y="38"/>
                </a:lnTo>
                <a:lnTo>
                  <a:pt x="130" y="38"/>
                </a:lnTo>
                <a:lnTo>
                  <a:pt x="134" y="36"/>
                </a:lnTo>
                <a:lnTo>
                  <a:pt x="136" y="34"/>
                </a:lnTo>
                <a:lnTo>
                  <a:pt x="136" y="30"/>
                </a:lnTo>
                <a:lnTo>
                  <a:pt x="136" y="8"/>
                </a:lnTo>
                <a:lnTo>
                  <a:pt x="136" y="8"/>
                </a:lnTo>
                <a:lnTo>
                  <a:pt x="136" y="4"/>
                </a:lnTo>
                <a:lnTo>
                  <a:pt x="134" y="2"/>
                </a:lnTo>
                <a:lnTo>
                  <a:pt x="130" y="0"/>
                </a:lnTo>
                <a:lnTo>
                  <a:pt x="128" y="0"/>
                </a:lnTo>
                <a:lnTo>
                  <a:pt x="1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9" name="Freeform 247"/>
          <p:cNvSpPr>
            <a:spLocks/>
          </p:cNvSpPr>
          <p:nvPr/>
        </p:nvSpPr>
        <p:spPr bwMode="auto">
          <a:xfrm>
            <a:off x="4396072" y="3979184"/>
            <a:ext cx="71533" cy="70340"/>
          </a:xfrm>
          <a:custGeom>
            <a:avLst/>
            <a:gdLst>
              <a:gd name="T0" fmla="*/ 120 w 120"/>
              <a:gd name="T1" fmla="*/ 0 h 118"/>
              <a:gd name="T2" fmla="*/ 120 w 120"/>
              <a:gd name="T3" fmla="*/ 0 h 118"/>
              <a:gd name="T4" fmla="*/ 120 w 120"/>
              <a:gd name="T5" fmla="*/ 0 h 118"/>
              <a:gd name="T6" fmla="*/ 120 w 120"/>
              <a:gd name="T7" fmla="*/ 22 h 118"/>
              <a:gd name="T8" fmla="*/ 120 w 120"/>
              <a:gd name="T9" fmla="*/ 22 h 118"/>
              <a:gd name="T10" fmla="*/ 120 w 120"/>
              <a:gd name="T11" fmla="*/ 22 h 118"/>
              <a:gd name="T12" fmla="*/ 62 w 120"/>
              <a:gd name="T13" fmla="*/ 22 h 118"/>
              <a:gd name="T14" fmla="*/ 62 w 120"/>
              <a:gd name="T15" fmla="*/ 22 h 118"/>
              <a:gd name="T16" fmla="*/ 54 w 120"/>
              <a:gd name="T17" fmla="*/ 24 h 118"/>
              <a:gd name="T18" fmla="*/ 48 w 120"/>
              <a:gd name="T19" fmla="*/ 26 h 118"/>
              <a:gd name="T20" fmla="*/ 40 w 120"/>
              <a:gd name="T21" fmla="*/ 28 h 118"/>
              <a:gd name="T22" fmla="*/ 36 w 120"/>
              <a:gd name="T23" fmla="*/ 34 h 118"/>
              <a:gd name="T24" fmla="*/ 30 w 120"/>
              <a:gd name="T25" fmla="*/ 40 h 118"/>
              <a:gd name="T26" fmla="*/ 28 w 120"/>
              <a:gd name="T27" fmla="*/ 46 h 118"/>
              <a:gd name="T28" fmla="*/ 24 w 120"/>
              <a:gd name="T29" fmla="*/ 52 h 118"/>
              <a:gd name="T30" fmla="*/ 24 w 120"/>
              <a:gd name="T31" fmla="*/ 60 h 118"/>
              <a:gd name="T32" fmla="*/ 24 w 120"/>
              <a:gd name="T33" fmla="*/ 118 h 118"/>
              <a:gd name="T34" fmla="*/ 24 w 120"/>
              <a:gd name="T35" fmla="*/ 118 h 118"/>
              <a:gd name="T36" fmla="*/ 24 w 120"/>
              <a:gd name="T37" fmla="*/ 118 h 118"/>
              <a:gd name="T38" fmla="*/ 2 w 120"/>
              <a:gd name="T39" fmla="*/ 118 h 118"/>
              <a:gd name="T40" fmla="*/ 2 w 120"/>
              <a:gd name="T41" fmla="*/ 118 h 118"/>
              <a:gd name="T42" fmla="*/ 0 w 120"/>
              <a:gd name="T43" fmla="*/ 118 h 118"/>
              <a:gd name="T44" fmla="*/ 0 w 120"/>
              <a:gd name="T45" fmla="*/ 60 h 118"/>
              <a:gd name="T46" fmla="*/ 0 w 120"/>
              <a:gd name="T47" fmla="*/ 60 h 118"/>
              <a:gd name="T48" fmla="*/ 2 w 120"/>
              <a:gd name="T49" fmla="*/ 48 h 118"/>
              <a:gd name="T50" fmla="*/ 6 w 120"/>
              <a:gd name="T51" fmla="*/ 36 h 118"/>
              <a:gd name="T52" fmla="*/ 12 w 120"/>
              <a:gd name="T53" fmla="*/ 26 h 118"/>
              <a:gd name="T54" fmla="*/ 18 w 120"/>
              <a:gd name="T55" fmla="*/ 18 h 118"/>
              <a:gd name="T56" fmla="*/ 28 w 120"/>
              <a:gd name="T57" fmla="*/ 10 h 118"/>
              <a:gd name="T58" fmla="*/ 38 w 120"/>
              <a:gd name="T59" fmla="*/ 4 h 118"/>
              <a:gd name="T60" fmla="*/ 50 w 120"/>
              <a:gd name="T61" fmla="*/ 0 h 118"/>
              <a:gd name="T62" fmla="*/ 62 w 120"/>
              <a:gd name="T63" fmla="*/ 0 h 118"/>
              <a:gd name="T64" fmla="*/ 120 w 120"/>
              <a:gd name="T65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0" h="118">
                <a:moveTo>
                  <a:pt x="120" y="0"/>
                </a:moveTo>
                <a:lnTo>
                  <a:pt x="120" y="0"/>
                </a:lnTo>
                <a:lnTo>
                  <a:pt x="120" y="0"/>
                </a:lnTo>
                <a:lnTo>
                  <a:pt x="120" y="22"/>
                </a:lnTo>
                <a:lnTo>
                  <a:pt x="120" y="22"/>
                </a:lnTo>
                <a:lnTo>
                  <a:pt x="120" y="22"/>
                </a:lnTo>
                <a:lnTo>
                  <a:pt x="62" y="22"/>
                </a:lnTo>
                <a:lnTo>
                  <a:pt x="62" y="22"/>
                </a:lnTo>
                <a:lnTo>
                  <a:pt x="54" y="24"/>
                </a:lnTo>
                <a:lnTo>
                  <a:pt x="48" y="26"/>
                </a:lnTo>
                <a:lnTo>
                  <a:pt x="40" y="28"/>
                </a:lnTo>
                <a:lnTo>
                  <a:pt x="36" y="34"/>
                </a:lnTo>
                <a:lnTo>
                  <a:pt x="30" y="40"/>
                </a:lnTo>
                <a:lnTo>
                  <a:pt x="28" y="46"/>
                </a:lnTo>
                <a:lnTo>
                  <a:pt x="24" y="52"/>
                </a:lnTo>
                <a:lnTo>
                  <a:pt x="24" y="60"/>
                </a:lnTo>
                <a:lnTo>
                  <a:pt x="24" y="118"/>
                </a:lnTo>
                <a:lnTo>
                  <a:pt x="24" y="118"/>
                </a:lnTo>
                <a:lnTo>
                  <a:pt x="24" y="118"/>
                </a:lnTo>
                <a:lnTo>
                  <a:pt x="2" y="118"/>
                </a:lnTo>
                <a:lnTo>
                  <a:pt x="2" y="118"/>
                </a:lnTo>
                <a:lnTo>
                  <a:pt x="0" y="118"/>
                </a:lnTo>
                <a:lnTo>
                  <a:pt x="0" y="60"/>
                </a:lnTo>
                <a:lnTo>
                  <a:pt x="0" y="60"/>
                </a:lnTo>
                <a:lnTo>
                  <a:pt x="2" y="48"/>
                </a:lnTo>
                <a:lnTo>
                  <a:pt x="6" y="36"/>
                </a:lnTo>
                <a:lnTo>
                  <a:pt x="12" y="26"/>
                </a:lnTo>
                <a:lnTo>
                  <a:pt x="18" y="18"/>
                </a:lnTo>
                <a:lnTo>
                  <a:pt x="28" y="10"/>
                </a:lnTo>
                <a:lnTo>
                  <a:pt x="38" y="4"/>
                </a:lnTo>
                <a:lnTo>
                  <a:pt x="50" y="0"/>
                </a:lnTo>
                <a:lnTo>
                  <a:pt x="62" y="0"/>
                </a:lnTo>
                <a:lnTo>
                  <a:pt x="120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0" name="Freeform 248"/>
          <p:cNvSpPr>
            <a:spLocks/>
          </p:cNvSpPr>
          <p:nvPr/>
        </p:nvSpPr>
        <p:spPr bwMode="auto">
          <a:xfrm>
            <a:off x="4391303" y="3974415"/>
            <a:ext cx="81070" cy="79878"/>
          </a:xfrm>
          <a:custGeom>
            <a:avLst/>
            <a:gdLst>
              <a:gd name="T0" fmla="*/ 128 w 136"/>
              <a:gd name="T1" fmla="*/ 0 h 134"/>
              <a:gd name="T2" fmla="*/ 70 w 136"/>
              <a:gd name="T3" fmla="*/ 0 h 134"/>
              <a:gd name="T4" fmla="*/ 70 w 136"/>
              <a:gd name="T5" fmla="*/ 0 h 134"/>
              <a:gd name="T6" fmla="*/ 56 w 136"/>
              <a:gd name="T7" fmla="*/ 0 h 134"/>
              <a:gd name="T8" fmla="*/ 44 w 136"/>
              <a:gd name="T9" fmla="*/ 4 h 134"/>
              <a:gd name="T10" fmla="*/ 32 w 136"/>
              <a:gd name="T11" fmla="*/ 12 h 134"/>
              <a:gd name="T12" fmla="*/ 22 w 136"/>
              <a:gd name="T13" fmla="*/ 20 h 134"/>
              <a:gd name="T14" fmla="*/ 12 w 136"/>
              <a:gd name="T15" fmla="*/ 30 h 134"/>
              <a:gd name="T16" fmla="*/ 6 w 136"/>
              <a:gd name="T17" fmla="*/ 42 h 134"/>
              <a:gd name="T18" fmla="*/ 2 w 136"/>
              <a:gd name="T19" fmla="*/ 54 h 134"/>
              <a:gd name="T20" fmla="*/ 0 w 136"/>
              <a:gd name="T21" fmla="*/ 68 h 134"/>
              <a:gd name="T22" fmla="*/ 0 w 136"/>
              <a:gd name="T23" fmla="*/ 126 h 134"/>
              <a:gd name="T24" fmla="*/ 0 w 136"/>
              <a:gd name="T25" fmla="*/ 126 h 134"/>
              <a:gd name="T26" fmla="*/ 2 w 136"/>
              <a:gd name="T27" fmla="*/ 130 h 134"/>
              <a:gd name="T28" fmla="*/ 4 w 136"/>
              <a:gd name="T29" fmla="*/ 132 h 134"/>
              <a:gd name="T30" fmla="*/ 6 w 136"/>
              <a:gd name="T31" fmla="*/ 134 h 134"/>
              <a:gd name="T32" fmla="*/ 10 w 136"/>
              <a:gd name="T33" fmla="*/ 134 h 134"/>
              <a:gd name="T34" fmla="*/ 32 w 136"/>
              <a:gd name="T35" fmla="*/ 134 h 134"/>
              <a:gd name="T36" fmla="*/ 32 w 136"/>
              <a:gd name="T37" fmla="*/ 134 h 134"/>
              <a:gd name="T38" fmla="*/ 34 w 136"/>
              <a:gd name="T39" fmla="*/ 134 h 134"/>
              <a:gd name="T40" fmla="*/ 38 w 136"/>
              <a:gd name="T41" fmla="*/ 132 h 134"/>
              <a:gd name="T42" fmla="*/ 40 w 136"/>
              <a:gd name="T43" fmla="*/ 130 h 134"/>
              <a:gd name="T44" fmla="*/ 40 w 136"/>
              <a:gd name="T45" fmla="*/ 126 h 134"/>
              <a:gd name="T46" fmla="*/ 40 w 136"/>
              <a:gd name="T47" fmla="*/ 68 h 134"/>
              <a:gd name="T48" fmla="*/ 40 w 136"/>
              <a:gd name="T49" fmla="*/ 68 h 134"/>
              <a:gd name="T50" fmla="*/ 40 w 136"/>
              <a:gd name="T51" fmla="*/ 62 h 134"/>
              <a:gd name="T52" fmla="*/ 42 w 136"/>
              <a:gd name="T53" fmla="*/ 56 h 134"/>
              <a:gd name="T54" fmla="*/ 48 w 136"/>
              <a:gd name="T55" fmla="*/ 48 h 134"/>
              <a:gd name="T56" fmla="*/ 58 w 136"/>
              <a:gd name="T57" fmla="*/ 40 h 134"/>
              <a:gd name="T58" fmla="*/ 64 w 136"/>
              <a:gd name="T59" fmla="*/ 40 h 134"/>
              <a:gd name="T60" fmla="*/ 70 w 136"/>
              <a:gd name="T61" fmla="*/ 38 h 134"/>
              <a:gd name="T62" fmla="*/ 128 w 136"/>
              <a:gd name="T63" fmla="*/ 38 h 134"/>
              <a:gd name="T64" fmla="*/ 128 w 136"/>
              <a:gd name="T65" fmla="*/ 38 h 134"/>
              <a:gd name="T66" fmla="*/ 130 w 136"/>
              <a:gd name="T67" fmla="*/ 38 h 134"/>
              <a:gd name="T68" fmla="*/ 134 w 136"/>
              <a:gd name="T69" fmla="*/ 36 h 134"/>
              <a:gd name="T70" fmla="*/ 136 w 136"/>
              <a:gd name="T71" fmla="*/ 34 h 134"/>
              <a:gd name="T72" fmla="*/ 136 w 136"/>
              <a:gd name="T73" fmla="*/ 30 h 134"/>
              <a:gd name="T74" fmla="*/ 136 w 136"/>
              <a:gd name="T75" fmla="*/ 8 h 134"/>
              <a:gd name="T76" fmla="*/ 136 w 136"/>
              <a:gd name="T77" fmla="*/ 8 h 134"/>
              <a:gd name="T78" fmla="*/ 136 w 136"/>
              <a:gd name="T79" fmla="*/ 4 h 134"/>
              <a:gd name="T80" fmla="*/ 134 w 136"/>
              <a:gd name="T81" fmla="*/ 2 h 134"/>
              <a:gd name="T82" fmla="*/ 130 w 136"/>
              <a:gd name="T83" fmla="*/ 0 h 134"/>
              <a:gd name="T84" fmla="*/ 128 w 136"/>
              <a:gd name="T85" fmla="*/ 0 h 134"/>
              <a:gd name="T86" fmla="*/ 128 w 136"/>
              <a:gd name="T87" fmla="*/ 0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6" h="134">
                <a:moveTo>
                  <a:pt x="128" y="0"/>
                </a:moveTo>
                <a:lnTo>
                  <a:pt x="70" y="0"/>
                </a:lnTo>
                <a:lnTo>
                  <a:pt x="70" y="0"/>
                </a:lnTo>
                <a:lnTo>
                  <a:pt x="56" y="0"/>
                </a:lnTo>
                <a:lnTo>
                  <a:pt x="44" y="4"/>
                </a:lnTo>
                <a:lnTo>
                  <a:pt x="32" y="12"/>
                </a:lnTo>
                <a:lnTo>
                  <a:pt x="22" y="20"/>
                </a:lnTo>
                <a:lnTo>
                  <a:pt x="12" y="30"/>
                </a:lnTo>
                <a:lnTo>
                  <a:pt x="6" y="42"/>
                </a:lnTo>
                <a:lnTo>
                  <a:pt x="2" y="54"/>
                </a:lnTo>
                <a:lnTo>
                  <a:pt x="0" y="68"/>
                </a:lnTo>
                <a:lnTo>
                  <a:pt x="0" y="126"/>
                </a:lnTo>
                <a:lnTo>
                  <a:pt x="0" y="126"/>
                </a:lnTo>
                <a:lnTo>
                  <a:pt x="2" y="130"/>
                </a:lnTo>
                <a:lnTo>
                  <a:pt x="4" y="132"/>
                </a:lnTo>
                <a:lnTo>
                  <a:pt x="6" y="134"/>
                </a:lnTo>
                <a:lnTo>
                  <a:pt x="10" y="134"/>
                </a:lnTo>
                <a:lnTo>
                  <a:pt x="32" y="134"/>
                </a:lnTo>
                <a:lnTo>
                  <a:pt x="32" y="134"/>
                </a:lnTo>
                <a:lnTo>
                  <a:pt x="34" y="134"/>
                </a:lnTo>
                <a:lnTo>
                  <a:pt x="38" y="132"/>
                </a:lnTo>
                <a:lnTo>
                  <a:pt x="40" y="130"/>
                </a:lnTo>
                <a:lnTo>
                  <a:pt x="40" y="126"/>
                </a:lnTo>
                <a:lnTo>
                  <a:pt x="40" y="68"/>
                </a:lnTo>
                <a:lnTo>
                  <a:pt x="40" y="68"/>
                </a:lnTo>
                <a:lnTo>
                  <a:pt x="40" y="62"/>
                </a:lnTo>
                <a:lnTo>
                  <a:pt x="42" y="56"/>
                </a:lnTo>
                <a:lnTo>
                  <a:pt x="48" y="48"/>
                </a:lnTo>
                <a:lnTo>
                  <a:pt x="58" y="40"/>
                </a:lnTo>
                <a:lnTo>
                  <a:pt x="64" y="40"/>
                </a:lnTo>
                <a:lnTo>
                  <a:pt x="70" y="38"/>
                </a:lnTo>
                <a:lnTo>
                  <a:pt x="128" y="38"/>
                </a:lnTo>
                <a:lnTo>
                  <a:pt x="128" y="38"/>
                </a:lnTo>
                <a:lnTo>
                  <a:pt x="130" y="38"/>
                </a:lnTo>
                <a:lnTo>
                  <a:pt x="134" y="36"/>
                </a:lnTo>
                <a:lnTo>
                  <a:pt x="136" y="34"/>
                </a:lnTo>
                <a:lnTo>
                  <a:pt x="136" y="30"/>
                </a:lnTo>
                <a:lnTo>
                  <a:pt x="136" y="8"/>
                </a:lnTo>
                <a:lnTo>
                  <a:pt x="136" y="8"/>
                </a:lnTo>
                <a:lnTo>
                  <a:pt x="136" y="4"/>
                </a:lnTo>
                <a:lnTo>
                  <a:pt x="134" y="2"/>
                </a:lnTo>
                <a:lnTo>
                  <a:pt x="130" y="0"/>
                </a:lnTo>
                <a:lnTo>
                  <a:pt x="128" y="0"/>
                </a:lnTo>
                <a:lnTo>
                  <a:pt x="128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1" name="Freeform 249"/>
          <p:cNvSpPr>
            <a:spLocks noEditPoints="1"/>
          </p:cNvSpPr>
          <p:nvPr/>
        </p:nvSpPr>
        <p:spPr bwMode="auto">
          <a:xfrm>
            <a:off x="4514101" y="4096021"/>
            <a:ext cx="79878" cy="81070"/>
          </a:xfrm>
          <a:custGeom>
            <a:avLst/>
            <a:gdLst>
              <a:gd name="T0" fmla="*/ 126 w 134"/>
              <a:gd name="T1" fmla="*/ 8 h 136"/>
              <a:gd name="T2" fmla="*/ 126 w 134"/>
              <a:gd name="T3" fmla="*/ 66 h 136"/>
              <a:gd name="T4" fmla="*/ 126 w 134"/>
              <a:gd name="T5" fmla="*/ 78 h 136"/>
              <a:gd name="T6" fmla="*/ 116 w 134"/>
              <a:gd name="T7" fmla="*/ 100 h 136"/>
              <a:gd name="T8" fmla="*/ 100 w 134"/>
              <a:gd name="T9" fmla="*/ 116 h 136"/>
              <a:gd name="T10" fmla="*/ 78 w 134"/>
              <a:gd name="T11" fmla="*/ 126 h 136"/>
              <a:gd name="T12" fmla="*/ 8 w 134"/>
              <a:gd name="T13" fmla="*/ 128 h 136"/>
              <a:gd name="T14" fmla="*/ 8 w 134"/>
              <a:gd name="T15" fmla="*/ 126 h 136"/>
              <a:gd name="T16" fmla="*/ 8 w 134"/>
              <a:gd name="T17" fmla="*/ 104 h 136"/>
              <a:gd name="T18" fmla="*/ 66 w 134"/>
              <a:gd name="T19" fmla="*/ 104 h 136"/>
              <a:gd name="T20" fmla="*/ 74 w 134"/>
              <a:gd name="T21" fmla="*/ 104 h 136"/>
              <a:gd name="T22" fmla="*/ 88 w 134"/>
              <a:gd name="T23" fmla="*/ 98 h 136"/>
              <a:gd name="T24" fmla="*/ 98 w 134"/>
              <a:gd name="T25" fmla="*/ 88 h 136"/>
              <a:gd name="T26" fmla="*/ 102 w 134"/>
              <a:gd name="T27" fmla="*/ 74 h 136"/>
              <a:gd name="T28" fmla="*/ 104 w 134"/>
              <a:gd name="T29" fmla="*/ 8 h 136"/>
              <a:gd name="T30" fmla="*/ 104 w 134"/>
              <a:gd name="T31" fmla="*/ 8 h 136"/>
              <a:gd name="T32" fmla="*/ 126 w 134"/>
              <a:gd name="T33" fmla="*/ 0 h 136"/>
              <a:gd name="T34" fmla="*/ 104 w 134"/>
              <a:gd name="T35" fmla="*/ 0 h 136"/>
              <a:gd name="T36" fmla="*/ 98 w 134"/>
              <a:gd name="T37" fmla="*/ 2 h 136"/>
              <a:gd name="T38" fmla="*/ 96 w 134"/>
              <a:gd name="T39" fmla="*/ 8 h 136"/>
              <a:gd name="T40" fmla="*/ 96 w 134"/>
              <a:gd name="T41" fmla="*/ 66 h 136"/>
              <a:gd name="T42" fmla="*/ 94 w 134"/>
              <a:gd name="T43" fmla="*/ 78 h 136"/>
              <a:gd name="T44" fmla="*/ 78 w 134"/>
              <a:gd name="T45" fmla="*/ 94 h 136"/>
              <a:gd name="T46" fmla="*/ 66 w 134"/>
              <a:gd name="T47" fmla="*/ 96 h 136"/>
              <a:gd name="T48" fmla="*/ 8 w 134"/>
              <a:gd name="T49" fmla="*/ 96 h 136"/>
              <a:gd name="T50" fmla="*/ 2 w 134"/>
              <a:gd name="T51" fmla="*/ 98 h 136"/>
              <a:gd name="T52" fmla="*/ 0 w 134"/>
              <a:gd name="T53" fmla="*/ 104 h 136"/>
              <a:gd name="T54" fmla="*/ 0 w 134"/>
              <a:gd name="T55" fmla="*/ 126 h 136"/>
              <a:gd name="T56" fmla="*/ 2 w 134"/>
              <a:gd name="T57" fmla="*/ 132 h 136"/>
              <a:gd name="T58" fmla="*/ 8 w 134"/>
              <a:gd name="T59" fmla="*/ 136 h 136"/>
              <a:gd name="T60" fmla="*/ 66 w 134"/>
              <a:gd name="T61" fmla="*/ 136 h 136"/>
              <a:gd name="T62" fmla="*/ 92 w 134"/>
              <a:gd name="T63" fmla="*/ 130 h 136"/>
              <a:gd name="T64" fmla="*/ 114 w 134"/>
              <a:gd name="T65" fmla="*/ 116 h 136"/>
              <a:gd name="T66" fmla="*/ 130 w 134"/>
              <a:gd name="T67" fmla="*/ 94 h 136"/>
              <a:gd name="T68" fmla="*/ 134 w 134"/>
              <a:gd name="T69" fmla="*/ 66 h 136"/>
              <a:gd name="T70" fmla="*/ 134 w 134"/>
              <a:gd name="T71" fmla="*/ 8 h 136"/>
              <a:gd name="T72" fmla="*/ 132 w 134"/>
              <a:gd name="T73" fmla="*/ 2 h 136"/>
              <a:gd name="T74" fmla="*/ 126 w 134"/>
              <a:gd name="T7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4" h="136">
                <a:moveTo>
                  <a:pt x="126" y="8"/>
                </a:moveTo>
                <a:lnTo>
                  <a:pt x="126" y="8"/>
                </a:lnTo>
                <a:lnTo>
                  <a:pt x="126" y="8"/>
                </a:lnTo>
                <a:lnTo>
                  <a:pt x="126" y="66"/>
                </a:lnTo>
                <a:lnTo>
                  <a:pt x="126" y="66"/>
                </a:lnTo>
                <a:lnTo>
                  <a:pt x="126" y="78"/>
                </a:lnTo>
                <a:lnTo>
                  <a:pt x="122" y="90"/>
                </a:lnTo>
                <a:lnTo>
                  <a:pt x="116" y="100"/>
                </a:lnTo>
                <a:lnTo>
                  <a:pt x="110" y="110"/>
                </a:lnTo>
                <a:lnTo>
                  <a:pt x="100" y="116"/>
                </a:lnTo>
                <a:lnTo>
                  <a:pt x="90" y="122"/>
                </a:lnTo>
                <a:lnTo>
                  <a:pt x="78" y="126"/>
                </a:lnTo>
                <a:lnTo>
                  <a:pt x="66" y="128"/>
                </a:lnTo>
                <a:lnTo>
                  <a:pt x="8" y="128"/>
                </a:lnTo>
                <a:lnTo>
                  <a:pt x="8" y="128"/>
                </a:lnTo>
                <a:lnTo>
                  <a:pt x="8" y="126"/>
                </a:lnTo>
                <a:lnTo>
                  <a:pt x="8" y="104"/>
                </a:lnTo>
                <a:lnTo>
                  <a:pt x="8" y="104"/>
                </a:lnTo>
                <a:lnTo>
                  <a:pt x="8" y="104"/>
                </a:lnTo>
                <a:lnTo>
                  <a:pt x="66" y="104"/>
                </a:lnTo>
                <a:lnTo>
                  <a:pt x="66" y="104"/>
                </a:lnTo>
                <a:lnTo>
                  <a:pt x="74" y="104"/>
                </a:lnTo>
                <a:lnTo>
                  <a:pt x="80" y="102"/>
                </a:lnTo>
                <a:lnTo>
                  <a:pt x="88" y="98"/>
                </a:lnTo>
                <a:lnTo>
                  <a:pt x="92" y="94"/>
                </a:lnTo>
                <a:lnTo>
                  <a:pt x="98" y="88"/>
                </a:lnTo>
                <a:lnTo>
                  <a:pt x="100" y="80"/>
                </a:lnTo>
                <a:lnTo>
                  <a:pt x="102" y="74"/>
                </a:lnTo>
                <a:lnTo>
                  <a:pt x="104" y="66"/>
                </a:lnTo>
                <a:lnTo>
                  <a:pt x="104" y="8"/>
                </a:lnTo>
                <a:lnTo>
                  <a:pt x="104" y="8"/>
                </a:lnTo>
                <a:lnTo>
                  <a:pt x="104" y="8"/>
                </a:lnTo>
                <a:lnTo>
                  <a:pt x="126" y="8"/>
                </a:lnTo>
                <a:close/>
                <a:moveTo>
                  <a:pt x="126" y="0"/>
                </a:moveTo>
                <a:lnTo>
                  <a:pt x="104" y="0"/>
                </a:lnTo>
                <a:lnTo>
                  <a:pt x="104" y="0"/>
                </a:lnTo>
                <a:lnTo>
                  <a:pt x="102" y="0"/>
                </a:lnTo>
                <a:lnTo>
                  <a:pt x="98" y="2"/>
                </a:lnTo>
                <a:lnTo>
                  <a:pt x="96" y="6"/>
                </a:lnTo>
                <a:lnTo>
                  <a:pt x="96" y="8"/>
                </a:lnTo>
                <a:lnTo>
                  <a:pt x="96" y="66"/>
                </a:lnTo>
                <a:lnTo>
                  <a:pt x="96" y="66"/>
                </a:lnTo>
                <a:lnTo>
                  <a:pt x="96" y="72"/>
                </a:lnTo>
                <a:lnTo>
                  <a:pt x="94" y="78"/>
                </a:lnTo>
                <a:lnTo>
                  <a:pt x="86" y="88"/>
                </a:lnTo>
                <a:lnTo>
                  <a:pt x="78" y="94"/>
                </a:lnTo>
                <a:lnTo>
                  <a:pt x="72" y="96"/>
                </a:lnTo>
                <a:lnTo>
                  <a:pt x="66" y="96"/>
                </a:lnTo>
                <a:lnTo>
                  <a:pt x="8" y="96"/>
                </a:lnTo>
                <a:lnTo>
                  <a:pt x="8" y="96"/>
                </a:lnTo>
                <a:lnTo>
                  <a:pt x="6" y="96"/>
                </a:lnTo>
                <a:lnTo>
                  <a:pt x="2" y="98"/>
                </a:lnTo>
                <a:lnTo>
                  <a:pt x="0" y="102"/>
                </a:lnTo>
                <a:lnTo>
                  <a:pt x="0" y="104"/>
                </a:lnTo>
                <a:lnTo>
                  <a:pt x="0" y="126"/>
                </a:lnTo>
                <a:lnTo>
                  <a:pt x="0" y="126"/>
                </a:lnTo>
                <a:lnTo>
                  <a:pt x="0" y="130"/>
                </a:lnTo>
                <a:lnTo>
                  <a:pt x="2" y="132"/>
                </a:lnTo>
                <a:lnTo>
                  <a:pt x="6" y="134"/>
                </a:lnTo>
                <a:lnTo>
                  <a:pt x="8" y="136"/>
                </a:lnTo>
                <a:lnTo>
                  <a:pt x="66" y="136"/>
                </a:lnTo>
                <a:lnTo>
                  <a:pt x="66" y="136"/>
                </a:lnTo>
                <a:lnTo>
                  <a:pt x="80" y="134"/>
                </a:lnTo>
                <a:lnTo>
                  <a:pt x="92" y="130"/>
                </a:lnTo>
                <a:lnTo>
                  <a:pt x="104" y="124"/>
                </a:lnTo>
                <a:lnTo>
                  <a:pt x="114" y="116"/>
                </a:lnTo>
                <a:lnTo>
                  <a:pt x="124" y="104"/>
                </a:lnTo>
                <a:lnTo>
                  <a:pt x="130" y="94"/>
                </a:lnTo>
                <a:lnTo>
                  <a:pt x="134" y="80"/>
                </a:lnTo>
                <a:lnTo>
                  <a:pt x="134" y="66"/>
                </a:lnTo>
                <a:lnTo>
                  <a:pt x="134" y="8"/>
                </a:lnTo>
                <a:lnTo>
                  <a:pt x="134" y="8"/>
                </a:lnTo>
                <a:lnTo>
                  <a:pt x="134" y="6"/>
                </a:lnTo>
                <a:lnTo>
                  <a:pt x="132" y="2"/>
                </a:lnTo>
                <a:lnTo>
                  <a:pt x="130" y="0"/>
                </a:lnTo>
                <a:lnTo>
                  <a:pt x="126" y="0"/>
                </a:lnTo>
                <a:lnTo>
                  <a:pt x="12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2" name="Freeform 250"/>
          <p:cNvSpPr>
            <a:spLocks/>
          </p:cNvSpPr>
          <p:nvPr/>
        </p:nvSpPr>
        <p:spPr bwMode="auto">
          <a:xfrm>
            <a:off x="4518870" y="4100789"/>
            <a:ext cx="70340" cy="71533"/>
          </a:xfrm>
          <a:custGeom>
            <a:avLst/>
            <a:gdLst>
              <a:gd name="T0" fmla="*/ 118 w 118"/>
              <a:gd name="T1" fmla="*/ 0 h 120"/>
              <a:gd name="T2" fmla="*/ 118 w 118"/>
              <a:gd name="T3" fmla="*/ 0 h 120"/>
              <a:gd name="T4" fmla="*/ 118 w 118"/>
              <a:gd name="T5" fmla="*/ 0 h 120"/>
              <a:gd name="T6" fmla="*/ 118 w 118"/>
              <a:gd name="T7" fmla="*/ 58 h 120"/>
              <a:gd name="T8" fmla="*/ 118 w 118"/>
              <a:gd name="T9" fmla="*/ 58 h 120"/>
              <a:gd name="T10" fmla="*/ 118 w 118"/>
              <a:gd name="T11" fmla="*/ 70 h 120"/>
              <a:gd name="T12" fmla="*/ 114 w 118"/>
              <a:gd name="T13" fmla="*/ 82 h 120"/>
              <a:gd name="T14" fmla="*/ 108 w 118"/>
              <a:gd name="T15" fmla="*/ 92 h 120"/>
              <a:gd name="T16" fmla="*/ 102 w 118"/>
              <a:gd name="T17" fmla="*/ 102 h 120"/>
              <a:gd name="T18" fmla="*/ 92 w 118"/>
              <a:gd name="T19" fmla="*/ 108 h 120"/>
              <a:gd name="T20" fmla="*/ 82 w 118"/>
              <a:gd name="T21" fmla="*/ 114 h 120"/>
              <a:gd name="T22" fmla="*/ 70 w 118"/>
              <a:gd name="T23" fmla="*/ 118 h 120"/>
              <a:gd name="T24" fmla="*/ 58 w 118"/>
              <a:gd name="T25" fmla="*/ 120 h 120"/>
              <a:gd name="T26" fmla="*/ 0 w 118"/>
              <a:gd name="T27" fmla="*/ 120 h 120"/>
              <a:gd name="T28" fmla="*/ 0 w 118"/>
              <a:gd name="T29" fmla="*/ 120 h 120"/>
              <a:gd name="T30" fmla="*/ 0 w 118"/>
              <a:gd name="T31" fmla="*/ 118 h 120"/>
              <a:gd name="T32" fmla="*/ 0 w 118"/>
              <a:gd name="T33" fmla="*/ 96 h 120"/>
              <a:gd name="T34" fmla="*/ 0 w 118"/>
              <a:gd name="T35" fmla="*/ 96 h 120"/>
              <a:gd name="T36" fmla="*/ 0 w 118"/>
              <a:gd name="T37" fmla="*/ 96 h 120"/>
              <a:gd name="T38" fmla="*/ 58 w 118"/>
              <a:gd name="T39" fmla="*/ 96 h 120"/>
              <a:gd name="T40" fmla="*/ 58 w 118"/>
              <a:gd name="T41" fmla="*/ 96 h 120"/>
              <a:gd name="T42" fmla="*/ 66 w 118"/>
              <a:gd name="T43" fmla="*/ 96 h 120"/>
              <a:gd name="T44" fmla="*/ 72 w 118"/>
              <a:gd name="T45" fmla="*/ 94 h 120"/>
              <a:gd name="T46" fmla="*/ 80 w 118"/>
              <a:gd name="T47" fmla="*/ 90 h 120"/>
              <a:gd name="T48" fmla="*/ 84 w 118"/>
              <a:gd name="T49" fmla="*/ 86 h 120"/>
              <a:gd name="T50" fmla="*/ 90 w 118"/>
              <a:gd name="T51" fmla="*/ 80 h 120"/>
              <a:gd name="T52" fmla="*/ 92 w 118"/>
              <a:gd name="T53" fmla="*/ 72 h 120"/>
              <a:gd name="T54" fmla="*/ 94 w 118"/>
              <a:gd name="T55" fmla="*/ 66 h 120"/>
              <a:gd name="T56" fmla="*/ 96 w 118"/>
              <a:gd name="T57" fmla="*/ 58 h 120"/>
              <a:gd name="T58" fmla="*/ 96 w 118"/>
              <a:gd name="T59" fmla="*/ 0 h 120"/>
              <a:gd name="T60" fmla="*/ 96 w 118"/>
              <a:gd name="T61" fmla="*/ 0 h 120"/>
              <a:gd name="T62" fmla="*/ 96 w 118"/>
              <a:gd name="T63" fmla="*/ 0 h 120"/>
              <a:gd name="T64" fmla="*/ 118 w 118"/>
              <a:gd name="T65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8" h="120">
                <a:moveTo>
                  <a:pt x="118" y="0"/>
                </a:moveTo>
                <a:lnTo>
                  <a:pt x="118" y="0"/>
                </a:lnTo>
                <a:lnTo>
                  <a:pt x="118" y="0"/>
                </a:lnTo>
                <a:lnTo>
                  <a:pt x="118" y="58"/>
                </a:lnTo>
                <a:lnTo>
                  <a:pt x="118" y="58"/>
                </a:lnTo>
                <a:lnTo>
                  <a:pt x="118" y="70"/>
                </a:lnTo>
                <a:lnTo>
                  <a:pt x="114" y="82"/>
                </a:lnTo>
                <a:lnTo>
                  <a:pt x="108" y="92"/>
                </a:lnTo>
                <a:lnTo>
                  <a:pt x="102" y="102"/>
                </a:lnTo>
                <a:lnTo>
                  <a:pt x="92" y="108"/>
                </a:lnTo>
                <a:lnTo>
                  <a:pt x="82" y="114"/>
                </a:lnTo>
                <a:lnTo>
                  <a:pt x="70" y="118"/>
                </a:lnTo>
                <a:lnTo>
                  <a:pt x="58" y="120"/>
                </a:lnTo>
                <a:lnTo>
                  <a:pt x="0" y="120"/>
                </a:lnTo>
                <a:lnTo>
                  <a:pt x="0" y="120"/>
                </a:lnTo>
                <a:lnTo>
                  <a:pt x="0" y="118"/>
                </a:lnTo>
                <a:lnTo>
                  <a:pt x="0" y="96"/>
                </a:lnTo>
                <a:lnTo>
                  <a:pt x="0" y="96"/>
                </a:lnTo>
                <a:lnTo>
                  <a:pt x="0" y="96"/>
                </a:lnTo>
                <a:lnTo>
                  <a:pt x="58" y="96"/>
                </a:lnTo>
                <a:lnTo>
                  <a:pt x="58" y="96"/>
                </a:lnTo>
                <a:lnTo>
                  <a:pt x="66" y="96"/>
                </a:lnTo>
                <a:lnTo>
                  <a:pt x="72" y="94"/>
                </a:lnTo>
                <a:lnTo>
                  <a:pt x="80" y="90"/>
                </a:lnTo>
                <a:lnTo>
                  <a:pt x="84" y="86"/>
                </a:lnTo>
                <a:lnTo>
                  <a:pt x="90" y="80"/>
                </a:lnTo>
                <a:lnTo>
                  <a:pt x="92" y="72"/>
                </a:lnTo>
                <a:lnTo>
                  <a:pt x="94" y="66"/>
                </a:lnTo>
                <a:lnTo>
                  <a:pt x="96" y="58"/>
                </a:lnTo>
                <a:lnTo>
                  <a:pt x="96" y="0"/>
                </a:lnTo>
                <a:lnTo>
                  <a:pt x="96" y="0"/>
                </a:lnTo>
                <a:lnTo>
                  <a:pt x="96" y="0"/>
                </a:lnTo>
                <a:lnTo>
                  <a:pt x="118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3" name="Freeform 251"/>
          <p:cNvSpPr>
            <a:spLocks/>
          </p:cNvSpPr>
          <p:nvPr/>
        </p:nvSpPr>
        <p:spPr bwMode="auto">
          <a:xfrm>
            <a:off x="4514101" y="4096021"/>
            <a:ext cx="79878" cy="81070"/>
          </a:xfrm>
          <a:custGeom>
            <a:avLst/>
            <a:gdLst>
              <a:gd name="T0" fmla="*/ 126 w 134"/>
              <a:gd name="T1" fmla="*/ 0 h 136"/>
              <a:gd name="T2" fmla="*/ 104 w 134"/>
              <a:gd name="T3" fmla="*/ 0 h 136"/>
              <a:gd name="T4" fmla="*/ 104 w 134"/>
              <a:gd name="T5" fmla="*/ 0 h 136"/>
              <a:gd name="T6" fmla="*/ 102 w 134"/>
              <a:gd name="T7" fmla="*/ 0 h 136"/>
              <a:gd name="T8" fmla="*/ 98 w 134"/>
              <a:gd name="T9" fmla="*/ 2 h 136"/>
              <a:gd name="T10" fmla="*/ 96 w 134"/>
              <a:gd name="T11" fmla="*/ 6 h 136"/>
              <a:gd name="T12" fmla="*/ 96 w 134"/>
              <a:gd name="T13" fmla="*/ 8 h 136"/>
              <a:gd name="T14" fmla="*/ 96 w 134"/>
              <a:gd name="T15" fmla="*/ 66 h 136"/>
              <a:gd name="T16" fmla="*/ 96 w 134"/>
              <a:gd name="T17" fmla="*/ 66 h 136"/>
              <a:gd name="T18" fmla="*/ 96 w 134"/>
              <a:gd name="T19" fmla="*/ 72 h 136"/>
              <a:gd name="T20" fmla="*/ 94 w 134"/>
              <a:gd name="T21" fmla="*/ 78 h 136"/>
              <a:gd name="T22" fmla="*/ 86 w 134"/>
              <a:gd name="T23" fmla="*/ 88 h 136"/>
              <a:gd name="T24" fmla="*/ 78 w 134"/>
              <a:gd name="T25" fmla="*/ 94 h 136"/>
              <a:gd name="T26" fmla="*/ 72 w 134"/>
              <a:gd name="T27" fmla="*/ 96 h 136"/>
              <a:gd name="T28" fmla="*/ 66 w 134"/>
              <a:gd name="T29" fmla="*/ 96 h 136"/>
              <a:gd name="T30" fmla="*/ 8 w 134"/>
              <a:gd name="T31" fmla="*/ 96 h 136"/>
              <a:gd name="T32" fmla="*/ 8 w 134"/>
              <a:gd name="T33" fmla="*/ 96 h 136"/>
              <a:gd name="T34" fmla="*/ 6 w 134"/>
              <a:gd name="T35" fmla="*/ 96 h 136"/>
              <a:gd name="T36" fmla="*/ 2 w 134"/>
              <a:gd name="T37" fmla="*/ 98 h 136"/>
              <a:gd name="T38" fmla="*/ 0 w 134"/>
              <a:gd name="T39" fmla="*/ 102 h 136"/>
              <a:gd name="T40" fmla="*/ 0 w 134"/>
              <a:gd name="T41" fmla="*/ 104 h 136"/>
              <a:gd name="T42" fmla="*/ 0 w 134"/>
              <a:gd name="T43" fmla="*/ 126 h 136"/>
              <a:gd name="T44" fmla="*/ 0 w 134"/>
              <a:gd name="T45" fmla="*/ 126 h 136"/>
              <a:gd name="T46" fmla="*/ 0 w 134"/>
              <a:gd name="T47" fmla="*/ 130 h 136"/>
              <a:gd name="T48" fmla="*/ 2 w 134"/>
              <a:gd name="T49" fmla="*/ 132 h 136"/>
              <a:gd name="T50" fmla="*/ 6 w 134"/>
              <a:gd name="T51" fmla="*/ 134 h 136"/>
              <a:gd name="T52" fmla="*/ 8 w 134"/>
              <a:gd name="T53" fmla="*/ 136 h 136"/>
              <a:gd name="T54" fmla="*/ 66 w 134"/>
              <a:gd name="T55" fmla="*/ 136 h 136"/>
              <a:gd name="T56" fmla="*/ 66 w 134"/>
              <a:gd name="T57" fmla="*/ 136 h 136"/>
              <a:gd name="T58" fmla="*/ 80 w 134"/>
              <a:gd name="T59" fmla="*/ 134 h 136"/>
              <a:gd name="T60" fmla="*/ 92 w 134"/>
              <a:gd name="T61" fmla="*/ 130 h 136"/>
              <a:gd name="T62" fmla="*/ 104 w 134"/>
              <a:gd name="T63" fmla="*/ 124 h 136"/>
              <a:gd name="T64" fmla="*/ 114 w 134"/>
              <a:gd name="T65" fmla="*/ 116 h 136"/>
              <a:gd name="T66" fmla="*/ 124 w 134"/>
              <a:gd name="T67" fmla="*/ 104 h 136"/>
              <a:gd name="T68" fmla="*/ 130 w 134"/>
              <a:gd name="T69" fmla="*/ 94 h 136"/>
              <a:gd name="T70" fmla="*/ 134 w 134"/>
              <a:gd name="T71" fmla="*/ 80 h 136"/>
              <a:gd name="T72" fmla="*/ 134 w 134"/>
              <a:gd name="T73" fmla="*/ 66 h 136"/>
              <a:gd name="T74" fmla="*/ 134 w 134"/>
              <a:gd name="T75" fmla="*/ 8 h 136"/>
              <a:gd name="T76" fmla="*/ 134 w 134"/>
              <a:gd name="T77" fmla="*/ 8 h 136"/>
              <a:gd name="T78" fmla="*/ 134 w 134"/>
              <a:gd name="T79" fmla="*/ 6 h 136"/>
              <a:gd name="T80" fmla="*/ 132 w 134"/>
              <a:gd name="T81" fmla="*/ 2 h 136"/>
              <a:gd name="T82" fmla="*/ 130 w 134"/>
              <a:gd name="T83" fmla="*/ 0 h 136"/>
              <a:gd name="T84" fmla="*/ 126 w 134"/>
              <a:gd name="T85" fmla="*/ 0 h 136"/>
              <a:gd name="T86" fmla="*/ 126 w 134"/>
              <a:gd name="T87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4" h="136">
                <a:moveTo>
                  <a:pt x="126" y="0"/>
                </a:moveTo>
                <a:lnTo>
                  <a:pt x="104" y="0"/>
                </a:lnTo>
                <a:lnTo>
                  <a:pt x="104" y="0"/>
                </a:lnTo>
                <a:lnTo>
                  <a:pt x="102" y="0"/>
                </a:lnTo>
                <a:lnTo>
                  <a:pt x="98" y="2"/>
                </a:lnTo>
                <a:lnTo>
                  <a:pt x="96" y="6"/>
                </a:lnTo>
                <a:lnTo>
                  <a:pt x="96" y="8"/>
                </a:lnTo>
                <a:lnTo>
                  <a:pt x="96" y="66"/>
                </a:lnTo>
                <a:lnTo>
                  <a:pt x="96" y="66"/>
                </a:lnTo>
                <a:lnTo>
                  <a:pt x="96" y="72"/>
                </a:lnTo>
                <a:lnTo>
                  <a:pt x="94" y="78"/>
                </a:lnTo>
                <a:lnTo>
                  <a:pt x="86" y="88"/>
                </a:lnTo>
                <a:lnTo>
                  <a:pt x="78" y="94"/>
                </a:lnTo>
                <a:lnTo>
                  <a:pt x="72" y="96"/>
                </a:lnTo>
                <a:lnTo>
                  <a:pt x="66" y="96"/>
                </a:lnTo>
                <a:lnTo>
                  <a:pt x="8" y="96"/>
                </a:lnTo>
                <a:lnTo>
                  <a:pt x="8" y="96"/>
                </a:lnTo>
                <a:lnTo>
                  <a:pt x="6" y="96"/>
                </a:lnTo>
                <a:lnTo>
                  <a:pt x="2" y="98"/>
                </a:lnTo>
                <a:lnTo>
                  <a:pt x="0" y="102"/>
                </a:lnTo>
                <a:lnTo>
                  <a:pt x="0" y="104"/>
                </a:lnTo>
                <a:lnTo>
                  <a:pt x="0" y="126"/>
                </a:lnTo>
                <a:lnTo>
                  <a:pt x="0" y="126"/>
                </a:lnTo>
                <a:lnTo>
                  <a:pt x="0" y="130"/>
                </a:lnTo>
                <a:lnTo>
                  <a:pt x="2" y="132"/>
                </a:lnTo>
                <a:lnTo>
                  <a:pt x="6" y="134"/>
                </a:lnTo>
                <a:lnTo>
                  <a:pt x="8" y="136"/>
                </a:lnTo>
                <a:lnTo>
                  <a:pt x="66" y="136"/>
                </a:lnTo>
                <a:lnTo>
                  <a:pt x="66" y="136"/>
                </a:lnTo>
                <a:lnTo>
                  <a:pt x="80" y="134"/>
                </a:lnTo>
                <a:lnTo>
                  <a:pt x="92" y="130"/>
                </a:lnTo>
                <a:lnTo>
                  <a:pt x="104" y="124"/>
                </a:lnTo>
                <a:lnTo>
                  <a:pt x="114" y="116"/>
                </a:lnTo>
                <a:lnTo>
                  <a:pt x="124" y="104"/>
                </a:lnTo>
                <a:lnTo>
                  <a:pt x="130" y="94"/>
                </a:lnTo>
                <a:lnTo>
                  <a:pt x="134" y="80"/>
                </a:lnTo>
                <a:lnTo>
                  <a:pt x="134" y="66"/>
                </a:lnTo>
                <a:lnTo>
                  <a:pt x="134" y="8"/>
                </a:lnTo>
                <a:lnTo>
                  <a:pt x="134" y="8"/>
                </a:lnTo>
                <a:lnTo>
                  <a:pt x="134" y="6"/>
                </a:lnTo>
                <a:lnTo>
                  <a:pt x="132" y="2"/>
                </a:lnTo>
                <a:lnTo>
                  <a:pt x="130" y="0"/>
                </a:lnTo>
                <a:lnTo>
                  <a:pt x="126" y="0"/>
                </a:lnTo>
                <a:lnTo>
                  <a:pt x="126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4" name="Freeform 252"/>
          <p:cNvSpPr>
            <a:spLocks noEditPoints="1"/>
          </p:cNvSpPr>
          <p:nvPr/>
        </p:nvSpPr>
        <p:spPr bwMode="auto">
          <a:xfrm>
            <a:off x="4514101" y="3974415"/>
            <a:ext cx="79878" cy="79878"/>
          </a:xfrm>
          <a:custGeom>
            <a:avLst/>
            <a:gdLst>
              <a:gd name="T0" fmla="*/ 66 w 134"/>
              <a:gd name="T1" fmla="*/ 8 h 134"/>
              <a:gd name="T2" fmla="*/ 90 w 134"/>
              <a:gd name="T3" fmla="*/ 12 h 134"/>
              <a:gd name="T4" fmla="*/ 110 w 134"/>
              <a:gd name="T5" fmla="*/ 26 h 134"/>
              <a:gd name="T6" fmla="*/ 122 w 134"/>
              <a:gd name="T7" fmla="*/ 44 h 134"/>
              <a:gd name="T8" fmla="*/ 126 w 134"/>
              <a:gd name="T9" fmla="*/ 68 h 134"/>
              <a:gd name="T10" fmla="*/ 126 w 134"/>
              <a:gd name="T11" fmla="*/ 126 h 134"/>
              <a:gd name="T12" fmla="*/ 104 w 134"/>
              <a:gd name="T13" fmla="*/ 126 h 134"/>
              <a:gd name="T14" fmla="*/ 104 w 134"/>
              <a:gd name="T15" fmla="*/ 126 h 134"/>
              <a:gd name="T16" fmla="*/ 104 w 134"/>
              <a:gd name="T17" fmla="*/ 68 h 134"/>
              <a:gd name="T18" fmla="*/ 100 w 134"/>
              <a:gd name="T19" fmla="*/ 54 h 134"/>
              <a:gd name="T20" fmla="*/ 92 w 134"/>
              <a:gd name="T21" fmla="*/ 42 h 134"/>
              <a:gd name="T22" fmla="*/ 80 w 134"/>
              <a:gd name="T23" fmla="*/ 34 h 134"/>
              <a:gd name="T24" fmla="*/ 66 w 134"/>
              <a:gd name="T25" fmla="*/ 30 h 134"/>
              <a:gd name="T26" fmla="*/ 8 w 134"/>
              <a:gd name="T27" fmla="*/ 30 h 134"/>
              <a:gd name="T28" fmla="*/ 8 w 134"/>
              <a:gd name="T29" fmla="*/ 8 h 134"/>
              <a:gd name="T30" fmla="*/ 8 w 134"/>
              <a:gd name="T31" fmla="*/ 8 h 134"/>
              <a:gd name="T32" fmla="*/ 66 w 134"/>
              <a:gd name="T33" fmla="*/ 0 h 134"/>
              <a:gd name="T34" fmla="*/ 8 w 134"/>
              <a:gd name="T35" fmla="*/ 0 h 134"/>
              <a:gd name="T36" fmla="*/ 2 w 134"/>
              <a:gd name="T37" fmla="*/ 2 h 134"/>
              <a:gd name="T38" fmla="*/ 0 w 134"/>
              <a:gd name="T39" fmla="*/ 8 h 134"/>
              <a:gd name="T40" fmla="*/ 0 w 134"/>
              <a:gd name="T41" fmla="*/ 30 h 134"/>
              <a:gd name="T42" fmla="*/ 2 w 134"/>
              <a:gd name="T43" fmla="*/ 36 h 134"/>
              <a:gd name="T44" fmla="*/ 8 w 134"/>
              <a:gd name="T45" fmla="*/ 38 h 134"/>
              <a:gd name="T46" fmla="*/ 66 w 134"/>
              <a:gd name="T47" fmla="*/ 38 h 134"/>
              <a:gd name="T48" fmla="*/ 78 w 134"/>
              <a:gd name="T49" fmla="*/ 40 h 134"/>
              <a:gd name="T50" fmla="*/ 94 w 134"/>
              <a:gd name="T51" fmla="*/ 56 h 134"/>
              <a:gd name="T52" fmla="*/ 96 w 134"/>
              <a:gd name="T53" fmla="*/ 68 h 134"/>
              <a:gd name="T54" fmla="*/ 96 w 134"/>
              <a:gd name="T55" fmla="*/ 126 h 134"/>
              <a:gd name="T56" fmla="*/ 98 w 134"/>
              <a:gd name="T57" fmla="*/ 132 h 134"/>
              <a:gd name="T58" fmla="*/ 104 w 134"/>
              <a:gd name="T59" fmla="*/ 134 h 134"/>
              <a:gd name="T60" fmla="*/ 126 w 134"/>
              <a:gd name="T61" fmla="*/ 134 h 134"/>
              <a:gd name="T62" fmla="*/ 132 w 134"/>
              <a:gd name="T63" fmla="*/ 132 h 134"/>
              <a:gd name="T64" fmla="*/ 134 w 134"/>
              <a:gd name="T65" fmla="*/ 126 h 134"/>
              <a:gd name="T66" fmla="*/ 134 w 134"/>
              <a:gd name="T67" fmla="*/ 68 h 134"/>
              <a:gd name="T68" fmla="*/ 130 w 134"/>
              <a:gd name="T69" fmla="*/ 42 h 134"/>
              <a:gd name="T70" fmla="*/ 114 w 134"/>
              <a:gd name="T71" fmla="*/ 20 h 134"/>
              <a:gd name="T72" fmla="*/ 92 w 134"/>
              <a:gd name="T73" fmla="*/ 4 h 134"/>
              <a:gd name="T74" fmla="*/ 66 w 134"/>
              <a:gd name="T75" fmla="*/ 0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4" h="134">
                <a:moveTo>
                  <a:pt x="66" y="8"/>
                </a:moveTo>
                <a:lnTo>
                  <a:pt x="66" y="8"/>
                </a:lnTo>
                <a:lnTo>
                  <a:pt x="78" y="8"/>
                </a:lnTo>
                <a:lnTo>
                  <a:pt x="90" y="12"/>
                </a:lnTo>
                <a:lnTo>
                  <a:pt x="100" y="18"/>
                </a:lnTo>
                <a:lnTo>
                  <a:pt x="110" y="26"/>
                </a:lnTo>
                <a:lnTo>
                  <a:pt x="116" y="34"/>
                </a:lnTo>
                <a:lnTo>
                  <a:pt x="122" y="44"/>
                </a:lnTo>
                <a:lnTo>
                  <a:pt x="126" y="56"/>
                </a:lnTo>
                <a:lnTo>
                  <a:pt x="126" y="68"/>
                </a:lnTo>
                <a:lnTo>
                  <a:pt x="126" y="126"/>
                </a:lnTo>
                <a:lnTo>
                  <a:pt x="126" y="126"/>
                </a:lnTo>
                <a:lnTo>
                  <a:pt x="126" y="126"/>
                </a:lnTo>
                <a:lnTo>
                  <a:pt x="104" y="126"/>
                </a:lnTo>
                <a:lnTo>
                  <a:pt x="104" y="126"/>
                </a:lnTo>
                <a:lnTo>
                  <a:pt x="104" y="126"/>
                </a:lnTo>
                <a:lnTo>
                  <a:pt x="104" y="68"/>
                </a:lnTo>
                <a:lnTo>
                  <a:pt x="104" y="68"/>
                </a:lnTo>
                <a:lnTo>
                  <a:pt x="102" y="60"/>
                </a:lnTo>
                <a:lnTo>
                  <a:pt x="100" y="54"/>
                </a:lnTo>
                <a:lnTo>
                  <a:pt x="98" y="48"/>
                </a:lnTo>
                <a:lnTo>
                  <a:pt x="92" y="42"/>
                </a:lnTo>
                <a:lnTo>
                  <a:pt x="88" y="36"/>
                </a:lnTo>
                <a:lnTo>
                  <a:pt x="80" y="34"/>
                </a:lnTo>
                <a:lnTo>
                  <a:pt x="74" y="32"/>
                </a:lnTo>
                <a:lnTo>
                  <a:pt x="66" y="30"/>
                </a:lnTo>
                <a:lnTo>
                  <a:pt x="8" y="30"/>
                </a:lnTo>
                <a:lnTo>
                  <a:pt x="8" y="30"/>
                </a:lnTo>
                <a:lnTo>
                  <a:pt x="8" y="30"/>
                </a:lnTo>
                <a:lnTo>
                  <a:pt x="8" y="8"/>
                </a:lnTo>
                <a:lnTo>
                  <a:pt x="8" y="8"/>
                </a:lnTo>
                <a:lnTo>
                  <a:pt x="8" y="8"/>
                </a:lnTo>
                <a:lnTo>
                  <a:pt x="66" y="8"/>
                </a:lnTo>
                <a:close/>
                <a:moveTo>
                  <a:pt x="66" y="0"/>
                </a:moveTo>
                <a:lnTo>
                  <a:pt x="8" y="0"/>
                </a:lnTo>
                <a:lnTo>
                  <a:pt x="8" y="0"/>
                </a:lnTo>
                <a:lnTo>
                  <a:pt x="6" y="0"/>
                </a:lnTo>
                <a:lnTo>
                  <a:pt x="2" y="2"/>
                </a:lnTo>
                <a:lnTo>
                  <a:pt x="0" y="4"/>
                </a:lnTo>
                <a:lnTo>
                  <a:pt x="0" y="8"/>
                </a:lnTo>
                <a:lnTo>
                  <a:pt x="0" y="30"/>
                </a:lnTo>
                <a:lnTo>
                  <a:pt x="0" y="30"/>
                </a:lnTo>
                <a:lnTo>
                  <a:pt x="0" y="34"/>
                </a:lnTo>
                <a:lnTo>
                  <a:pt x="2" y="36"/>
                </a:lnTo>
                <a:lnTo>
                  <a:pt x="6" y="38"/>
                </a:lnTo>
                <a:lnTo>
                  <a:pt x="8" y="38"/>
                </a:lnTo>
                <a:lnTo>
                  <a:pt x="66" y="38"/>
                </a:lnTo>
                <a:lnTo>
                  <a:pt x="66" y="38"/>
                </a:lnTo>
                <a:lnTo>
                  <a:pt x="72" y="40"/>
                </a:lnTo>
                <a:lnTo>
                  <a:pt x="78" y="40"/>
                </a:lnTo>
                <a:lnTo>
                  <a:pt x="86" y="48"/>
                </a:lnTo>
                <a:lnTo>
                  <a:pt x="94" y="56"/>
                </a:lnTo>
                <a:lnTo>
                  <a:pt x="96" y="62"/>
                </a:lnTo>
                <a:lnTo>
                  <a:pt x="96" y="68"/>
                </a:lnTo>
                <a:lnTo>
                  <a:pt x="96" y="126"/>
                </a:lnTo>
                <a:lnTo>
                  <a:pt x="96" y="126"/>
                </a:lnTo>
                <a:lnTo>
                  <a:pt x="96" y="130"/>
                </a:lnTo>
                <a:lnTo>
                  <a:pt x="98" y="132"/>
                </a:lnTo>
                <a:lnTo>
                  <a:pt x="102" y="134"/>
                </a:lnTo>
                <a:lnTo>
                  <a:pt x="104" y="134"/>
                </a:lnTo>
                <a:lnTo>
                  <a:pt x="126" y="134"/>
                </a:lnTo>
                <a:lnTo>
                  <a:pt x="126" y="134"/>
                </a:lnTo>
                <a:lnTo>
                  <a:pt x="130" y="134"/>
                </a:lnTo>
                <a:lnTo>
                  <a:pt x="132" y="132"/>
                </a:lnTo>
                <a:lnTo>
                  <a:pt x="134" y="130"/>
                </a:lnTo>
                <a:lnTo>
                  <a:pt x="134" y="126"/>
                </a:lnTo>
                <a:lnTo>
                  <a:pt x="134" y="68"/>
                </a:lnTo>
                <a:lnTo>
                  <a:pt x="134" y="68"/>
                </a:lnTo>
                <a:lnTo>
                  <a:pt x="134" y="54"/>
                </a:lnTo>
                <a:lnTo>
                  <a:pt x="130" y="42"/>
                </a:lnTo>
                <a:lnTo>
                  <a:pt x="124" y="30"/>
                </a:lnTo>
                <a:lnTo>
                  <a:pt x="114" y="20"/>
                </a:lnTo>
                <a:lnTo>
                  <a:pt x="104" y="12"/>
                </a:lnTo>
                <a:lnTo>
                  <a:pt x="92" y="4"/>
                </a:lnTo>
                <a:lnTo>
                  <a:pt x="80" y="0"/>
                </a:lnTo>
                <a:lnTo>
                  <a:pt x="66" y="0"/>
                </a:lnTo>
                <a:lnTo>
                  <a:pt x="6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5" name="Freeform 253"/>
          <p:cNvSpPr>
            <a:spLocks/>
          </p:cNvSpPr>
          <p:nvPr/>
        </p:nvSpPr>
        <p:spPr bwMode="auto">
          <a:xfrm>
            <a:off x="4518870" y="3979184"/>
            <a:ext cx="70340" cy="70340"/>
          </a:xfrm>
          <a:custGeom>
            <a:avLst/>
            <a:gdLst>
              <a:gd name="T0" fmla="*/ 58 w 118"/>
              <a:gd name="T1" fmla="*/ 0 h 118"/>
              <a:gd name="T2" fmla="*/ 58 w 118"/>
              <a:gd name="T3" fmla="*/ 0 h 118"/>
              <a:gd name="T4" fmla="*/ 70 w 118"/>
              <a:gd name="T5" fmla="*/ 0 h 118"/>
              <a:gd name="T6" fmla="*/ 82 w 118"/>
              <a:gd name="T7" fmla="*/ 4 h 118"/>
              <a:gd name="T8" fmla="*/ 92 w 118"/>
              <a:gd name="T9" fmla="*/ 10 h 118"/>
              <a:gd name="T10" fmla="*/ 102 w 118"/>
              <a:gd name="T11" fmla="*/ 18 h 118"/>
              <a:gd name="T12" fmla="*/ 108 w 118"/>
              <a:gd name="T13" fmla="*/ 26 h 118"/>
              <a:gd name="T14" fmla="*/ 114 w 118"/>
              <a:gd name="T15" fmla="*/ 36 h 118"/>
              <a:gd name="T16" fmla="*/ 118 w 118"/>
              <a:gd name="T17" fmla="*/ 48 h 118"/>
              <a:gd name="T18" fmla="*/ 118 w 118"/>
              <a:gd name="T19" fmla="*/ 60 h 118"/>
              <a:gd name="T20" fmla="*/ 118 w 118"/>
              <a:gd name="T21" fmla="*/ 118 h 118"/>
              <a:gd name="T22" fmla="*/ 118 w 118"/>
              <a:gd name="T23" fmla="*/ 118 h 118"/>
              <a:gd name="T24" fmla="*/ 118 w 118"/>
              <a:gd name="T25" fmla="*/ 118 h 118"/>
              <a:gd name="T26" fmla="*/ 96 w 118"/>
              <a:gd name="T27" fmla="*/ 118 h 118"/>
              <a:gd name="T28" fmla="*/ 96 w 118"/>
              <a:gd name="T29" fmla="*/ 118 h 118"/>
              <a:gd name="T30" fmla="*/ 96 w 118"/>
              <a:gd name="T31" fmla="*/ 118 h 118"/>
              <a:gd name="T32" fmla="*/ 96 w 118"/>
              <a:gd name="T33" fmla="*/ 60 h 118"/>
              <a:gd name="T34" fmla="*/ 96 w 118"/>
              <a:gd name="T35" fmla="*/ 60 h 118"/>
              <a:gd name="T36" fmla="*/ 94 w 118"/>
              <a:gd name="T37" fmla="*/ 52 h 118"/>
              <a:gd name="T38" fmla="*/ 92 w 118"/>
              <a:gd name="T39" fmla="*/ 46 h 118"/>
              <a:gd name="T40" fmla="*/ 90 w 118"/>
              <a:gd name="T41" fmla="*/ 40 h 118"/>
              <a:gd name="T42" fmla="*/ 84 w 118"/>
              <a:gd name="T43" fmla="*/ 34 h 118"/>
              <a:gd name="T44" fmla="*/ 80 w 118"/>
              <a:gd name="T45" fmla="*/ 28 h 118"/>
              <a:gd name="T46" fmla="*/ 72 w 118"/>
              <a:gd name="T47" fmla="*/ 26 h 118"/>
              <a:gd name="T48" fmla="*/ 66 w 118"/>
              <a:gd name="T49" fmla="*/ 24 h 118"/>
              <a:gd name="T50" fmla="*/ 58 w 118"/>
              <a:gd name="T51" fmla="*/ 22 h 118"/>
              <a:gd name="T52" fmla="*/ 0 w 118"/>
              <a:gd name="T53" fmla="*/ 22 h 118"/>
              <a:gd name="T54" fmla="*/ 0 w 118"/>
              <a:gd name="T55" fmla="*/ 22 h 118"/>
              <a:gd name="T56" fmla="*/ 0 w 118"/>
              <a:gd name="T57" fmla="*/ 22 h 118"/>
              <a:gd name="T58" fmla="*/ 0 w 118"/>
              <a:gd name="T59" fmla="*/ 0 h 118"/>
              <a:gd name="T60" fmla="*/ 0 w 118"/>
              <a:gd name="T61" fmla="*/ 0 h 118"/>
              <a:gd name="T62" fmla="*/ 0 w 118"/>
              <a:gd name="T63" fmla="*/ 0 h 118"/>
              <a:gd name="T64" fmla="*/ 58 w 118"/>
              <a:gd name="T65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8" h="118">
                <a:moveTo>
                  <a:pt x="58" y="0"/>
                </a:moveTo>
                <a:lnTo>
                  <a:pt x="58" y="0"/>
                </a:lnTo>
                <a:lnTo>
                  <a:pt x="70" y="0"/>
                </a:lnTo>
                <a:lnTo>
                  <a:pt x="82" y="4"/>
                </a:lnTo>
                <a:lnTo>
                  <a:pt x="92" y="10"/>
                </a:lnTo>
                <a:lnTo>
                  <a:pt x="102" y="18"/>
                </a:lnTo>
                <a:lnTo>
                  <a:pt x="108" y="26"/>
                </a:lnTo>
                <a:lnTo>
                  <a:pt x="114" y="36"/>
                </a:lnTo>
                <a:lnTo>
                  <a:pt x="118" y="48"/>
                </a:lnTo>
                <a:lnTo>
                  <a:pt x="118" y="60"/>
                </a:lnTo>
                <a:lnTo>
                  <a:pt x="118" y="118"/>
                </a:lnTo>
                <a:lnTo>
                  <a:pt x="118" y="118"/>
                </a:lnTo>
                <a:lnTo>
                  <a:pt x="118" y="118"/>
                </a:lnTo>
                <a:lnTo>
                  <a:pt x="96" y="118"/>
                </a:lnTo>
                <a:lnTo>
                  <a:pt x="96" y="118"/>
                </a:lnTo>
                <a:lnTo>
                  <a:pt x="96" y="118"/>
                </a:lnTo>
                <a:lnTo>
                  <a:pt x="96" y="60"/>
                </a:lnTo>
                <a:lnTo>
                  <a:pt x="96" y="60"/>
                </a:lnTo>
                <a:lnTo>
                  <a:pt x="94" y="52"/>
                </a:lnTo>
                <a:lnTo>
                  <a:pt x="92" y="46"/>
                </a:lnTo>
                <a:lnTo>
                  <a:pt x="90" y="40"/>
                </a:lnTo>
                <a:lnTo>
                  <a:pt x="84" y="34"/>
                </a:lnTo>
                <a:lnTo>
                  <a:pt x="80" y="28"/>
                </a:lnTo>
                <a:lnTo>
                  <a:pt x="72" y="26"/>
                </a:lnTo>
                <a:lnTo>
                  <a:pt x="66" y="24"/>
                </a:lnTo>
                <a:lnTo>
                  <a:pt x="58" y="22"/>
                </a:lnTo>
                <a:lnTo>
                  <a:pt x="0" y="22"/>
                </a:lnTo>
                <a:lnTo>
                  <a:pt x="0" y="22"/>
                </a:lnTo>
                <a:lnTo>
                  <a:pt x="0" y="2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58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6" name="Freeform 254"/>
          <p:cNvSpPr>
            <a:spLocks/>
          </p:cNvSpPr>
          <p:nvPr/>
        </p:nvSpPr>
        <p:spPr bwMode="auto">
          <a:xfrm>
            <a:off x="4514101" y="3974415"/>
            <a:ext cx="79878" cy="79878"/>
          </a:xfrm>
          <a:custGeom>
            <a:avLst/>
            <a:gdLst>
              <a:gd name="T0" fmla="*/ 66 w 134"/>
              <a:gd name="T1" fmla="*/ 0 h 134"/>
              <a:gd name="T2" fmla="*/ 8 w 134"/>
              <a:gd name="T3" fmla="*/ 0 h 134"/>
              <a:gd name="T4" fmla="*/ 8 w 134"/>
              <a:gd name="T5" fmla="*/ 0 h 134"/>
              <a:gd name="T6" fmla="*/ 6 w 134"/>
              <a:gd name="T7" fmla="*/ 0 h 134"/>
              <a:gd name="T8" fmla="*/ 2 w 134"/>
              <a:gd name="T9" fmla="*/ 2 h 134"/>
              <a:gd name="T10" fmla="*/ 0 w 134"/>
              <a:gd name="T11" fmla="*/ 4 h 134"/>
              <a:gd name="T12" fmla="*/ 0 w 134"/>
              <a:gd name="T13" fmla="*/ 8 h 134"/>
              <a:gd name="T14" fmla="*/ 0 w 134"/>
              <a:gd name="T15" fmla="*/ 30 h 134"/>
              <a:gd name="T16" fmla="*/ 0 w 134"/>
              <a:gd name="T17" fmla="*/ 30 h 134"/>
              <a:gd name="T18" fmla="*/ 0 w 134"/>
              <a:gd name="T19" fmla="*/ 34 h 134"/>
              <a:gd name="T20" fmla="*/ 2 w 134"/>
              <a:gd name="T21" fmla="*/ 36 h 134"/>
              <a:gd name="T22" fmla="*/ 6 w 134"/>
              <a:gd name="T23" fmla="*/ 38 h 134"/>
              <a:gd name="T24" fmla="*/ 8 w 134"/>
              <a:gd name="T25" fmla="*/ 38 h 134"/>
              <a:gd name="T26" fmla="*/ 66 w 134"/>
              <a:gd name="T27" fmla="*/ 38 h 134"/>
              <a:gd name="T28" fmla="*/ 66 w 134"/>
              <a:gd name="T29" fmla="*/ 38 h 134"/>
              <a:gd name="T30" fmla="*/ 72 w 134"/>
              <a:gd name="T31" fmla="*/ 40 h 134"/>
              <a:gd name="T32" fmla="*/ 78 w 134"/>
              <a:gd name="T33" fmla="*/ 40 h 134"/>
              <a:gd name="T34" fmla="*/ 86 w 134"/>
              <a:gd name="T35" fmla="*/ 48 h 134"/>
              <a:gd name="T36" fmla="*/ 94 w 134"/>
              <a:gd name="T37" fmla="*/ 56 h 134"/>
              <a:gd name="T38" fmla="*/ 96 w 134"/>
              <a:gd name="T39" fmla="*/ 62 h 134"/>
              <a:gd name="T40" fmla="*/ 96 w 134"/>
              <a:gd name="T41" fmla="*/ 68 h 134"/>
              <a:gd name="T42" fmla="*/ 96 w 134"/>
              <a:gd name="T43" fmla="*/ 126 h 134"/>
              <a:gd name="T44" fmla="*/ 96 w 134"/>
              <a:gd name="T45" fmla="*/ 126 h 134"/>
              <a:gd name="T46" fmla="*/ 96 w 134"/>
              <a:gd name="T47" fmla="*/ 130 h 134"/>
              <a:gd name="T48" fmla="*/ 98 w 134"/>
              <a:gd name="T49" fmla="*/ 132 h 134"/>
              <a:gd name="T50" fmla="*/ 102 w 134"/>
              <a:gd name="T51" fmla="*/ 134 h 134"/>
              <a:gd name="T52" fmla="*/ 104 w 134"/>
              <a:gd name="T53" fmla="*/ 134 h 134"/>
              <a:gd name="T54" fmla="*/ 126 w 134"/>
              <a:gd name="T55" fmla="*/ 134 h 134"/>
              <a:gd name="T56" fmla="*/ 126 w 134"/>
              <a:gd name="T57" fmla="*/ 134 h 134"/>
              <a:gd name="T58" fmla="*/ 130 w 134"/>
              <a:gd name="T59" fmla="*/ 134 h 134"/>
              <a:gd name="T60" fmla="*/ 132 w 134"/>
              <a:gd name="T61" fmla="*/ 132 h 134"/>
              <a:gd name="T62" fmla="*/ 134 w 134"/>
              <a:gd name="T63" fmla="*/ 130 h 134"/>
              <a:gd name="T64" fmla="*/ 134 w 134"/>
              <a:gd name="T65" fmla="*/ 126 h 134"/>
              <a:gd name="T66" fmla="*/ 134 w 134"/>
              <a:gd name="T67" fmla="*/ 68 h 134"/>
              <a:gd name="T68" fmla="*/ 134 w 134"/>
              <a:gd name="T69" fmla="*/ 68 h 134"/>
              <a:gd name="T70" fmla="*/ 134 w 134"/>
              <a:gd name="T71" fmla="*/ 54 h 134"/>
              <a:gd name="T72" fmla="*/ 130 w 134"/>
              <a:gd name="T73" fmla="*/ 42 h 134"/>
              <a:gd name="T74" fmla="*/ 124 w 134"/>
              <a:gd name="T75" fmla="*/ 30 h 134"/>
              <a:gd name="T76" fmla="*/ 114 w 134"/>
              <a:gd name="T77" fmla="*/ 20 h 134"/>
              <a:gd name="T78" fmla="*/ 104 w 134"/>
              <a:gd name="T79" fmla="*/ 12 h 134"/>
              <a:gd name="T80" fmla="*/ 92 w 134"/>
              <a:gd name="T81" fmla="*/ 4 h 134"/>
              <a:gd name="T82" fmla="*/ 80 w 134"/>
              <a:gd name="T83" fmla="*/ 0 h 134"/>
              <a:gd name="T84" fmla="*/ 66 w 134"/>
              <a:gd name="T85" fmla="*/ 0 h 134"/>
              <a:gd name="T86" fmla="*/ 66 w 134"/>
              <a:gd name="T87" fmla="*/ 0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4" h="134">
                <a:moveTo>
                  <a:pt x="66" y="0"/>
                </a:moveTo>
                <a:lnTo>
                  <a:pt x="8" y="0"/>
                </a:lnTo>
                <a:lnTo>
                  <a:pt x="8" y="0"/>
                </a:lnTo>
                <a:lnTo>
                  <a:pt x="6" y="0"/>
                </a:lnTo>
                <a:lnTo>
                  <a:pt x="2" y="2"/>
                </a:lnTo>
                <a:lnTo>
                  <a:pt x="0" y="4"/>
                </a:lnTo>
                <a:lnTo>
                  <a:pt x="0" y="8"/>
                </a:lnTo>
                <a:lnTo>
                  <a:pt x="0" y="30"/>
                </a:lnTo>
                <a:lnTo>
                  <a:pt x="0" y="30"/>
                </a:lnTo>
                <a:lnTo>
                  <a:pt x="0" y="34"/>
                </a:lnTo>
                <a:lnTo>
                  <a:pt x="2" y="36"/>
                </a:lnTo>
                <a:lnTo>
                  <a:pt x="6" y="38"/>
                </a:lnTo>
                <a:lnTo>
                  <a:pt x="8" y="38"/>
                </a:lnTo>
                <a:lnTo>
                  <a:pt x="66" y="38"/>
                </a:lnTo>
                <a:lnTo>
                  <a:pt x="66" y="38"/>
                </a:lnTo>
                <a:lnTo>
                  <a:pt x="72" y="40"/>
                </a:lnTo>
                <a:lnTo>
                  <a:pt x="78" y="40"/>
                </a:lnTo>
                <a:lnTo>
                  <a:pt x="86" y="48"/>
                </a:lnTo>
                <a:lnTo>
                  <a:pt x="94" y="56"/>
                </a:lnTo>
                <a:lnTo>
                  <a:pt x="96" y="62"/>
                </a:lnTo>
                <a:lnTo>
                  <a:pt x="96" y="68"/>
                </a:lnTo>
                <a:lnTo>
                  <a:pt x="96" y="126"/>
                </a:lnTo>
                <a:lnTo>
                  <a:pt x="96" y="126"/>
                </a:lnTo>
                <a:lnTo>
                  <a:pt x="96" y="130"/>
                </a:lnTo>
                <a:lnTo>
                  <a:pt x="98" y="132"/>
                </a:lnTo>
                <a:lnTo>
                  <a:pt x="102" y="134"/>
                </a:lnTo>
                <a:lnTo>
                  <a:pt x="104" y="134"/>
                </a:lnTo>
                <a:lnTo>
                  <a:pt x="126" y="134"/>
                </a:lnTo>
                <a:lnTo>
                  <a:pt x="126" y="134"/>
                </a:lnTo>
                <a:lnTo>
                  <a:pt x="130" y="134"/>
                </a:lnTo>
                <a:lnTo>
                  <a:pt x="132" y="132"/>
                </a:lnTo>
                <a:lnTo>
                  <a:pt x="134" y="130"/>
                </a:lnTo>
                <a:lnTo>
                  <a:pt x="134" y="126"/>
                </a:lnTo>
                <a:lnTo>
                  <a:pt x="134" y="68"/>
                </a:lnTo>
                <a:lnTo>
                  <a:pt x="134" y="68"/>
                </a:lnTo>
                <a:lnTo>
                  <a:pt x="134" y="54"/>
                </a:lnTo>
                <a:lnTo>
                  <a:pt x="130" y="42"/>
                </a:lnTo>
                <a:lnTo>
                  <a:pt x="124" y="30"/>
                </a:lnTo>
                <a:lnTo>
                  <a:pt x="114" y="20"/>
                </a:lnTo>
                <a:lnTo>
                  <a:pt x="104" y="12"/>
                </a:lnTo>
                <a:lnTo>
                  <a:pt x="92" y="4"/>
                </a:lnTo>
                <a:lnTo>
                  <a:pt x="80" y="0"/>
                </a:lnTo>
                <a:lnTo>
                  <a:pt x="66" y="0"/>
                </a:lnTo>
                <a:lnTo>
                  <a:pt x="66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7" name="Freeform 255"/>
          <p:cNvSpPr>
            <a:spLocks noEditPoints="1"/>
          </p:cNvSpPr>
          <p:nvPr/>
        </p:nvSpPr>
        <p:spPr bwMode="auto">
          <a:xfrm>
            <a:off x="4391303" y="4096021"/>
            <a:ext cx="81070" cy="81070"/>
          </a:xfrm>
          <a:custGeom>
            <a:avLst/>
            <a:gdLst>
              <a:gd name="T0" fmla="*/ 32 w 136"/>
              <a:gd name="T1" fmla="*/ 8 h 136"/>
              <a:gd name="T2" fmla="*/ 32 w 136"/>
              <a:gd name="T3" fmla="*/ 66 h 136"/>
              <a:gd name="T4" fmla="*/ 32 w 136"/>
              <a:gd name="T5" fmla="*/ 74 h 136"/>
              <a:gd name="T6" fmla="*/ 38 w 136"/>
              <a:gd name="T7" fmla="*/ 88 h 136"/>
              <a:gd name="T8" fmla="*/ 48 w 136"/>
              <a:gd name="T9" fmla="*/ 98 h 136"/>
              <a:gd name="T10" fmla="*/ 62 w 136"/>
              <a:gd name="T11" fmla="*/ 104 h 136"/>
              <a:gd name="T12" fmla="*/ 128 w 136"/>
              <a:gd name="T13" fmla="*/ 104 h 136"/>
              <a:gd name="T14" fmla="*/ 128 w 136"/>
              <a:gd name="T15" fmla="*/ 104 h 136"/>
              <a:gd name="T16" fmla="*/ 128 w 136"/>
              <a:gd name="T17" fmla="*/ 126 h 136"/>
              <a:gd name="T18" fmla="*/ 70 w 136"/>
              <a:gd name="T19" fmla="*/ 128 h 136"/>
              <a:gd name="T20" fmla="*/ 58 w 136"/>
              <a:gd name="T21" fmla="*/ 126 h 136"/>
              <a:gd name="T22" fmla="*/ 36 w 136"/>
              <a:gd name="T23" fmla="*/ 116 h 136"/>
              <a:gd name="T24" fmla="*/ 20 w 136"/>
              <a:gd name="T25" fmla="*/ 100 h 136"/>
              <a:gd name="T26" fmla="*/ 10 w 136"/>
              <a:gd name="T27" fmla="*/ 78 h 136"/>
              <a:gd name="T28" fmla="*/ 8 w 136"/>
              <a:gd name="T29" fmla="*/ 8 h 136"/>
              <a:gd name="T30" fmla="*/ 10 w 136"/>
              <a:gd name="T31" fmla="*/ 8 h 136"/>
              <a:gd name="T32" fmla="*/ 32 w 136"/>
              <a:gd name="T33" fmla="*/ 0 h 136"/>
              <a:gd name="T34" fmla="*/ 10 w 136"/>
              <a:gd name="T35" fmla="*/ 0 h 136"/>
              <a:gd name="T36" fmla="*/ 4 w 136"/>
              <a:gd name="T37" fmla="*/ 2 h 136"/>
              <a:gd name="T38" fmla="*/ 0 w 136"/>
              <a:gd name="T39" fmla="*/ 8 h 136"/>
              <a:gd name="T40" fmla="*/ 0 w 136"/>
              <a:gd name="T41" fmla="*/ 66 h 136"/>
              <a:gd name="T42" fmla="*/ 6 w 136"/>
              <a:gd name="T43" fmla="*/ 94 h 136"/>
              <a:gd name="T44" fmla="*/ 22 w 136"/>
              <a:gd name="T45" fmla="*/ 116 h 136"/>
              <a:gd name="T46" fmla="*/ 44 w 136"/>
              <a:gd name="T47" fmla="*/ 130 h 136"/>
              <a:gd name="T48" fmla="*/ 70 w 136"/>
              <a:gd name="T49" fmla="*/ 136 h 136"/>
              <a:gd name="T50" fmla="*/ 128 w 136"/>
              <a:gd name="T51" fmla="*/ 136 h 136"/>
              <a:gd name="T52" fmla="*/ 134 w 136"/>
              <a:gd name="T53" fmla="*/ 132 h 136"/>
              <a:gd name="T54" fmla="*/ 136 w 136"/>
              <a:gd name="T55" fmla="*/ 126 h 136"/>
              <a:gd name="T56" fmla="*/ 136 w 136"/>
              <a:gd name="T57" fmla="*/ 104 h 136"/>
              <a:gd name="T58" fmla="*/ 134 w 136"/>
              <a:gd name="T59" fmla="*/ 98 h 136"/>
              <a:gd name="T60" fmla="*/ 128 w 136"/>
              <a:gd name="T61" fmla="*/ 96 h 136"/>
              <a:gd name="T62" fmla="*/ 70 w 136"/>
              <a:gd name="T63" fmla="*/ 96 h 136"/>
              <a:gd name="T64" fmla="*/ 58 w 136"/>
              <a:gd name="T65" fmla="*/ 94 h 136"/>
              <a:gd name="T66" fmla="*/ 42 w 136"/>
              <a:gd name="T67" fmla="*/ 78 h 136"/>
              <a:gd name="T68" fmla="*/ 40 w 136"/>
              <a:gd name="T69" fmla="*/ 66 h 136"/>
              <a:gd name="T70" fmla="*/ 40 w 136"/>
              <a:gd name="T71" fmla="*/ 8 h 136"/>
              <a:gd name="T72" fmla="*/ 38 w 136"/>
              <a:gd name="T73" fmla="*/ 2 h 136"/>
              <a:gd name="T74" fmla="*/ 32 w 136"/>
              <a:gd name="T7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" h="136">
                <a:moveTo>
                  <a:pt x="32" y="8"/>
                </a:moveTo>
                <a:lnTo>
                  <a:pt x="32" y="8"/>
                </a:lnTo>
                <a:lnTo>
                  <a:pt x="32" y="8"/>
                </a:lnTo>
                <a:lnTo>
                  <a:pt x="32" y="66"/>
                </a:lnTo>
                <a:lnTo>
                  <a:pt x="32" y="66"/>
                </a:lnTo>
                <a:lnTo>
                  <a:pt x="32" y="74"/>
                </a:lnTo>
                <a:lnTo>
                  <a:pt x="36" y="80"/>
                </a:lnTo>
                <a:lnTo>
                  <a:pt x="38" y="88"/>
                </a:lnTo>
                <a:lnTo>
                  <a:pt x="44" y="94"/>
                </a:lnTo>
                <a:lnTo>
                  <a:pt x="48" y="98"/>
                </a:lnTo>
                <a:lnTo>
                  <a:pt x="56" y="102"/>
                </a:lnTo>
                <a:lnTo>
                  <a:pt x="62" y="104"/>
                </a:lnTo>
                <a:lnTo>
                  <a:pt x="70" y="104"/>
                </a:lnTo>
                <a:lnTo>
                  <a:pt x="128" y="104"/>
                </a:lnTo>
                <a:lnTo>
                  <a:pt x="128" y="104"/>
                </a:lnTo>
                <a:lnTo>
                  <a:pt x="128" y="104"/>
                </a:lnTo>
                <a:lnTo>
                  <a:pt x="128" y="126"/>
                </a:lnTo>
                <a:lnTo>
                  <a:pt x="128" y="126"/>
                </a:lnTo>
                <a:lnTo>
                  <a:pt x="128" y="128"/>
                </a:lnTo>
                <a:lnTo>
                  <a:pt x="70" y="128"/>
                </a:lnTo>
                <a:lnTo>
                  <a:pt x="70" y="128"/>
                </a:lnTo>
                <a:lnTo>
                  <a:pt x="58" y="126"/>
                </a:lnTo>
                <a:lnTo>
                  <a:pt x="46" y="122"/>
                </a:lnTo>
                <a:lnTo>
                  <a:pt x="36" y="116"/>
                </a:lnTo>
                <a:lnTo>
                  <a:pt x="26" y="110"/>
                </a:lnTo>
                <a:lnTo>
                  <a:pt x="20" y="100"/>
                </a:lnTo>
                <a:lnTo>
                  <a:pt x="14" y="90"/>
                </a:lnTo>
                <a:lnTo>
                  <a:pt x="10" y="78"/>
                </a:lnTo>
                <a:lnTo>
                  <a:pt x="8" y="66"/>
                </a:lnTo>
                <a:lnTo>
                  <a:pt x="8" y="8"/>
                </a:lnTo>
                <a:lnTo>
                  <a:pt x="8" y="8"/>
                </a:lnTo>
                <a:lnTo>
                  <a:pt x="10" y="8"/>
                </a:lnTo>
                <a:lnTo>
                  <a:pt x="32" y="8"/>
                </a:lnTo>
                <a:close/>
                <a:moveTo>
                  <a:pt x="32" y="0"/>
                </a:moveTo>
                <a:lnTo>
                  <a:pt x="10" y="0"/>
                </a:lnTo>
                <a:lnTo>
                  <a:pt x="10" y="0"/>
                </a:lnTo>
                <a:lnTo>
                  <a:pt x="6" y="0"/>
                </a:lnTo>
                <a:lnTo>
                  <a:pt x="4" y="2"/>
                </a:lnTo>
                <a:lnTo>
                  <a:pt x="2" y="6"/>
                </a:lnTo>
                <a:lnTo>
                  <a:pt x="0" y="8"/>
                </a:lnTo>
                <a:lnTo>
                  <a:pt x="0" y="66"/>
                </a:lnTo>
                <a:lnTo>
                  <a:pt x="0" y="66"/>
                </a:lnTo>
                <a:lnTo>
                  <a:pt x="2" y="80"/>
                </a:lnTo>
                <a:lnTo>
                  <a:pt x="6" y="94"/>
                </a:lnTo>
                <a:lnTo>
                  <a:pt x="12" y="104"/>
                </a:lnTo>
                <a:lnTo>
                  <a:pt x="22" y="116"/>
                </a:lnTo>
                <a:lnTo>
                  <a:pt x="32" y="124"/>
                </a:lnTo>
                <a:lnTo>
                  <a:pt x="44" y="130"/>
                </a:lnTo>
                <a:lnTo>
                  <a:pt x="56" y="134"/>
                </a:lnTo>
                <a:lnTo>
                  <a:pt x="70" y="136"/>
                </a:lnTo>
                <a:lnTo>
                  <a:pt x="128" y="136"/>
                </a:lnTo>
                <a:lnTo>
                  <a:pt x="128" y="136"/>
                </a:lnTo>
                <a:lnTo>
                  <a:pt x="130" y="134"/>
                </a:lnTo>
                <a:lnTo>
                  <a:pt x="134" y="132"/>
                </a:lnTo>
                <a:lnTo>
                  <a:pt x="136" y="130"/>
                </a:lnTo>
                <a:lnTo>
                  <a:pt x="136" y="126"/>
                </a:lnTo>
                <a:lnTo>
                  <a:pt x="136" y="104"/>
                </a:lnTo>
                <a:lnTo>
                  <a:pt x="136" y="104"/>
                </a:lnTo>
                <a:lnTo>
                  <a:pt x="136" y="102"/>
                </a:lnTo>
                <a:lnTo>
                  <a:pt x="134" y="98"/>
                </a:lnTo>
                <a:lnTo>
                  <a:pt x="130" y="96"/>
                </a:lnTo>
                <a:lnTo>
                  <a:pt x="128" y="96"/>
                </a:lnTo>
                <a:lnTo>
                  <a:pt x="70" y="96"/>
                </a:lnTo>
                <a:lnTo>
                  <a:pt x="70" y="96"/>
                </a:lnTo>
                <a:lnTo>
                  <a:pt x="64" y="96"/>
                </a:lnTo>
                <a:lnTo>
                  <a:pt x="58" y="94"/>
                </a:lnTo>
                <a:lnTo>
                  <a:pt x="48" y="88"/>
                </a:lnTo>
                <a:lnTo>
                  <a:pt x="42" y="78"/>
                </a:lnTo>
                <a:lnTo>
                  <a:pt x="40" y="72"/>
                </a:lnTo>
                <a:lnTo>
                  <a:pt x="40" y="66"/>
                </a:lnTo>
                <a:lnTo>
                  <a:pt x="40" y="8"/>
                </a:lnTo>
                <a:lnTo>
                  <a:pt x="40" y="8"/>
                </a:lnTo>
                <a:lnTo>
                  <a:pt x="40" y="6"/>
                </a:lnTo>
                <a:lnTo>
                  <a:pt x="38" y="2"/>
                </a:lnTo>
                <a:lnTo>
                  <a:pt x="34" y="0"/>
                </a:lnTo>
                <a:lnTo>
                  <a:pt x="32" y="0"/>
                </a:lnTo>
                <a:lnTo>
                  <a:pt x="3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8" name="Freeform 256"/>
          <p:cNvSpPr>
            <a:spLocks/>
          </p:cNvSpPr>
          <p:nvPr/>
        </p:nvSpPr>
        <p:spPr bwMode="auto">
          <a:xfrm>
            <a:off x="4396072" y="4100789"/>
            <a:ext cx="71533" cy="71533"/>
          </a:xfrm>
          <a:custGeom>
            <a:avLst/>
            <a:gdLst>
              <a:gd name="T0" fmla="*/ 24 w 120"/>
              <a:gd name="T1" fmla="*/ 0 h 120"/>
              <a:gd name="T2" fmla="*/ 24 w 120"/>
              <a:gd name="T3" fmla="*/ 0 h 120"/>
              <a:gd name="T4" fmla="*/ 24 w 120"/>
              <a:gd name="T5" fmla="*/ 0 h 120"/>
              <a:gd name="T6" fmla="*/ 24 w 120"/>
              <a:gd name="T7" fmla="*/ 58 h 120"/>
              <a:gd name="T8" fmla="*/ 24 w 120"/>
              <a:gd name="T9" fmla="*/ 58 h 120"/>
              <a:gd name="T10" fmla="*/ 24 w 120"/>
              <a:gd name="T11" fmla="*/ 66 h 120"/>
              <a:gd name="T12" fmla="*/ 28 w 120"/>
              <a:gd name="T13" fmla="*/ 72 h 120"/>
              <a:gd name="T14" fmla="*/ 30 w 120"/>
              <a:gd name="T15" fmla="*/ 80 h 120"/>
              <a:gd name="T16" fmla="*/ 36 w 120"/>
              <a:gd name="T17" fmla="*/ 86 h 120"/>
              <a:gd name="T18" fmla="*/ 40 w 120"/>
              <a:gd name="T19" fmla="*/ 90 h 120"/>
              <a:gd name="T20" fmla="*/ 48 w 120"/>
              <a:gd name="T21" fmla="*/ 94 h 120"/>
              <a:gd name="T22" fmla="*/ 54 w 120"/>
              <a:gd name="T23" fmla="*/ 96 h 120"/>
              <a:gd name="T24" fmla="*/ 62 w 120"/>
              <a:gd name="T25" fmla="*/ 96 h 120"/>
              <a:gd name="T26" fmla="*/ 120 w 120"/>
              <a:gd name="T27" fmla="*/ 96 h 120"/>
              <a:gd name="T28" fmla="*/ 120 w 120"/>
              <a:gd name="T29" fmla="*/ 96 h 120"/>
              <a:gd name="T30" fmla="*/ 120 w 120"/>
              <a:gd name="T31" fmla="*/ 96 h 120"/>
              <a:gd name="T32" fmla="*/ 120 w 120"/>
              <a:gd name="T33" fmla="*/ 118 h 120"/>
              <a:gd name="T34" fmla="*/ 120 w 120"/>
              <a:gd name="T35" fmla="*/ 118 h 120"/>
              <a:gd name="T36" fmla="*/ 120 w 120"/>
              <a:gd name="T37" fmla="*/ 120 h 120"/>
              <a:gd name="T38" fmla="*/ 62 w 120"/>
              <a:gd name="T39" fmla="*/ 120 h 120"/>
              <a:gd name="T40" fmla="*/ 62 w 120"/>
              <a:gd name="T41" fmla="*/ 120 h 120"/>
              <a:gd name="T42" fmla="*/ 50 w 120"/>
              <a:gd name="T43" fmla="*/ 118 h 120"/>
              <a:gd name="T44" fmla="*/ 38 w 120"/>
              <a:gd name="T45" fmla="*/ 114 h 120"/>
              <a:gd name="T46" fmla="*/ 28 w 120"/>
              <a:gd name="T47" fmla="*/ 108 h 120"/>
              <a:gd name="T48" fmla="*/ 18 w 120"/>
              <a:gd name="T49" fmla="*/ 102 h 120"/>
              <a:gd name="T50" fmla="*/ 12 w 120"/>
              <a:gd name="T51" fmla="*/ 92 h 120"/>
              <a:gd name="T52" fmla="*/ 6 w 120"/>
              <a:gd name="T53" fmla="*/ 82 h 120"/>
              <a:gd name="T54" fmla="*/ 2 w 120"/>
              <a:gd name="T55" fmla="*/ 70 h 120"/>
              <a:gd name="T56" fmla="*/ 0 w 120"/>
              <a:gd name="T57" fmla="*/ 58 h 120"/>
              <a:gd name="T58" fmla="*/ 0 w 120"/>
              <a:gd name="T59" fmla="*/ 0 h 120"/>
              <a:gd name="T60" fmla="*/ 0 w 120"/>
              <a:gd name="T61" fmla="*/ 0 h 120"/>
              <a:gd name="T62" fmla="*/ 2 w 120"/>
              <a:gd name="T63" fmla="*/ 0 h 120"/>
              <a:gd name="T64" fmla="*/ 24 w 120"/>
              <a:gd name="T65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0" h="120">
                <a:moveTo>
                  <a:pt x="24" y="0"/>
                </a:moveTo>
                <a:lnTo>
                  <a:pt x="24" y="0"/>
                </a:lnTo>
                <a:lnTo>
                  <a:pt x="24" y="0"/>
                </a:lnTo>
                <a:lnTo>
                  <a:pt x="24" y="58"/>
                </a:lnTo>
                <a:lnTo>
                  <a:pt x="24" y="58"/>
                </a:lnTo>
                <a:lnTo>
                  <a:pt x="24" y="66"/>
                </a:lnTo>
                <a:lnTo>
                  <a:pt x="28" y="72"/>
                </a:lnTo>
                <a:lnTo>
                  <a:pt x="30" y="80"/>
                </a:lnTo>
                <a:lnTo>
                  <a:pt x="36" y="86"/>
                </a:lnTo>
                <a:lnTo>
                  <a:pt x="40" y="90"/>
                </a:lnTo>
                <a:lnTo>
                  <a:pt x="48" y="94"/>
                </a:lnTo>
                <a:lnTo>
                  <a:pt x="54" y="96"/>
                </a:lnTo>
                <a:lnTo>
                  <a:pt x="62" y="96"/>
                </a:lnTo>
                <a:lnTo>
                  <a:pt x="120" y="96"/>
                </a:lnTo>
                <a:lnTo>
                  <a:pt x="120" y="96"/>
                </a:lnTo>
                <a:lnTo>
                  <a:pt x="120" y="96"/>
                </a:lnTo>
                <a:lnTo>
                  <a:pt x="120" y="118"/>
                </a:lnTo>
                <a:lnTo>
                  <a:pt x="120" y="118"/>
                </a:lnTo>
                <a:lnTo>
                  <a:pt x="120" y="120"/>
                </a:lnTo>
                <a:lnTo>
                  <a:pt x="62" y="120"/>
                </a:lnTo>
                <a:lnTo>
                  <a:pt x="62" y="120"/>
                </a:lnTo>
                <a:lnTo>
                  <a:pt x="50" y="118"/>
                </a:lnTo>
                <a:lnTo>
                  <a:pt x="38" y="114"/>
                </a:lnTo>
                <a:lnTo>
                  <a:pt x="28" y="108"/>
                </a:lnTo>
                <a:lnTo>
                  <a:pt x="18" y="102"/>
                </a:lnTo>
                <a:lnTo>
                  <a:pt x="12" y="92"/>
                </a:lnTo>
                <a:lnTo>
                  <a:pt x="6" y="82"/>
                </a:lnTo>
                <a:lnTo>
                  <a:pt x="2" y="70"/>
                </a:lnTo>
                <a:lnTo>
                  <a:pt x="0" y="58"/>
                </a:lnTo>
                <a:lnTo>
                  <a:pt x="0" y="0"/>
                </a:lnTo>
                <a:lnTo>
                  <a:pt x="0" y="0"/>
                </a:lnTo>
                <a:lnTo>
                  <a:pt x="2" y="0"/>
                </a:lnTo>
                <a:lnTo>
                  <a:pt x="24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9" name="Freeform 257"/>
          <p:cNvSpPr>
            <a:spLocks/>
          </p:cNvSpPr>
          <p:nvPr/>
        </p:nvSpPr>
        <p:spPr bwMode="auto">
          <a:xfrm>
            <a:off x="4391303" y="4096021"/>
            <a:ext cx="81070" cy="81070"/>
          </a:xfrm>
          <a:custGeom>
            <a:avLst/>
            <a:gdLst>
              <a:gd name="T0" fmla="*/ 32 w 136"/>
              <a:gd name="T1" fmla="*/ 0 h 136"/>
              <a:gd name="T2" fmla="*/ 10 w 136"/>
              <a:gd name="T3" fmla="*/ 0 h 136"/>
              <a:gd name="T4" fmla="*/ 10 w 136"/>
              <a:gd name="T5" fmla="*/ 0 h 136"/>
              <a:gd name="T6" fmla="*/ 6 w 136"/>
              <a:gd name="T7" fmla="*/ 0 h 136"/>
              <a:gd name="T8" fmla="*/ 4 w 136"/>
              <a:gd name="T9" fmla="*/ 2 h 136"/>
              <a:gd name="T10" fmla="*/ 2 w 136"/>
              <a:gd name="T11" fmla="*/ 6 h 136"/>
              <a:gd name="T12" fmla="*/ 0 w 136"/>
              <a:gd name="T13" fmla="*/ 8 h 136"/>
              <a:gd name="T14" fmla="*/ 0 w 136"/>
              <a:gd name="T15" fmla="*/ 66 h 136"/>
              <a:gd name="T16" fmla="*/ 0 w 136"/>
              <a:gd name="T17" fmla="*/ 66 h 136"/>
              <a:gd name="T18" fmla="*/ 2 w 136"/>
              <a:gd name="T19" fmla="*/ 80 h 136"/>
              <a:gd name="T20" fmla="*/ 6 w 136"/>
              <a:gd name="T21" fmla="*/ 94 h 136"/>
              <a:gd name="T22" fmla="*/ 12 w 136"/>
              <a:gd name="T23" fmla="*/ 104 h 136"/>
              <a:gd name="T24" fmla="*/ 22 w 136"/>
              <a:gd name="T25" fmla="*/ 116 h 136"/>
              <a:gd name="T26" fmla="*/ 32 w 136"/>
              <a:gd name="T27" fmla="*/ 124 h 136"/>
              <a:gd name="T28" fmla="*/ 44 w 136"/>
              <a:gd name="T29" fmla="*/ 130 h 136"/>
              <a:gd name="T30" fmla="*/ 56 w 136"/>
              <a:gd name="T31" fmla="*/ 134 h 136"/>
              <a:gd name="T32" fmla="*/ 70 w 136"/>
              <a:gd name="T33" fmla="*/ 136 h 136"/>
              <a:gd name="T34" fmla="*/ 128 w 136"/>
              <a:gd name="T35" fmla="*/ 136 h 136"/>
              <a:gd name="T36" fmla="*/ 128 w 136"/>
              <a:gd name="T37" fmla="*/ 136 h 136"/>
              <a:gd name="T38" fmla="*/ 130 w 136"/>
              <a:gd name="T39" fmla="*/ 134 h 136"/>
              <a:gd name="T40" fmla="*/ 134 w 136"/>
              <a:gd name="T41" fmla="*/ 132 h 136"/>
              <a:gd name="T42" fmla="*/ 136 w 136"/>
              <a:gd name="T43" fmla="*/ 130 h 136"/>
              <a:gd name="T44" fmla="*/ 136 w 136"/>
              <a:gd name="T45" fmla="*/ 126 h 136"/>
              <a:gd name="T46" fmla="*/ 136 w 136"/>
              <a:gd name="T47" fmla="*/ 104 h 136"/>
              <a:gd name="T48" fmla="*/ 136 w 136"/>
              <a:gd name="T49" fmla="*/ 104 h 136"/>
              <a:gd name="T50" fmla="*/ 136 w 136"/>
              <a:gd name="T51" fmla="*/ 102 h 136"/>
              <a:gd name="T52" fmla="*/ 134 w 136"/>
              <a:gd name="T53" fmla="*/ 98 h 136"/>
              <a:gd name="T54" fmla="*/ 130 w 136"/>
              <a:gd name="T55" fmla="*/ 96 h 136"/>
              <a:gd name="T56" fmla="*/ 128 w 136"/>
              <a:gd name="T57" fmla="*/ 96 h 136"/>
              <a:gd name="T58" fmla="*/ 70 w 136"/>
              <a:gd name="T59" fmla="*/ 96 h 136"/>
              <a:gd name="T60" fmla="*/ 70 w 136"/>
              <a:gd name="T61" fmla="*/ 96 h 136"/>
              <a:gd name="T62" fmla="*/ 64 w 136"/>
              <a:gd name="T63" fmla="*/ 96 h 136"/>
              <a:gd name="T64" fmla="*/ 58 w 136"/>
              <a:gd name="T65" fmla="*/ 94 h 136"/>
              <a:gd name="T66" fmla="*/ 48 w 136"/>
              <a:gd name="T67" fmla="*/ 88 h 136"/>
              <a:gd name="T68" fmla="*/ 42 w 136"/>
              <a:gd name="T69" fmla="*/ 78 h 136"/>
              <a:gd name="T70" fmla="*/ 40 w 136"/>
              <a:gd name="T71" fmla="*/ 72 h 136"/>
              <a:gd name="T72" fmla="*/ 40 w 136"/>
              <a:gd name="T73" fmla="*/ 66 h 136"/>
              <a:gd name="T74" fmla="*/ 40 w 136"/>
              <a:gd name="T75" fmla="*/ 8 h 136"/>
              <a:gd name="T76" fmla="*/ 40 w 136"/>
              <a:gd name="T77" fmla="*/ 8 h 136"/>
              <a:gd name="T78" fmla="*/ 40 w 136"/>
              <a:gd name="T79" fmla="*/ 6 h 136"/>
              <a:gd name="T80" fmla="*/ 38 w 136"/>
              <a:gd name="T81" fmla="*/ 2 h 136"/>
              <a:gd name="T82" fmla="*/ 34 w 136"/>
              <a:gd name="T83" fmla="*/ 0 h 136"/>
              <a:gd name="T84" fmla="*/ 32 w 136"/>
              <a:gd name="T85" fmla="*/ 0 h 136"/>
              <a:gd name="T86" fmla="*/ 32 w 136"/>
              <a:gd name="T87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36" h="136">
                <a:moveTo>
                  <a:pt x="32" y="0"/>
                </a:moveTo>
                <a:lnTo>
                  <a:pt x="10" y="0"/>
                </a:lnTo>
                <a:lnTo>
                  <a:pt x="10" y="0"/>
                </a:lnTo>
                <a:lnTo>
                  <a:pt x="6" y="0"/>
                </a:lnTo>
                <a:lnTo>
                  <a:pt x="4" y="2"/>
                </a:lnTo>
                <a:lnTo>
                  <a:pt x="2" y="6"/>
                </a:lnTo>
                <a:lnTo>
                  <a:pt x="0" y="8"/>
                </a:lnTo>
                <a:lnTo>
                  <a:pt x="0" y="66"/>
                </a:lnTo>
                <a:lnTo>
                  <a:pt x="0" y="66"/>
                </a:lnTo>
                <a:lnTo>
                  <a:pt x="2" y="80"/>
                </a:lnTo>
                <a:lnTo>
                  <a:pt x="6" y="94"/>
                </a:lnTo>
                <a:lnTo>
                  <a:pt x="12" y="104"/>
                </a:lnTo>
                <a:lnTo>
                  <a:pt x="22" y="116"/>
                </a:lnTo>
                <a:lnTo>
                  <a:pt x="32" y="124"/>
                </a:lnTo>
                <a:lnTo>
                  <a:pt x="44" y="130"/>
                </a:lnTo>
                <a:lnTo>
                  <a:pt x="56" y="134"/>
                </a:lnTo>
                <a:lnTo>
                  <a:pt x="70" y="136"/>
                </a:lnTo>
                <a:lnTo>
                  <a:pt x="128" y="136"/>
                </a:lnTo>
                <a:lnTo>
                  <a:pt x="128" y="136"/>
                </a:lnTo>
                <a:lnTo>
                  <a:pt x="130" y="134"/>
                </a:lnTo>
                <a:lnTo>
                  <a:pt x="134" y="132"/>
                </a:lnTo>
                <a:lnTo>
                  <a:pt x="136" y="130"/>
                </a:lnTo>
                <a:lnTo>
                  <a:pt x="136" y="126"/>
                </a:lnTo>
                <a:lnTo>
                  <a:pt x="136" y="104"/>
                </a:lnTo>
                <a:lnTo>
                  <a:pt x="136" y="104"/>
                </a:lnTo>
                <a:lnTo>
                  <a:pt x="136" y="102"/>
                </a:lnTo>
                <a:lnTo>
                  <a:pt x="134" y="98"/>
                </a:lnTo>
                <a:lnTo>
                  <a:pt x="130" y="96"/>
                </a:lnTo>
                <a:lnTo>
                  <a:pt x="128" y="96"/>
                </a:lnTo>
                <a:lnTo>
                  <a:pt x="70" y="96"/>
                </a:lnTo>
                <a:lnTo>
                  <a:pt x="70" y="96"/>
                </a:lnTo>
                <a:lnTo>
                  <a:pt x="64" y="96"/>
                </a:lnTo>
                <a:lnTo>
                  <a:pt x="58" y="94"/>
                </a:lnTo>
                <a:lnTo>
                  <a:pt x="48" y="88"/>
                </a:lnTo>
                <a:lnTo>
                  <a:pt x="42" y="78"/>
                </a:lnTo>
                <a:lnTo>
                  <a:pt x="40" y="72"/>
                </a:lnTo>
                <a:lnTo>
                  <a:pt x="40" y="66"/>
                </a:lnTo>
                <a:lnTo>
                  <a:pt x="40" y="8"/>
                </a:lnTo>
                <a:lnTo>
                  <a:pt x="40" y="8"/>
                </a:lnTo>
                <a:lnTo>
                  <a:pt x="40" y="6"/>
                </a:lnTo>
                <a:lnTo>
                  <a:pt x="38" y="2"/>
                </a:lnTo>
                <a:lnTo>
                  <a:pt x="34" y="0"/>
                </a:lnTo>
                <a:lnTo>
                  <a:pt x="32" y="0"/>
                </a:lnTo>
                <a:lnTo>
                  <a:pt x="32" y="0"/>
                </a:ln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0" name="Freeform 258"/>
          <p:cNvSpPr>
            <a:spLocks noEditPoints="1"/>
          </p:cNvSpPr>
          <p:nvPr/>
        </p:nvSpPr>
        <p:spPr bwMode="auto">
          <a:xfrm>
            <a:off x="4468797" y="4049524"/>
            <a:ext cx="52457" cy="51265"/>
          </a:xfrm>
          <a:custGeom>
            <a:avLst/>
            <a:gdLst>
              <a:gd name="T0" fmla="*/ 44 w 88"/>
              <a:gd name="T1" fmla="*/ 86 h 86"/>
              <a:gd name="T2" fmla="*/ 44 w 88"/>
              <a:gd name="T3" fmla="*/ 86 h 86"/>
              <a:gd name="T4" fmla="*/ 38 w 88"/>
              <a:gd name="T5" fmla="*/ 86 h 86"/>
              <a:gd name="T6" fmla="*/ 34 w 88"/>
              <a:gd name="T7" fmla="*/ 82 h 86"/>
              <a:gd name="T8" fmla="*/ 4 w 88"/>
              <a:gd name="T9" fmla="*/ 54 h 86"/>
              <a:gd name="T10" fmla="*/ 4 w 88"/>
              <a:gd name="T11" fmla="*/ 54 h 86"/>
              <a:gd name="T12" fmla="*/ 2 w 88"/>
              <a:gd name="T13" fmla="*/ 50 h 86"/>
              <a:gd name="T14" fmla="*/ 0 w 88"/>
              <a:gd name="T15" fmla="*/ 44 h 86"/>
              <a:gd name="T16" fmla="*/ 2 w 88"/>
              <a:gd name="T17" fmla="*/ 38 h 86"/>
              <a:gd name="T18" fmla="*/ 4 w 88"/>
              <a:gd name="T19" fmla="*/ 32 h 86"/>
              <a:gd name="T20" fmla="*/ 34 w 88"/>
              <a:gd name="T21" fmla="*/ 4 h 86"/>
              <a:gd name="T22" fmla="*/ 34 w 88"/>
              <a:gd name="T23" fmla="*/ 4 h 86"/>
              <a:gd name="T24" fmla="*/ 38 w 88"/>
              <a:gd name="T25" fmla="*/ 0 h 86"/>
              <a:gd name="T26" fmla="*/ 44 w 88"/>
              <a:gd name="T27" fmla="*/ 0 h 86"/>
              <a:gd name="T28" fmla="*/ 50 w 88"/>
              <a:gd name="T29" fmla="*/ 0 h 86"/>
              <a:gd name="T30" fmla="*/ 54 w 88"/>
              <a:gd name="T31" fmla="*/ 4 h 86"/>
              <a:gd name="T32" fmla="*/ 82 w 88"/>
              <a:gd name="T33" fmla="*/ 32 h 86"/>
              <a:gd name="T34" fmla="*/ 82 w 88"/>
              <a:gd name="T35" fmla="*/ 32 h 86"/>
              <a:gd name="T36" fmla="*/ 86 w 88"/>
              <a:gd name="T37" fmla="*/ 38 h 86"/>
              <a:gd name="T38" fmla="*/ 88 w 88"/>
              <a:gd name="T39" fmla="*/ 44 h 86"/>
              <a:gd name="T40" fmla="*/ 88 w 88"/>
              <a:gd name="T41" fmla="*/ 44 h 86"/>
              <a:gd name="T42" fmla="*/ 86 w 88"/>
              <a:gd name="T43" fmla="*/ 50 h 86"/>
              <a:gd name="T44" fmla="*/ 82 w 88"/>
              <a:gd name="T45" fmla="*/ 54 h 86"/>
              <a:gd name="T46" fmla="*/ 54 w 88"/>
              <a:gd name="T47" fmla="*/ 82 h 86"/>
              <a:gd name="T48" fmla="*/ 54 w 88"/>
              <a:gd name="T49" fmla="*/ 82 h 86"/>
              <a:gd name="T50" fmla="*/ 50 w 88"/>
              <a:gd name="T51" fmla="*/ 86 h 86"/>
              <a:gd name="T52" fmla="*/ 44 w 88"/>
              <a:gd name="T53" fmla="*/ 86 h 86"/>
              <a:gd name="T54" fmla="*/ 44 w 88"/>
              <a:gd name="T55" fmla="*/ 86 h 86"/>
              <a:gd name="T56" fmla="*/ 44 w 88"/>
              <a:gd name="T57" fmla="*/ 8 h 86"/>
              <a:gd name="T58" fmla="*/ 44 w 88"/>
              <a:gd name="T59" fmla="*/ 8 h 86"/>
              <a:gd name="T60" fmla="*/ 38 w 88"/>
              <a:gd name="T61" fmla="*/ 10 h 86"/>
              <a:gd name="T62" fmla="*/ 10 w 88"/>
              <a:gd name="T63" fmla="*/ 38 h 86"/>
              <a:gd name="T64" fmla="*/ 10 w 88"/>
              <a:gd name="T65" fmla="*/ 38 h 86"/>
              <a:gd name="T66" fmla="*/ 8 w 88"/>
              <a:gd name="T67" fmla="*/ 44 h 86"/>
              <a:gd name="T68" fmla="*/ 10 w 88"/>
              <a:gd name="T69" fmla="*/ 48 h 86"/>
              <a:gd name="T70" fmla="*/ 38 w 88"/>
              <a:gd name="T71" fmla="*/ 76 h 86"/>
              <a:gd name="T72" fmla="*/ 38 w 88"/>
              <a:gd name="T73" fmla="*/ 76 h 86"/>
              <a:gd name="T74" fmla="*/ 44 w 88"/>
              <a:gd name="T75" fmla="*/ 78 h 86"/>
              <a:gd name="T76" fmla="*/ 50 w 88"/>
              <a:gd name="T77" fmla="*/ 76 h 86"/>
              <a:gd name="T78" fmla="*/ 78 w 88"/>
              <a:gd name="T79" fmla="*/ 48 h 86"/>
              <a:gd name="T80" fmla="*/ 78 w 88"/>
              <a:gd name="T81" fmla="*/ 48 h 86"/>
              <a:gd name="T82" fmla="*/ 80 w 88"/>
              <a:gd name="T83" fmla="*/ 44 h 86"/>
              <a:gd name="T84" fmla="*/ 80 w 88"/>
              <a:gd name="T85" fmla="*/ 44 h 86"/>
              <a:gd name="T86" fmla="*/ 78 w 88"/>
              <a:gd name="T87" fmla="*/ 38 h 86"/>
              <a:gd name="T88" fmla="*/ 50 w 88"/>
              <a:gd name="T89" fmla="*/ 10 h 86"/>
              <a:gd name="T90" fmla="*/ 50 w 88"/>
              <a:gd name="T91" fmla="*/ 10 h 86"/>
              <a:gd name="T92" fmla="*/ 44 w 88"/>
              <a:gd name="T93" fmla="*/ 8 h 86"/>
              <a:gd name="T94" fmla="*/ 44 w 88"/>
              <a:gd name="T95" fmla="*/ 8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8" h="86">
                <a:moveTo>
                  <a:pt x="44" y="86"/>
                </a:moveTo>
                <a:lnTo>
                  <a:pt x="44" y="86"/>
                </a:lnTo>
                <a:lnTo>
                  <a:pt x="38" y="86"/>
                </a:lnTo>
                <a:lnTo>
                  <a:pt x="34" y="82"/>
                </a:lnTo>
                <a:lnTo>
                  <a:pt x="4" y="54"/>
                </a:lnTo>
                <a:lnTo>
                  <a:pt x="4" y="54"/>
                </a:lnTo>
                <a:lnTo>
                  <a:pt x="2" y="50"/>
                </a:lnTo>
                <a:lnTo>
                  <a:pt x="0" y="44"/>
                </a:lnTo>
                <a:lnTo>
                  <a:pt x="2" y="38"/>
                </a:lnTo>
                <a:lnTo>
                  <a:pt x="4" y="32"/>
                </a:lnTo>
                <a:lnTo>
                  <a:pt x="34" y="4"/>
                </a:lnTo>
                <a:lnTo>
                  <a:pt x="34" y="4"/>
                </a:lnTo>
                <a:lnTo>
                  <a:pt x="38" y="0"/>
                </a:lnTo>
                <a:lnTo>
                  <a:pt x="44" y="0"/>
                </a:lnTo>
                <a:lnTo>
                  <a:pt x="50" y="0"/>
                </a:lnTo>
                <a:lnTo>
                  <a:pt x="54" y="4"/>
                </a:lnTo>
                <a:lnTo>
                  <a:pt x="82" y="32"/>
                </a:lnTo>
                <a:lnTo>
                  <a:pt x="82" y="32"/>
                </a:lnTo>
                <a:lnTo>
                  <a:pt x="86" y="38"/>
                </a:lnTo>
                <a:lnTo>
                  <a:pt x="88" y="44"/>
                </a:lnTo>
                <a:lnTo>
                  <a:pt x="88" y="44"/>
                </a:lnTo>
                <a:lnTo>
                  <a:pt x="86" y="50"/>
                </a:lnTo>
                <a:lnTo>
                  <a:pt x="82" y="54"/>
                </a:lnTo>
                <a:lnTo>
                  <a:pt x="54" y="82"/>
                </a:lnTo>
                <a:lnTo>
                  <a:pt x="54" y="82"/>
                </a:lnTo>
                <a:lnTo>
                  <a:pt x="50" y="86"/>
                </a:lnTo>
                <a:lnTo>
                  <a:pt x="44" y="86"/>
                </a:lnTo>
                <a:lnTo>
                  <a:pt x="44" y="86"/>
                </a:lnTo>
                <a:close/>
                <a:moveTo>
                  <a:pt x="44" y="8"/>
                </a:moveTo>
                <a:lnTo>
                  <a:pt x="44" y="8"/>
                </a:lnTo>
                <a:lnTo>
                  <a:pt x="38" y="10"/>
                </a:lnTo>
                <a:lnTo>
                  <a:pt x="10" y="38"/>
                </a:lnTo>
                <a:lnTo>
                  <a:pt x="10" y="38"/>
                </a:lnTo>
                <a:lnTo>
                  <a:pt x="8" y="44"/>
                </a:lnTo>
                <a:lnTo>
                  <a:pt x="10" y="48"/>
                </a:lnTo>
                <a:lnTo>
                  <a:pt x="38" y="76"/>
                </a:lnTo>
                <a:lnTo>
                  <a:pt x="38" y="76"/>
                </a:lnTo>
                <a:lnTo>
                  <a:pt x="44" y="78"/>
                </a:lnTo>
                <a:lnTo>
                  <a:pt x="50" y="76"/>
                </a:lnTo>
                <a:lnTo>
                  <a:pt x="78" y="48"/>
                </a:lnTo>
                <a:lnTo>
                  <a:pt x="78" y="48"/>
                </a:lnTo>
                <a:lnTo>
                  <a:pt x="80" y="44"/>
                </a:lnTo>
                <a:lnTo>
                  <a:pt x="80" y="44"/>
                </a:lnTo>
                <a:lnTo>
                  <a:pt x="78" y="38"/>
                </a:lnTo>
                <a:lnTo>
                  <a:pt x="50" y="10"/>
                </a:lnTo>
                <a:lnTo>
                  <a:pt x="50" y="10"/>
                </a:lnTo>
                <a:lnTo>
                  <a:pt x="44" y="8"/>
                </a:lnTo>
                <a:lnTo>
                  <a:pt x="44" y="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1" name="Oval 525"/>
          <p:cNvSpPr>
            <a:spLocks noChangeArrowheads="1"/>
          </p:cNvSpPr>
          <p:nvPr/>
        </p:nvSpPr>
        <p:spPr bwMode="auto">
          <a:xfrm rot="16200000" flipH="1">
            <a:off x="6864498" y="3107258"/>
            <a:ext cx="175975" cy="188448"/>
          </a:xfrm>
          <a:prstGeom prst="rtTriangle">
            <a:avLst/>
          </a:prstGeom>
          <a:solidFill>
            <a:srgbClr val="0F8AC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2" name="Rectangle 548"/>
          <p:cNvSpPr>
            <a:spLocks noChangeArrowheads="1"/>
          </p:cNvSpPr>
          <p:nvPr/>
        </p:nvSpPr>
        <p:spPr bwMode="auto">
          <a:xfrm>
            <a:off x="4062650" y="4624681"/>
            <a:ext cx="2918918" cy="12914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3" name="모서리가 둥근 직사각형 102"/>
          <p:cNvSpPr/>
          <p:nvPr/>
        </p:nvSpPr>
        <p:spPr bwMode="auto">
          <a:xfrm flipH="1">
            <a:off x="4947579" y="4409415"/>
            <a:ext cx="160758" cy="158748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6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4" name="Freeform 40"/>
          <p:cNvSpPr>
            <a:spLocks/>
          </p:cNvSpPr>
          <p:nvPr/>
        </p:nvSpPr>
        <p:spPr bwMode="auto">
          <a:xfrm>
            <a:off x="4168358" y="4918493"/>
            <a:ext cx="643784" cy="643784"/>
          </a:xfrm>
          <a:custGeom>
            <a:avLst/>
            <a:gdLst>
              <a:gd name="T0" fmla="*/ 255 w 255"/>
              <a:gd name="T1" fmla="*/ 128 h 255"/>
              <a:gd name="T2" fmla="*/ 255 w 255"/>
              <a:gd name="T3" fmla="*/ 128 h 255"/>
              <a:gd name="T4" fmla="*/ 255 w 255"/>
              <a:gd name="T5" fmla="*/ 141 h 255"/>
              <a:gd name="T6" fmla="*/ 254 w 255"/>
              <a:gd name="T7" fmla="*/ 154 h 255"/>
              <a:gd name="T8" fmla="*/ 251 w 255"/>
              <a:gd name="T9" fmla="*/ 167 h 255"/>
              <a:gd name="T10" fmla="*/ 246 w 255"/>
              <a:gd name="T11" fmla="*/ 178 h 255"/>
              <a:gd name="T12" fmla="*/ 241 w 255"/>
              <a:gd name="T13" fmla="*/ 189 h 255"/>
              <a:gd name="T14" fmla="*/ 234 w 255"/>
              <a:gd name="T15" fmla="*/ 199 h 255"/>
              <a:gd name="T16" fmla="*/ 226 w 255"/>
              <a:gd name="T17" fmla="*/ 210 h 255"/>
              <a:gd name="T18" fmla="*/ 218 w 255"/>
              <a:gd name="T19" fmla="*/ 218 h 255"/>
              <a:gd name="T20" fmla="*/ 209 w 255"/>
              <a:gd name="T21" fmla="*/ 226 h 255"/>
              <a:gd name="T22" fmla="*/ 199 w 255"/>
              <a:gd name="T23" fmla="*/ 234 h 255"/>
              <a:gd name="T24" fmla="*/ 189 w 255"/>
              <a:gd name="T25" fmla="*/ 241 h 255"/>
              <a:gd name="T26" fmla="*/ 178 w 255"/>
              <a:gd name="T27" fmla="*/ 246 h 255"/>
              <a:gd name="T28" fmla="*/ 167 w 255"/>
              <a:gd name="T29" fmla="*/ 251 h 255"/>
              <a:gd name="T30" fmla="*/ 154 w 255"/>
              <a:gd name="T31" fmla="*/ 254 h 255"/>
              <a:gd name="T32" fmla="*/ 141 w 255"/>
              <a:gd name="T33" fmla="*/ 255 h 255"/>
              <a:gd name="T34" fmla="*/ 128 w 255"/>
              <a:gd name="T35" fmla="*/ 255 h 255"/>
              <a:gd name="T36" fmla="*/ 128 w 255"/>
              <a:gd name="T37" fmla="*/ 255 h 255"/>
              <a:gd name="T38" fmla="*/ 115 w 255"/>
              <a:gd name="T39" fmla="*/ 255 h 255"/>
              <a:gd name="T40" fmla="*/ 102 w 255"/>
              <a:gd name="T41" fmla="*/ 254 h 255"/>
              <a:gd name="T42" fmla="*/ 89 w 255"/>
              <a:gd name="T43" fmla="*/ 251 h 255"/>
              <a:gd name="T44" fmla="*/ 78 w 255"/>
              <a:gd name="T45" fmla="*/ 246 h 255"/>
              <a:gd name="T46" fmla="*/ 66 w 255"/>
              <a:gd name="T47" fmla="*/ 241 h 255"/>
              <a:gd name="T48" fmla="*/ 57 w 255"/>
              <a:gd name="T49" fmla="*/ 234 h 255"/>
              <a:gd name="T50" fmla="*/ 47 w 255"/>
              <a:gd name="T51" fmla="*/ 226 h 255"/>
              <a:gd name="T52" fmla="*/ 37 w 255"/>
              <a:gd name="T53" fmla="*/ 218 h 255"/>
              <a:gd name="T54" fmla="*/ 29 w 255"/>
              <a:gd name="T55" fmla="*/ 210 h 255"/>
              <a:gd name="T56" fmla="*/ 21 w 255"/>
              <a:gd name="T57" fmla="*/ 199 h 255"/>
              <a:gd name="T58" fmla="*/ 15 w 255"/>
              <a:gd name="T59" fmla="*/ 189 h 255"/>
              <a:gd name="T60" fmla="*/ 10 w 255"/>
              <a:gd name="T61" fmla="*/ 178 h 255"/>
              <a:gd name="T62" fmla="*/ 5 w 255"/>
              <a:gd name="T63" fmla="*/ 167 h 255"/>
              <a:gd name="T64" fmla="*/ 2 w 255"/>
              <a:gd name="T65" fmla="*/ 154 h 255"/>
              <a:gd name="T66" fmla="*/ 0 w 255"/>
              <a:gd name="T67" fmla="*/ 141 h 255"/>
              <a:gd name="T68" fmla="*/ 0 w 255"/>
              <a:gd name="T69" fmla="*/ 128 h 255"/>
              <a:gd name="T70" fmla="*/ 0 w 255"/>
              <a:gd name="T71" fmla="*/ 128 h 255"/>
              <a:gd name="T72" fmla="*/ 0 w 255"/>
              <a:gd name="T73" fmla="*/ 115 h 255"/>
              <a:gd name="T74" fmla="*/ 2 w 255"/>
              <a:gd name="T75" fmla="*/ 102 h 255"/>
              <a:gd name="T76" fmla="*/ 5 w 255"/>
              <a:gd name="T77" fmla="*/ 91 h 255"/>
              <a:gd name="T78" fmla="*/ 10 w 255"/>
              <a:gd name="T79" fmla="*/ 78 h 255"/>
              <a:gd name="T80" fmla="*/ 15 w 255"/>
              <a:gd name="T81" fmla="*/ 66 h 255"/>
              <a:gd name="T82" fmla="*/ 21 w 255"/>
              <a:gd name="T83" fmla="*/ 57 h 255"/>
              <a:gd name="T84" fmla="*/ 29 w 255"/>
              <a:gd name="T85" fmla="*/ 47 h 255"/>
              <a:gd name="T86" fmla="*/ 37 w 255"/>
              <a:gd name="T87" fmla="*/ 37 h 255"/>
              <a:gd name="T88" fmla="*/ 47 w 255"/>
              <a:gd name="T89" fmla="*/ 29 h 255"/>
              <a:gd name="T90" fmla="*/ 57 w 255"/>
              <a:gd name="T91" fmla="*/ 23 h 255"/>
              <a:gd name="T92" fmla="*/ 66 w 255"/>
              <a:gd name="T93" fmla="*/ 16 h 255"/>
              <a:gd name="T94" fmla="*/ 78 w 255"/>
              <a:gd name="T95" fmla="*/ 10 h 255"/>
              <a:gd name="T96" fmla="*/ 89 w 255"/>
              <a:gd name="T97" fmla="*/ 7 h 255"/>
              <a:gd name="T98" fmla="*/ 102 w 255"/>
              <a:gd name="T99" fmla="*/ 3 h 255"/>
              <a:gd name="T100" fmla="*/ 115 w 255"/>
              <a:gd name="T101" fmla="*/ 0 h 255"/>
              <a:gd name="T102" fmla="*/ 128 w 255"/>
              <a:gd name="T103" fmla="*/ 0 h 255"/>
              <a:gd name="T104" fmla="*/ 255 w 255"/>
              <a:gd name="T105" fmla="*/ 0 h 255"/>
              <a:gd name="T106" fmla="*/ 255 w 255"/>
              <a:gd name="T107" fmla="*/ 12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5" h="255">
                <a:moveTo>
                  <a:pt x="255" y="128"/>
                </a:moveTo>
                <a:lnTo>
                  <a:pt x="255" y="128"/>
                </a:lnTo>
                <a:lnTo>
                  <a:pt x="255" y="141"/>
                </a:lnTo>
                <a:lnTo>
                  <a:pt x="254" y="154"/>
                </a:lnTo>
                <a:lnTo>
                  <a:pt x="251" y="167"/>
                </a:lnTo>
                <a:lnTo>
                  <a:pt x="246" y="178"/>
                </a:lnTo>
                <a:lnTo>
                  <a:pt x="241" y="189"/>
                </a:lnTo>
                <a:lnTo>
                  <a:pt x="234" y="199"/>
                </a:lnTo>
                <a:lnTo>
                  <a:pt x="226" y="210"/>
                </a:lnTo>
                <a:lnTo>
                  <a:pt x="218" y="218"/>
                </a:lnTo>
                <a:lnTo>
                  <a:pt x="209" y="226"/>
                </a:lnTo>
                <a:lnTo>
                  <a:pt x="199" y="234"/>
                </a:lnTo>
                <a:lnTo>
                  <a:pt x="189" y="241"/>
                </a:lnTo>
                <a:lnTo>
                  <a:pt x="178" y="246"/>
                </a:lnTo>
                <a:lnTo>
                  <a:pt x="167" y="251"/>
                </a:lnTo>
                <a:lnTo>
                  <a:pt x="154" y="254"/>
                </a:lnTo>
                <a:lnTo>
                  <a:pt x="141" y="255"/>
                </a:lnTo>
                <a:lnTo>
                  <a:pt x="128" y="255"/>
                </a:lnTo>
                <a:lnTo>
                  <a:pt x="128" y="255"/>
                </a:lnTo>
                <a:lnTo>
                  <a:pt x="115" y="255"/>
                </a:lnTo>
                <a:lnTo>
                  <a:pt x="102" y="254"/>
                </a:lnTo>
                <a:lnTo>
                  <a:pt x="89" y="251"/>
                </a:lnTo>
                <a:lnTo>
                  <a:pt x="78" y="246"/>
                </a:lnTo>
                <a:lnTo>
                  <a:pt x="66" y="241"/>
                </a:lnTo>
                <a:lnTo>
                  <a:pt x="57" y="234"/>
                </a:lnTo>
                <a:lnTo>
                  <a:pt x="47" y="226"/>
                </a:lnTo>
                <a:lnTo>
                  <a:pt x="37" y="218"/>
                </a:lnTo>
                <a:lnTo>
                  <a:pt x="29" y="210"/>
                </a:lnTo>
                <a:lnTo>
                  <a:pt x="21" y="199"/>
                </a:lnTo>
                <a:lnTo>
                  <a:pt x="15" y="189"/>
                </a:lnTo>
                <a:lnTo>
                  <a:pt x="10" y="178"/>
                </a:lnTo>
                <a:lnTo>
                  <a:pt x="5" y="167"/>
                </a:lnTo>
                <a:lnTo>
                  <a:pt x="2" y="154"/>
                </a:lnTo>
                <a:lnTo>
                  <a:pt x="0" y="141"/>
                </a:lnTo>
                <a:lnTo>
                  <a:pt x="0" y="128"/>
                </a:lnTo>
                <a:lnTo>
                  <a:pt x="0" y="128"/>
                </a:lnTo>
                <a:lnTo>
                  <a:pt x="0" y="115"/>
                </a:lnTo>
                <a:lnTo>
                  <a:pt x="2" y="102"/>
                </a:lnTo>
                <a:lnTo>
                  <a:pt x="5" y="91"/>
                </a:lnTo>
                <a:lnTo>
                  <a:pt x="10" y="78"/>
                </a:lnTo>
                <a:lnTo>
                  <a:pt x="15" y="66"/>
                </a:lnTo>
                <a:lnTo>
                  <a:pt x="21" y="57"/>
                </a:lnTo>
                <a:lnTo>
                  <a:pt x="29" y="47"/>
                </a:lnTo>
                <a:lnTo>
                  <a:pt x="37" y="37"/>
                </a:lnTo>
                <a:lnTo>
                  <a:pt x="47" y="29"/>
                </a:lnTo>
                <a:lnTo>
                  <a:pt x="57" y="23"/>
                </a:lnTo>
                <a:lnTo>
                  <a:pt x="66" y="16"/>
                </a:lnTo>
                <a:lnTo>
                  <a:pt x="78" y="10"/>
                </a:lnTo>
                <a:lnTo>
                  <a:pt x="89" y="7"/>
                </a:lnTo>
                <a:lnTo>
                  <a:pt x="102" y="3"/>
                </a:lnTo>
                <a:lnTo>
                  <a:pt x="115" y="0"/>
                </a:lnTo>
                <a:lnTo>
                  <a:pt x="128" y="0"/>
                </a:lnTo>
                <a:lnTo>
                  <a:pt x="255" y="0"/>
                </a:lnTo>
                <a:lnTo>
                  <a:pt x="255" y="128"/>
                </a:lnTo>
                <a:close/>
              </a:path>
            </a:pathLst>
          </a:cu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b="1" spc="-5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5" name="양쪽 모서리가 둥근 사각형 104"/>
          <p:cNvSpPr/>
          <p:nvPr/>
        </p:nvSpPr>
        <p:spPr bwMode="auto">
          <a:xfrm>
            <a:off x="4278730" y="4949888"/>
            <a:ext cx="443637" cy="503284"/>
          </a:xfrm>
          <a:prstGeom prst="round2SameRect">
            <a:avLst>
              <a:gd name="adj1" fmla="val 20612"/>
              <a:gd name="adj2" fmla="val 0"/>
            </a:avLst>
          </a:prstGeom>
          <a:noFill/>
          <a:ln w="3175">
            <a:noFill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1042988" eaLnBrk="0" latinLnBrk="0" hangingPunct="0">
              <a:lnSpc>
                <a:spcPct val="90000"/>
              </a:lnSpc>
              <a:spcBef>
                <a:spcPts val="0"/>
              </a:spcBef>
              <a:buClr>
                <a:srgbClr val="292929"/>
              </a:buClr>
              <a:buSzPct val="100000"/>
              <a:tabLst>
                <a:tab pos="5648325" algn="l"/>
              </a:tabLst>
              <a:defRPr/>
            </a:pPr>
            <a:r>
              <a:rPr lang="ko-KR" altLang="en-US" sz="1000" b="1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복구 절차</a:t>
            </a:r>
            <a:br>
              <a:rPr lang="en-US" altLang="ko-KR" sz="900" b="1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</a:br>
            <a:r>
              <a:rPr lang="en-US" altLang="ko-KR" sz="800" b="1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(</a:t>
            </a:r>
            <a:r>
              <a:rPr lang="ko-KR" altLang="en-US" sz="800" b="1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장애 대응</a:t>
            </a:r>
            <a:r>
              <a:rPr lang="en-US" altLang="ko-KR" sz="800" b="1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)</a:t>
            </a:r>
          </a:p>
        </p:txBody>
      </p:sp>
      <p:sp>
        <p:nvSpPr>
          <p:cNvPr id="106" name="모서리가 둥근 직사각형 105"/>
          <p:cNvSpPr/>
          <p:nvPr/>
        </p:nvSpPr>
        <p:spPr bwMode="auto">
          <a:xfrm flipH="1">
            <a:off x="4947579" y="4856694"/>
            <a:ext cx="160758" cy="158748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7" name="모서리가 둥근 직사각형 106"/>
          <p:cNvSpPr/>
          <p:nvPr/>
        </p:nvSpPr>
        <p:spPr bwMode="auto">
          <a:xfrm flipH="1">
            <a:off x="4947579" y="5038280"/>
            <a:ext cx="160758" cy="158748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8" name="모서리가 둥근 직사각형 107"/>
          <p:cNvSpPr/>
          <p:nvPr/>
        </p:nvSpPr>
        <p:spPr bwMode="auto">
          <a:xfrm flipH="1">
            <a:off x="4947579" y="5219866"/>
            <a:ext cx="160758" cy="158748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9" name="모서리가 둥근 직사각형 108"/>
          <p:cNvSpPr/>
          <p:nvPr/>
        </p:nvSpPr>
        <p:spPr bwMode="auto">
          <a:xfrm flipH="1">
            <a:off x="4947579" y="5401452"/>
            <a:ext cx="160758" cy="158748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4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0" name="모서리가 둥근 직사각형 109"/>
          <p:cNvSpPr/>
          <p:nvPr/>
        </p:nvSpPr>
        <p:spPr bwMode="auto">
          <a:xfrm flipH="1">
            <a:off x="4947579" y="5583038"/>
            <a:ext cx="160758" cy="158748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</a:t>
            </a:r>
            <a:endParaRPr kumimoji="1" lang="ko-KR" altLang="en-US" sz="8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1" name="Rectangle 549"/>
          <p:cNvSpPr>
            <a:spLocks noChangeArrowheads="1"/>
          </p:cNvSpPr>
          <p:nvPr/>
        </p:nvSpPr>
        <p:spPr bwMode="auto">
          <a:xfrm>
            <a:off x="5160367" y="5041481"/>
            <a:ext cx="1906282" cy="13388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defTabSz="1042988" eaLnBrk="0" latin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백업파일을 이용한  복구 작업</a:t>
            </a:r>
          </a:p>
        </p:txBody>
      </p:sp>
      <p:sp>
        <p:nvSpPr>
          <p:cNvPr id="112" name="Rectangle 549"/>
          <p:cNvSpPr>
            <a:spLocks noChangeArrowheads="1"/>
          </p:cNvSpPr>
          <p:nvPr/>
        </p:nvSpPr>
        <p:spPr bwMode="auto">
          <a:xfrm>
            <a:off x="5160601" y="5204600"/>
            <a:ext cx="1156272" cy="15234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defTabSz="1042988" eaLnBrk="0" latin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복구 확인</a:t>
            </a:r>
          </a:p>
        </p:txBody>
      </p:sp>
      <p:sp>
        <p:nvSpPr>
          <p:cNvPr id="113" name="Rectangle 549"/>
          <p:cNvSpPr>
            <a:spLocks noChangeArrowheads="1"/>
          </p:cNvSpPr>
          <p:nvPr/>
        </p:nvSpPr>
        <p:spPr bwMode="auto">
          <a:xfrm>
            <a:off x="5185923" y="5386186"/>
            <a:ext cx="1240274" cy="15234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defTabSz="1042988" eaLnBrk="0" latin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복구 실패 시 재 작업 수행</a:t>
            </a:r>
          </a:p>
        </p:txBody>
      </p:sp>
      <p:sp>
        <p:nvSpPr>
          <p:cNvPr id="114" name="Rectangle 549"/>
          <p:cNvSpPr>
            <a:spLocks noChangeArrowheads="1"/>
          </p:cNvSpPr>
          <p:nvPr/>
        </p:nvSpPr>
        <p:spPr bwMode="auto">
          <a:xfrm>
            <a:off x="5183389" y="5577005"/>
            <a:ext cx="1237865" cy="15234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defTabSz="1042988" eaLnBrk="0" latin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9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복구 완료</a:t>
            </a:r>
          </a:p>
        </p:txBody>
      </p:sp>
      <p:sp>
        <p:nvSpPr>
          <p:cNvPr id="115" name="Rectangle 549"/>
          <p:cNvSpPr>
            <a:spLocks noChangeArrowheads="1"/>
          </p:cNvSpPr>
          <p:nvPr/>
        </p:nvSpPr>
        <p:spPr bwMode="auto">
          <a:xfrm>
            <a:off x="5160367" y="4859894"/>
            <a:ext cx="1132928" cy="15234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101600" indent="-101600" defTabSz="1042988" eaLnBrk="0" latin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9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Arial" pitchFamily="34" charset="0"/>
              </a:rPr>
              <a:t>복구 계획 수립</a:t>
            </a:r>
          </a:p>
        </p:txBody>
      </p:sp>
      <p:sp>
        <p:nvSpPr>
          <p:cNvPr id="116" name="Freeform 343"/>
          <p:cNvSpPr>
            <a:spLocks noEditPoints="1"/>
          </p:cNvSpPr>
          <p:nvPr/>
        </p:nvSpPr>
        <p:spPr bwMode="auto">
          <a:xfrm>
            <a:off x="4380494" y="5413909"/>
            <a:ext cx="224294" cy="170717"/>
          </a:xfrm>
          <a:custGeom>
            <a:avLst/>
            <a:gdLst>
              <a:gd name="T0" fmla="*/ 214 w 494"/>
              <a:gd name="T1" fmla="*/ 232 h 376"/>
              <a:gd name="T2" fmla="*/ 410 w 494"/>
              <a:gd name="T3" fmla="*/ 232 h 376"/>
              <a:gd name="T4" fmla="*/ 414 w 494"/>
              <a:gd name="T5" fmla="*/ 230 h 376"/>
              <a:gd name="T6" fmla="*/ 420 w 494"/>
              <a:gd name="T7" fmla="*/ 226 h 376"/>
              <a:gd name="T8" fmla="*/ 422 w 494"/>
              <a:gd name="T9" fmla="*/ 10 h 376"/>
              <a:gd name="T10" fmla="*/ 420 w 494"/>
              <a:gd name="T11" fmla="*/ 6 h 376"/>
              <a:gd name="T12" fmla="*/ 414 w 494"/>
              <a:gd name="T13" fmla="*/ 0 h 376"/>
              <a:gd name="T14" fmla="*/ 82 w 494"/>
              <a:gd name="T15" fmla="*/ 0 h 376"/>
              <a:gd name="T16" fmla="*/ 78 w 494"/>
              <a:gd name="T17" fmla="*/ 0 h 376"/>
              <a:gd name="T18" fmla="*/ 72 w 494"/>
              <a:gd name="T19" fmla="*/ 6 h 376"/>
              <a:gd name="T20" fmla="*/ 72 w 494"/>
              <a:gd name="T21" fmla="*/ 222 h 376"/>
              <a:gd name="T22" fmla="*/ 72 w 494"/>
              <a:gd name="T23" fmla="*/ 226 h 376"/>
              <a:gd name="T24" fmla="*/ 78 w 494"/>
              <a:gd name="T25" fmla="*/ 230 h 376"/>
              <a:gd name="T26" fmla="*/ 94 w 494"/>
              <a:gd name="T27" fmla="*/ 28 h 376"/>
              <a:gd name="T28" fmla="*/ 94 w 494"/>
              <a:gd name="T29" fmla="*/ 26 h 376"/>
              <a:gd name="T30" fmla="*/ 100 w 494"/>
              <a:gd name="T31" fmla="*/ 20 h 376"/>
              <a:gd name="T32" fmla="*/ 390 w 494"/>
              <a:gd name="T33" fmla="*/ 20 h 376"/>
              <a:gd name="T34" fmla="*/ 394 w 494"/>
              <a:gd name="T35" fmla="*/ 20 h 376"/>
              <a:gd name="T36" fmla="*/ 398 w 494"/>
              <a:gd name="T37" fmla="*/ 26 h 376"/>
              <a:gd name="T38" fmla="*/ 400 w 494"/>
              <a:gd name="T39" fmla="*/ 200 h 376"/>
              <a:gd name="T40" fmla="*/ 398 w 494"/>
              <a:gd name="T41" fmla="*/ 204 h 376"/>
              <a:gd name="T42" fmla="*/ 394 w 494"/>
              <a:gd name="T43" fmla="*/ 208 h 376"/>
              <a:gd name="T44" fmla="*/ 104 w 494"/>
              <a:gd name="T45" fmla="*/ 210 h 376"/>
              <a:gd name="T46" fmla="*/ 100 w 494"/>
              <a:gd name="T47" fmla="*/ 208 h 376"/>
              <a:gd name="T48" fmla="*/ 94 w 494"/>
              <a:gd name="T49" fmla="*/ 204 h 376"/>
              <a:gd name="T50" fmla="*/ 94 w 494"/>
              <a:gd name="T51" fmla="*/ 28 h 376"/>
              <a:gd name="T52" fmla="*/ 420 w 494"/>
              <a:gd name="T53" fmla="*/ 236 h 376"/>
              <a:gd name="T54" fmla="*/ 416 w 494"/>
              <a:gd name="T55" fmla="*/ 234 h 376"/>
              <a:gd name="T56" fmla="*/ 86 w 494"/>
              <a:gd name="T57" fmla="*/ 232 h 376"/>
              <a:gd name="T58" fmla="*/ 78 w 494"/>
              <a:gd name="T59" fmla="*/ 234 h 376"/>
              <a:gd name="T60" fmla="*/ 0 w 494"/>
              <a:gd name="T61" fmla="*/ 368 h 376"/>
              <a:gd name="T62" fmla="*/ 0 w 494"/>
              <a:gd name="T63" fmla="*/ 372 h 376"/>
              <a:gd name="T64" fmla="*/ 6 w 494"/>
              <a:gd name="T65" fmla="*/ 376 h 376"/>
              <a:gd name="T66" fmla="*/ 200 w 494"/>
              <a:gd name="T67" fmla="*/ 376 h 376"/>
              <a:gd name="T68" fmla="*/ 482 w 494"/>
              <a:gd name="T69" fmla="*/ 376 h 376"/>
              <a:gd name="T70" fmla="*/ 488 w 494"/>
              <a:gd name="T71" fmla="*/ 376 h 376"/>
              <a:gd name="T72" fmla="*/ 494 w 494"/>
              <a:gd name="T73" fmla="*/ 372 h 376"/>
              <a:gd name="T74" fmla="*/ 158 w 494"/>
              <a:gd name="T75" fmla="*/ 358 h 376"/>
              <a:gd name="T76" fmla="*/ 336 w 494"/>
              <a:gd name="T77" fmla="*/ 320 h 376"/>
              <a:gd name="T78" fmla="*/ 158 w 494"/>
              <a:gd name="T79" fmla="*/ 35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94" h="376">
                <a:moveTo>
                  <a:pt x="82" y="232"/>
                </a:moveTo>
                <a:lnTo>
                  <a:pt x="214" y="232"/>
                </a:lnTo>
                <a:lnTo>
                  <a:pt x="280" y="232"/>
                </a:lnTo>
                <a:lnTo>
                  <a:pt x="410" y="232"/>
                </a:lnTo>
                <a:lnTo>
                  <a:pt x="410" y="232"/>
                </a:lnTo>
                <a:lnTo>
                  <a:pt x="414" y="230"/>
                </a:lnTo>
                <a:lnTo>
                  <a:pt x="418" y="228"/>
                </a:lnTo>
                <a:lnTo>
                  <a:pt x="420" y="226"/>
                </a:lnTo>
                <a:lnTo>
                  <a:pt x="422" y="222"/>
                </a:lnTo>
                <a:lnTo>
                  <a:pt x="422" y="10"/>
                </a:lnTo>
                <a:lnTo>
                  <a:pt x="422" y="10"/>
                </a:lnTo>
                <a:lnTo>
                  <a:pt x="420" y="6"/>
                </a:lnTo>
                <a:lnTo>
                  <a:pt x="418" y="2"/>
                </a:lnTo>
                <a:lnTo>
                  <a:pt x="414" y="0"/>
                </a:lnTo>
                <a:lnTo>
                  <a:pt x="410" y="0"/>
                </a:lnTo>
                <a:lnTo>
                  <a:pt x="82" y="0"/>
                </a:lnTo>
                <a:lnTo>
                  <a:pt x="82" y="0"/>
                </a:lnTo>
                <a:lnTo>
                  <a:pt x="78" y="0"/>
                </a:lnTo>
                <a:lnTo>
                  <a:pt x="74" y="2"/>
                </a:lnTo>
                <a:lnTo>
                  <a:pt x="72" y="6"/>
                </a:lnTo>
                <a:lnTo>
                  <a:pt x="72" y="10"/>
                </a:lnTo>
                <a:lnTo>
                  <a:pt x="72" y="222"/>
                </a:lnTo>
                <a:lnTo>
                  <a:pt x="72" y="222"/>
                </a:lnTo>
                <a:lnTo>
                  <a:pt x="72" y="226"/>
                </a:lnTo>
                <a:lnTo>
                  <a:pt x="74" y="228"/>
                </a:lnTo>
                <a:lnTo>
                  <a:pt x="78" y="230"/>
                </a:lnTo>
                <a:lnTo>
                  <a:pt x="82" y="232"/>
                </a:lnTo>
                <a:close/>
                <a:moveTo>
                  <a:pt x="94" y="28"/>
                </a:moveTo>
                <a:lnTo>
                  <a:pt x="94" y="28"/>
                </a:lnTo>
                <a:lnTo>
                  <a:pt x="94" y="26"/>
                </a:lnTo>
                <a:lnTo>
                  <a:pt x="96" y="22"/>
                </a:lnTo>
                <a:lnTo>
                  <a:pt x="100" y="20"/>
                </a:lnTo>
                <a:lnTo>
                  <a:pt x="104" y="20"/>
                </a:lnTo>
                <a:lnTo>
                  <a:pt x="390" y="20"/>
                </a:lnTo>
                <a:lnTo>
                  <a:pt x="390" y="20"/>
                </a:lnTo>
                <a:lnTo>
                  <a:pt x="394" y="20"/>
                </a:lnTo>
                <a:lnTo>
                  <a:pt x="396" y="22"/>
                </a:lnTo>
                <a:lnTo>
                  <a:pt x="398" y="26"/>
                </a:lnTo>
                <a:lnTo>
                  <a:pt x="400" y="28"/>
                </a:lnTo>
                <a:lnTo>
                  <a:pt x="400" y="200"/>
                </a:lnTo>
                <a:lnTo>
                  <a:pt x="400" y="200"/>
                </a:lnTo>
                <a:lnTo>
                  <a:pt x="398" y="204"/>
                </a:lnTo>
                <a:lnTo>
                  <a:pt x="396" y="206"/>
                </a:lnTo>
                <a:lnTo>
                  <a:pt x="394" y="208"/>
                </a:lnTo>
                <a:lnTo>
                  <a:pt x="390" y="210"/>
                </a:lnTo>
                <a:lnTo>
                  <a:pt x="104" y="210"/>
                </a:lnTo>
                <a:lnTo>
                  <a:pt x="104" y="210"/>
                </a:lnTo>
                <a:lnTo>
                  <a:pt x="100" y="208"/>
                </a:lnTo>
                <a:lnTo>
                  <a:pt x="96" y="206"/>
                </a:lnTo>
                <a:lnTo>
                  <a:pt x="94" y="204"/>
                </a:lnTo>
                <a:lnTo>
                  <a:pt x="94" y="200"/>
                </a:lnTo>
                <a:lnTo>
                  <a:pt x="94" y="28"/>
                </a:lnTo>
                <a:close/>
                <a:moveTo>
                  <a:pt x="492" y="368"/>
                </a:moveTo>
                <a:lnTo>
                  <a:pt x="420" y="236"/>
                </a:lnTo>
                <a:lnTo>
                  <a:pt x="420" y="236"/>
                </a:lnTo>
                <a:lnTo>
                  <a:pt x="416" y="234"/>
                </a:lnTo>
                <a:lnTo>
                  <a:pt x="408" y="232"/>
                </a:lnTo>
                <a:lnTo>
                  <a:pt x="86" y="232"/>
                </a:lnTo>
                <a:lnTo>
                  <a:pt x="86" y="232"/>
                </a:lnTo>
                <a:lnTo>
                  <a:pt x="78" y="234"/>
                </a:lnTo>
                <a:lnTo>
                  <a:pt x="72" y="236"/>
                </a:lnTo>
                <a:lnTo>
                  <a:pt x="0" y="368"/>
                </a:lnTo>
                <a:lnTo>
                  <a:pt x="0" y="368"/>
                </a:lnTo>
                <a:lnTo>
                  <a:pt x="0" y="372"/>
                </a:lnTo>
                <a:lnTo>
                  <a:pt x="2" y="374"/>
                </a:lnTo>
                <a:lnTo>
                  <a:pt x="6" y="376"/>
                </a:lnTo>
                <a:lnTo>
                  <a:pt x="10" y="376"/>
                </a:lnTo>
                <a:lnTo>
                  <a:pt x="200" y="376"/>
                </a:lnTo>
                <a:lnTo>
                  <a:pt x="294" y="376"/>
                </a:lnTo>
                <a:lnTo>
                  <a:pt x="482" y="376"/>
                </a:lnTo>
                <a:lnTo>
                  <a:pt x="482" y="376"/>
                </a:lnTo>
                <a:lnTo>
                  <a:pt x="488" y="376"/>
                </a:lnTo>
                <a:lnTo>
                  <a:pt x="492" y="374"/>
                </a:lnTo>
                <a:lnTo>
                  <a:pt x="494" y="372"/>
                </a:lnTo>
                <a:lnTo>
                  <a:pt x="492" y="368"/>
                </a:lnTo>
                <a:close/>
                <a:moveTo>
                  <a:pt x="158" y="358"/>
                </a:moveTo>
                <a:lnTo>
                  <a:pt x="168" y="320"/>
                </a:lnTo>
                <a:lnTo>
                  <a:pt x="336" y="320"/>
                </a:lnTo>
                <a:lnTo>
                  <a:pt x="348" y="358"/>
                </a:lnTo>
                <a:lnTo>
                  <a:pt x="158" y="358"/>
                </a:lnTo>
                <a:close/>
              </a:path>
            </a:pathLst>
          </a:custGeom>
          <a:solidFill>
            <a:srgbClr val="9FDD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7" name="Freeform 344"/>
          <p:cNvSpPr>
            <a:spLocks/>
          </p:cNvSpPr>
          <p:nvPr/>
        </p:nvSpPr>
        <p:spPr bwMode="auto">
          <a:xfrm>
            <a:off x="4413185" y="5413909"/>
            <a:ext cx="158913" cy="105336"/>
          </a:xfrm>
          <a:custGeom>
            <a:avLst/>
            <a:gdLst>
              <a:gd name="T0" fmla="*/ 10 w 350"/>
              <a:gd name="T1" fmla="*/ 232 h 232"/>
              <a:gd name="T2" fmla="*/ 142 w 350"/>
              <a:gd name="T3" fmla="*/ 232 h 232"/>
              <a:gd name="T4" fmla="*/ 208 w 350"/>
              <a:gd name="T5" fmla="*/ 232 h 232"/>
              <a:gd name="T6" fmla="*/ 338 w 350"/>
              <a:gd name="T7" fmla="*/ 232 h 232"/>
              <a:gd name="T8" fmla="*/ 338 w 350"/>
              <a:gd name="T9" fmla="*/ 232 h 232"/>
              <a:gd name="T10" fmla="*/ 342 w 350"/>
              <a:gd name="T11" fmla="*/ 230 h 232"/>
              <a:gd name="T12" fmla="*/ 346 w 350"/>
              <a:gd name="T13" fmla="*/ 228 h 232"/>
              <a:gd name="T14" fmla="*/ 348 w 350"/>
              <a:gd name="T15" fmla="*/ 226 h 232"/>
              <a:gd name="T16" fmla="*/ 350 w 350"/>
              <a:gd name="T17" fmla="*/ 222 h 232"/>
              <a:gd name="T18" fmla="*/ 350 w 350"/>
              <a:gd name="T19" fmla="*/ 10 h 232"/>
              <a:gd name="T20" fmla="*/ 350 w 350"/>
              <a:gd name="T21" fmla="*/ 10 h 232"/>
              <a:gd name="T22" fmla="*/ 348 w 350"/>
              <a:gd name="T23" fmla="*/ 6 h 232"/>
              <a:gd name="T24" fmla="*/ 346 w 350"/>
              <a:gd name="T25" fmla="*/ 2 h 232"/>
              <a:gd name="T26" fmla="*/ 342 w 350"/>
              <a:gd name="T27" fmla="*/ 0 h 232"/>
              <a:gd name="T28" fmla="*/ 338 w 350"/>
              <a:gd name="T29" fmla="*/ 0 h 232"/>
              <a:gd name="T30" fmla="*/ 10 w 350"/>
              <a:gd name="T31" fmla="*/ 0 h 232"/>
              <a:gd name="T32" fmla="*/ 10 w 350"/>
              <a:gd name="T33" fmla="*/ 0 h 232"/>
              <a:gd name="T34" fmla="*/ 6 w 350"/>
              <a:gd name="T35" fmla="*/ 0 h 232"/>
              <a:gd name="T36" fmla="*/ 2 w 350"/>
              <a:gd name="T37" fmla="*/ 2 h 232"/>
              <a:gd name="T38" fmla="*/ 0 w 350"/>
              <a:gd name="T39" fmla="*/ 6 h 232"/>
              <a:gd name="T40" fmla="*/ 0 w 350"/>
              <a:gd name="T41" fmla="*/ 10 h 232"/>
              <a:gd name="T42" fmla="*/ 0 w 350"/>
              <a:gd name="T43" fmla="*/ 222 h 232"/>
              <a:gd name="T44" fmla="*/ 0 w 350"/>
              <a:gd name="T45" fmla="*/ 222 h 232"/>
              <a:gd name="T46" fmla="*/ 0 w 350"/>
              <a:gd name="T47" fmla="*/ 226 h 232"/>
              <a:gd name="T48" fmla="*/ 2 w 350"/>
              <a:gd name="T49" fmla="*/ 228 h 232"/>
              <a:gd name="T50" fmla="*/ 6 w 350"/>
              <a:gd name="T51" fmla="*/ 230 h 232"/>
              <a:gd name="T52" fmla="*/ 10 w 350"/>
              <a:gd name="T53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50" h="232">
                <a:moveTo>
                  <a:pt x="10" y="232"/>
                </a:moveTo>
                <a:lnTo>
                  <a:pt x="142" y="232"/>
                </a:lnTo>
                <a:lnTo>
                  <a:pt x="208" y="232"/>
                </a:lnTo>
                <a:lnTo>
                  <a:pt x="338" y="232"/>
                </a:lnTo>
                <a:lnTo>
                  <a:pt x="338" y="232"/>
                </a:lnTo>
                <a:lnTo>
                  <a:pt x="342" y="230"/>
                </a:lnTo>
                <a:lnTo>
                  <a:pt x="346" y="228"/>
                </a:lnTo>
                <a:lnTo>
                  <a:pt x="348" y="226"/>
                </a:lnTo>
                <a:lnTo>
                  <a:pt x="350" y="222"/>
                </a:lnTo>
                <a:lnTo>
                  <a:pt x="350" y="10"/>
                </a:lnTo>
                <a:lnTo>
                  <a:pt x="350" y="10"/>
                </a:lnTo>
                <a:lnTo>
                  <a:pt x="348" y="6"/>
                </a:lnTo>
                <a:lnTo>
                  <a:pt x="346" y="2"/>
                </a:lnTo>
                <a:lnTo>
                  <a:pt x="342" y="0"/>
                </a:lnTo>
                <a:lnTo>
                  <a:pt x="338" y="0"/>
                </a:lnTo>
                <a:lnTo>
                  <a:pt x="10" y="0"/>
                </a:lnTo>
                <a:lnTo>
                  <a:pt x="10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10"/>
                </a:lnTo>
                <a:lnTo>
                  <a:pt x="0" y="222"/>
                </a:lnTo>
                <a:lnTo>
                  <a:pt x="0" y="222"/>
                </a:lnTo>
                <a:lnTo>
                  <a:pt x="0" y="226"/>
                </a:lnTo>
                <a:lnTo>
                  <a:pt x="2" y="228"/>
                </a:lnTo>
                <a:lnTo>
                  <a:pt x="6" y="230"/>
                </a:lnTo>
                <a:lnTo>
                  <a:pt x="10" y="2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8" name="Freeform 345"/>
          <p:cNvSpPr>
            <a:spLocks/>
          </p:cNvSpPr>
          <p:nvPr/>
        </p:nvSpPr>
        <p:spPr bwMode="auto">
          <a:xfrm>
            <a:off x="4423173" y="5422989"/>
            <a:ext cx="138935" cy="86267"/>
          </a:xfrm>
          <a:custGeom>
            <a:avLst/>
            <a:gdLst>
              <a:gd name="T0" fmla="*/ 0 w 306"/>
              <a:gd name="T1" fmla="*/ 8 h 190"/>
              <a:gd name="T2" fmla="*/ 0 w 306"/>
              <a:gd name="T3" fmla="*/ 8 h 190"/>
              <a:gd name="T4" fmla="*/ 0 w 306"/>
              <a:gd name="T5" fmla="*/ 6 h 190"/>
              <a:gd name="T6" fmla="*/ 2 w 306"/>
              <a:gd name="T7" fmla="*/ 2 h 190"/>
              <a:gd name="T8" fmla="*/ 6 w 306"/>
              <a:gd name="T9" fmla="*/ 0 h 190"/>
              <a:gd name="T10" fmla="*/ 10 w 306"/>
              <a:gd name="T11" fmla="*/ 0 h 190"/>
              <a:gd name="T12" fmla="*/ 296 w 306"/>
              <a:gd name="T13" fmla="*/ 0 h 190"/>
              <a:gd name="T14" fmla="*/ 296 w 306"/>
              <a:gd name="T15" fmla="*/ 0 h 190"/>
              <a:gd name="T16" fmla="*/ 300 w 306"/>
              <a:gd name="T17" fmla="*/ 0 h 190"/>
              <a:gd name="T18" fmla="*/ 302 w 306"/>
              <a:gd name="T19" fmla="*/ 2 h 190"/>
              <a:gd name="T20" fmla="*/ 304 w 306"/>
              <a:gd name="T21" fmla="*/ 6 h 190"/>
              <a:gd name="T22" fmla="*/ 306 w 306"/>
              <a:gd name="T23" fmla="*/ 8 h 190"/>
              <a:gd name="T24" fmla="*/ 306 w 306"/>
              <a:gd name="T25" fmla="*/ 180 h 190"/>
              <a:gd name="T26" fmla="*/ 306 w 306"/>
              <a:gd name="T27" fmla="*/ 180 h 190"/>
              <a:gd name="T28" fmla="*/ 304 w 306"/>
              <a:gd name="T29" fmla="*/ 184 h 190"/>
              <a:gd name="T30" fmla="*/ 302 w 306"/>
              <a:gd name="T31" fmla="*/ 186 h 190"/>
              <a:gd name="T32" fmla="*/ 300 w 306"/>
              <a:gd name="T33" fmla="*/ 188 h 190"/>
              <a:gd name="T34" fmla="*/ 296 w 306"/>
              <a:gd name="T35" fmla="*/ 190 h 190"/>
              <a:gd name="T36" fmla="*/ 10 w 306"/>
              <a:gd name="T37" fmla="*/ 190 h 190"/>
              <a:gd name="T38" fmla="*/ 10 w 306"/>
              <a:gd name="T39" fmla="*/ 190 h 190"/>
              <a:gd name="T40" fmla="*/ 6 w 306"/>
              <a:gd name="T41" fmla="*/ 188 h 190"/>
              <a:gd name="T42" fmla="*/ 2 w 306"/>
              <a:gd name="T43" fmla="*/ 186 h 190"/>
              <a:gd name="T44" fmla="*/ 0 w 306"/>
              <a:gd name="T45" fmla="*/ 184 h 190"/>
              <a:gd name="T46" fmla="*/ 0 w 306"/>
              <a:gd name="T47" fmla="*/ 180 h 190"/>
              <a:gd name="T48" fmla="*/ 0 w 306"/>
              <a:gd name="T49" fmla="*/ 8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06" h="190">
                <a:moveTo>
                  <a:pt x="0" y="8"/>
                </a:moveTo>
                <a:lnTo>
                  <a:pt x="0" y="8"/>
                </a:lnTo>
                <a:lnTo>
                  <a:pt x="0" y="6"/>
                </a:lnTo>
                <a:lnTo>
                  <a:pt x="2" y="2"/>
                </a:lnTo>
                <a:lnTo>
                  <a:pt x="6" y="0"/>
                </a:lnTo>
                <a:lnTo>
                  <a:pt x="10" y="0"/>
                </a:lnTo>
                <a:lnTo>
                  <a:pt x="296" y="0"/>
                </a:lnTo>
                <a:lnTo>
                  <a:pt x="296" y="0"/>
                </a:lnTo>
                <a:lnTo>
                  <a:pt x="300" y="0"/>
                </a:lnTo>
                <a:lnTo>
                  <a:pt x="302" y="2"/>
                </a:lnTo>
                <a:lnTo>
                  <a:pt x="304" y="6"/>
                </a:lnTo>
                <a:lnTo>
                  <a:pt x="306" y="8"/>
                </a:lnTo>
                <a:lnTo>
                  <a:pt x="306" y="180"/>
                </a:lnTo>
                <a:lnTo>
                  <a:pt x="306" y="180"/>
                </a:lnTo>
                <a:lnTo>
                  <a:pt x="304" y="184"/>
                </a:lnTo>
                <a:lnTo>
                  <a:pt x="302" y="186"/>
                </a:lnTo>
                <a:lnTo>
                  <a:pt x="300" y="188"/>
                </a:lnTo>
                <a:lnTo>
                  <a:pt x="296" y="190"/>
                </a:lnTo>
                <a:lnTo>
                  <a:pt x="10" y="190"/>
                </a:lnTo>
                <a:lnTo>
                  <a:pt x="10" y="190"/>
                </a:lnTo>
                <a:lnTo>
                  <a:pt x="6" y="188"/>
                </a:lnTo>
                <a:lnTo>
                  <a:pt x="2" y="186"/>
                </a:lnTo>
                <a:lnTo>
                  <a:pt x="0" y="184"/>
                </a:lnTo>
                <a:lnTo>
                  <a:pt x="0" y="180"/>
                </a:lnTo>
                <a:lnTo>
                  <a:pt x="0" y="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9" name="Freeform 346"/>
          <p:cNvSpPr>
            <a:spLocks/>
          </p:cNvSpPr>
          <p:nvPr/>
        </p:nvSpPr>
        <p:spPr bwMode="auto">
          <a:xfrm>
            <a:off x="4380494" y="5519245"/>
            <a:ext cx="224294" cy="65381"/>
          </a:xfrm>
          <a:custGeom>
            <a:avLst/>
            <a:gdLst>
              <a:gd name="T0" fmla="*/ 492 w 494"/>
              <a:gd name="T1" fmla="*/ 136 h 144"/>
              <a:gd name="T2" fmla="*/ 420 w 494"/>
              <a:gd name="T3" fmla="*/ 4 h 144"/>
              <a:gd name="T4" fmla="*/ 420 w 494"/>
              <a:gd name="T5" fmla="*/ 4 h 144"/>
              <a:gd name="T6" fmla="*/ 416 w 494"/>
              <a:gd name="T7" fmla="*/ 2 h 144"/>
              <a:gd name="T8" fmla="*/ 408 w 494"/>
              <a:gd name="T9" fmla="*/ 0 h 144"/>
              <a:gd name="T10" fmla="*/ 86 w 494"/>
              <a:gd name="T11" fmla="*/ 0 h 144"/>
              <a:gd name="T12" fmla="*/ 86 w 494"/>
              <a:gd name="T13" fmla="*/ 0 h 144"/>
              <a:gd name="T14" fmla="*/ 78 w 494"/>
              <a:gd name="T15" fmla="*/ 2 h 144"/>
              <a:gd name="T16" fmla="*/ 72 w 494"/>
              <a:gd name="T17" fmla="*/ 4 h 144"/>
              <a:gd name="T18" fmla="*/ 0 w 494"/>
              <a:gd name="T19" fmla="*/ 136 h 144"/>
              <a:gd name="T20" fmla="*/ 0 w 494"/>
              <a:gd name="T21" fmla="*/ 136 h 144"/>
              <a:gd name="T22" fmla="*/ 0 w 494"/>
              <a:gd name="T23" fmla="*/ 140 h 144"/>
              <a:gd name="T24" fmla="*/ 2 w 494"/>
              <a:gd name="T25" fmla="*/ 142 h 144"/>
              <a:gd name="T26" fmla="*/ 6 w 494"/>
              <a:gd name="T27" fmla="*/ 144 h 144"/>
              <a:gd name="T28" fmla="*/ 10 w 494"/>
              <a:gd name="T29" fmla="*/ 144 h 144"/>
              <a:gd name="T30" fmla="*/ 200 w 494"/>
              <a:gd name="T31" fmla="*/ 144 h 144"/>
              <a:gd name="T32" fmla="*/ 294 w 494"/>
              <a:gd name="T33" fmla="*/ 144 h 144"/>
              <a:gd name="T34" fmla="*/ 482 w 494"/>
              <a:gd name="T35" fmla="*/ 144 h 144"/>
              <a:gd name="T36" fmla="*/ 482 w 494"/>
              <a:gd name="T37" fmla="*/ 144 h 144"/>
              <a:gd name="T38" fmla="*/ 488 w 494"/>
              <a:gd name="T39" fmla="*/ 144 h 144"/>
              <a:gd name="T40" fmla="*/ 492 w 494"/>
              <a:gd name="T41" fmla="*/ 142 h 144"/>
              <a:gd name="T42" fmla="*/ 494 w 494"/>
              <a:gd name="T43" fmla="*/ 140 h 144"/>
              <a:gd name="T44" fmla="*/ 492 w 494"/>
              <a:gd name="T45" fmla="*/ 13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94" h="144">
                <a:moveTo>
                  <a:pt x="492" y="136"/>
                </a:moveTo>
                <a:lnTo>
                  <a:pt x="420" y="4"/>
                </a:lnTo>
                <a:lnTo>
                  <a:pt x="420" y="4"/>
                </a:lnTo>
                <a:lnTo>
                  <a:pt x="416" y="2"/>
                </a:lnTo>
                <a:lnTo>
                  <a:pt x="408" y="0"/>
                </a:lnTo>
                <a:lnTo>
                  <a:pt x="86" y="0"/>
                </a:lnTo>
                <a:lnTo>
                  <a:pt x="86" y="0"/>
                </a:lnTo>
                <a:lnTo>
                  <a:pt x="78" y="2"/>
                </a:lnTo>
                <a:lnTo>
                  <a:pt x="72" y="4"/>
                </a:lnTo>
                <a:lnTo>
                  <a:pt x="0" y="136"/>
                </a:lnTo>
                <a:lnTo>
                  <a:pt x="0" y="136"/>
                </a:lnTo>
                <a:lnTo>
                  <a:pt x="0" y="140"/>
                </a:lnTo>
                <a:lnTo>
                  <a:pt x="2" y="142"/>
                </a:lnTo>
                <a:lnTo>
                  <a:pt x="6" y="144"/>
                </a:lnTo>
                <a:lnTo>
                  <a:pt x="10" y="144"/>
                </a:lnTo>
                <a:lnTo>
                  <a:pt x="200" y="144"/>
                </a:lnTo>
                <a:lnTo>
                  <a:pt x="294" y="144"/>
                </a:lnTo>
                <a:lnTo>
                  <a:pt x="482" y="144"/>
                </a:lnTo>
                <a:lnTo>
                  <a:pt x="482" y="144"/>
                </a:lnTo>
                <a:lnTo>
                  <a:pt x="488" y="144"/>
                </a:lnTo>
                <a:lnTo>
                  <a:pt x="492" y="142"/>
                </a:lnTo>
                <a:lnTo>
                  <a:pt x="494" y="140"/>
                </a:lnTo>
                <a:lnTo>
                  <a:pt x="492" y="13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0" name="Freeform 347"/>
          <p:cNvSpPr>
            <a:spLocks/>
          </p:cNvSpPr>
          <p:nvPr/>
        </p:nvSpPr>
        <p:spPr bwMode="auto">
          <a:xfrm>
            <a:off x="4452232" y="5559200"/>
            <a:ext cx="86267" cy="17253"/>
          </a:xfrm>
          <a:custGeom>
            <a:avLst/>
            <a:gdLst>
              <a:gd name="T0" fmla="*/ 0 w 190"/>
              <a:gd name="T1" fmla="*/ 38 h 38"/>
              <a:gd name="T2" fmla="*/ 10 w 190"/>
              <a:gd name="T3" fmla="*/ 0 h 38"/>
              <a:gd name="T4" fmla="*/ 178 w 190"/>
              <a:gd name="T5" fmla="*/ 0 h 38"/>
              <a:gd name="T6" fmla="*/ 190 w 190"/>
              <a:gd name="T7" fmla="*/ 38 h 38"/>
              <a:gd name="T8" fmla="*/ 0 w 190"/>
              <a:gd name="T9" fmla="*/ 3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38">
                <a:moveTo>
                  <a:pt x="0" y="38"/>
                </a:moveTo>
                <a:lnTo>
                  <a:pt x="10" y="0"/>
                </a:lnTo>
                <a:lnTo>
                  <a:pt x="178" y="0"/>
                </a:lnTo>
                <a:lnTo>
                  <a:pt x="190" y="38"/>
                </a:lnTo>
                <a:lnTo>
                  <a:pt x="0" y="38"/>
                </a:lnTo>
              </a:path>
            </a:pathLst>
          </a:custGeom>
          <a:solidFill>
            <a:srgbClr val="9FDD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1" name="Freeform 348"/>
          <p:cNvSpPr>
            <a:spLocks noEditPoints="1"/>
          </p:cNvSpPr>
          <p:nvPr/>
        </p:nvSpPr>
        <p:spPr bwMode="auto">
          <a:xfrm>
            <a:off x="4380494" y="5413909"/>
            <a:ext cx="224294" cy="170717"/>
          </a:xfrm>
          <a:custGeom>
            <a:avLst/>
            <a:gdLst>
              <a:gd name="T0" fmla="*/ 214 w 494"/>
              <a:gd name="T1" fmla="*/ 232 h 376"/>
              <a:gd name="T2" fmla="*/ 410 w 494"/>
              <a:gd name="T3" fmla="*/ 232 h 376"/>
              <a:gd name="T4" fmla="*/ 414 w 494"/>
              <a:gd name="T5" fmla="*/ 230 h 376"/>
              <a:gd name="T6" fmla="*/ 420 w 494"/>
              <a:gd name="T7" fmla="*/ 226 h 376"/>
              <a:gd name="T8" fmla="*/ 422 w 494"/>
              <a:gd name="T9" fmla="*/ 10 h 376"/>
              <a:gd name="T10" fmla="*/ 420 w 494"/>
              <a:gd name="T11" fmla="*/ 6 h 376"/>
              <a:gd name="T12" fmla="*/ 414 w 494"/>
              <a:gd name="T13" fmla="*/ 0 h 376"/>
              <a:gd name="T14" fmla="*/ 82 w 494"/>
              <a:gd name="T15" fmla="*/ 0 h 376"/>
              <a:gd name="T16" fmla="*/ 78 w 494"/>
              <a:gd name="T17" fmla="*/ 0 h 376"/>
              <a:gd name="T18" fmla="*/ 72 w 494"/>
              <a:gd name="T19" fmla="*/ 6 h 376"/>
              <a:gd name="T20" fmla="*/ 72 w 494"/>
              <a:gd name="T21" fmla="*/ 222 h 376"/>
              <a:gd name="T22" fmla="*/ 72 w 494"/>
              <a:gd name="T23" fmla="*/ 226 h 376"/>
              <a:gd name="T24" fmla="*/ 78 w 494"/>
              <a:gd name="T25" fmla="*/ 230 h 376"/>
              <a:gd name="T26" fmla="*/ 82 w 494"/>
              <a:gd name="T27" fmla="*/ 232 h 376"/>
              <a:gd name="T28" fmla="*/ 94 w 494"/>
              <a:gd name="T29" fmla="*/ 28 h 376"/>
              <a:gd name="T30" fmla="*/ 96 w 494"/>
              <a:gd name="T31" fmla="*/ 22 h 376"/>
              <a:gd name="T32" fmla="*/ 104 w 494"/>
              <a:gd name="T33" fmla="*/ 20 h 376"/>
              <a:gd name="T34" fmla="*/ 390 w 494"/>
              <a:gd name="T35" fmla="*/ 20 h 376"/>
              <a:gd name="T36" fmla="*/ 396 w 494"/>
              <a:gd name="T37" fmla="*/ 22 h 376"/>
              <a:gd name="T38" fmla="*/ 400 w 494"/>
              <a:gd name="T39" fmla="*/ 28 h 376"/>
              <a:gd name="T40" fmla="*/ 400 w 494"/>
              <a:gd name="T41" fmla="*/ 200 h 376"/>
              <a:gd name="T42" fmla="*/ 396 w 494"/>
              <a:gd name="T43" fmla="*/ 206 h 376"/>
              <a:gd name="T44" fmla="*/ 390 w 494"/>
              <a:gd name="T45" fmla="*/ 210 h 376"/>
              <a:gd name="T46" fmla="*/ 104 w 494"/>
              <a:gd name="T47" fmla="*/ 210 h 376"/>
              <a:gd name="T48" fmla="*/ 96 w 494"/>
              <a:gd name="T49" fmla="*/ 206 h 376"/>
              <a:gd name="T50" fmla="*/ 94 w 494"/>
              <a:gd name="T51" fmla="*/ 200 h 376"/>
              <a:gd name="T52" fmla="*/ 492 w 494"/>
              <a:gd name="T53" fmla="*/ 368 h 376"/>
              <a:gd name="T54" fmla="*/ 420 w 494"/>
              <a:gd name="T55" fmla="*/ 236 h 376"/>
              <a:gd name="T56" fmla="*/ 408 w 494"/>
              <a:gd name="T57" fmla="*/ 232 h 376"/>
              <a:gd name="T58" fmla="*/ 86 w 494"/>
              <a:gd name="T59" fmla="*/ 232 h 376"/>
              <a:gd name="T60" fmla="*/ 72 w 494"/>
              <a:gd name="T61" fmla="*/ 236 h 376"/>
              <a:gd name="T62" fmla="*/ 0 w 494"/>
              <a:gd name="T63" fmla="*/ 368 h 376"/>
              <a:gd name="T64" fmla="*/ 2 w 494"/>
              <a:gd name="T65" fmla="*/ 374 h 376"/>
              <a:gd name="T66" fmla="*/ 10 w 494"/>
              <a:gd name="T67" fmla="*/ 376 h 376"/>
              <a:gd name="T68" fmla="*/ 294 w 494"/>
              <a:gd name="T69" fmla="*/ 376 h 376"/>
              <a:gd name="T70" fmla="*/ 482 w 494"/>
              <a:gd name="T71" fmla="*/ 376 h 376"/>
              <a:gd name="T72" fmla="*/ 492 w 494"/>
              <a:gd name="T73" fmla="*/ 374 h 376"/>
              <a:gd name="T74" fmla="*/ 492 w 494"/>
              <a:gd name="T75" fmla="*/ 368 h 376"/>
              <a:gd name="T76" fmla="*/ 158 w 494"/>
              <a:gd name="T77" fmla="*/ 358 h 376"/>
              <a:gd name="T78" fmla="*/ 336 w 494"/>
              <a:gd name="T79" fmla="*/ 320 h 376"/>
              <a:gd name="T80" fmla="*/ 158 w 494"/>
              <a:gd name="T81" fmla="*/ 35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94" h="376">
                <a:moveTo>
                  <a:pt x="82" y="232"/>
                </a:moveTo>
                <a:lnTo>
                  <a:pt x="214" y="232"/>
                </a:lnTo>
                <a:lnTo>
                  <a:pt x="280" y="232"/>
                </a:lnTo>
                <a:lnTo>
                  <a:pt x="410" y="232"/>
                </a:lnTo>
                <a:lnTo>
                  <a:pt x="410" y="232"/>
                </a:lnTo>
                <a:lnTo>
                  <a:pt x="414" y="230"/>
                </a:lnTo>
                <a:lnTo>
                  <a:pt x="418" y="228"/>
                </a:lnTo>
                <a:lnTo>
                  <a:pt x="420" y="226"/>
                </a:lnTo>
                <a:lnTo>
                  <a:pt x="422" y="222"/>
                </a:lnTo>
                <a:lnTo>
                  <a:pt x="422" y="10"/>
                </a:lnTo>
                <a:lnTo>
                  <a:pt x="422" y="10"/>
                </a:lnTo>
                <a:lnTo>
                  <a:pt x="420" y="6"/>
                </a:lnTo>
                <a:lnTo>
                  <a:pt x="418" y="2"/>
                </a:lnTo>
                <a:lnTo>
                  <a:pt x="414" y="0"/>
                </a:lnTo>
                <a:lnTo>
                  <a:pt x="410" y="0"/>
                </a:lnTo>
                <a:lnTo>
                  <a:pt x="82" y="0"/>
                </a:lnTo>
                <a:lnTo>
                  <a:pt x="82" y="0"/>
                </a:lnTo>
                <a:lnTo>
                  <a:pt x="78" y="0"/>
                </a:lnTo>
                <a:lnTo>
                  <a:pt x="74" y="2"/>
                </a:lnTo>
                <a:lnTo>
                  <a:pt x="72" y="6"/>
                </a:lnTo>
                <a:lnTo>
                  <a:pt x="72" y="10"/>
                </a:lnTo>
                <a:lnTo>
                  <a:pt x="72" y="222"/>
                </a:lnTo>
                <a:lnTo>
                  <a:pt x="72" y="222"/>
                </a:lnTo>
                <a:lnTo>
                  <a:pt x="72" y="226"/>
                </a:lnTo>
                <a:lnTo>
                  <a:pt x="74" y="228"/>
                </a:lnTo>
                <a:lnTo>
                  <a:pt x="78" y="230"/>
                </a:lnTo>
                <a:lnTo>
                  <a:pt x="82" y="232"/>
                </a:lnTo>
                <a:lnTo>
                  <a:pt x="82" y="232"/>
                </a:lnTo>
                <a:close/>
                <a:moveTo>
                  <a:pt x="94" y="28"/>
                </a:moveTo>
                <a:lnTo>
                  <a:pt x="94" y="28"/>
                </a:lnTo>
                <a:lnTo>
                  <a:pt x="94" y="26"/>
                </a:lnTo>
                <a:lnTo>
                  <a:pt x="96" y="22"/>
                </a:lnTo>
                <a:lnTo>
                  <a:pt x="100" y="20"/>
                </a:lnTo>
                <a:lnTo>
                  <a:pt x="104" y="20"/>
                </a:lnTo>
                <a:lnTo>
                  <a:pt x="390" y="20"/>
                </a:lnTo>
                <a:lnTo>
                  <a:pt x="390" y="20"/>
                </a:lnTo>
                <a:lnTo>
                  <a:pt x="394" y="20"/>
                </a:lnTo>
                <a:lnTo>
                  <a:pt x="396" y="22"/>
                </a:lnTo>
                <a:lnTo>
                  <a:pt x="398" y="26"/>
                </a:lnTo>
                <a:lnTo>
                  <a:pt x="400" y="28"/>
                </a:lnTo>
                <a:lnTo>
                  <a:pt x="400" y="200"/>
                </a:lnTo>
                <a:lnTo>
                  <a:pt x="400" y="200"/>
                </a:lnTo>
                <a:lnTo>
                  <a:pt x="398" y="204"/>
                </a:lnTo>
                <a:lnTo>
                  <a:pt x="396" y="206"/>
                </a:lnTo>
                <a:lnTo>
                  <a:pt x="394" y="208"/>
                </a:lnTo>
                <a:lnTo>
                  <a:pt x="390" y="210"/>
                </a:lnTo>
                <a:lnTo>
                  <a:pt x="104" y="210"/>
                </a:lnTo>
                <a:lnTo>
                  <a:pt x="104" y="210"/>
                </a:lnTo>
                <a:lnTo>
                  <a:pt x="100" y="208"/>
                </a:lnTo>
                <a:lnTo>
                  <a:pt x="96" y="206"/>
                </a:lnTo>
                <a:lnTo>
                  <a:pt x="94" y="204"/>
                </a:lnTo>
                <a:lnTo>
                  <a:pt x="94" y="200"/>
                </a:lnTo>
                <a:lnTo>
                  <a:pt x="94" y="28"/>
                </a:lnTo>
                <a:close/>
                <a:moveTo>
                  <a:pt x="492" y="368"/>
                </a:moveTo>
                <a:lnTo>
                  <a:pt x="420" y="236"/>
                </a:lnTo>
                <a:lnTo>
                  <a:pt x="420" y="236"/>
                </a:lnTo>
                <a:lnTo>
                  <a:pt x="416" y="234"/>
                </a:lnTo>
                <a:lnTo>
                  <a:pt x="408" y="232"/>
                </a:lnTo>
                <a:lnTo>
                  <a:pt x="86" y="232"/>
                </a:lnTo>
                <a:lnTo>
                  <a:pt x="86" y="232"/>
                </a:lnTo>
                <a:lnTo>
                  <a:pt x="78" y="234"/>
                </a:lnTo>
                <a:lnTo>
                  <a:pt x="72" y="236"/>
                </a:lnTo>
                <a:lnTo>
                  <a:pt x="0" y="368"/>
                </a:lnTo>
                <a:lnTo>
                  <a:pt x="0" y="368"/>
                </a:lnTo>
                <a:lnTo>
                  <a:pt x="0" y="372"/>
                </a:lnTo>
                <a:lnTo>
                  <a:pt x="2" y="374"/>
                </a:lnTo>
                <a:lnTo>
                  <a:pt x="6" y="376"/>
                </a:lnTo>
                <a:lnTo>
                  <a:pt x="10" y="376"/>
                </a:lnTo>
                <a:lnTo>
                  <a:pt x="200" y="376"/>
                </a:lnTo>
                <a:lnTo>
                  <a:pt x="294" y="376"/>
                </a:lnTo>
                <a:lnTo>
                  <a:pt x="482" y="376"/>
                </a:lnTo>
                <a:lnTo>
                  <a:pt x="482" y="376"/>
                </a:lnTo>
                <a:lnTo>
                  <a:pt x="488" y="376"/>
                </a:lnTo>
                <a:lnTo>
                  <a:pt x="492" y="374"/>
                </a:lnTo>
                <a:lnTo>
                  <a:pt x="494" y="372"/>
                </a:lnTo>
                <a:lnTo>
                  <a:pt x="492" y="368"/>
                </a:lnTo>
                <a:lnTo>
                  <a:pt x="492" y="368"/>
                </a:lnTo>
                <a:close/>
                <a:moveTo>
                  <a:pt x="158" y="358"/>
                </a:moveTo>
                <a:lnTo>
                  <a:pt x="168" y="320"/>
                </a:lnTo>
                <a:lnTo>
                  <a:pt x="336" y="320"/>
                </a:lnTo>
                <a:lnTo>
                  <a:pt x="348" y="358"/>
                </a:lnTo>
                <a:lnTo>
                  <a:pt x="158" y="3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" name="Freeform 349"/>
          <p:cNvSpPr>
            <a:spLocks noEditPoints="1"/>
          </p:cNvSpPr>
          <p:nvPr/>
        </p:nvSpPr>
        <p:spPr bwMode="auto">
          <a:xfrm>
            <a:off x="4424081" y="5527417"/>
            <a:ext cx="139843" cy="20886"/>
          </a:xfrm>
          <a:custGeom>
            <a:avLst/>
            <a:gdLst>
              <a:gd name="T0" fmla="*/ 294 w 308"/>
              <a:gd name="T1" fmla="*/ 22 h 46"/>
              <a:gd name="T2" fmla="*/ 268 w 308"/>
              <a:gd name="T3" fmla="*/ 10 h 46"/>
              <a:gd name="T4" fmla="*/ 230 w 308"/>
              <a:gd name="T5" fmla="*/ 46 h 46"/>
              <a:gd name="T6" fmla="*/ 206 w 308"/>
              <a:gd name="T7" fmla="*/ 32 h 46"/>
              <a:gd name="T8" fmla="*/ 206 w 308"/>
              <a:gd name="T9" fmla="*/ 32 h 46"/>
              <a:gd name="T10" fmla="*/ 232 w 308"/>
              <a:gd name="T11" fmla="*/ 32 h 46"/>
              <a:gd name="T12" fmla="*/ 236 w 308"/>
              <a:gd name="T13" fmla="*/ 46 h 46"/>
              <a:gd name="T14" fmla="*/ 252 w 308"/>
              <a:gd name="T15" fmla="*/ 22 h 46"/>
              <a:gd name="T16" fmla="*/ 280 w 308"/>
              <a:gd name="T17" fmla="*/ 0 h 46"/>
              <a:gd name="T18" fmla="*/ 280 w 308"/>
              <a:gd name="T19" fmla="*/ 0 h 46"/>
              <a:gd name="T20" fmla="*/ 264 w 308"/>
              <a:gd name="T21" fmla="*/ 10 h 46"/>
              <a:gd name="T22" fmla="*/ 246 w 308"/>
              <a:gd name="T23" fmla="*/ 8 h 46"/>
              <a:gd name="T24" fmla="*/ 228 w 308"/>
              <a:gd name="T25" fmla="*/ 20 h 46"/>
              <a:gd name="T26" fmla="*/ 238 w 308"/>
              <a:gd name="T27" fmla="*/ 0 h 46"/>
              <a:gd name="T28" fmla="*/ 238 w 308"/>
              <a:gd name="T29" fmla="*/ 0 h 46"/>
              <a:gd name="T30" fmla="*/ 218 w 308"/>
              <a:gd name="T31" fmla="*/ 10 h 46"/>
              <a:gd name="T32" fmla="*/ 180 w 308"/>
              <a:gd name="T33" fmla="*/ 36 h 46"/>
              <a:gd name="T34" fmla="*/ 218 w 308"/>
              <a:gd name="T35" fmla="*/ 8 h 46"/>
              <a:gd name="T36" fmla="*/ 200 w 308"/>
              <a:gd name="T37" fmla="*/ 32 h 46"/>
              <a:gd name="T38" fmla="*/ 200 w 308"/>
              <a:gd name="T39" fmla="*/ 32 h 46"/>
              <a:gd name="T40" fmla="*/ 196 w 308"/>
              <a:gd name="T41" fmla="*/ 10 h 46"/>
              <a:gd name="T42" fmla="*/ 178 w 308"/>
              <a:gd name="T43" fmla="*/ 8 h 46"/>
              <a:gd name="T44" fmla="*/ 156 w 308"/>
              <a:gd name="T45" fmla="*/ 46 h 46"/>
              <a:gd name="T46" fmla="*/ 174 w 308"/>
              <a:gd name="T47" fmla="*/ 32 h 46"/>
              <a:gd name="T48" fmla="*/ 174 w 308"/>
              <a:gd name="T49" fmla="*/ 32 h 46"/>
              <a:gd name="T50" fmla="*/ 172 w 308"/>
              <a:gd name="T51" fmla="*/ 10 h 46"/>
              <a:gd name="T52" fmla="*/ 156 w 308"/>
              <a:gd name="T53" fmla="*/ 8 h 46"/>
              <a:gd name="T54" fmla="*/ 150 w 308"/>
              <a:gd name="T55" fmla="*/ 0 h 46"/>
              <a:gd name="T56" fmla="*/ 134 w 308"/>
              <a:gd name="T57" fmla="*/ 10 h 46"/>
              <a:gd name="T58" fmla="*/ 134 w 308"/>
              <a:gd name="T59" fmla="*/ 10 h 46"/>
              <a:gd name="T60" fmla="*/ 132 w 308"/>
              <a:gd name="T61" fmla="*/ 32 h 46"/>
              <a:gd name="T62" fmla="*/ 150 w 308"/>
              <a:gd name="T63" fmla="*/ 46 h 46"/>
              <a:gd name="T64" fmla="*/ 130 w 308"/>
              <a:gd name="T65" fmla="*/ 0 h 46"/>
              <a:gd name="T66" fmla="*/ 110 w 308"/>
              <a:gd name="T67" fmla="*/ 10 h 46"/>
              <a:gd name="T68" fmla="*/ 110 w 308"/>
              <a:gd name="T69" fmla="*/ 10 h 46"/>
              <a:gd name="T70" fmla="*/ 108 w 308"/>
              <a:gd name="T71" fmla="*/ 22 h 46"/>
              <a:gd name="T72" fmla="*/ 104 w 308"/>
              <a:gd name="T73" fmla="*/ 46 h 46"/>
              <a:gd name="T74" fmla="*/ 108 w 308"/>
              <a:gd name="T75" fmla="*/ 0 h 46"/>
              <a:gd name="T76" fmla="*/ 106 w 308"/>
              <a:gd name="T77" fmla="*/ 10 h 46"/>
              <a:gd name="T78" fmla="*/ 106 w 308"/>
              <a:gd name="T79" fmla="*/ 10 h 46"/>
              <a:gd name="T80" fmla="*/ 78 w 308"/>
              <a:gd name="T81" fmla="*/ 46 h 46"/>
              <a:gd name="T82" fmla="*/ 60 w 308"/>
              <a:gd name="T83" fmla="*/ 22 h 46"/>
              <a:gd name="T84" fmla="*/ 84 w 308"/>
              <a:gd name="T85" fmla="*/ 22 h 46"/>
              <a:gd name="T86" fmla="*/ 70 w 308"/>
              <a:gd name="T87" fmla="*/ 0 h 46"/>
              <a:gd name="T88" fmla="*/ 70 w 308"/>
              <a:gd name="T89" fmla="*/ 0 h 46"/>
              <a:gd name="T90" fmla="*/ 66 w 308"/>
              <a:gd name="T91" fmla="*/ 10 h 46"/>
              <a:gd name="T92" fmla="*/ 62 w 308"/>
              <a:gd name="T93" fmla="*/ 8 h 46"/>
              <a:gd name="T94" fmla="*/ 58 w 308"/>
              <a:gd name="T95" fmla="*/ 20 h 46"/>
              <a:gd name="T96" fmla="*/ 56 w 308"/>
              <a:gd name="T97" fmla="*/ 22 h 46"/>
              <a:gd name="T98" fmla="*/ 56 w 308"/>
              <a:gd name="T99" fmla="*/ 22 h 46"/>
              <a:gd name="T100" fmla="*/ 22 w 308"/>
              <a:gd name="T101" fmla="*/ 8 h 46"/>
              <a:gd name="T102" fmla="*/ 34 w 308"/>
              <a:gd name="T103" fmla="*/ 20 h 46"/>
              <a:gd name="T104" fmla="*/ 32 w 308"/>
              <a:gd name="T105" fmla="*/ 22 h 46"/>
              <a:gd name="T106" fmla="*/ 20 w 308"/>
              <a:gd name="T107" fmla="*/ 46 h 46"/>
              <a:gd name="T108" fmla="*/ 20 w 308"/>
              <a:gd name="T109" fmla="*/ 46 h 46"/>
              <a:gd name="T110" fmla="*/ 50 w 308"/>
              <a:gd name="T111" fmla="*/ 36 h 46"/>
              <a:gd name="T112" fmla="*/ 72 w 308"/>
              <a:gd name="T113" fmla="*/ 46 h 46"/>
              <a:gd name="T114" fmla="*/ 256 w 308"/>
              <a:gd name="T115" fmla="*/ 36 h 46"/>
              <a:gd name="T116" fmla="*/ 288 w 308"/>
              <a:gd name="T117" fmla="*/ 46 h 46"/>
              <a:gd name="T118" fmla="*/ 288 w 308"/>
              <a:gd name="T119" fmla="*/ 46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8" h="46">
                <a:moveTo>
                  <a:pt x="300" y="32"/>
                </a:moveTo>
                <a:lnTo>
                  <a:pt x="280" y="32"/>
                </a:lnTo>
                <a:lnTo>
                  <a:pt x="276" y="22"/>
                </a:lnTo>
                <a:lnTo>
                  <a:pt x="294" y="22"/>
                </a:lnTo>
                <a:lnTo>
                  <a:pt x="300" y="32"/>
                </a:lnTo>
                <a:close/>
                <a:moveTo>
                  <a:pt x="292" y="20"/>
                </a:moveTo>
                <a:lnTo>
                  <a:pt x="274" y="20"/>
                </a:lnTo>
                <a:lnTo>
                  <a:pt x="268" y="10"/>
                </a:lnTo>
                <a:lnTo>
                  <a:pt x="286" y="10"/>
                </a:lnTo>
                <a:lnTo>
                  <a:pt x="292" y="20"/>
                </a:lnTo>
                <a:close/>
                <a:moveTo>
                  <a:pt x="226" y="36"/>
                </a:moveTo>
                <a:lnTo>
                  <a:pt x="230" y="46"/>
                </a:lnTo>
                <a:lnTo>
                  <a:pt x="210" y="46"/>
                </a:lnTo>
                <a:lnTo>
                  <a:pt x="206" y="36"/>
                </a:lnTo>
                <a:lnTo>
                  <a:pt x="226" y="36"/>
                </a:lnTo>
                <a:close/>
                <a:moveTo>
                  <a:pt x="206" y="32"/>
                </a:moveTo>
                <a:lnTo>
                  <a:pt x="204" y="22"/>
                </a:lnTo>
                <a:lnTo>
                  <a:pt x="222" y="22"/>
                </a:lnTo>
                <a:lnTo>
                  <a:pt x="226" y="32"/>
                </a:lnTo>
                <a:lnTo>
                  <a:pt x="206" y="32"/>
                </a:lnTo>
                <a:close/>
                <a:moveTo>
                  <a:pt x="228" y="22"/>
                </a:moveTo>
                <a:lnTo>
                  <a:pt x="246" y="22"/>
                </a:lnTo>
                <a:lnTo>
                  <a:pt x="250" y="32"/>
                </a:lnTo>
                <a:lnTo>
                  <a:pt x="232" y="32"/>
                </a:lnTo>
                <a:lnTo>
                  <a:pt x="228" y="22"/>
                </a:lnTo>
                <a:close/>
                <a:moveTo>
                  <a:pt x="252" y="36"/>
                </a:moveTo>
                <a:lnTo>
                  <a:pt x="256" y="46"/>
                </a:lnTo>
                <a:lnTo>
                  <a:pt x="236" y="46"/>
                </a:lnTo>
                <a:lnTo>
                  <a:pt x="232" y="36"/>
                </a:lnTo>
                <a:lnTo>
                  <a:pt x="252" y="36"/>
                </a:lnTo>
                <a:close/>
                <a:moveTo>
                  <a:pt x="256" y="32"/>
                </a:moveTo>
                <a:lnTo>
                  <a:pt x="252" y="22"/>
                </a:lnTo>
                <a:lnTo>
                  <a:pt x="270" y="22"/>
                </a:lnTo>
                <a:lnTo>
                  <a:pt x="274" y="32"/>
                </a:lnTo>
                <a:lnTo>
                  <a:pt x="256" y="32"/>
                </a:lnTo>
                <a:close/>
                <a:moveTo>
                  <a:pt x="280" y="0"/>
                </a:moveTo>
                <a:lnTo>
                  <a:pt x="284" y="8"/>
                </a:lnTo>
                <a:lnTo>
                  <a:pt x="268" y="8"/>
                </a:lnTo>
                <a:lnTo>
                  <a:pt x="264" y="0"/>
                </a:lnTo>
                <a:lnTo>
                  <a:pt x="280" y="0"/>
                </a:lnTo>
                <a:close/>
                <a:moveTo>
                  <a:pt x="268" y="20"/>
                </a:moveTo>
                <a:lnTo>
                  <a:pt x="250" y="20"/>
                </a:lnTo>
                <a:lnTo>
                  <a:pt x="246" y="10"/>
                </a:lnTo>
                <a:lnTo>
                  <a:pt x="264" y="10"/>
                </a:lnTo>
                <a:lnTo>
                  <a:pt x="268" y="20"/>
                </a:lnTo>
                <a:close/>
                <a:moveTo>
                  <a:pt x="258" y="0"/>
                </a:moveTo>
                <a:lnTo>
                  <a:pt x="262" y="8"/>
                </a:lnTo>
                <a:lnTo>
                  <a:pt x="246" y="8"/>
                </a:lnTo>
                <a:lnTo>
                  <a:pt x="242" y="0"/>
                </a:lnTo>
                <a:lnTo>
                  <a:pt x="258" y="0"/>
                </a:lnTo>
                <a:close/>
                <a:moveTo>
                  <a:pt x="244" y="20"/>
                </a:moveTo>
                <a:lnTo>
                  <a:pt x="228" y="20"/>
                </a:lnTo>
                <a:lnTo>
                  <a:pt x="224" y="10"/>
                </a:lnTo>
                <a:lnTo>
                  <a:pt x="242" y="10"/>
                </a:lnTo>
                <a:lnTo>
                  <a:pt x="244" y="20"/>
                </a:lnTo>
                <a:close/>
                <a:moveTo>
                  <a:pt x="238" y="0"/>
                </a:moveTo>
                <a:lnTo>
                  <a:pt x="240" y="8"/>
                </a:lnTo>
                <a:lnTo>
                  <a:pt x="224" y="8"/>
                </a:lnTo>
                <a:lnTo>
                  <a:pt x="220" y="0"/>
                </a:lnTo>
                <a:lnTo>
                  <a:pt x="238" y="0"/>
                </a:lnTo>
                <a:close/>
                <a:moveTo>
                  <a:pt x="222" y="20"/>
                </a:moveTo>
                <a:lnTo>
                  <a:pt x="204" y="20"/>
                </a:lnTo>
                <a:lnTo>
                  <a:pt x="202" y="10"/>
                </a:lnTo>
                <a:lnTo>
                  <a:pt x="218" y="10"/>
                </a:lnTo>
                <a:lnTo>
                  <a:pt x="222" y="20"/>
                </a:lnTo>
                <a:close/>
                <a:moveTo>
                  <a:pt x="202" y="46"/>
                </a:moveTo>
                <a:lnTo>
                  <a:pt x="182" y="46"/>
                </a:lnTo>
                <a:lnTo>
                  <a:pt x="180" y="36"/>
                </a:lnTo>
                <a:lnTo>
                  <a:pt x="200" y="36"/>
                </a:lnTo>
                <a:lnTo>
                  <a:pt x="202" y="46"/>
                </a:lnTo>
                <a:close/>
                <a:moveTo>
                  <a:pt x="216" y="0"/>
                </a:moveTo>
                <a:lnTo>
                  <a:pt x="218" y="8"/>
                </a:lnTo>
                <a:lnTo>
                  <a:pt x="200" y="8"/>
                </a:lnTo>
                <a:lnTo>
                  <a:pt x="200" y="0"/>
                </a:lnTo>
                <a:lnTo>
                  <a:pt x="216" y="0"/>
                </a:lnTo>
                <a:close/>
                <a:moveTo>
                  <a:pt x="200" y="32"/>
                </a:moveTo>
                <a:lnTo>
                  <a:pt x="180" y="32"/>
                </a:lnTo>
                <a:lnTo>
                  <a:pt x="180" y="22"/>
                </a:lnTo>
                <a:lnTo>
                  <a:pt x="198" y="22"/>
                </a:lnTo>
                <a:lnTo>
                  <a:pt x="200" y="32"/>
                </a:lnTo>
                <a:close/>
                <a:moveTo>
                  <a:pt x="198" y="20"/>
                </a:moveTo>
                <a:lnTo>
                  <a:pt x="180" y="20"/>
                </a:lnTo>
                <a:lnTo>
                  <a:pt x="178" y="10"/>
                </a:lnTo>
                <a:lnTo>
                  <a:pt x="196" y="10"/>
                </a:lnTo>
                <a:lnTo>
                  <a:pt x="198" y="20"/>
                </a:lnTo>
                <a:close/>
                <a:moveTo>
                  <a:pt x="194" y="0"/>
                </a:moveTo>
                <a:lnTo>
                  <a:pt x="194" y="8"/>
                </a:lnTo>
                <a:lnTo>
                  <a:pt x="178" y="8"/>
                </a:lnTo>
                <a:lnTo>
                  <a:pt x="176" y="0"/>
                </a:lnTo>
                <a:lnTo>
                  <a:pt x="194" y="0"/>
                </a:lnTo>
                <a:close/>
                <a:moveTo>
                  <a:pt x="176" y="46"/>
                </a:moveTo>
                <a:lnTo>
                  <a:pt x="156" y="46"/>
                </a:lnTo>
                <a:lnTo>
                  <a:pt x="156" y="36"/>
                </a:lnTo>
                <a:lnTo>
                  <a:pt x="174" y="36"/>
                </a:lnTo>
                <a:lnTo>
                  <a:pt x="176" y="46"/>
                </a:lnTo>
                <a:close/>
                <a:moveTo>
                  <a:pt x="174" y="32"/>
                </a:moveTo>
                <a:lnTo>
                  <a:pt x="156" y="32"/>
                </a:lnTo>
                <a:lnTo>
                  <a:pt x="156" y="22"/>
                </a:lnTo>
                <a:lnTo>
                  <a:pt x="174" y="22"/>
                </a:lnTo>
                <a:lnTo>
                  <a:pt x="174" y="32"/>
                </a:lnTo>
                <a:close/>
                <a:moveTo>
                  <a:pt x="174" y="20"/>
                </a:moveTo>
                <a:lnTo>
                  <a:pt x="156" y="20"/>
                </a:lnTo>
                <a:lnTo>
                  <a:pt x="156" y="10"/>
                </a:lnTo>
                <a:lnTo>
                  <a:pt x="172" y="10"/>
                </a:lnTo>
                <a:lnTo>
                  <a:pt x="174" y="20"/>
                </a:lnTo>
                <a:close/>
                <a:moveTo>
                  <a:pt x="172" y="0"/>
                </a:moveTo>
                <a:lnTo>
                  <a:pt x="172" y="8"/>
                </a:lnTo>
                <a:lnTo>
                  <a:pt x="156" y="8"/>
                </a:lnTo>
                <a:lnTo>
                  <a:pt x="156" y="0"/>
                </a:lnTo>
                <a:lnTo>
                  <a:pt x="172" y="0"/>
                </a:lnTo>
                <a:close/>
                <a:moveTo>
                  <a:pt x="134" y="0"/>
                </a:moveTo>
                <a:lnTo>
                  <a:pt x="150" y="0"/>
                </a:lnTo>
                <a:lnTo>
                  <a:pt x="150" y="8"/>
                </a:lnTo>
                <a:lnTo>
                  <a:pt x="134" y="8"/>
                </a:lnTo>
                <a:lnTo>
                  <a:pt x="134" y="0"/>
                </a:lnTo>
                <a:close/>
                <a:moveTo>
                  <a:pt x="134" y="10"/>
                </a:moveTo>
                <a:lnTo>
                  <a:pt x="150" y="10"/>
                </a:lnTo>
                <a:lnTo>
                  <a:pt x="150" y="20"/>
                </a:lnTo>
                <a:lnTo>
                  <a:pt x="132" y="20"/>
                </a:lnTo>
                <a:lnTo>
                  <a:pt x="134" y="10"/>
                </a:lnTo>
                <a:close/>
                <a:moveTo>
                  <a:pt x="132" y="22"/>
                </a:moveTo>
                <a:lnTo>
                  <a:pt x="150" y="22"/>
                </a:lnTo>
                <a:lnTo>
                  <a:pt x="150" y="32"/>
                </a:lnTo>
                <a:lnTo>
                  <a:pt x="132" y="32"/>
                </a:lnTo>
                <a:lnTo>
                  <a:pt x="132" y="22"/>
                </a:lnTo>
                <a:close/>
                <a:moveTo>
                  <a:pt x="132" y="36"/>
                </a:moveTo>
                <a:lnTo>
                  <a:pt x="150" y="36"/>
                </a:lnTo>
                <a:lnTo>
                  <a:pt x="150" y="46"/>
                </a:lnTo>
                <a:lnTo>
                  <a:pt x="130" y="46"/>
                </a:lnTo>
                <a:lnTo>
                  <a:pt x="132" y="36"/>
                </a:lnTo>
                <a:close/>
                <a:moveTo>
                  <a:pt x="112" y="0"/>
                </a:moveTo>
                <a:lnTo>
                  <a:pt x="130" y="0"/>
                </a:lnTo>
                <a:lnTo>
                  <a:pt x="128" y="8"/>
                </a:lnTo>
                <a:lnTo>
                  <a:pt x="112" y="8"/>
                </a:lnTo>
                <a:lnTo>
                  <a:pt x="112" y="0"/>
                </a:lnTo>
                <a:close/>
                <a:moveTo>
                  <a:pt x="110" y="10"/>
                </a:moveTo>
                <a:lnTo>
                  <a:pt x="128" y="10"/>
                </a:lnTo>
                <a:lnTo>
                  <a:pt x="128" y="20"/>
                </a:lnTo>
                <a:lnTo>
                  <a:pt x="110" y="20"/>
                </a:lnTo>
                <a:lnTo>
                  <a:pt x="110" y="10"/>
                </a:lnTo>
                <a:close/>
                <a:moveTo>
                  <a:pt x="126" y="22"/>
                </a:moveTo>
                <a:lnTo>
                  <a:pt x="126" y="32"/>
                </a:lnTo>
                <a:lnTo>
                  <a:pt x="106" y="32"/>
                </a:lnTo>
                <a:lnTo>
                  <a:pt x="108" y="22"/>
                </a:lnTo>
                <a:lnTo>
                  <a:pt x="126" y="22"/>
                </a:lnTo>
                <a:close/>
                <a:moveTo>
                  <a:pt x="126" y="36"/>
                </a:moveTo>
                <a:lnTo>
                  <a:pt x="124" y="46"/>
                </a:lnTo>
                <a:lnTo>
                  <a:pt x="104" y="46"/>
                </a:lnTo>
                <a:lnTo>
                  <a:pt x="106" y="36"/>
                </a:lnTo>
                <a:lnTo>
                  <a:pt x="126" y="36"/>
                </a:lnTo>
                <a:close/>
                <a:moveTo>
                  <a:pt x="92" y="0"/>
                </a:moveTo>
                <a:lnTo>
                  <a:pt x="108" y="0"/>
                </a:lnTo>
                <a:lnTo>
                  <a:pt x="106" y="8"/>
                </a:lnTo>
                <a:lnTo>
                  <a:pt x="88" y="8"/>
                </a:lnTo>
                <a:lnTo>
                  <a:pt x="92" y="0"/>
                </a:lnTo>
                <a:close/>
                <a:moveTo>
                  <a:pt x="106" y="10"/>
                </a:moveTo>
                <a:lnTo>
                  <a:pt x="104" y="20"/>
                </a:lnTo>
                <a:lnTo>
                  <a:pt x="86" y="20"/>
                </a:lnTo>
                <a:lnTo>
                  <a:pt x="88" y="10"/>
                </a:lnTo>
                <a:lnTo>
                  <a:pt x="106" y="10"/>
                </a:lnTo>
                <a:close/>
                <a:moveTo>
                  <a:pt x="80" y="36"/>
                </a:moveTo>
                <a:lnTo>
                  <a:pt x="100" y="36"/>
                </a:lnTo>
                <a:lnTo>
                  <a:pt x="98" y="46"/>
                </a:lnTo>
                <a:lnTo>
                  <a:pt x="78" y="46"/>
                </a:lnTo>
                <a:lnTo>
                  <a:pt x="80" y="36"/>
                </a:lnTo>
                <a:close/>
                <a:moveTo>
                  <a:pt x="76" y="32"/>
                </a:moveTo>
                <a:lnTo>
                  <a:pt x="56" y="32"/>
                </a:lnTo>
                <a:lnTo>
                  <a:pt x="60" y="22"/>
                </a:lnTo>
                <a:lnTo>
                  <a:pt x="78" y="22"/>
                </a:lnTo>
                <a:lnTo>
                  <a:pt x="76" y="32"/>
                </a:lnTo>
                <a:close/>
                <a:moveTo>
                  <a:pt x="82" y="32"/>
                </a:moveTo>
                <a:lnTo>
                  <a:pt x="84" y="22"/>
                </a:lnTo>
                <a:lnTo>
                  <a:pt x="102" y="22"/>
                </a:lnTo>
                <a:lnTo>
                  <a:pt x="100" y="32"/>
                </a:lnTo>
                <a:lnTo>
                  <a:pt x="82" y="32"/>
                </a:lnTo>
                <a:close/>
                <a:moveTo>
                  <a:pt x="70" y="0"/>
                </a:moveTo>
                <a:lnTo>
                  <a:pt x="86" y="0"/>
                </a:lnTo>
                <a:lnTo>
                  <a:pt x="84" y="8"/>
                </a:lnTo>
                <a:lnTo>
                  <a:pt x="66" y="8"/>
                </a:lnTo>
                <a:lnTo>
                  <a:pt x="70" y="0"/>
                </a:lnTo>
                <a:close/>
                <a:moveTo>
                  <a:pt x="82" y="10"/>
                </a:moveTo>
                <a:lnTo>
                  <a:pt x="80" y="20"/>
                </a:lnTo>
                <a:lnTo>
                  <a:pt x="62" y="20"/>
                </a:lnTo>
                <a:lnTo>
                  <a:pt x="66" y="10"/>
                </a:lnTo>
                <a:lnTo>
                  <a:pt x="82" y="10"/>
                </a:lnTo>
                <a:close/>
                <a:moveTo>
                  <a:pt x="50" y="0"/>
                </a:moveTo>
                <a:lnTo>
                  <a:pt x="66" y="0"/>
                </a:lnTo>
                <a:lnTo>
                  <a:pt x="62" y="8"/>
                </a:lnTo>
                <a:lnTo>
                  <a:pt x="44" y="8"/>
                </a:lnTo>
                <a:lnTo>
                  <a:pt x="50" y="0"/>
                </a:lnTo>
                <a:close/>
                <a:moveTo>
                  <a:pt x="60" y="10"/>
                </a:moveTo>
                <a:lnTo>
                  <a:pt x="58" y="20"/>
                </a:lnTo>
                <a:lnTo>
                  <a:pt x="40" y="20"/>
                </a:lnTo>
                <a:lnTo>
                  <a:pt x="44" y="10"/>
                </a:lnTo>
                <a:lnTo>
                  <a:pt x="60" y="10"/>
                </a:lnTo>
                <a:close/>
                <a:moveTo>
                  <a:pt x="56" y="22"/>
                </a:moveTo>
                <a:lnTo>
                  <a:pt x="52" y="32"/>
                </a:lnTo>
                <a:lnTo>
                  <a:pt x="32" y="32"/>
                </a:lnTo>
                <a:lnTo>
                  <a:pt x="38" y="22"/>
                </a:lnTo>
                <a:lnTo>
                  <a:pt x="56" y="22"/>
                </a:lnTo>
                <a:close/>
                <a:moveTo>
                  <a:pt x="28" y="0"/>
                </a:moveTo>
                <a:lnTo>
                  <a:pt x="44" y="0"/>
                </a:lnTo>
                <a:lnTo>
                  <a:pt x="40" y="8"/>
                </a:lnTo>
                <a:lnTo>
                  <a:pt x="22" y="8"/>
                </a:lnTo>
                <a:lnTo>
                  <a:pt x="28" y="0"/>
                </a:lnTo>
                <a:close/>
                <a:moveTo>
                  <a:pt x="22" y="10"/>
                </a:moveTo>
                <a:lnTo>
                  <a:pt x="38" y="10"/>
                </a:lnTo>
                <a:lnTo>
                  <a:pt x="34" y="20"/>
                </a:lnTo>
                <a:lnTo>
                  <a:pt x="16" y="20"/>
                </a:lnTo>
                <a:lnTo>
                  <a:pt x="22" y="10"/>
                </a:lnTo>
                <a:close/>
                <a:moveTo>
                  <a:pt x="14" y="22"/>
                </a:moveTo>
                <a:lnTo>
                  <a:pt x="32" y="22"/>
                </a:lnTo>
                <a:lnTo>
                  <a:pt x="26" y="32"/>
                </a:lnTo>
                <a:lnTo>
                  <a:pt x="8" y="32"/>
                </a:lnTo>
                <a:lnTo>
                  <a:pt x="14" y="22"/>
                </a:lnTo>
                <a:close/>
                <a:moveTo>
                  <a:pt x="20" y="46"/>
                </a:moveTo>
                <a:lnTo>
                  <a:pt x="0" y="46"/>
                </a:lnTo>
                <a:lnTo>
                  <a:pt x="6" y="36"/>
                </a:lnTo>
                <a:lnTo>
                  <a:pt x="26" y="36"/>
                </a:lnTo>
                <a:lnTo>
                  <a:pt x="20" y="46"/>
                </a:lnTo>
                <a:close/>
                <a:moveTo>
                  <a:pt x="46" y="46"/>
                </a:moveTo>
                <a:lnTo>
                  <a:pt x="26" y="46"/>
                </a:lnTo>
                <a:lnTo>
                  <a:pt x="32" y="36"/>
                </a:lnTo>
                <a:lnTo>
                  <a:pt x="50" y="36"/>
                </a:lnTo>
                <a:lnTo>
                  <a:pt x="46" y="46"/>
                </a:lnTo>
                <a:close/>
                <a:moveTo>
                  <a:pt x="56" y="36"/>
                </a:moveTo>
                <a:lnTo>
                  <a:pt x="74" y="36"/>
                </a:lnTo>
                <a:lnTo>
                  <a:pt x="72" y="46"/>
                </a:lnTo>
                <a:lnTo>
                  <a:pt x="52" y="46"/>
                </a:lnTo>
                <a:lnTo>
                  <a:pt x="56" y="36"/>
                </a:lnTo>
                <a:close/>
                <a:moveTo>
                  <a:pt x="262" y="46"/>
                </a:moveTo>
                <a:lnTo>
                  <a:pt x="256" y="36"/>
                </a:lnTo>
                <a:lnTo>
                  <a:pt x="276" y="36"/>
                </a:lnTo>
                <a:lnTo>
                  <a:pt x="282" y="46"/>
                </a:lnTo>
                <a:lnTo>
                  <a:pt x="262" y="46"/>
                </a:lnTo>
                <a:close/>
                <a:moveTo>
                  <a:pt x="288" y="46"/>
                </a:moveTo>
                <a:lnTo>
                  <a:pt x="282" y="36"/>
                </a:lnTo>
                <a:lnTo>
                  <a:pt x="300" y="36"/>
                </a:lnTo>
                <a:lnTo>
                  <a:pt x="308" y="46"/>
                </a:lnTo>
                <a:lnTo>
                  <a:pt x="288" y="46"/>
                </a:lnTo>
                <a:close/>
              </a:path>
            </a:pathLst>
          </a:custGeom>
          <a:solidFill>
            <a:srgbClr val="9FDD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3" name="Freeform 350"/>
          <p:cNvSpPr>
            <a:spLocks/>
          </p:cNvSpPr>
          <p:nvPr/>
        </p:nvSpPr>
        <p:spPr bwMode="auto">
          <a:xfrm>
            <a:off x="4437703" y="5382126"/>
            <a:ext cx="152556" cy="118957"/>
          </a:xfrm>
          <a:custGeom>
            <a:avLst/>
            <a:gdLst>
              <a:gd name="T0" fmla="*/ 312 w 336"/>
              <a:gd name="T1" fmla="*/ 148 h 262"/>
              <a:gd name="T2" fmla="*/ 336 w 336"/>
              <a:gd name="T3" fmla="*/ 26 h 262"/>
              <a:gd name="T4" fmla="*/ 212 w 336"/>
              <a:gd name="T5" fmla="*/ 0 h 262"/>
              <a:gd name="T6" fmla="*/ 242 w 336"/>
              <a:gd name="T7" fmla="*/ 44 h 262"/>
              <a:gd name="T8" fmla="*/ 84 w 336"/>
              <a:gd name="T9" fmla="*/ 156 h 262"/>
              <a:gd name="T10" fmla="*/ 128 w 336"/>
              <a:gd name="T11" fmla="*/ 178 h 262"/>
              <a:gd name="T12" fmla="*/ 0 w 336"/>
              <a:gd name="T13" fmla="*/ 262 h 262"/>
              <a:gd name="T14" fmla="*/ 204 w 336"/>
              <a:gd name="T15" fmla="*/ 184 h 262"/>
              <a:gd name="T16" fmla="*/ 164 w 336"/>
              <a:gd name="T17" fmla="*/ 154 h 262"/>
              <a:gd name="T18" fmla="*/ 284 w 336"/>
              <a:gd name="T19" fmla="*/ 106 h 262"/>
              <a:gd name="T20" fmla="*/ 312 w 336"/>
              <a:gd name="T21" fmla="*/ 148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6" h="262">
                <a:moveTo>
                  <a:pt x="312" y="148"/>
                </a:moveTo>
                <a:lnTo>
                  <a:pt x="336" y="26"/>
                </a:lnTo>
                <a:lnTo>
                  <a:pt x="212" y="0"/>
                </a:lnTo>
                <a:lnTo>
                  <a:pt x="242" y="44"/>
                </a:lnTo>
                <a:lnTo>
                  <a:pt x="84" y="156"/>
                </a:lnTo>
                <a:lnTo>
                  <a:pt x="128" y="178"/>
                </a:lnTo>
                <a:lnTo>
                  <a:pt x="0" y="262"/>
                </a:lnTo>
                <a:lnTo>
                  <a:pt x="204" y="184"/>
                </a:lnTo>
                <a:lnTo>
                  <a:pt x="164" y="154"/>
                </a:lnTo>
                <a:lnTo>
                  <a:pt x="284" y="106"/>
                </a:lnTo>
                <a:lnTo>
                  <a:pt x="312" y="1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4" name="포인트가 24개인 별 123"/>
          <p:cNvSpPr/>
          <p:nvPr/>
        </p:nvSpPr>
        <p:spPr>
          <a:xfrm>
            <a:off x="4131301" y="4732842"/>
            <a:ext cx="728127" cy="362227"/>
          </a:xfrm>
          <a:prstGeom prst="star24">
            <a:avLst/>
          </a:prstGeom>
          <a:solidFill>
            <a:srgbClr val="B4D23A"/>
          </a:solidFill>
          <a:ln>
            <a:noFill/>
          </a:ln>
          <a:effectLst/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500" b="1" spc="-10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5" name="Rectangle 234"/>
          <p:cNvSpPr>
            <a:spLocks noChangeArrowheads="1"/>
          </p:cNvSpPr>
          <p:nvPr/>
        </p:nvSpPr>
        <p:spPr bwMode="gray">
          <a:xfrm>
            <a:off x="4208027" y="4813149"/>
            <a:ext cx="574675" cy="201612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1042988" eaLnBrk="0" latinLnBrk="0" hangingPunct="0">
              <a:lnSpc>
                <a:spcPct val="90000"/>
              </a:lnSpc>
              <a:buClr>
                <a:srgbClr val="292929"/>
              </a:buClr>
              <a:buSzPct val="100000"/>
              <a:tabLst>
                <a:tab pos="5648325" algn="l"/>
              </a:tabLst>
              <a:defRPr/>
            </a:pPr>
            <a:r>
              <a:rPr lang="ko-KR" altLang="en-US" sz="9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장애발생</a:t>
            </a:r>
          </a:p>
        </p:txBody>
      </p:sp>
      <p:sp>
        <p:nvSpPr>
          <p:cNvPr id="126" name="Oval 525"/>
          <p:cNvSpPr>
            <a:spLocks noChangeArrowheads="1"/>
          </p:cNvSpPr>
          <p:nvPr/>
        </p:nvSpPr>
        <p:spPr bwMode="auto">
          <a:xfrm>
            <a:off x="3395842" y="4899226"/>
            <a:ext cx="452260" cy="531500"/>
          </a:xfrm>
          <a:prstGeom prst="snip2DiagRect">
            <a:avLst>
              <a:gd name="adj1" fmla="val 0"/>
              <a:gd name="adj2" fmla="val 11125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7" name="Oval 525"/>
          <p:cNvSpPr>
            <a:spLocks noChangeArrowheads="1"/>
          </p:cNvSpPr>
          <p:nvPr/>
        </p:nvSpPr>
        <p:spPr bwMode="auto">
          <a:xfrm>
            <a:off x="962947" y="3269136"/>
            <a:ext cx="617969" cy="531500"/>
          </a:xfrm>
          <a:prstGeom prst="snip2DiagRect">
            <a:avLst>
              <a:gd name="adj1" fmla="val 0"/>
              <a:gd name="adj2" fmla="val 13441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8" name="Oval 525"/>
          <p:cNvSpPr>
            <a:spLocks noChangeArrowheads="1"/>
          </p:cNvSpPr>
          <p:nvPr/>
        </p:nvSpPr>
        <p:spPr bwMode="auto">
          <a:xfrm>
            <a:off x="1718676" y="3269136"/>
            <a:ext cx="617969" cy="531500"/>
          </a:xfrm>
          <a:prstGeom prst="snip2DiagRect">
            <a:avLst>
              <a:gd name="adj1" fmla="val 0"/>
              <a:gd name="adj2" fmla="val 9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9" name="Oval 525"/>
          <p:cNvSpPr>
            <a:spLocks noChangeArrowheads="1"/>
          </p:cNvSpPr>
          <p:nvPr/>
        </p:nvSpPr>
        <p:spPr bwMode="auto">
          <a:xfrm>
            <a:off x="2474405" y="3269136"/>
            <a:ext cx="617969" cy="531500"/>
          </a:xfrm>
          <a:prstGeom prst="snip2DiagRect">
            <a:avLst>
              <a:gd name="adj1" fmla="val 0"/>
              <a:gd name="adj2" fmla="val 9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0" name="Oval 525"/>
          <p:cNvSpPr>
            <a:spLocks noChangeArrowheads="1"/>
          </p:cNvSpPr>
          <p:nvPr/>
        </p:nvSpPr>
        <p:spPr bwMode="auto">
          <a:xfrm>
            <a:off x="3230133" y="3269136"/>
            <a:ext cx="617969" cy="531500"/>
          </a:xfrm>
          <a:prstGeom prst="snip2DiagRect">
            <a:avLst>
              <a:gd name="adj1" fmla="val 0"/>
              <a:gd name="adj2" fmla="val 12584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1" name="Oval 525"/>
          <p:cNvSpPr>
            <a:spLocks noChangeArrowheads="1"/>
          </p:cNvSpPr>
          <p:nvPr/>
        </p:nvSpPr>
        <p:spPr bwMode="auto">
          <a:xfrm>
            <a:off x="962947" y="4214151"/>
            <a:ext cx="617969" cy="445224"/>
          </a:xfrm>
          <a:prstGeom prst="snip2DiagRect">
            <a:avLst>
              <a:gd name="adj1" fmla="val 0"/>
              <a:gd name="adj2" fmla="val 17294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2" name="Oval 525"/>
          <p:cNvSpPr>
            <a:spLocks noChangeArrowheads="1"/>
          </p:cNvSpPr>
          <p:nvPr/>
        </p:nvSpPr>
        <p:spPr bwMode="auto">
          <a:xfrm>
            <a:off x="3230133" y="4212975"/>
            <a:ext cx="617969" cy="446400"/>
          </a:xfrm>
          <a:prstGeom prst="snip2DiagRect">
            <a:avLst>
              <a:gd name="adj1" fmla="val 0"/>
              <a:gd name="adj2" fmla="val 26921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3" name="Oval 525"/>
          <p:cNvSpPr>
            <a:spLocks noChangeArrowheads="1"/>
          </p:cNvSpPr>
          <p:nvPr/>
        </p:nvSpPr>
        <p:spPr bwMode="auto">
          <a:xfrm>
            <a:off x="962948" y="4899226"/>
            <a:ext cx="570580" cy="531500"/>
          </a:xfrm>
          <a:prstGeom prst="snip2DiagRect">
            <a:avLst>
              <a:gd name="adj1" fmla="val 0"/>
              <a:gd name="adj2" fmla="val 26921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4" name="Oval 525"/>
          <p:cNvSpPr>
            <a:spLocks noChangeArrowheads="1"/>
          </p:cNvSpPr>
          <p:nvPr/>
        </p:nvSpPr>
        <p:spPr bwMode="auto">
          <a:xfrm>
            <a:off x="1659911" y="4899226"/>
            <a:ext cx="452260" cy="531500"/>
          </a:xfrm>
          <a:prstGeom prst="snip2DiagRect">
            <a:avLst>
              <a:gd name="adj1" fmla="val 0"/>
              <a:gd name="adj2" fmla="val 10072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5" name="Oval 525"/>
          <p:cNvSpPr>
            <a:spLocks noChangeArrowheads="1"/>
          </p:cNvSpPr>
          <p:nvPr/>
        </p:nvSpPr>
        <p:spPr bwMode="auto">
          <a:xfrm>
            <a:off x="2238554" y="4899226"/>
            <a:ext cx="452260" cy="531500"/>
          </a:xfrm>
          <a:prstGeom prst="snip2DiagRect">
            <a:avLst>
              <a:gd name="adj1" fmla="val 0"/>
              <a:gd name="adj2" fmla="val 6913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6" name="Oval 525"/>
          <p:cNvSpPr>
            <a:spLocks noChangeArrowheads="1"/>
          </p:cNvSpPr>
          <p:nvPr/>
        </p:nvSpPr>
        <p:spPr bwMode="auto">
          <a:xfrm>
            <a:off x="2817197" y="4899226"/>
            <a:ext cx="452260" cy="531500"/>
          </a:xfrm>
          <a:prstGeom prst="snip2DiagRect">
            <a:avLst>
              <a:gd name="adj1" fmla="val 0"/>
              <a:gd name="adj2" fmla="val 10072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600" spc="-10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7" name="Text Box 8"/>
          <p:cNvSpPr txBox="1">
            <a:spLocks noChangeArrowheads="1"/>
          </p:cNvSpPr>
          <p:nvPr/>
        </p:nvSpPr>
        <p:spPr bwMode="auto">
          <a:xfrm>
            <a:off x="1022550" y="3270381"/>
            <a:ext cx="493713" cy="131762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백업정책 설정</a:t>
            </a:r>
          </a:p>
        </p:txBody>
      </p:sp>
      <p:sp>
        <p:nvSpPr>
          <p:cNvPr id="138" name="Text Box 11"/>
          <p:cNvSpPr txBox="1">
            <a:spLocks noChangeArrowheads="1"/>
          </p:cNvSpPr>
          <p:nvPr/>
        </p:nvSpPr>
        <p:spPr bwMode="auto">
          <a:xfrm>
            <a:off x="2539481" y="3270381"/>
            <a:ext cx="493713" cy="131763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백업 결과 확인</a:t>
            </a:r>
          </a:p>
        </p:txBody>
      </p:sp>
      <p:sp>
        <p:nvSpPr>
          <p:cNvPr id="139" name="Rectangle 12"/>
          <p:cNvSpPr>
            <a:spLocks noChangeArrowheads="1"/>
          </p:cNvSpPr>
          <p:nvPr/>
        </p:nvSpPr>
        <p:spPr bwMode="auto">
          <a:xfrm>
            <a:off x="2196393" y="3975701"/>
            <a:ext cx="930528" cy="9695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indent="92075"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백업 실패 </a:t>
            </a:r>
            <a:r>
              <a:rPr lang="en-US" altLang="ko-KR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(</a:t>
            </a: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재 백업 수행</a:t>
            </a:r>
            <a:r>
              <a:rPr lang="en-US" altLang="ko-KR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)</a:t>
            </a:r>
            <a:endParaRPr lang="ko-KR" altLang="en-US" sz="7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140" name="Text Box 14"/>
          <p:cNvSpPr txBox="1">
            <a:spLocks noChangeArrowheads="1"/>
          </p:cNvSpPr>
          <p:nvPr/>
        </p:nvSpPr>
        <p:spPr bwMode="auto">
          <a:xfrm>
            <a:off x="3310063" y="3271175"/>
            <a:ext cx="492125" cy="130175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백업 이력관리</a:t>
            </a:r>
          </a:p>
        </p:txBody>
      </p:sp>
      <p:sp>
        <p:nvSpPr>
          <p:cNvPr id="141" name="Text Box 16"/>
          <p:cNvSpPr txBox="1">
            <a:spLocks noChangeArrowheads="1"/>
          </p:cNvSpPr>
          <p:nvPr/>
        </p:nvSpPr>
        <p:spPr bwMode="auto">
          <a:xfrm>
            <a:off x="1701863" y="4893698"/>
            <a:ext cx="663575" cy="144463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복구계획수립</a:t>
            </a:r>
            <a:endParaRPr lang="ko-KR" altLang="en-US" sz="7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2" name="Freeform 43"/>
          <p:cNvSpPr>
            <a:spLocks/>
          </p:cNvSpPr>
          <p:nvPr/>
        </p:nvSpPr>
        <p:spPr bwMode="auto">
          <a:xfrm>
            <a:off x="1289052" y="3752765"/>
            <a:ext cx="1536700" cy="170878"/>
          </a:xfrm>
          <a:custGeom>
            <a:avLst/>
            <a:gdLst>
              <a:gd name="T0" fmla="*/ 2147483647 w 1728"/>
              <a:gd name="T1" fmla="*/ 0 h 192"/>
              <a:gd name="T2" fmla="*/ 2147483647 w 1728"/>
              <a:gd name="T3" fmla="*/ 2147483647 h 192"/>
              <a:gd name="T4" fmla="*/ 0 w 1728"/>
              <a:gd name="T5" fmla="*/ 2147483647 h 192"/>
              <a:gd name="T6" fmla="*/ 0 w 1728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1728"/>
              <a:gd name="T13" fmla="*/ 0 h 192"/>
              <a:gd name="T14" fmla="*/ 1728 w 1728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8" h="192">
                <a:moveTo>
                  <a:pt x="1728" y="0"/>
                </a:moveTo>
                <a:lnTo>
                  <a:pt x="1728" y="192"/>
                </a:lnTo>
                <a:lnTo>
                  <a:pt x="0" y="192"/>
                </a:lnTo>
                <a:lnTo>
                  <a:pt x="0" y="48"/>
                </a:lnTo>
              </a:path>
            </a:pathLst>
          </a:cu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3" name="Line 44"/>
          <p:cNvSpPr>
            <a:spLocks noChangeShapeType="1"/>
          </p:cNvSpPr>
          <p:nvPr/>
        </p:nvSpPr>
        <p:spPr bwMode="auto">
          <a:xfrm>
            <a:off x="3539117" y="3723615"/>
            <a:ext cx="0" cy="481014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4" name="Text Box 54"/>
          <p:cNvSpPr txBox="1">
            <a:spLocks noChangeArrowheads="1"/>
          </p:cNvSpPr>
          <p:nvPr/>
        </p:nvSpPr>
        <p:spPr bwMode="auto">
          <a:xfrm>
            <a:off x="2721179" y="4335348"/>
            <a:ext cx="493713" cy="68263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복구 작업</a:t>
            </a:r>
          </a:p>
        </p:txBody>
      </p:sp>
      <p:sp>
        <p:nvSpPr>
          <p:cNvPr id="145" name="Text Box 55"/>
          <p:cNvSpPr txBox="1">
            <a:spLocks noChangeArrowheads="1"/>
          </p:cNvSpPr>
          <p:nvPr/>
        </p:nvSpPr>
        <p:spPr bwMode="auto">
          <a:xfrm>
            <a:off x="2894500" y="4908779"/>
            <a:ext cx="492125" cy="114300"/>
          </a:xfrm>
          <a:prstGeom prst="rect">
            <a:avLst/>
          </a:prstGeom>
        </p:spPr>
        <p:txBody>
          <a:bodyPr wrap="none" lIns="-1" tIns="-1" rIns="-1" bIns="-1" anchor="ctr"/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복구 확인</a:t>
            </a:r>
          </a:p>
        </p:txBody>
      </p:sp>
      <p:sp>
        <p:nvSpPr>
          <p:cNvPr id="146" name="Freeform 58"/>
          <p:cNvSpPr>
            <a:spLocks/>
          </p:cNvSpPr>
          <p:nvPr/>
        </p:nvSpPr>
        <p:spPr bwMode="auto">
          <a:xfrm>
            <a:off x="2486028" y="5431216"/>
            <a:ext cx="595312" cy="138111"/>
          </a:xfrm>
          <a:custGeom>
            <a:avLst/>
            <a:gdLst>
              <a:gd name="T0" fmla="*/ 2147483647 w 672"/>
              <a:gd name="T1" fmla="*/ 0 h 192"/>
              <a:gd name="T2" fmla="*/ 2147483647 w 672"/>
              <a:gd name="T3" fmla="*/ 2147483647 h 192"/>
              <a:gd name="T4" fmla="*/ 0 w 672"/>
              <a:gd name="T5" fmla="*/ 2147483647 h 192"/>
              <a:gd name="T6" fmla="*/ 0 w 672"/>
              <a:gd name="T7" fmla="*/ 0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192"/>
              <a:gd name="T14" fmla="*/ 672 w 67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192">
                <a:moveTo>
                  <a:pt x="672" y="0"/>
                </a:moveTo>
                <a:lnTo>
                  <a:pt x="672" y="192"/>
                </a:lnTo>
                <a:lnTo>
                  <a:pt x="0" y="192"/>
                </a:lnTo>
                <a:lnTo>
                  <a:pt x="0" y="0"/>
                </a:lnTo>
              </a:path>
            </a:pathLst>
          </a:cu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7" name="Line 59"/>
          <p:cNvSpPr>
            <a:spLocks noChangeShapeType="1"/>
          </p:cNvSpPr>
          <p:nvPr/>
        </p:nvSpPr>
        <p:spPr bwMode="auto">
          <a:xfrm>
            <a:off x="1536701" y="5211190"/>
            <a:ext cx="1260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148" name="Picture 57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20" t="6609" r="7553" b="78194"/>
          <a:stretch>
            <a:fillRect/>
          </a:stretch>
        </p:blipFill>
        <p:spPr bwMode="auto">
          <a:xfrm>
            <a:off x="1735203" y="5061603"/>
            <a:ext cx="312738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9" name="그림 22" descr="해병대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653" y="5039378"/>
            <a:ext cx="127000" cy="11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" name="그림 25" descr="마린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78" y="5088591"/>
            <a:ext cx="128588" cy="12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그림 23" descr="공군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78" y="5039378"/>
            <a:ext cx="133350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Rectangle 17"/>
          <p:cNvSpPr>
            <a:spLocks noChangeArrowheads="1"/>
          </p:cNvSpPr>
          <p:nvPr/>
        </p:nvSpPr>
        <p:spPr bwMode="auto">
          <a:xfrm>
            <a:off x="900249" y="5462096"/>
            <a:ext cx="742157" cy="29084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장애발생 시점에 따른</a:t>
            </a:r>
            <a:endParaRPr lang="en-US" altLang="ko-KR" sz="7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복구범위</a:t>
            </a:r>
            <a:r>
              <a:rPr lang="en-US" altLang="ko-KR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최종 </a:t>
            </a:r>
            <a:r>
              <a:rPr lang="ko-KR" altLang="en-US" sz="700" spc="-1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백업본</a:t>
            </a:r>
            <a:endParaRPr lang="en-US" altLang="ko-KR" sz="7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이력 확인 등 </a:t>
            </a:r>
          </a:p>
        </p:txBody>
      </p:sp>
      <p:sp>
        <p:nvSpPr>
          <p:cNvPr id="153" name="모서리가 둥근 직사각형 152"/>
          <p:cNvSpPr/>
          <p:nvPr/>
        </p:nvSpPr>
        <p:spPr bwMode="auto">
          <a:xfrm flipH="1">
            <a:off x="914538" y="3282262"/>
            <a:ext cx="108000" cy="108000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4" name="모서리가 둥근 직사각형 153"/>
          <p:cNvSpPr/>
          <p:nvPr/>
        </p:nvSpPr>
        <p:spPr bwMode="auto">
          <a:xfrm flipH="1">
            <a:off x="2428979" y="3282262"/>
            <a:ext cx="108000" cy="108000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5" name="모서리가 둥근 직사각형 154"/>
          <p:cNvSpPr/>
          <p:nvPr/>
        </p:nvSpPr>
        <p:spPr bwMode="auto">
          <a:xfrm flipH="1">
            <a:off x="3181977" y="3282262"/>
            <a:ext cx="108000" cy="108000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156" name="Picture 6"/>
          <p:cNvPicPr>
            <a:picLocks noChangeAspect="1" noChangeArrowheads="1"/>
          </p:cNvPicPr>
          <p:nvPr/>
        </p:nvPicPr>
        <p:blipFill>
          <a:blip r:embed="rId8" cstate="print">
            <a:lum contrast="-10000"/>
          </a:blip>
          <a:srcRect/>
          <a:stretch>
            <a:fillRect/>
          </a:stretch>
        </p:blipFill>
        <p:spPr bwMode="gray">
          <a:xfrm>
            <a:off x="1029622" y="3440357"/>
            <a:ext cx="475330" cy="264518"/>
          </a:xfrm>
          <a:prstGeom prst="rect">
            <a:avLst/>
          </a:prstGeom>
          <a:noFill/>
          <a:ln w="317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</p:pic>
      <p:pic>
        <p:nvPicPr>
          <p:cNvPr id="157" name="그림 209" descr="군인아이콘 무계급.png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686" y="3416513"/>
            <a:ext cx="296863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8" name="Picture 20" descr="D:\모스트비주얼\아이콘 작업\왜가리\서버1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917" y="3362859"/>
            <a:ext cx="220599" cy="339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" name="그림 3" descr="Untitled-1.png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269" y="3551057"/>
            <a:ext cx="217488" cy="154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" name="Rectangle 29"/>
          <p:cNvSpPr>
            <a:spLocks noChangeArrowheads="1"/>
          </p:cNvSpPr>
          <p:nvPr/>
        </p:nvSpPr>
        <p:spPr bwMode="auto">
          <a:xfrm>
            <a:off x="1970861" y="3604375"/>
            <a:ext cx="291269" cy="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995363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90000"/>
              <a:defRPr/>
            </a:pPr>
            <a:r>
              <a:rPr kumimoji="0" lang="en-US" altLang="ko-KR" sz="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Data</a:t>
            </a:r>
          </a:p>
        </p:txBody>
      </p:sp>
      <p:pic>
        <p:nvPicPr>
          <p:cNvPr id="161" name="그림 69" descr="45.png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88"/>
          <a:stretch>
            <a:fillRect/>
          </a:stretch>
        </p:blipFill>
        <p:spPr bwMode="auto">
          <a:xfrm>
            <a:off x="2594537" y="3405381"/>
            <a:ext cx="229072" cy="254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2" name="그림 23" descr="공군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532" y="3443546"/>
            <a:ext cx="284118" cy="284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" name="모서리가 둥근 직사각형 162"/>
          <p:cNvSpPr/>
          <p:nvPr/>
        </p:nvSpPr>
        <p:spPr bwMode="auto">
          <a:xfrm flipH="1">
            <a:off x="3569047" y="3970176"/>
            <a:ext cx="108000" cy="108000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6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164" name="Picture 20" descr="D:\모스트비주얼\아이콘 작업\왜가리\서버1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06" y="4232929"/>
            <a:ext cx="249783" cy="38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" name="Picture 20" descr="D:\모스트비주얼\아이콘 작업\왜가리\서버1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541" y="4232929"/>
            <a:ext cx="249783" cy="38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6" name="그림 3" descr="Untitled-1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708" y="4446245"/>
            <a:ext cx="246259" cy="175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" name="Rectangle 29"/>
          <p:cNvSpPr>
            <a:spLocks noChangeArrowheads="1"/>
          </p:cNvSpPr>
          <p:nvPr/>
        </p:nvSpPr>
        <p:spPr bwMode="auto">
          <a:xfrm>
            <a:off x="1273056" y="4529941"/>
            <a:ext cx="318132" cy="6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995363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90000"/>
              <a:defRPr/>
            </a:pPr>
            <a:r>
              <a:rPr kumimoji="0" lang="en-US" altLang="ko-KR" sz="5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Source</a:t>
            </a:r>
          </a:p>
        </p:txBody>
      </p:sp>
      <p:pic>
        <p:nvPicPr>
          <p:cNvPr id="168" name="그림 3" descr="Untitled-1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26" y="4446245"/>
            <a:ext cx="246259" cy="175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" name="Rectangle 29"/>
          <p:cNvSpPr>
            <a:spLocks noChangeArrowheads="1"/>
          </p:cNvSpPr>
          <p:nvPr/>
        </p:nvSpPr>
        <p:spPr bwMode="auto">
          <a:xfrm>
            <a:off x="1043461" y="4529941"/>
            <a:ext cx="319632" cy="6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995363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90000"/>
              <a:defRPr/>
            </a:pPr>
            <a:r>
              <a:rPr kumimoji="0" lang="en-US" altLang="ko-KR" sz="5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Source</a:t>
            </a:r>
          </a:p>
        </p:txBody>
      </p:sp>
      <p:sp>
        <p:nvSpPr>
          <p:cNvPr id="170" name="모서리가 둥근 직사각형 169"/>
          <p:cNvSpPr/>
          <p:nvPr/>
        </p:nvSpPr>
        <p:spPr bwMode="auto">
          <a:xfrm flipH="1">
            <a:off x="1603377" y="4462515"/>
            <a:ext cx="108000" cy="108000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1" name="모서리가 둥근 직사각형 170"/>
          <p:cNvSpPr/>
          <p:nvPr/>
        </p:nvSpPr>
        <p:spPr bwMode="auto">
          <a:xfrm flipH="1">
            <a:off x="2181853" y="3970176"/>
            <a:ext cx="108000" cy="108000"/>
          </a:xfrm>
          <a:prstGeom prst="roundRect">
            <a:avLst/>
          </a:prstGeom>
          <a:solidFill>
            <a:srgbClr val="11A0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4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172" name="Picture 20" descr="D:\모스트비주얼\아이콘 작업\왜가리\서버1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132" y="4258327"/>
            <a:ext cx="222325" cy="343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" name="그림 3" descr="Untitled-1.png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543" y="4448267"/>
            <a:ext cx="219189" cy="15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" name="모서리가 둥근 직사각형 173"/>
          <p:cNvSpPr/>
          <p:nvPr/>
        </p:nvSpPr>
        <p:spPr bwMode="auto">
          <a:xfrm flipH="1">
            <a:off x="2591006" y="4315479"/>
            <a:ext cx="108000" cy="108000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5" name="모서리가 둥근 직사각형 174"/>
          <p:cNvSpPr/>
          <p:nvPr/>
        </p:nvSpPr>
        <p:spPr bwMode="auto">
          <a:xfrm flipH="1">
            <a:off x="1593851" y="4911929"/>
            <a:ext cx="108000" cy="108000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176" name="그림 69" descr="45.png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88"/>
          <a:stretch>
            <a:fillRect/>
          </a:stretch>
        </p:blipFill>
        <p:spPr bwMode="auto">
          <a:xfrm>
            <a:off x="2307703" y="5084376"/>
            <a:ext cx="199713" cy="221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7" name="그림 176" descr="군인아이콘 무계급.png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143" y="5042769"/>
            <a:ext cx="259350" cy="277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8" name="모서리가 둥근 직사각형 177"/>
          <p:cNvSpPr/>
          <p:nvPr/>
        </p:nvSpPr>
        <p:spPr bwMode="auto">
          <a:xfrm flipH="1">
            <a:off x="2772263" y="4911929"/>
            <a:ext cx="108000" cy="108000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9" name="모서리가 둥근 직사각형 178"/>
          <p:cNvSpPr/>
          <p:nvPr/>
        </p:nvSpPr>
        <p:spPr bwMode="auto">
          <a:xfrm flipH="1">
            <a:off x="3353720" y="4911929"/>
            <a:ext cx="108000" cy="108000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180" name="그림 69" descr="45.png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88"/>
          <a:stretch>
            <a:fillRect/>
          </a:stretch>
        </p:blipFill>
        <p:spPr bwMode="auto">
          <a:xfrm>
            <a:off x="3464221" y="5045452"/>
            <a:ext cx="200127" cy="22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1" name="그림 23" descr="공군.png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570" y="5078794"/>
            <a:ext cx="248217" cy="248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2" name="Picture 6" descr="Folder Documents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260" y="5036997"/>
            <a:ext cx="274637" cy="275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" name="Picture 16" descr="D:\모스트비주얼\아이콘 작업\왜가리\35.png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992" y="5160043"/>
            <a:ext cx="135990" cy="175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" name="Rectangle 9"/>
          <p:cNvSpPr>
            <a:spLocks noChangeArrowheads="1"/>
          </p:cNvSpPr>
          <p:nvPr/>
        </p:nvSpPr>
        <p:spPr bwMode="auto">
          <a:xfrm>
            <a:off x="851887" y="3042206"/>
            <a:ext cx="820911" cy="1938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 defTabSz="995363" latinLnBrk="0">
              <a:lnSpc>
                <a:spcPct val="90000"/>
              </a:lnSpc>
              <a:buClr>
                <a:srgbClr val="0000FF"/>
              </a:buClr>
              <a:buSzPct val="90000"/>
              <a:buFont typeface="Wingdings" pitchFamily="2" charset="2"/>
              <a:buNone/>
              <a:defRPr/>
            </a:pPr>
            <a:r>
              <a:rPr lang="ko-KR" altLang="en-US" sz="7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백업대상</a:t>
            </a:r>
            <a:r>
              <a:rPr lang="en-US" altLang="ko-KR" sz="7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 </a:t>
            </a:r>
            <a:r>
              <a:rPr lang="ko-KR" altLang="en-US" sz="7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미디어</a:t>
            </a:r>
            <a:r>
              <a:rPr lang="en-US" altLang="ko-KR" sz="7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,</a:t>
            </a:r>
          </a:p>
          <a:p>
            <a:pPr algn="ctr" defTabSz="995363" latinLnBrk="0">
              <a:lnSpc>
                <a:spcPct val="90000"/>
              </a:lnSpc>
              <a:buClr>
                <a:srgbClr val="0000FF"/>
              </a:buClr>
              <a:buSzPct val="90000"/>
              <a:buFont typeface="Wingdings" pitchFamily="2" charset="2"/>
              <a:buNone/>
              <a:defRPr/>
            </a:pPr>
            <a:r>
              <a:rPr lang="ko-KR" altLang="en-US" sz="7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백업시간 등 설정 </a:t>
            </a:r>
          </a:p>
        </p:txBody>
      </p:sp>
      <p:sp>
        <p:nvSpPr>
          <p:cNvPr id="185" name="Rectangle 549"/>
          <p:cNvSpPr>
            <a:spLocks noChangeArrowheads="1"/>
          </p:cNvSpPr>
          <p:nvPr/>
        </p:nvSpPr>
        <p:spPr bwMode="auto">
          <a:xfrm>
            <a:off x="1714188" y="4457268"/>
            <a:ext cx="560387" cy="1184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101600" indent="-101600" defTabSz="1042988" latinLnBrk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백업 실시</a:t>
            </a:r>
          </a:p>
        </p:txBody>
      </p:sp>
      <p:grpSp>
        <p:nvGrpSpPr>
          <p:cNvPr id="186" name="그룹 643"/>
          <p:cNvGrpSpPr>
            <a:grpSpLocks/>
          </p:cNvGrpSpPr>
          <p:nvPr/>
        </p:nvGrpSpPr>
        <p:grpSpPr bwMode="auto">
          <a:xfrm>
            <a:off x="1035458" y="5127357"/>
            <a:ext cx="253411" cy="216022"/>
            <a:chOff x="609600" y="6702710"/>
            <a:chExt cx="290513" cy="247650"/>
          </a:xfrm>
        </p:grpSpPr>
        <p:pic>
          <p:nvPicPr>
            <p:cNvPr id="187" name="Picture 61" descr="capture3"/>
            <p:cNvPicPr>
              <a:picLocks noChangeAspect="1" noChangeArrowheads="1"/>
            </p:cNvPicPr>
            <p:nvPr/>
          </p:nvPicPr>
          <p:blipFill>
            <a:blip r:embed="rId2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6702710"/>
              <a:ext cx="134938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8" name="Picture 62" descr="capture3"/>
            <p:cNvPicPr>
              <a:picLocks noChangeAspect="1" noChangeArrowheads="1"/>
            </p:cNvPicPr>
            <p:nvPr/>
          </p:nvPicPr>
          <p:blipFill>
            <a:blip r:embed="rId2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175" y="6702710"/>
              <a:ext cx="134938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9" name="Oval 63"/>
          <p:cNvSpPr>
            <a:spLocks noChangeArrowheads="1"/>
          </p:cNvSpPr>
          <p:nvPr/>
        </p:nvSpPr>
        <p:spPr bwMode="auto">
          <a:xfrm>
            <a:off x="1065923" y="5044272"/>
            <a:ext cx="193866" cy="11632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1042988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/>
            </a:pPr>
            <a:r>
              <a:rPr kumimoji="0" lang="en-US" altLang="ko-KR" sz="4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HA</a:t>
            </a:r>
          </a:p>
        </p:txBody>
      </p:sp>
      <p:grpSp>
        <p:nvGrpSpPr>
          <p:cNvPr id="190" name="그룹 646"/>
          <p:cNvGrpSpPr>
            <a:grpSpLocks/>
          </p:cNvGrpSpPr>
          <p:nvPr/>
        </p:nvGrpSpPr>
        <p:grpSpPr bwMode="auto">
          <a:xfrm>
            <a:off x="1200420" y="5137052"/>
            <a:ext cx="260077" cy="188327"/>
            <a:chOff x="1113230" y="6372914"/>
            <a:chExt cx="256300" cy="185564"/>
          </a:xfrm>
        </p:grpSpPr>
        <p:pic>
          <p:nvPicPr>
            <p:cNvPr id="191" name="그림 3" descr="Untitled-1.png"/>
            <p:cNvPicPr>
              <a:picLocks noChangeAspect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3230" y="6372914"/>
              <a:ext cx="256300" cy="185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2" name="Rectangle 29"/>
            <p:cNvSpPr>
              <a:spLocks noChangeArrowheads="1"/>
            </p:cNvSpPr>
            <p:nvPr/>
          </p:nvSpPr>
          <p:spPr bwMode="auto">
            <a:xfrm>
              <a:off x="1132557" y="6460399"/>
              <a:ext cx="217528" cy="54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algn="ctr" defTabSz="995363" eaLnBrk="0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90000"/>
                <a:defRPr/>
              </a:pPr>
              <a:r>
                <a:rPr kumimoji="0" lang="en-US" altLang="ko-KR" sz="4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DB</a:t>
              </a:r>
            </a:p>
          </p:txBody>
        </p:sp>
      </p:grpSp>
      <p:sp>
        <p:nvSpPr>
          <p:cNvPr id="193" name="Line 38"/>
          <p:cNvSpPr>
            <a:spLocks noChangeShapeType="1"/>
          </p:cNvSpPr>
          <p:nvPr/>
        </p:nvSpPr>
        <p:spPr bwMode="auto">
          <a:xfrm>
            <a:off x="1582071" y="3559364"/>
            <a:ext cx="13243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4" name="Line 39"/>
          <p:cNvSpPr>
            <a:spLocks noChangeShapeType="1"/>
          </p:cNvSpPr>
          <p:nvPr/>
        </p:nvSpPr>
        <p:spPr bwMode="auto">
          <a:xfrm>
            <a:off x="2343149" y="3559364"/>
            <a:ext cx="1332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5" name="Line 40"/>
          <p:cNvSpPr>
            <a:spLocks noChangeShapeType="1"/>
          </p:cNvSpPr>
          <p:nvPr/>
        </p:nvSpPr>
        <p:spPr bwMode="auto">
          <a:xfrm>
            <a:off x="3100609" y="3559364"/>
            <a:ext cx="1332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6" name="포인트가 24개인 별 195"/>
          <p:cNvSpPr/>
          <p:nvPr/>
        </p:nvSpPr>
        <p:spPr>
          <a:xfrm>
            <a:off x="841502" y="5206076"/>
            <a:ext cx="369890" cy="184012"/>
          </a:xfrm>
          <a:prstGeom prst="star24">
            <a:avLst/>
          </a:prstGeom>
          <a:solidFill>
            <a:srgbClr val="B4D23A"/>
          </a:solidFill>
          <a:ln>
            <a:noFill/>
          </a:ln>
          <a:effectLst/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500" b="1" spc="-10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7" name="Rectangle 234"/>
          <p:cNvSpPr>
            <a:spLocks noChangeArrowheads="1"/>
          </p:cNvSpPr>
          <p:nvPr/>
        </p:nvSpPr>
        <p:spPr bwMode="gray">
          <a:xfrm>
            <a:off x="872859" y="5246872"/>
            <a:ext cx="291936" cy="102419"/>
          </a:xfrm>
          <a:prstGeom prst="rect">
            <a:avLst/>
          </a:prstGeom>
          <a:noFill/>
          <a:ln w="9525">
            <a:solidFill>
              <a:prstClr val="white">
                <a:alpha val="0"/>
              </a:prst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1042988" eaLnBrk="0" latinLnBrk="0" hangingPunct="0">
              <a:lnSpc>
                <a:spcPct val="90000"/>
              </a:lnSpc>
              <a:buClr>
                <a:srgbClr val="292929"/>
              </a:buClr>
              <a:buSzPct val="100000"/>
              <a:tabLst>
                <a:tab pos="5648325" algn="l"/>
              </a:tabLst>
              <a:defRPr/>
            </a:pPr>
            <a:r>
              <a:rPr lang="ko-KR" altLang="en-US" sz="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장애발생</a:t>
            </a:r>
          </a:p>
        </p:txBody>
      </p:sp>
      <p:sp>
        <p:nvSpPr>
          <p:cNvPr id="198" name="Line 59"/>
          <p:cNvSpPr>
            <a:spLocks noChangeShapeType="1"/>
          </p:cNvSpPr>
          <p:nvPr/>
        </p:nvSpPr>
        <p:spPr bwMode="auto">
          <a:xfrm>
            <a:off x="2112554" y="5211190"/>
            <a:ext cx="1260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9" name="Line 59"/>
          <p:cNvSpPr>
            <a:spLocks noChangeShapeType="1"/>
          </p:cNvSpPr>
          <p:nvPr/>
        </p:nvSpPr>
        <p:spPr bwMode="auto">
          <a:xfrm>
            <a:off x="2691197" y="5211190"/>
            <a:ext cx="1260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0" name="Line 59"/>
          <p:cNvSpPr>
            <a:spLocks noChangeShapeType="1"/>
          </p:cNvSpPr>
          <p:nvPr/>
        </p:nvSpPr>
        <p:spPr bwMode="auto">
          <a:xfrm>
            <a:off x="3267050" y="5211190"/>
            <a:ext cx="1260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1" name="Text Box 19"/>
          <p:cNvSpPr txBox="1">
            <a:spLocks noChangeArrowheads="1"/>
          </p:cNvSpPr>
          <p:nvPr/>
        </p:nvSpPr>
        <p:spPr bwMode="auto">
          <a:xfrm>
            <a:off x="2570722" y="5605395"/>
            <a:ext cx="802041" cy="9695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defTabSz="995363" latinLnBrk="0">
              <a:lnSpc>
                <a:spcPct val="90000"/>
              </a:lnSpc>
              <a:buClr>
                <a:srgbClr val="0000FF"/>
              </a:buClr>
              <a:buSzPct val="90000"/>
              <a:defRPr/>
            </a:pP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복구 실패 </a:t>
            </a:r>
            <a:r>
              <a:rPr lang="en-US" altLang="ko-KR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(</a:t>
            </a:r>
            <a:r>
              <a:rPr lang="ko-KR" altLang="en-US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복구 재 작업</a:t>
            </a:r>
            <a:r>
              <a:rPr lang="en-US" altLang="ko-KR" sz="7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  <a:sym typeface="Monotype Sorts"/>
              </a:rPr>
              <a:t>)</a:t>
            </a:r>
            <a:endParaRPr lang="ko-KR" altLang="en-US" sz="700" spc="-100" dirty="0" err="1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  <a:sym typeface="Monotype Sorts"/>
            </a:endParaRPr>
          </a:p>
        </p:txBody>
      </p:sp>
      <p:sp>
        <p:nvSpPr>
          <p:cNvPr id="202" name="모서리가 둥근 직사각형 201"/>
          <p:cNvSpPr/>
          <p:nvPr/>
        </p:nvSpPr>
        <p:spPr bwMode="auto">
          <a:xfrm flipH="1">
            <a:off x="2457947" y="5599870"/>
            <a:ext cx="108000" cy="108000"/>
          </a:xfrm>
          <a:prstGeom prst="roundRect">
            <a:avLst/>
          </a:prstGeom>
          <a:solidFill>
            <a:srgbClr val="0B699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4</a:t>
            </a:r>
            <a:endParaRPr kumimoji="1" lang="ko-KR" altLang="en-US" sz="700" b="1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3" name="자유형 202"/>
          <p:cNvSpPr/>
          <p:nvPr/>
        </p:nvSpPr>
        <p:spPr>
          <a:xfrm>
            <a:off x="2440783" y="4445377"/>
            <a:ext cx="778669" cy="454819"/>
          </a:xfrm>
          <a:custGeom>
            <a:avLst/>
            <a:gdLst>
              <a:gd name="connsiteX0" fmla="*/ 795338 w 795338"/>
              <a:gd name="connsiteY0" fmla="*/ 0 h 454819"/>
              <a:gd name="connsiteX1" fmla="*/ 0 w 795338"/>
              <a:gd name="connsiteY1" fmla="*/ 0 h 454819"/>
              <a:gd name="connsiteX2" fmla="*/ 0 w 795338"/>
              <a:gd name="connsiteY2" fmla="*/ 454819 h 45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5338" h="454819">
                <a:moveTo>
                  <a:pt x="795338" y="0"/>
                </a:moveTo>
                <a:lnTo>
                  <a:pt x="0" y="0"/>
                </a:lnTo>
                <a:lnTo>
                  <a:pt x="0" y="454819"/>
                </a:lnTo>
              </a:path>
            </a:pathLst>
          </a:custGeom>
          <a:ln w="6350">
            <a:solidFill>
              <a:schemeClr val="bg1">
                <a:lumMod val="65000"/>
              </a:schemeClr>
            </a:solidFill>
            <a:prstDash val="solid"/>
            <a:tailEnd type="triangle" w="sm" len="sm"/>
          </a:ln>
          <a:effectLst>
            <a:outerShdw dist="38100" sx="1000" sy="1000" algn="t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defTabSz="1475110" latinLnBrk="0"/>
            <a:endParaRPr lang="ko-KR" altLang="en-US" sz="700" spc="-100">
              <a:solidFill>
                <a:schemeClr val="tx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4" name="자유형 203"/>
          <p:cNvSpPr/>
          <p:nvPr/>
        </p:nvSpPr>
        <p:spPr>
          <a:xfrm>
            <a:off x="1576389" y="3714093"/>
            <a:ext cx="471487" cy="719137"/>
          </a:xfrm>
          <a:custGeom>
            <a:avLst/>
            <a:gdLst>
              <a:gd name="connsiteX0" fmla="*/ 0 w 400050"/>
              <a:gd name="connsiteY0" fmla="*/ 752475 h 752475"/>
              <a:gd name="connsiteX1" fmla="*/ 400050 w 400050"/>
              <a:gd name="connsiteY1" fmla="*/ 752475 h 752475"/>
              <a:gd name="connsiteX2" fmla="*/ 400050 w 400050"/>
              <a:gd name="connsiteY2" fmla="*/ 0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752475">
                <a:moveTo>
                  <a:pt x="0" y="752475"/>
                </a:moveTo>
                <a:lnTo>
                  <a:pt x="400050" y="752475"/>
                </a:lnTo>
                <a:lnTo>
                  <a:pt x="400050" y="0"/>
                </a:ln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tailEnd type="triangl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Text Box 56"/>
          <p:cNvSpPr txBox="1">
            <a:spLocks noChangeArrowheads="1"/>
          </p:cNvSpPr>
          <p:nvPr/>
        </p:nvSpPr>
        <p:spPr bwMode="auto">
          <a:xfrm>
            <a:off x="3483011" y="4894243"/>
            <a:ext cx="370299" cy="14337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wrap="none" lIns="-1" tIns="-1" rIns="-1" bIns="-1" anchor="ctr"/>
          <a:lstStyle/>
          <a:p>
            <a:pPr defTabSz="995363" fontAlgn="auto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90000"/>
              <a:defRPr/>
            </a:pPr>
            <a:r>
              <a:rPr lang="ko-KR" altLang="en-US" sz="700" spc="-1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복구완료</a:t>
            </a:r>
            <a:endParaRPr lang="ko-KR" altLang="en-US" sz="7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aphicFrame>
        <p:nvGraphicFramePr>
          <p:cNvPr id="206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095824"/>
              </p:ext>
            </p:extLst>
          </p:nvPr>
        </p:nvGraphicFramePr>
        <p:xfrm>
          <a:off x="714096" y="6592057"/>
          <a:ext cx="6343784" cy="3399668"/>
        </p:xfrm>
        <a:graphic>
          <a:graphicData uri="http://schemas.openxmlformats.org/drawingml/2006/table">
            <a:tbl>
              <a:tblPr/>
              <a:tblGrid>
                <a:gridCol w="1269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9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93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백업 데이터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백업방법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보관주기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System File</a:t>
                      </a:r>
                      <a:b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</a:b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(SW Engine)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Internal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정기 점검 및 패치 전후 실시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3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개월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External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DB Data Full 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백업 시 실시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-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247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운영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Data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DB Data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kern="1200" spc="0" dirty="0" err="1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주단위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 </a:t>
                      </a: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Full 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백업 실시</a:t>
                      </a:r>
                      <a:endParaRPr kumimoji="1" lang="en-US" altLang="ko-KR" sz="1000" kern="1200" spc="0" dirty="0">
                        <a:ln>
                          <a:solidFill>
                            <a:srgbClr val="F78E3F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 pitchFamily="2" charset="2"/>
                      </a:endParaRPr>
                    </a:p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kern="1200" spc="0" dirty="0" err="1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일단위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 </a:t>
                      </a:r>
                      <a:r>
                        <a:rPr kumimoji="1" lang="en-US" altLang="ko-KR" sz="1000" kern="1200" spc="0" dirty="0" err="1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Incremnental</a:t>
                      </a: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 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백업실시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1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개월</a:t>
                      </a:r>
                      <a:endParaRPr kumimoji="1" lang="en-US" altLang="ko-KR" sz="1000" kern="1200" spc="0" dirty="0">
                        <a:ln>
                          <a:solidFill>
                            <a:srgbClr val="F78E3F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 pitchFamily="2" charset="2"/>
                      </a:endParaRPr>
                    </a:p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3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주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2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DB Log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일 단위 </a:t>
                      </a: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Incremental 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백업 실시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3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주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2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DB </a:t>
                      </a:r>
                      <a:r>
                        <a:rPr kumimoji="1" lang="en-US" altLang="ko-KR" sz="1000" b="1" kern="1200" spc="-7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Config</a:t>
                      </a: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 File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DB Data Full </a:t>
                      </a:r>
                      <a:r>
                        <a:rPr kumimoji="1" lang="ko-KR" altLang="en-US" sz="1000" kern="1200" spc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백업 시 실시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1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개월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2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File Data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일 단위 </a:t>
                      </a: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Incremental 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백업 실시</a:t>
                      </a:r>
                      <a:b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</a:b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주 단위 </a:t>
                      </a: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Full 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백업 실시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3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주</a:t>
                      </a:r>
                    </a:p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1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개월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2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응응프로그램</a:t>
                      </a:r>
                      <a:endParaRPr kumimoji="1" lang="ko-KR" altLang="en-US" sz="1000" b="1" kern="1200" spc="-7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  <a:sym typeface="Monotype Sorts" pitchFamily="2" charset="2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kern="1200" spc="0" dirty="0" err="1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주단위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 </a:t>
                      </a: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Full 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백업 실시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3175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>
                          <a:srgbClr val="26262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2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  <a:sym typeface="Monotype Sorts" pitchFamily="2" charset="2"/>
                        </a:rPr>
                        <a:t>개월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07" name="그룹 206"/>
          <p:cNvGrpSpPr/>
          <p:nvPr/>
        </p:nvGrpSpPr>
        <p:grpSpPr>
          <a:xfrm>
            <a:off x="6579629" y="6378228"/>
            <a:ext cx="630942" cy="336676"/>
            <a:chOff x="1817837" y="4750276"/>
            <a:chExt cx="1702974" cy="707242"/>
          </a:xfrm>
        </p:grpSpPr>
        <p:grpSp>
          <p:nvGrpSpPr>
            <p:cNvPr id="208" name="그룹 207"/>
            <p:cNvGrpSpPr/>
            <p:nvPr/>
          </p:nvGrpSpPr>
          <p:grpSpPr>
            <a:xfrm>
              <a:off x="1936130" y="4790544"/>
              <a:ext cx="1514386" cy="666974"/>
              <a:chOff x="959144" y="3715623"/>
              <a:chExt cx="829969" cy="365540"/>
            </a:xfrm>
          </p:grpSpPr>
          <p:sp>
            <p:nvSpPr>
              <p:cNvPr id="210" name="Freeform 115"/>
              <p:cNvSpPr>
                <a:spLocks/>
              </p:cNvSpPr>
              <p:nvPr/>
            </p:nvSpPr>
            <p:spPr bwMode="auto">
              <a:xfrm>
                <a:off x="1404057" y="3779397"/>
                <a:ext cx="385056" cy="301766"/>
              </a:xfrm>
              <a:custGeom>
                <a:avLst/>
                <a:gdLst>
                  <a:gd name="T0" fmla="*/ 0 w 564"/>
                  <a:gd name="T1" fmla="*/ 441 h 441"/>
                  <a:gd name="T2" fmla="*/ 564 w 564"/>
                  <a:gd name="T3" fmla="*/ 276 h 441"/>
                  <a:gd name="T4" fmla="*/ 564 w 564"/>
                  <a:gd name="T5" fmla="*/ 0 h 441"/>
                  <a:gd name="T6" fmla="*/ 0 w 564"/>
                  <a:gd name="T7" fmla="*/ 441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4" h="441">
                    <a:moveTo>
                      <a:pt x="0" y="441"/>
                    </a:moveTo>
                    <a:lnTo>
                      <a:pt x="564" y="276"/>
                    </a:lnTo>
                    <a:lnTo>
                      <a:pt x="564" y="0"/>
                    </a:lnTo>
                    <a:lnTo>
                      <a:pt x="0" y="441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211" name="Rectangle 116"/>
              <p:cNvSpPr>
                <a:spLocks noChangeArrowheads="1"/>
              </p:cNvSpPr>
              <p:nvPr/>
            </p:nvSpPr>
            <p:spPr bwMode="auto">
              <a:xfrm>
                <a:off x="959144" y="3715623"/>
                <a:ext cx="829968" cy="251559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</p:grpSp>
        <p:sp>
          <p:nvSpPr>
            <p:cNvPr id="209" name="직사각형 208"/>
            <p:cNvSpPr/>
            <p:nvPr/>
          </p:nvSpPr>
          <p:spPr>
            <a:xfrm>
              <a:off x="1817837" y="4750276"/>
              <a:ext cx="1702974" cy="4849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ko-KR" sz="900" b="1" spc="-7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SAMPLE</a:t>
              </a:r>
            </a:p>
          </p:txBody>
        </p:sp>
      </p:grpSp>
      <p:sp>
        <p:nvSpPr>
          <p:cNvPr id="212" name="Rectangle 3"/>
          <p:cNvSpPr txBox="1">
            <a:spLocks noChangeArrowheads="1"/>
          </p:cNvSpPr>
          <p:nvPr/>
        </p:nvSpPr>
        <p:spPr bwMode="auto">
          <a:xfrm>
            <a:off x="720873" y="1653552"/>
            <a:ext cx="6337006" cy="21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91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27138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5125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3663" eaLnBrk="1" fontAlgn="auto" latinLnBrk="0" hangingPunct="1">
              <a:spcBef>
                <a:spcPts val="300"/>
              </a:spcBef>
            </a:pPr>
            <a:r>
              <a:rPr lang="ko-KR" altLang="en-US" spc="-50" dirty="0" err="1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 </a:t>
            </a:r>
            <a:r>
              <a:rPr lang="ko-KR" altLang="en-US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분석모델모델 백업 및 복구 절차를 수립하여 장애발생 시 기존 백업데이터를 활용하여 복구를 수행하는 장애 대응책을 마련하고</a:t>
            </a:r>
            <a:r>
              <a:rPr lang="en-US" altLang="ko-KR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이의 구체화를 위하여 백업 </a:t>
            </a:r>
            <a:r>
              <a:rPr lang="ko-KR" altLang="en-US" spc="-50" dirty="0" err="1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데이터별</a:t>
            </a:r>
            <a:r>
              <a:rPr lang="ko-KR" altLang="en-US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세분화된 백업정책을 수립하겠습니다</a:t>
            </a:r>
            <a:r>
              <a:rPr lang="en-US" altLang="ko-KR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FA4E297-3A54-4527-A196-D9302F1014F7}"/>
              </a:ext>
            </a:extLst>
          </p:cNvPr>
          <p:cNvSpPr txBox="1"/>
          <p:nvPr/>
        </p:nvSpPr>
        <p:spPr>
          <a:xfrm>
            <a:off x="4427280" y="1011951"/>
            <a:ext cx="2664840" cy="225935"/>
          </a:xfrm>
          <a:prstGeom prst="rect">
            <a:avLst/>
          </a:prstGeom>
          <a:noFill/>
        </p:spPr>
        <p:txBody>
          <a:bodyPr wrap="square" lIns="101829" tIns="50915" rIns="101829" bIns="50915" rtlCol="0" anchor="t">
            <a:spAutoFit/>
          </a:bodyPr>
          <a:lstStyle/>
          <a:p>
            <a:pPr algn="r" defTabSz="913663" fontAlgn="base" latinLnBrk="0">
              <a:spcBef>
                <a:spcPts val="200"/>
              </a:spcBef>
              <a:spcAft>
                <a:spcPct val="0"/>
              </a:spcAft>
            </a:pPr>
            <a:r>
              <a:rPr kumimoji="1" lang="en-US" altLang="ko-KR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3.5 </a:t>
            </a:r>
            <a:r>
              <a:rPr kumimoji="1" lang="ko-KR" altLang="en-US" sz="800" spc="-50" dirty="0" err="1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분석지원</a:t>
            </a:r>
            <a:r>
              <a:rPr kumimoji="1" lang="ko-KR" altLang="en-US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방안</a:t>
            </a:r>
          </a:p>
        </p:txBody>
      </p:sp>
    </p:spTree>
    <p:extLst>
      <p:ext uri="{BB962C8B-B14F-4D97-AF65-F5344CB8AC3E}">
        <p14:creationId xmlns:p14="http://schemas.microsoft.com/office/powerpoint/2010/main" val="1098753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20873" y="135116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3.6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사용자 교육지원 방안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48623" y="2322302"/>
            <a:ext cx="6352126" cy="955501"/>
            <a:chOff x="739443" y="2511422"/>
            <a:chExt cx="6350829" cy="775368"/>
          </a:xfrm>
        </p:grpSpPr>
        <p:grpSp>
          <p:nvGrpSpPr>
            <p:cNvPr id="4" name="그룹 3"/>
            <p:cNvGrpSpPr/>
            <p:nvPr/>
          </p:nvGrpSpPr>
          <p:grpSpPr>
            <a:xfrm>
              <a:off x="739443" y="2511422"/>
              <a:ext cx="6350829" cy="775368"/>
              <a:chOff x="9427" y="3100822"/>
              <a:chExt cx="7057102" cy="775368"/>
            </a:xfrm>
          </p:grpSpPr>
          <p:sp>
            <p:nvSpPr>
              <p:cNvPr id="6" name="한쪽 모서리가 잘린 사각형 5"/>
              <p:cNvSpPr/>
              <p:nvPr/>
            </p:nvSpPr>
            <p:spPr bwMode="auto">
              <a:xfrm flipV="1">
                <a:off x="1268423" y="3100822"/>
                <a:ext cx="5761993" cy="774188"/>
              </a:xfrm>
              <a:prstGeom prst="snip1Rect">
                <a:avLst>
                  <a:gd name="adj" fmla="val 0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grpSp>
            <p:nvGrpSpPr>
              <p:cNvPr id="7" name="그룹 6"/>
              <p:cNvGrpSpPr/>
              <p:nvPr/>
            </p:nvGrpSpPr>
            <p:grpSpPr>
              <a:xfrm>
                <a:off x="509377" y="3493141"/>
                <a:ext cx="919328" cy="358934"/>
                <a:chOff x="3633586" y="1875938"/>
                <a:chExt cx="919328" cy="358934"/>
              </a:xfrm>
            </p:grpSpPr>
            <p:sp>
              <p:nvSpPr>
                <p:cNvPr id="12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633586" y="2019428"/>
                  <a:ext cx="919328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defTabSz="914031" eaLnBrk="1" latinLnBrk="0" hangingPunct="1">
                    <a:spcAft>
                      <a:spcPct val="0"/>
                    </a:spcAft>
                  </a:pPr>
                  <a:r>
                    <a:rPr lang="en-US" altLang="ko-KR" sz="1400" b="1" spc="-150" dirty="0">
                      <a:ln w="0"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1A0DD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Message</a:t>
                  </a:r>
                </a:p>
              </p:txBody>
            </p:sp>
            <p:sp>
              <p:nvSpPr>
                <p:cNvPr id="13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651479" y="1875938"/>
                  <a:ext cx="478673" cy="169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defTabSz="914031" eaLnBrk="1" latinLnBrk="0" hangingPunct="1">
                    <a:spcAft>
                      <a:spcPct val="0"/>
                    </a:spcAft>
                  </a:pPr>
                  <a:r>
                    <a:rPr lang="en-US" altLang="ko-KR" sz="1100" b="1" spc="-150" dirty="0">
                      <a:ln w="0"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1A0DD"/>
                      </a:solidFill>
                      <a:latin typeface="HY신명조" panose="02030600000101010101" pitchFamily="18" charset="-127"/>
                      <a:ea typeface="HY신명조" panose="02030600000101010101" pitchFamily="18" charset="-127"/>
                    </a:rPr>
                    <a:t>Key</a:t>
                  </a:r>
                </a:p>
              </p:txBody>
            </p:sp>
          </p:grpSp>
          <p:cxnSp>
            <p:nvCxnSpPr>
              <p:cNvPr id="8" name="직선 연결선 7"/>
              <p:cNvCxnSpPr/>
              <p:nvPr/>
            </p:nvCxnSpPr>
            <p:spPr>
              <a:xfrm>
                <a:off x="9427" y="3870193"/>
                <a:ext cx="1225484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1483749" y="3299430"/>
                <a:ext cx="5454184" cy="3059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10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분석 요원 모의논리</a:t>
                </a:r>
                <a:r>
                  <a:rPr lang="en-US" altLang="ko-KR" sz="1100" b="1" spc="-10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10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사용법 교육</a:t>
                </a: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100" dirty="0" err="1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신규운용자</a:t>
                </a:r>
                <a:r>
                  <a:rPr lang="en-US" altLang="ko-KR" sz="1100" b="1" spc="-10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10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외부인원에 대한 모델 소개교육</a:t>
                </a:r>
              </a:p>
            </p:txBody>
          </p:sp>
          <p:sp>
            <p:nvSpPr>
              <p:cNvPr id="10" name="직각 삼각형 9"/>
              <p:cNvSpPr/>
              <p:nvPr/>
            </p:nvSpPr>
            <p:spPr bwMode="auto">
              <a:xfrm rot="10800000" flipV="1">
                <a:off x="6704974" y="3479085"/>
                <a:ext cx="361555" cy="397105"/>
              </a:xfrm>
              <a:prstGeom prst="rtTriangl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cxnSp>
            <p:nvCxnSpPr>
              <p:cNvPr id="11" name="직선 연결선 10"/>
              <p:cNvCxnSpPr/>
              <p:nvPr/>
            </p:nvCxnSpPr>
            <p:spPr>
              <a:xfrm>
                <a:off x="9427" y="3114242"/>
                <a:ext cx="1225485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533" y="2558620"/>
              <a:ext cx="431054" cy="345121"/>
            </a:xfrm>
            <a:prstGeom prst="rect">
              <a:avLst/>
            </a:prstGeom>
          </p:spPr>
        </p:pic>
      </p:grpSp>
      <p:grpSp>
        <p:nvGrpSpPr>
          <p:cNvPr id="14" name="그룹 13"/>
          <p:cNvGrpSpPr/>
          <p:nvPr/>
        </p:nvGrpSpPr>
        <p:grpSpPr>
          <a:xfrm>
            <a:off x="762007" y="3521127"/>
            <a:ext cx="6331562" cy="169327"/>
            <a:chOff x="761696" y="5435378"/>
            <a:chExt cx="6328976" cy="169277"/>
          </a:xfrm>
        </p:grpSpPr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754" eaLnBrk="1" latinLnBrk="0" hangingPunct="1">
                <a:spcBef>
                  <a:spcPts val="500"/>
                </a:spcBef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교육지원 기본 방침</a:t>
              </a:r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17" name="타원 16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13754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18" name="Picture 132" descr="ㅇ"/>
              <p:cNvPicPr>
                <a:picLocks noChangeAspect="1" noChangeArrowheads="1"/>
              </p:cNvPicPr>
              <p:nvPr/>
            </p:nvPicPr>
            <p:blipFill>
              <a:blip r:embed="rId3" cstate="print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19" name="그룹 18"/>
          <p:cNvGrpSpPr/>
          <p:nvPr/>
        </p:nvGrpSpPr>
        <p:grpSpPr>
          <a:xfrm>
            <a:off x="762007" y="6390754"/>
            <a:ext cx="6331562" cy="169327"/>
            <a:chOff x="761696" y="5435378"/>
            <a:chExt cx="6328976" cy="169277"/>
          </a:xfrm>
        </p:grpSpPr>
        <p:sp>
          <p:nvSpPr>
            <p:cNvPr id="20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754" eaLnBrk="1" latinLnBrk="0" hangingPunct="1">
                <a:spcBef>
                  <a:spcPts val="500"/>
                </a:spcBef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사용자 교육지원 수행 방안</a:t>
              </a: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22" name="타원 21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13754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23" name="Picture 132" descr="ㅇ"/>
              <p:cNvPicPr>
                <a:picLocks noChangeAspect="1" noChangeArrowheads="1"/>
              </p:cNvPicPr>
              <p:nvPr/>
            </p:nvPicPr>
            <p:blipFill>
              <a:blip r:embed="rId3" cstate="print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4" name="그룹 23"/>
          <p:cNvGrpSpPr/>
          <p:nvPr/>
        </p:nvGrpSpPr>
        <p:grpSpPr>
          <a:xfrm>
            <a:off x="719138" y="3843369"/>
            <a:ext cx="6337300" cy="2217666"/>
            <a:chOff x="719138" y="3673939"/>
            <a:chExt cx="6337300" cy="2217666"/>
          </a:xfrm>
        </p:grpSpPr>
        <p:sp>
          <p:nvSpPr>
            <p:cNvPr id="25" name="AutoShape 69"/>
            <p:cNvSpPr>
              <a:spLocks noChangeArrowheads="1"/>
            </p:cNvSpPr>
            <p:nvPr/>
          </p:nvSpPr>
          <p:spPr bwMode="auto">
            <a:xfrm flipV="1">
              <a:off x="719138" y="3677605"/>
              <a:ext cx="3090817" cy="2214000"/>
            </a:xfrm>
            <a:prstGeom prst="round2SameRect">
              <a:avLst>
                <a:gd name="adj1" fmla="val 5688"/>
                <a:gd name="adj2" fmla="val 0"/>
              </a:avLst>
            </a:prstGeom>
            <a:solidFill>
              <a:srgbClr val="EAEAEA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AutoShape 73"/>
            <p:cNvSpPr>
              <a:spLocks noChangeArrowheads="1"/>
            </p:cNvSpPr>
            <p:nvPr/>
          </p:nvSpPr>
          <p:spPr bwMode="auto">
            <a:xfrm flipV="1">
              <a:off x="3965621" y="3673939"/>
              <a:ext cx="3090817" cy="2214000"/>
            </a:xfrm>
            <a:prstGeom prst="round2SameRect">
              <a:avLst>
                <a:gd name="adj1" fmla="val 8433"/>
                <a:gd name="adj2" fmla="val 0"/>
              </a:avLst>
            </a:prstGeom>
            <a:solidFill>
              <a:srgbClr val="EAEAEA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AutoShape 70"/>
            <p:cNvSpPr>
              <a:spLocks noChangeArrowheads="1"/>
            </p:cNvSpPr>
            <p:nvPr/>
          </p:nvSpPr>
          <p:spPr bwMode="auto">
            <a:xfrm>
              <a:off x="752896" y="3708399"/>
              <a:ext cx="3023300" cy="116879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AutoShape 74"/>
            <p:cNvSpPr>
              <a:spLocks noChangeArrowheads="1"/>
            </p:cNvSpPr>
            <p:nvPr/>
          </p:nvSpPr>
          <p:spPr bwMode="auto">
            <a:xfrm>
              <a:off x="3999379" y="3707194"/>
              <a:ext cx="3023300" cy="117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Text Box 33"/>
            <p:cNvSpPr txBox="1">
              <a:spLocks noChangeArrowheads="1"/>
            </p:cNvSpPr>
            <p:nvPr/>
          </p:nvSpPr>
          <p:spPr bwMode="auto">
            <a:xfrm>
              <a:off x="4078152" y="4949515"/>
              <a:ext cx="2807616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68249" lvl="0" indent="-68249" defTabSz="652332" fontAlgn="base" latinLnBrk="0">
                <a:spcAft>
                  <a:spcPts val="300"/>
                </a:spcAft>
                <a:buClr>
                  <a:prstClr val="black">
                    <a:lumMod val="65000"/>
                    <a:lumOff val="35000"/>
                  </a:prstClr>
                </a:buClr>
                <a:buSzPct val="80000"/>
                <a:buFontTx/>
                <a:buChar char="•"/>
                <a:defRPr kumimoji="1" sz="1000" spc="-10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pPr>
                <a:spcAft>
                  <a:spcPts val="400"/>
                </a:spcAft>
              </a:pPr>
              <a:r>
                <a:rPr lang="ko-KR" altLang="en-US" dirty="0" err="1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신규운용자</a:t>
              </a:r>
              <a:r>
                <a:rPr lang="ko-KR" alt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교육</a:t>
              </a:r>
              <a:endPara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  <a:p>
              <a:pPr>
                <a:spcAft>
                  <a:spcPts val="400"/>
                </a:spcAft>
              </a:pPr>
              <a:r>
                <a:rPr lang="ko-KR" alt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관련기관 및 외부인사에 대한 모델 홍보</a:t>
              </a:r>
              <a:endPara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  <p:sp>
          <p:nvSpPr>
            <p:cNvPr id="30" name="Text Box 39"/>
            <p:cNvSpPr txBox="1">
              <a:spLocks noChangeArrowheads="1"/>
            </p:cNvSpPr>
            <p:nvPr/>
          </p:nvSpPr>
          <p:spPr bwMode="auto">
            <a:xfrm>
              <a:off x="844797" y="4949515"/>
              <a:ext cx="2807616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68249" lvl="0" indent="-68249" defTabSz="652332" fontAlgn="base" latinLnBrk="0">
                <a:spcAft>
                  <a:spcPts val="300"/>
                </a:spcAft>
                <a:buClr>
                  <a:prstClr val="black">
                    <a:lumMod val="65000"/>
                    <a:lumOff val="35000"/>
                  </a:prstClr>
                </a:buClr>
                <a:buSzPct val="80000"/>
                <a:buFontTx/>
                <a:buChar char="•"/>
                <a:defRPr kumimoji="1" sz="1000" spc="-10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defRPr>
              </a:lvl1pPr>
            </a:lstStyle>
            <a:p>
              <a:pPr>
                <a:spcAft>
                  <a:spcPts val="400"/>
                </a:spcAft>
              </a:pPr>
              <a:r>
                <a:rPr lang="en-US" altLang="ko-KR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C4ISR </a:t>
              </a:r>
              <a:r>
                <a:rPr lang="ko-KR" alt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모델 모의논리에 대한 지식을 사전 습득</a:t>
              </a:r>
              <a:endPara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  <a:p>
              <a:pPr>
                <a:spcAft>
                  <a:spcPts val="400"/>
                </a:spcAft>
              </a:pPr>
              <a:r>
                <a:rPr lang="ko-KR" alt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모델 조작 방법 교육</a:t>
              </a:r>
              <a:endPara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  <a:p>
              <a:pPr>
                <a:spcAft>
                  <a:spcPts val="400"/>
                </a:spcAft>
              </a:pPr>
              <a:r>
                <a:rPr lang="ko-KR" alt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실습 위주의 교육</a:t>
              </a:r>
              <a:r>
                <a:rPr lang="en-US" altLang="ko-KR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</a:t>
              </a:r>
              <a:r>
                <a:rPr lang="ko-KR" alt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실시</a:t>
              </a:r>
              <a:endParaRPr lang="en-US" altLang="ko-KR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  <a:p>
              <a:pPr>
                <a:spcAft>
                  <a:spcPts val="400"/>
                </a:spcAft>
              </a:pPr>
              <a:r>
                <a:rPr lang="ko-KR" altLang="en-US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개발인력에 의한 교육 실시</a:t>
              </a:r>
            </a:p>
          </p:txBody>
        </p:sp>
        <p:sp>
          <p:nvSpPr>
            <p:cNvPr id="31" name="Text Box 70"/>
            <p:cNvSpPr txBox="1">
              <a:spLocks noChangeArrowheads="1"/>
            </p:cNvSpPr>
            <p:nvPr/>
          </p:nvSpPr>
          <p:spPr bwMode="auto">
            <a:xfrm>
              <a:off x="5610431" y="4055376"/>
              <a:ext cx="1318474" cy="5121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rgbClr val="708688"/>
              </a:prstShdw>
            </a:effectLst>
          </p:spPr>
          <p:txBody>
            <a:bodyPr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ctr" defTabSz="1111250" latinLnBrk="0">
                <a:lnSpc>
                  <a:spcPct val="120000"/>
                </a:lnSpc>
              </a:pPr>
              <a:r>
                <a:rPr lang="ko-KR" altLang="en-US" sz="1000" b="1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모델 소개교육 실시</a:t>
              </a:r>
              <a:endParaRPr lang="en-US" altLang="ko-KR" sz="1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2" name="Text Box 69"/>
            <p:cNvSpPr txBox="1">
              <a:spLocks noChangeArrowheads="1"/>
            </p:cNvSpPr>
            <p:nvPr/>
          </p:nvSpPr>
          <p:spPr bwMode="auto">
            <a:xfrm>
              <a:off x="2416457" y="4025600"/>
              <a:ext cx="1269718" cy="571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rgbClr val="708688"/>
              </a:prstShdw>
            </a:effectLst>
          </p:spPr>
          <p:txBody>
            <a:bodyPr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ctr" defTabSz="1111250" latinLnBrk="0">
                <a:lnSpc>
                  <a:spcPct val="120000"/>
                </a:lnSpc>
              </a:pPr>
              <a:r>
                <a:rPr lang="ko-KR" altLang="en-US" sz="1000" b="1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분석 요원에 대한</a:t>
              </a:r>
              <a:endParaRPr lang="en-US" altLang="ko-KR" sz="1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algn="ctr" defTabSz="1111250" latinLnBrk="0">
                <a:lnSpc>
                  <a:spcPct val="120000"/>
                </a:lnSpc>
              </a:pPr>
              <a:r>
                <a:rPr lang="ko-KR" altLang="en-US" sz="1000" b="1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현장교육 실시</a:t>
              </a:r>
            </a:p>
          </p:txBody>
        </p:sp>
        <p:sp>
          <p:nvSpPr>
            <p:cNvPr id="33" name="자유형 32"/>
            <p:cNvSpPr/>
            <p:nvPr/>
          </p:nvSpPr>
          <p:spPr>
            <a:xfrm flipH="1">
              <a:off x="2177343" y="3781512"/>
              <a:ext cx="157018" cy="152400"/>
            </a:xfrm>
            <a:custGeom>
              <a:avLst/>
              <a:gdLst>
                <a:gd name="connsiteX0" fmla="*/ 215900 w 215900"/>
                <a:gd name="connsiteY0" fmla="*/ 0 h 209550"/>
                <a:gd name="connsiteX1" fmla="*/ 0 w 215900"/>
                <a:gd name="connsiteY1" fmla="*/ 0 h 209550"/>
                <a:gd name="connsiteX2" fmla="*/ 0 w 215900"/>
                <a:gd name="connsiteY2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900" h="209550">
                  <a:moveTo>
                    <a:pt x="215900" y="0"/>
                  </a:moveTo>
                  <a:lnTo>
                    <a:pt x="0" y="0"/>
                  </a:lnTo>
                  <a:lnTo>
                    <a:pt x="0" y="209550"/>
                  </a:lnTo>
                </a:path>
              </a:pathLst>
            </a:custGeom>
            <a:solidFill>
              <a:schemeClr val="bg1"/>
            </a:solidFill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pic>
          <p:nvPicPr>
            <p:cNvPr id="34" name="Picture 2" descr="http://cfile25.uf.tistory.com/image/150858494FBA526E0A764B"/>
            <p:cNvPicPr>
              <a:picLocks noChangeAspect="1" noChangeArrowheads="1"/>
            </p:cNvPicPr>
            <p:nvPr/>
          </p:nvPicPr>
          <p:blipFill>
            <a:blip r:embed="rId5" cstate="print"/>
            <a:srcRect l="6349" b="10714"/>
            <a:stretch>
              <a:fillRect/>
            </a:stretch>
          </p:blipFill>
          <p:spPr bwMode="auto">
            <a:xfrm>
              <a:off x="900917" y="3828740"/>
              <a:ext cx="1391355" cy="936000"/>
            </a:xfrm>
            <a:prstGeom prst="rect">
              <a:avLst/>
            </a:prstGeom>
            <a:blipFill dpi="0" rotWithShape="1">
              <a:blip r:embed="rId6" cstate="print"/>
              <a:srcRect/>
              <a:stretch>
                <a:fillRect/>
              </a:stretch>
            </a:blip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</p:pic>
        <p:sp>
          <p:nvSpPr>
            <p:cNvPr id="35" name="자유형 34"/>
            <p:cNvSpPr/>
            <p:nvPr/>
          </p:nvSpPr>
          <p:spPr>
            <a:xfrm flipH="1">
              <a:off x="5391224" y="3781512"/>
              <a:ext cx="157018" cy="152400"/>
            </a:xfrm>
            <a:custGeom>
              <a:avLst/>
              <a:gdLst>
                <a:gd name="connsiteX0" fmla="*/ 215900 w 215900"/>
                <a:gd name="connsiteY0" fmla="*/ 0 h 209550"/>
                <a:gd name="connsiteX1" fmla="*/ 0 w 215900"/>
                <a:gd name="connsiteY1" fmla="*/ 0 h 209550"/>
                <a:gd name="connsiteX2" fmla="*/ 0 w 215900"/>
                <a:gd name="connsiteY2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900" h="209550">
                  <a:moveTo>
                    <a:pt x="215900" y="0"/>
                  </a:moveTo>
                  <a:lnTo>
                    <a:pt x="0" y="0"/>
                  </a:lnTo>
                  <a:lnTo>
                    <a:pt x="0" y="209550"/>
                  </a:lnTo>
                </a:path>
              </a:pathLst>
            </a:custGeom>
            <a:solidFill>
              <a:schemeClr val="bg1"/>
            </a:solidFill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pic>
          <p:nvPicPr>
            <p:cNvPr id="36" name="Picture 4" descr="http://www.ddd3.co.kr/bbs/data/news_board02/1_002.jpg"/>
            <p:cNvPicPr>
              <a:picLocks noChangeAspect="1" noChangeArrowheads="1"/>
            </p:cNvPicPr>
            <p:nvPr/>
          </p:nvPicPr>
          <p:blipFill>
            <a:blip r:embed="rId7" cstate="print"/>
            <a:srcRect t="28332" r="24779" b="11462"/>
            <a:stretch>
              <a:fillRect/>
            </a:stretch>
          </p:blipFill>
          <p:spPr bwMode="auto">
            <a:xfrm>
              <a:off x="4114577" y="3828740"/>
              <a:ext cx="1384523" cy="936000"/>
            </a:xfrm>
            <a:prstGeom prst="rect">
              <a:avLst/>
            </a:prstGeom>
            <a:blipFill dpi="0" rotWithShape="1">
              <a:blip r:embed="rId6" cstate="print"/>
              <a:srcRect/>
              <a:stretch>
                <a:fillRect/>
              </a:stretch>
            </a:blip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</p:pic>
      </p:grpSp>
      <p:grpSp>
        <p:nvGrpSpPr>
          <p:cNvPr id="37" name="그룹 36"/>
          <p:cNvGrpSpPr/>
          <p:nvPr/>
        </p:nvGrpSpPr>
        <p:grpSpPr>
          <a:xfrm>
            <a:off x="6375259" y="5534540"/>
            <a:ext cx="562771" cy="568182"/>
            <a:chOff x="5118100" y="6043613"/>
            <a:chExt cx="660400" cy="666750"/>
          </a:xfrm>
          <a:solidFill>
            <a:schemeClr val="bg1"/>
          </a:solidFill>
        </p:grpSpPr>
        <p:sp>
          <p:nvSpPr>
            <p:cNvPr id="38" name="Freeform 56"/>
            <p:cNvSpPr>
              <a:spLocks/>
            </p:cNvSpPr>
            <p:nvPr/>
          </p:nvSpPr>
          <p:spPr bwMode="auto">
            <a:xfrm>
              <a:off x="5118100" y="6129338"/>
              <a:ext cx="488950" cy="574675"/>
            </a:xfrm>
            <a:custGeom>
              <a:avLst/>
              <a:gdLst>
                <a:gd name="T0" fmla="*/ 212 w 308"/>
                <a:gd name="T1" fmla="*/ 88 h 362"/>
                <a:gd name="T2" fmla="*/ 223 w 308"/>
                <a:gd name="T3" fmla="*/ 81 h 362"/>
                <a:gd name="T4" fmla="*/ 223 w 308"/>
                <a:gd name="T5" fmla="*/ 81 h 362"/>
                <a:gd name="T6" fmla="*/ 227 w 308"/>
                <a:gd name="T7" fmla="*/ 72 h 362"/>
                <a:gd name="T8" fmla="*/ 226 w 308"/>
                <a:gd name="T9" fmla="*/ 62 h 362"/>
                <a:gd name="T10" fmla="*/ 305 w 308"/>
                <a:gd name="T11" fmla="*/ 0 h 362"/>
                <a:gd name="T12" fmla="*/ 221 w 308"/>
                <a:gd name="T13" fmla="*/ 56 h 362"/>
                <a:gd name="T14" fmla="*/ 212 w 308"/>
                <a:gd name="T15" fmla="*/ 53 h 362"/>
                <a:gd name="T16" fmla="*/ 206 w 308"/>
                <a:gd name="T17" fmla="*/ 55 h 362"/>
                <a:gd name="T18" fmla="*/ 200 w 308"/>
                <a:gd name="T19" fmla="*/ 58 h 362"/>
                <a:gd name="T20" fmla="*/ 197 w 308"/>
                <a:gd name="T21" fmla="*/ 59 h 362"/>
                <a:gd name="T22" fmla="*/ 178 w 308"/>
                <a:gd name="T23" fmla="*/ 67 h 362"/>
                <a:gd name="T24" fmla="*/ 177 w 308"/>
                <a:gd name="T25" fmla="*/ 59 h 362"/>
                <a:gd name="T26" fmla="*/ 171 w 308"/>
                <a:gd name="T27" fmla="*/ 49 h 362"/>
                <a:gd name="T28" fmla="*/ 160 w 308"/>
                <a:gd name="T29" fmla="*/ 36 h 362"/>
                <a:gd name="T30" fmla="*/ 142 w 308"/>
                <a:gd name="T31" fmla="*/ 27 h 362"/>
                <a:gd name="T32" fmla="*/ 126 w 308"/>
                <a:gd name="T33" fmla="*/ 26 h 362"/>
                <a:gd name="T34" fmla="*/ 88 w 308"/>
                <a:gd name="T35" fmla="*/ 55 h 362"/>
                <a:gd name="T36" fmla="*/ 51 w 308"/>
                <a:gd name="T37" fmla="*/ 26 h 362"/>
                <a:gd name="T38" fmla="*/ 42 w 308"/>
                <a:gd name="T39" fmla="*/ 26 h 362"/>
                <a:gd name="T40" fmla="*/ 27 w 308"/>
                <a:gd name="T41" fmla="*/ 30 h 362"/>
                <a:gd name="T42" fmla="*/ 12 w 308"/>
                <a:gd name="T43" fmla="*/ 39 h 362"/>
                <a:gd name="T44" fmla="*/ 3 w 308"/>
                <a:gd name="T45" fmla="*/ 55 h 362"/>
                <a:gd name="T46" fmla="*/ 1 w 308"/>
                <a:gd name="T47" fmla="*/ 67 h 362"/>
                <a:gd name="T48" fmla="*/ 0 w 308"/>
                <a:gd name="T49" fmla="*/ 160 h 362"/>
                <a:gd name="T50" fmla="*/ 0 w 308"/>
                <a:gd name="T51" fmla="*/ 160 h 362"/>
                <a:gd name="T52" fmla="*/ 0 w 308"/>
                <a:gd name="T53" fmla="*/ 168 h 362"/>
                <a:gd name="T54" fmla="*/ 9 w 308"/>
                <a:gd name="T55" fmla="*/ 175 h 362"/>
                <a:gd name="T56" fmla="*/ 15 w 308"/>
                <a:gd name="T57" fmla="*/ 177 h 362"/>
                <a:gd name="T58" fmla="*/ 26 w 308"/>
                <a:gd name="T59" fmla="*/ 172 h 362"/>
                <a:gd name="T60" fmla="*/ 30 w 308"/>
                <a:gd name="T61" fmla="*/ 160 h 362"/>
                <a:gd name="T62" fmla="*/ 30 w 308"/>
                <a:gd name="T63" fmla="*/ 160 h 362"/>
                <a:gd name="T64" fmla="*/ 32 w 308"/>
                <a:gd name="T65" fmla="*/ 75 h 362"/>
                <a:gd name="T66" fmla="*/ 41 w 308"/>
                <a:gd name="T67" fmla="*/ 345 h 362"/>
                <a:gd name="T68" fmla="*/ 41 w 308"/>
                <a:gd name="T69" fmla="*/ 349 h 362"/>
                <a:gd name="T70" fmla="*/ 45 w 308"/>
                <a:gd name="T71" fmla="*/ 359 h 362"/>
                <a:gd name="T72" fmla="*/ 76 w 308"/>
                <a:gd name="T73" fmla="*/ 362 h 362"/>
                <a:gd name="T74" fmla="*/ 84 w 308"/>
                <a:gd name="T75" fmla="*/ 354 h 362"/>
                <a:gd name="T76" fmla="*/ 87 w 308"/>
                <a:gd name="T77" fmla="*/ 345 h 362"/>
                <a:gd name="T78" fmla="*/ 93 w 308"/>
                <a:gd name="T79" fmla="*/ 172 h 362"/>
                <a:gd name="T80" fmla="*/ 93 w 308"/>
                <a:gd name="T81" fmla="*/ 345 h 362"/>
                <a:gd name="T82" fmla="*/ 94 w 308"/>
                <a:gd name="T83" fmla="*/ 349 h 362"/>
                <a:gd name="T84" fmla="*/ 99 w 308"/>
                <a:gd name="T85" fmla="*/ 359 h 362"/>
                <a:gd name="T86" fmla="*/ 128 w 308"/>
                <a:gd name="T87" fmla="*/ 362 h 362"/>
                <a:gd name="T88" fmla="*/ 131 w 308"/>
                <a:gd name="T89" fmla="*/ 359 h 362"/>
                <a:gd name="T90" fmla="*/ 135 w 308"/>
                <a:gd name="T91" fmla="*/ 349 h 362"/>
                <a:gd name="T92" fmla="*/ 135 w 308"/>
                <a:gd name="T93" fmla="*/ 75 h 362"/>
                <a:gd name="T94" fmla="*/ 148 w 308"/>
                <a:gd name="T95" fmla="*/ 102 h 362"/>
                <a:gd name="T96" fmla="*/ 148 w 308"/>
                <a:gd name="T97" fmla="*/ 102 h 362"/>
                <a:gd name="T98" fmla="*/ 149 w 308"/>
                <a:gd name="T99" fmla="*/ 108 h 362"/>
                <a:gd name="T100" fmla="*/ 157 w 308"/>
                <a:gd name="T101" fmla="*/ 117 h 362"/>
                <a:gd name="T102" fmla="*/ 163 w 308"/>
                <a:gd name="T103" fmla="*/ 117 h 362"/>
                <a:gd name="T104" fmla="*/ 169 w 308"/>
                <a:gd name="T105" fmla="*/ 116 h 362"/>
                <a:gd name="T106" fmla="*/ 197 w 308"/>
                <a:gd name="T107" fmla="*/ 9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08" h="362">
                  <a:moveTo>
                    <a:pt x="197" y="97"/>
                  </a:moveTo>
                  <a:lnTo>
                    <a:pt x="212" y="88"/>
                  </a:lnTo>
                  <a:lnTo>
                    <a:pt x="223" y="81"/>
                  </a:lnTo>
                  <a:lnTo>
                    <a:pt x="223" y="81"/>
                  </a:lnTo>
                  <a:lnTo>
                    <a:pt x="223" y="81"/>
                  </a:lnTo>
                  <a:lnTo>
                    <a:pt x="223" y="81"/>
                  </a:lnTo>
                  <a:lnTo>
                    <a:pt x="226" y="76"/>
                  </a:lnTo>
                  <a:lnTo>
                    <a:pt x="227" y="72"/>
                  </a:lnTo>
                  <a:lnTo>
                    <a:pt x="227" y="67"/>
                  </a:lnTo>
                  <a:lnTo>
                    <a:pt x="226" y="62"/>
                  </a:lnTo>
                  <a:lnTo>
                    <a:pt x="308" y="6"/>
                  </a:lnTo>
                  <a:lnTo>
                    <a:pt x="305" y="0"/>
                  </a:lnTo>
                  <a:lnTo>
                    <a:pt x="221" y="56"/>
                  </a:lnTo>
                  <a:lnTo>
                    <a:pt x="221" y="56"/>
                  </a:lnTo>
                  <a:lnTo>
                    <a:pt x="216" y="55"/>
                  </a:lnTo>
                  <a:lnTo>
                    <a:pt x="212" y="53"/>
                  </a:lnTo>
                  <a:lnTo>
                    <a:pt x="212" y="53"/>
                  </a:lnTo>
                  <a:lnTo>
                    <a:pt x="206" y="55"/>
                  </a:lnTo>
                  <a:lnTo>
                    <a:pt x="200" y="58"/>
                  </a:lnTo>
                  <a:lnTo>
                    <a:pt x="200" y="58"/>
                  </a:lnTo>
                  <a:lnTo>
                    <a:pt x="200" y="58"/>
                  </a:lnTo>
                  <a:lnTo>
                    <a:pt x="197" y="59"/>
                  </a:lnTo>
                  <a:lnTo>
                    <a:pt x="178" y="73"/>
                  </a:lnTo>
                  <a:lnTo>
                    <a:pt x="178" y="67"/>
                  </a:lnTo>
                  <a:lnTo>
                    <a:pt x="178" y="67"/>
                  </a:lnTo>
                  <a:lnTo>
                    <a:pt x="177" y="59"/>
                  </a:lnTo>
                  <a:lnTo>
                    <a:pt x="174" y="53"/>
                  </a:lnTo>
                  <a:lnTo>
                    <a:pt x="171" y="49"/>
                  </a:lnTo>
                  <a:lnTo>
                    <a:pt x="168" y="43"/>
                  </a:lnTo>
                  <a:lnTo>
                    <a:pt x="160" y="36"/>
                  </a:lnTo>
                  <a:lnTo>
                    <a:pt x="151" y="30"/>
                  </a:lnTo>
                  <a:lnTo>
                    <a:pt x="142" y="27"/>
                  </a:lnTo>
                  <a:lnTo>
                    <a:pt x="134" y="26"/>
                  </a:lnTo>
                  <a:lnTo>
                    <a:pt x="126" y="26"/>
                  </a:lnTo>
                  <a:lnTo>
                    <a:pt x="106" y="26"/>
                  </a:lnTo>
                  <a:lnTo>
                    <a:pt x="88" y="55"/>
                  </a:lnTo>
                  <a:lnTo>
                    <a:pt x="71" y="26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2" y="26"/>
                  </a:lnTo>
                  <a:lnTo>
                    <a:pt x="33" y="27"/>
                  </a:lnTo>
                  <a:lnTo>
                    <a:pt x="27" y="30"/>
                  </a:lnTo>
                  <a:lnTo>
                    <a:pt x="21" y="32"/>
                  </a:lnTo>
                  <a:lnTo>
                    <a:pt x="12" y="39"/>
                  </a:lnTo>
                  <a:lnTo>
                    <a:pt x="6" y="47"/>
                  </a:lnTo>
                  <a:lnTo>
                    <a:pt x="3" y="55"/>
                  </a:lnTo>
                  <a:lnTo>
                    <a:pt x="1" y="61"/>
                  </a:lnTo>
                  <a:lnTo>
                    <a:pt x="1" y="67"/>
                  </a:lnTo>
                  <a:lnTo>
                    <a:pt x="1" y="160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68"/>
                  </a:lnTo>
                  <a:lnTo>
                    <a:pt x="4" y="172"/>
                  </a:lnTo>
                  <a:lnTo>
                    <a:pt x="9" y="175"/>
                  </a:lnTo>
                  <a:lnTo>
                    <a:pt x="15" y="177"/>
                  </a:lnTo>
                  <a:lnTo>
                    <a:pt x="15" y="177"/>
                  </a:lnTo>
                  <a:lnTo>
                    <a:pt x="21" y="175"/>
                  </a:lnTo>
                  <a:lnTo>
                    <a:pt x="26" y="172"/>
                  </a:lnTo>
                  <a:lnTo>
                    <a:pt x="30" y="168"/>
                  </a:lnTo>
                  <a:lnTo>
                    <a:pt x="30" y="160"/>
                  </a:lnTo>
                  <a:lnTo>
                    <a:pt x="30" y="160"/>
                  </a:lnTo>
                  <a:lnTo>
                    <a:pt x="30" y="160"/>
                  </a:lnTo>
                  <a:lnTo>
                    <a:pt x="32" y="160"/>
                  </a:lnTo>
                  <a:lnTo>
                    <a:pt x="32" y="75"/>
                  </a:lnTo>
                  <a:lnTo>
                    <a:pt x="41" y="75"/>
                  </a:lnTo>
                  <a:lnTo>
                    <a:pt x="41" y="345"/>
                  </a:lnTo>
                  <a:lnTo>
                    <a:pt x="41" y="345"/>
                  </a:lnTo>
                  <a:lnTo>
                    <a:pt x="41" y="349"/>
                  </a:lnTo>
                  <a:lnTo>
                    <a:pt x="42" y="354"/>
                  </a:lnTo>
                  <a:lnTo>
                    <a:pt x="45" y="359"/>
                  </a:lnTo>
                  <a:lnTo>
                    <a:pt x="48" y="362"/>
                  </a:lnTo>
                  <a:lnTo>
                    <a:pt x="76" y="362"/>
                  </a:lnTo>
                  <a:lnTo>
                    <a:pt x="76" y="362"/>
                  </a:lnTo>
                  <a:lnTo>
                    <a:pt x="84" y="354"/>
                  </a:lnTo>
                  <a:lnTo>
                    <a:pt x="85" y="349"/>
                  </a:lnTo>
                  <a:lnTo>
                    <a:pt x="87" y="345"/>
                  </a:lnTo>
                  <a:lnTo>
                    <a:pt x="87" y="172"/>
                  </a:lnTo>
                  <a:lnTo>
                    <a:pt x="93" y="172"/>
                  </a:lnTo>
                  <a:lnTo>
                    <a:pt x="93" y="345"/>
                  </a:lnTo>
                  <a:lnTo>
                    <a:pt x="93" y="345"/>
                  </a:lnTo>
                  <a:lnTo>
                    <a:pt x="93" y="345"/>
                  </a:lnTo>
                  <a:lnTo>
                    <a:pt x="94" y="349"/>
                  </a:lnTo>
                  <a:lnTo>
                    <a:pt x="96" y="354"/>
                  </a:lnTo>
                  <a:lnTo>
                    <a:pt x="99" y="359"/>
                  </a:lnTo>
                  <a:lnTo>
                    <a:pt x="102" y="362"/>
                  </a:lnTo>
                  <a:lnTo>
                    <a:pt x="128" y="362"/>
                  </a:lnTo>
                  <a:lnTo>
                    <a:pt x="128" y="362"/>
                  </a:lnTo>
                  <a:lnTo>
                    <a:pt x="131" y="359"/>
                  </a:lnTo>
                  <a:lnTo>
                    <a:pt x="134" y="354"/>
                  </a:lnTo>
                  <a:lnTo>
                    <a:pt x="135" y="349"/>
                  </a:lnTo>
                  <a:lnTo>
                    <a:pt x="135" y="345"/>
                  </a:lnTo>
                  <a:lnTo>
                    <a:pt x="135" y="75"/>
                  </a:lnTo>
                  <a:lnTo>
                    <a:pt x="148" y="75"/>
                  </a:lnTo>
                  <a:lnTo>
                    <a:pt x="148" y="102"/>
                  </a:lnTo>
                  <a:lnTo>
                    <a:pt x="148" y="102"/>
                  </a:lnTo>
                  <a:lnTo>
                    <a:pt x="148" y="102"/>
                  </a:lnTo>
                  <a:lnTo>
                    <a:pt x="148" y="102"/>
                  </a:lnTo>
                  <a:lnTo>
                    <a:pt x="149" y="108"/>
                  </a:lnTo>
                  <a:lnTo>
                    <a:pt x="152" y="113"/>
                  </a:lnTo>
                  <a:lnTo>
                    <a:pt x="157" y="117"/>
                  </a:lnTo>
                  <a:lnTo>
                    <a:pt x="163" y="117"/>
                  </a:lnTo>
                  <a:lnTo>
                    <a:pt x="163" y="117"/>
                  </a:lnTo>
                  <a:lnTo>
                    <a:pt x="166" y="117"/>
                  </a:lnTo>
                  <a:lnTo>
                    <a:pt x="169" y="116"/>
                  </a:lnTo>
                  <a:lnTo>
                    <a:pt x="169" y="116"/>
                  </a:lnTo>
                  <a:lnTo>
                    <a:pt x="197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57"/>
            <p:cNvSpPr>
              <a:spLocks/>
            </p:cNvSpPr>
            <p:nvPr/>
          </p:nvSpPr>
          <p:spPr bwMode="auto">
            <a:xfrm>
              <a:off x="5280025" y="6704013"/>
              <a:ext cx="41275" cy="6350"/>
            </a:xfrm>
            <a:custGeom>
              <a:avLst/>
              <a:gdLst>
                <a:gd name="T0" fmla="*/ 12 w 26"/>
                <a:gd name="T1" fmla="*/ 4 h 4"/>
                <a:gd name="T2" fmla="*/ 12 w 26"/>
                <a:gd name="T3" fmla="*/ 4 h 4"/>
                <a:gd name="T4" fmla="*/ 20 w 26"/>
                <a:gd name="T5" fmla="*/ 3 h 4"/>
                <a:gd name="T6" fmla="*/ 26 w 26"/>
                <a:gd name="T7" fmla="*/ 0 h 4"/>
                <a:gd name="T8" fmla="*/ 0 w 26"/>
                <a:gd name="T9" fmla="*/ 0 h 4"/>
                <a:gd name="T10" fmla="*/ 0 w 26"/>
                <a:gd name="T11" fmla="*/ 0 h 4"/>
                <a:gd name="T12" fmla="*/ 6 w 26"/>
                <a:gd name="T13" fmla="*/ 3 h 4"/>
                <a:gd name="T14" fmla="*/ 12 w 26"/>
                <a:gd name="T15" fmla="*/ 4 h 4"/>
                <a:gd name="T16" fmla="*/ 12 w 26"/>
                <a:gd name="T1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4">
                  <a:moveTo>
                    <a:pt x="12" y="4"/>
                  </a:moveTo>
                  <a:lnTo>
                    <a:pt x="12" y="4"/>
                  </a:lnTo>
                  <a:lnTo>
                    <a:pt x="20" y="3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3"/>
                  </a:lnTo>
                  <a:lnTo>
                    <a:pt x="1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58"/>
            <p:cNvSpPr>
              <a:spLocks/>
            </p:cNvSpPr>
            <p:nvPr/>
          </p:nvSpPr>
          <p:spPr bwMode="auto">
            <a:xfrm>
              <a:off x="5194300" y="6704013"/>
              <a:ext cx="44450" cy="6350"/>
            </a:xfrm>
            <a:custGeom>
              <a:avLst/>
              <a:gdLst>
                <a:gd name="T0" fmla="*/ 14 w 28"/>
                <a:gd name="T1" fmla="*/ 4 h 4"/>
                <a:gd name="T2" fmla="*/ 14 w 28"/>
                <a:gd name="T3" fmla="*/ 4 h 4"/>
                <a:gd name="T4" fmla="*/ 22 w 28"/>
                <a:gd name="T5" fmla="*/ 3 h 4"/>
                <a:gd name="T6" fmla="*/ 28 w 28"/>
                <a:gd name="T7" fmla="*/ 0 h 4"/>
                <a:gd name="T8" fmla="*/ 0 w 28"/>
                <a:gd name="T9" fmla="*/ 0 h 4"/>
                <a:gd name="T10" fmla="*/ 0 w 28"/>
                <a:gd name="T11" fmla="*/ 0 h 4"/>
                <a:gd name="T12" fmla="*/ 7 w 28"/>
                <a:gd name="T13" fmla="*/ 3 h 4"/>
                <a:gd name="T14" fmla="*/ 14 w 28"/>
                <a:gd name="T15" fmla="*/ 4 h 4"/>
                <a:gd name="T16" fmla="*/ 14 w 28"/>
                <a:gd name="T1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4">
                  <a:moveTo>
                    <a:pt x="14" y="4"/>
                  </a:moveTo>
                  <a:lnTo>
                    <a:pt x="14" y="4"/>
                  </a:lnTo>
                  <a:lnTo>
                    <a:pt x="22" y="3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3"/>
                  </a:lnTo>
                  <a:lnTo>
                    <a:pt x="14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Freeform 59"/>
            <p:cNvSpPr>
              <a:spLocks/>
            </p:cNvSpPr>
            <p:nvPr/>
          </p:nvSpPr>
          <p:spPr bwMode="auto">
            <a:xfrm>
              <a:off x="5199063" y="6043613"/>
              <a:ext cx="117475" cy="117475"/>
            </a:xfrm>
            <a:custGeom>
              <a:avLst/>
              <a:gdLst>
                <a:gd name="T0" fmla="*/ 74 w 74"/>
                <a:gd name="T1" fmla="*/ 37 h 74"/>
                <a:gd name="T2" fmla="*/ 74 w 74"/>
                <a:gd name="T3" fmla="*/ 37 h 74"/>
                <a:gd name="T4" fmla="*/ 74 w 74"/>
                <a:gd name="T5" fmla="*/ 29 h 74"/>
                <a:gd name="T6" fmla="*/ 71 w 74"/>
                <a:gd name="T7" fmla="*/ 23 h 74"/>
                <a:gd name="T8" fmla="*/ 68 w 74"/>
                <a:gd name="T9" fmla="*/ 17 h 74"/>
                <a:gd name="T10" fmla="*/ 63 w 74"/>
                <a:gd name="T11" fmla="*/ 11 h 74"/>
                <a:gd name="T12" fmla="*/ 57 w 74"/>
                <a:gd name="T13" fmla="*/ 6 h 74"/>
                <a:gd name="T14" fmla="*/ 51 w 74"/>
                <a:gd name="T15" fmla="*/ 3 h 74"/>
                <a:gd name="T16" fmla="*/ 45 w 74"/>
                <a:gd name="T17" fmla="*/ 2 h 74"/>
                <a:gd name="T18" fmla="*/ 37 w 74"/>
                <a:gd name="T19" fmla="*/ 0 h 74"/>
                <a:gd name="T20" fmla="*/ 37 w 74"/>
                <a:gd name="T21" fmla="*/ 0 h 74"/>
                <a:gd name="T22" fmla="*/ 30 w 74"/>
                <a:gd name="T23" fmla="*/ 2 h 74"/>
                <a:gd name="T24" fmla="*/ 23 w 74"/>
                <a:gd name="T25" fmla="*/ 3 h 74"/>
                <a:gd name="T26" fmla="*/ 17 w 74"/>
                <a:gd name="T27" fmla="*/ 6 h 74"/>
                <a:gd name="T28" fmla="*/ 11 w 74"/>
                <a:gd name="T29" fmla="*/ 11 h 74"/>
                <a:gd name="T30" fmla="*/ 7 w 74"/>
                <a:gd name="T31" fmla="*/ 17 h 74"/>
                <a:gd name="T32" fmla="*/ 4 w 74"/>
                <a:gd name="T33" fmla="*/ 23 h 74"/>
                <a:gd name="T34" fmla="*/ 2 w 74"/>
                <a:gd name="T35" fmla="*/ 29 h 74"/>
                <a:gd name="T36" fmla="*/ 0 w 74"/>
                <a:gd name="T37" fmla="*/ 37 h 74"/>
                <a:gd name="T38" fmla="*/ 0 w 74"/>
                <a:gd name="T39" fmla="*/ 37 h 74"/>
                <a:gd name="T40" fmla="*/ 2 w 74"/>
                <a:gd name="T41" fmla="*/ 45 h 74"/>
                <a:gd name="T42" fmla="*/ 4 w 74"/>
                <a:gd name="T43" fmla="*/ 51 h 74"/>
                <a:gd name="T44" fmla="*/ 7 w 74"/>
                <a:gd name="T45" fmla="*/ 57 h 74"/>
                <a:gd name="T46" fmla="*/ 11 w 74"/>
                <a:gd name="T47" fmla="*/ 63 h 74"/>
                <a:gd name="T48" fmla="*/ 17 w 74"/>
                <a:gd name="T49" fmla="*/ 67 h 74"/>
                <a:gd name="T50" fmla="*/ 23 w 74"/>
                <a:gd name="T51" fmla="*/ 71 h 74"/>
                <a:gd name="T52" fmla="*/ 30 w 74"/>
                <a:gd name="T53" fmla="*/ 72 h 74"/>
                <a:gd name="T54" fmla="*/ 37 w 74"/>
                <a:gd name="T55" fmla="*/ 74 h 74"/>
                <a:gd name="T56" fmla="*/ 37 w 74"/>
                <a:gd name="T57" fmla="*/ 74 h 74"/>
                <a:gd name="T58" fmla="*/ 45 w 74"/>
                <a:gd name="T59" fmla="*/ 72 h 74"/>
                <a:gd name="T60" fmla="*/ 51 w 74"/>
                <a:gd name="T61" fmla="*/ 71 h 74"/>
                <a:gd name="T62" fmla="*/ 57 w 74"/>
                <a:gd name="T63" fmla="*/ 67 h 74"/>
                <a:gd name="T64" fmla="*/ 63 w 74"/>
                <a:gd name="T65" fmla="*/ 63 h 74"/>
                <a:gd name="T66" fmla="*/ 68 w 74"/>
                <a:gd name="T67" fmla="*/ 57 h 74"/>
                <a:gd name="T68" fmla="*/ 71 w 74"/>
                <a:gd name="T69" fmla="*/ 51 h 74"/>
                <a:gd name="T70" fmla="*/ 74 w 74"/>
                <a:gd name="T71" fmla="*/ 45 h 74"/>
                <a:gd name="T72" fmla="*/ 74 w 74"/>
                <a:gd name="T73" fmla="*/ 37 h 74"/>
                <a:gd name="T74" fmla="*/ 74 w 74"/>
                <a:gd name="T75" fmla="*/ 37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4" h="74">
                  <a:moveTo>
                    <a:pt x="74" y="37"/>
                  </a:moveTo>
                  <a:lnTo>
                    <a:pt x="74" y="37"/>
                  </a:lnTo>
                  <a:lnTo>
                    <a:pt x="74" y="29"/>
                  </a:lnTo>
                  <a:lnTo>
                    <a:pt x="71" y="23"/>
                  </a:lnTo>
                  <a:lnTo>
                    <a:pt x="68" y="17"/>
                  </a:lnTo>
                  <a:lnTo>
                    <a:pt x="63" y="11"/>
                  </a:lnTo>
                  <a:lnTo>
                    <a:pt x="57" y="6"/>
                  </a:lnTo>
                  <a:lnTo>
                    <a:pt x="51" y="3"/>
                  </a:lnTo>
                  <a:lnTo>
                    <a:pt x="45" y="2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0" y="2"/>
                  </a:lnTo>
                  <a:lnTo>
                    <a:pt x="23" y="3"/>
                  </a:lnTo>
                  <a:lnTo>
                    <a:pt x="17" y="6"/>
                  </a:lnTo>
                  <a:lnTo>
                    <a:pt x="11" y="11"/>
                  </a:lnTo>
                  <a:lnTo>
                    <a:pt x="7" y="17"/>
                  </a:lnTo>
                  <a:lnTo>
                    <a:pt x="4" y="23"/>
                  </a:lnTo>
                  <a:lnTo>
                    <a:pt x="2" y="29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2" y="45"/>
                  </a:lnTo>
                  <a:lnTo>
                    <a:pt x="4" y="51"/>
                  </a:lnTo>
                  <a:lnTo>
                    <a:pt x="7" y="57"/>
                  </a:lnTo>
                  <a:lnTo>
                    <a:pt x="11" y="63"/>
                  </a:lnTo>
                  <a:lnTo>
                    <a:pt x="17" y="67"/>
                  </a:lnTo>
                  <a:lnTo>
                    <a:pt x="23" y="71"/>
                  </a:lnTo>
                  <a:lnTo>
                    <a:pt x="30" y="72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45" y="72"/>
                  </a:lnTo>
                  <a:lnTo>
                    <a:pt x="51" y="71"/>
                  </a:lnTo>
                  <a:lnTo>
                    <a:pt x="57" y="67"/>
                  </a:lnTo>
                  <a:lnTo>
                    <a:pt x="63" y="63"/>
                  </a:lnTo>
                  <a:lnTo>
                    <a:pt x="68" y="57"/>
                  </a:lnTo>
                  <a:lnTo>
                    <a:pt x="71" y="51"/>
                  </a:lnTo>
                  <a:lnTo>
                    <a:pt x="74" y="45"/>
                  </a:lnTo>
                  <a:lnTo>
                    <a:pt x="74" y="37"/>
                  </a:lnTo>
                  <a:lnTo>
                    <a:pt x="74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60"/>
            <p:cNvSpPr>
              <a:spLocks/>
            </p:cNvSpPr>
            <p:nvPr/>
          </p:nvSpPr>
          <p:spPr bwMode="auto">
            <a:xfrm>
              <a:off x="5391150" y="6073775"/>
              <a:ext cx="387350" cy="290513"/>
            </a:xfrm>
            <a:custGeom>
              <a:avLst/>
              <a:gdLst>
                <a:gd name="T0" fmla="*/ 235 w 244"/>
                <a:gd name="T1" fmla="*/ 0 h 183"/>
                <a:gd name="T2" fmla="*/ 8 w 244"/>
                <a:gd name="T3" fmla="*/ 0 h 183"/>
                <a:gd name="T4" fmla="*/ 8 w 244"/>
                <a:gd name="T5" fmla="*/ 0 h 183"/>
                <a:gd name="T6" fmla="*/ 5 w 244"/>
                <a:gd name="T7" fmla="*/ 1 h 183"/>
                <a:gd name="T8" fmla="*/ 2 w 244"/>
                <a:gd name="T9" fmla="*/ 3 h 183"/>
                <a:gd name="T10" fmla="*/ 0 w 244"/>
                <a:gd name="T11" fmla="*/ 6 h 183"/>
                <a:gd name="T12" fmla="*/ 0 w 244"/>
                <a:gd name="T13" fmla="*/ 10 h 183"/>
                <a:gd name="T14" fmla="*/ 0 w 244"/>
                <a:gd name="T15" fmla="*/ 67 h 183"/>
                <a:gd name="T16" fmla="*/ 0 w 244"/>
                <a:gd name="T17" fmla="*/ 67 h 183"/>
                <a:gd name="T18" fmla="*/ 5 w 244"/>
                <a:gd name="T19" fmla="*/ 70 h 183"/>
                <a:gd name="T20" fmla="*/ 8 w 244"/>
                <a:gd name="T21" fmla="*/ 74 h 183"/>
                <a:gd name="T22" fmla="*/ 12 w 244"/>
                <a:gd name="T23" fmla="*/ 85 h 183"/>
                <a:gd name="T24" fmla="*/ 15 w 244"/>
                <a:gd name="T25" fmla="*/ 84 h 183"/>
                <a:gd name="T26" fmla="*/ 15 w 244"/>
                <a:gd name="T27" fmla="*/ 84 h 183"/>
                <a:gd name="T28" fmla="*/ 15 w 244"/>
                <a:gd name="T29" fmla="*/ 82 h 183"/>
                <a:gd name="T30" fmla="*/ 18 w 244"/>
                <a:gd name="T31" fmla="*/ 82 h 183"/>
                <a:gd name="T32" fmla="*/ 18 w 244"/>
                <a:gd name="T33" fmla="*/ 18 h 183"/>
                <a:gd name="T34" fmla="*/ 226 w 244"/>
                <a:gd name="T35" fmla="*/ 18 h 183"/>
                <a:gd name="T36" fmla="*/ 226 w 244"/>
                <a:gd name="T37" fmla="*/ 171 h 183"/>
                <a:gd name="T38" fmla="*/ 18 w 244"/>
                <a:gd name="T39" fmla="*/ 171 h 183"/>
                <a:gd name="T40" fmla="*/ 18 w 244"/>
                <a:gd name="T41" fmla="*/ 152 h 183"/>
                <a:gd name="T42" fmla="*/ 0 w 244"/>
                <a:gd name="T43" fmla="*/ 165 h 183"/>
                <a:gd name="T44" fmla="*/ 0 w 244"/>
                <a:gd name="T45" fmla="*/ 177 h 183"/>
                <a:gd name="T46" fmla="*/ 0 w 244"/>
                <a:gd name="T47" fmla="*/ 177 h 183"/>
                <a:gd name="T48" fmla="*/ 0 w 244"/>
                <a:gd name="T49" fmla="*/ 180 h 183"/>
                <a:gd name="T50" fmla="*/ 2 w 244"/>
                <a:gd name="T51" fmla="*/ 181 h 183"/>
                <a:gd name="T52" fmla="*/ 8 w 244"/>
                <a:gd name="T53" fmla="*/ 183 h 183"/>
                <a:gd name="T54" fmla="*/ 235 w 244"/>
                <a:gd name="T55" fmla="*/ 183 h 183"/>
                <a:gd name="T56" fmla="*/ 235 w 244"/>
                <a:gd name="T57" fmla="*/ 183 h 183"/>
                <a:gd name="T58" fmla="*/ 241 w 244"/>
                <a:gd name="T59" fmla="*/ 181 h 183"/>
                <a:gd name="T60" fmla="*/ 243 w 244"/>
                <a:gd name="T61" fmla="*/ 180 h 183"/>
                <a:gd name="T62" fmla="*/ 244 w 244"/>
                <a:gd name="T63" fmla="*/ 177 h 183"/>
                <a:gd name="T64" fmla="*/ 244 w 244"/>
                <a:gd name="T65" fmla="*/ 10 h 183"/>
                <a:gd name="T66" fmla="*/ 244 w 244"/>
                <a:gd name="T67" fmla="*/ 10 h 183"/>
                <a:gd name="T68" fmla="*/ 243 w 244"/>
                <a:gd name="T69" fmla="*/ 6 h 183"/>
                <a:gd name="T70" fmla="*/ 241 w 244"/>
                <a:gd name="T71" fmla="*/ 3 h 183"/>
                <a:gd name="T72" fmla="*/ 238 w 244"/>
                <a:gd name="T73" fmla="*/ 1 h 183"/>
                <a:gd name="T74" fmla="*/ 235 w 244"/>
                <a:gd name="T75" fmla="*/ 0 h 183"/>
                <a:gd name="T76" fmla="*/ 235 w 244"/>
                <a:gd name="T7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44" h="183">
                  <a:moveTo>
                    <a:pt x="235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5" y="1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5" y="70"/>
                  </a:lnTo>
                  <a:lnTo>
                    <a:pt x="8" y="74"/>
                  </a:lnTo>
                  <a:lnTo>
                    <a:pt x="12" y="85"/>
                  </a:lnTo>
                  <a:lnTo>
                    <a:pt x="15" y="84"/>
                  </a:lnTo>
                  <a:lnTo>
                    <a:pt x="15" y="84"/>
                  </a:lnTo>
                  <a:lnTo>
                    <a:pt x="15" y="82"/>
                  </a:lnTo>
                  <a:lnTo>
                    <a:pt x="18" y="82"/>
                  </a:lnTo>
                  <a:lnTo>
                    <a:pt x="18" y="18"/>
                  </a:lnTo>
                  <a:lnTo>
                    <a:pt x="226" y="18"/>
                  </a:lnTo>
                  <a:lnTo>
                    <a:pt x="226" y="171"/>
                  </a:lnTo>
                  <a:lnTo>
                    <a:pt x="18" y="171"/>
                  </a:lnTo>
                  <a:lnTo>
                    <a:pt x="18" y="152"/>
                  </a:lnTo>
                  <a:lnTo>
                    <a:pt x="0" y="165"/>
                  </a:lnTo>
                  <a:lnTo>
                    <a:pt x="0" y="177"/>
                  </a:lnTo>
                  <a:lnTo>
                    <a:pt x="0" y="177"/>
                  </a:lnTo>
                  <a:lnTo>
                    <a:pt x="0" y="180"/>
                  </a:lnTo>
                  <a:lnTo>
                    <a:pt x="2" y="181"/>
                  </a:lnTo>
                  <a:lnTo>
                    <a:pt x="8" y="183"/>
                  </a:lnTo>
                  <a:lnTo>
                    <a:pt x="235" y="183"/>
                  </a:lnTo>
                  <a:lnTo>
                    <a:pt x="235" y="183"/>
                  </a:lnTo>
                  <a:lnTo>
                    <a:pt x="241" y="181"/>
                  </a:lnTo>
                  <a:lnTo>
                    <a:pt x="243" y="180"/>
                  </a:lnTo>
                  <a:lnTo>
                    <a:pt x="244" y="177"/>
                  </a:lnTo>
                  <a:lnTo>
                    <a:pt x="244" y="10"/>
                  </a:lnTo>
                  <a:lnTo>
                    <a:pt x="244" y="10"/>
                  </a:lnTo>
                  <a:lnTo>
                    <a:pt x="243" y="6"/>
                  </a:lnTo>
                  <a:lnTo>
                    <a:pt x="241" y="3"/>
                  </a:lnTo>
                  <a:lnTo>
                    <a:pt x="238" y="1"/>
                  </a:lnTo>
                  <a:lnTo>
                    <a:pt x="235" y="0"/>
                  </a:lnTo>
                  <a:lnTo>
                    <a:pt x="2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57220"/>
              </p:ext>
            </p:extLst>
          </p:nvPr>
        </p:nvGraphicFramePr>
        <p:xfrm>
          <a:off x="720271" y="6750794"/>
          <a:ext cx="6328230" cy="342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구   분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내   용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비   고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교육일정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정기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회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수시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kern="1200" spc="-50" dirty="0" err="1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요청시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세부내용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일정은 </a:t>
                      </a:r>
                      <a:r>
                        <a:rPr kumimoji="1" lang="ko-KR" altLang="en-US" sz="1000" kern="1200" spc="-50" dirty="0" err="1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협의하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결정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교육내용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체계 물리적 구성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하드웨어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네트워크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소프트웨어 형성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모의논리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기초자료 구축 방법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시나리오 작성법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 사용법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교육대상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분석관 또는 외부인원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교육장소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유지관리사무실 또는 분석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LAB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실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모델 운용이 가능한 장소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교육방법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1:1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실습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Rectangle 3"/>
          <p:cNvSpPr txBox="1">
            <a:spLocks noChangeArrowheads="1"/>
          </p:cNvSpPr>
          <p:nvPr/>
        </p:nvSpPr>
        <p:spPr bwMode="auto">
          <a:xfrm>
            <a:off x="720873" y="1604200"/>
            <a:ext cx="6337006" cy="21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91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27138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5125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300"/>
              </a:spcBef>
            </a:pPr>
            <a:r>
              <a:rPr lang="ko-KR" altLang="en-US" spc="-50" dirty="0" err="1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C4ISR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분석모델의 하드웨어와 네트워크의 물리적 구성과 소프트웨어 형상간의 관계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및 역할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내부 모의논리 및 사용법에 이르는 운영개념 전반에 걸쳐 교육을 실시함으로써 체계에 대한 이해는 물론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독자적인 시스템 운용 및 분석 능력을 배양할 수 있도록 계획을 수립하여 교육을 실시하겠습니다</a:t>
            </a:r>
            <a:r>
              <a:rPr lang="en-US" altLang="ko-KR" spc="-50" dirty="0">
                <a:ln w="0"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7783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2"/>
          <p:cNvSpPr txBox="1">
            <a:spLocks noChangeArrowheads="1"/>
          </p:cNvSpPr>
          <p:nvPr/>
        </p:nvSpPr>
        <p:spPr bwMode="auto">
          <a:xfrm>
            <a:off x="720873" y="1351160"/>
            <a:ext cx="6337007" cy="14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2pPr>
            <a:lvl3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3pPr>
            <a:lvl4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4pPr>
            <a:lvl5pPr algn="l" rtl="0" eaLnBrk="0" fontAlgn="base" latinLnBrk="1" hangingPunct="0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5pPr>
            <a:lvl6pPr marL="4572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6pPr>
            <a:lvl7pPr marL="9144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7pPr>
            <a:lvl8pPr marL="13716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8pPr>
            <a:lvl9pPr marL="1828800" algn="l" rtl="0" fontAlgn="base" latinLnBrk="1">
              <a:spcBef>
                <a:spcPct val="25000"/>
              </a:spcBef>
              <a:spcAft>
                <a:spcPct val="0"/>
              </a:spcAft>
              <a:defRPr kumimoji="1" sz="1300">
                <a:solidFill>
                  <a:schemeClr val="tx2"/>
                </a:solidFill>
                <a:latin typeface="Rix모던고딕 B" pitchFamily="18" charset="-127"/>
                <a:ea typeface="Rix모던고딕 B" pitchFamily="18" charset="-127"/>
                <a:cs typeface="굴림" pitchFamily="50" charset="-127"/>
              </a:defRPr>
            </a:lvl9pPr>
          </a:lstStyle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3.7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산출물 관리 방안</a:t>
            </a:r>
            <a:endParaRPr lang="en-US" altLang="ko-KR" sz="1200" b="1" spc="-50" dirty="0">
              <a:ln>
                <a:solidFill>
                  <a:srgbClr val="B4D23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defTabSz="913571" eaLnBrk="1" latinLnBrk="0" hangingPunct="1">
              <a:spcBef>
                <a:spcPts val="200"/>
              </a:spcBef>
              <a:defRPr/>
            </a:pP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3.7.1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산출물 관리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검증 및 최신화 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요구사항</a:t>
            </a:r>
            <a:r>
              <a:rPr lang="en-US" altLang="ko-KR" sz="1200" b="1" spc="-50" dirty="0">
                <a:ln>
                  <a:solidFill>
                    <a:srgbClr val="B4D23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-007)</a:t>
            </a:r>
          </a:p>
        </p:txBody>
      </p:sp>
      <p:grpSp>
        <p:nvGrpSpPr>
          <p:cNvPr id="48" name="그룹 47"/>
          <p:cNvGrpSpPr/>
          <p:nvPr/>
        </p:nvGrpSpPr>
        <p:grpSpPr>
          <a:xfrm>
            <a:off x="761851" y="3294410"/>
            <a:ext cx="6330269" cy="169302"/>
            <a:chOff x="761696" y="5435378"/>
            <a:chExt cx="6328976" cy="169277"/>
          </a:xfrm>
        </p:grpSpPr>
        <p:sp>
          <p:nvSpPr>
            <p:cNvPr id="49" name="Text Box 5"/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산출물 문서화 절차 및 유의사항</a:t>
              </a:r>
            </a:p>
          </p:txBody>
        </p:sp>
        <p:grpSp>
          <p:nvGrpSpPr>
            <p:cNvPr id="50" name="그룹 49"/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51" name="타원 50"/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52" name="Picture 132" descr="ㅇ"/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720873" y="1818246"/>
            <a:ext cx="6337006" cy="21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91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27138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5125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3663" eaLnBrk="1" fontAlgn="auto" latinLnBrk="0" hangingPunct="1">
              <a:spcBef>
                <a:spcPts val="300"/>
              </a:spcBef>
            </a:pPr>
            <a:r>
              <a:rPr lang="ko-KR" altLang="en-US" spc="-50" dirty="0" err="1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제안사는</a:t>
            </a:r>
            <a:r>
              <a:rPr lang="ko-KR" altLang="en-US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유지관리 사업간 체계의 형상이 변경되는 작업과 관련된 연관 산출물을 최신화하여 사업종료 전 제출하겠습니다</a:t>
            </a:r>
            <a:r>
              <a:rPr lang="en-US" altLang="ko-KR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제출할 산출물의 목록과 수량</a:t>
            </a:r>
            <a:r>
              <a:rPr lang="en-US" altLang="ko-KR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매체 및 제출방법에 대해서는 사업단과 협의하여 확정하겠습니다</a:t>
            </a:r>
            <a:r>
              <a:rPr lang="en-US" altLang="ko-KR" spc="-50" dirty="0">
                <a:ln w="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792237" y="3572489"/>
            <a:ext cx="426963" cy="238114"/>
            <a:chOff x="12069763" y="696913"/>
            <a:chExt cx="825500" cy="460375"/>
          </a:xfrm>
        </p:grpSpPr>
        <p:sp>
          <p:nvSpPr>
            <p:cNvPr id="189" name="Freeform 102"/>
            <p:cNvSpPr>
              <a:spLocks noEditPoints="1"/>
            </p:cNvSpPr>
            <p:nvPr/>
          </p:nvSpPr>
          <p:spPr bwMode="auto">
            <a:xfrm>
              <a:off x="12069763" y="1074738"/>
              <a:ext cx="558800" cy="82550"/>
            </a:xfrm>
            <a:custGeom>
              <a:avLst/>
              <a:gdLst>
                <a:gd name="T0" fmla="*/ 352 w 352"/>
                <a:gd name="T1" fmla="*/ 24 h 52"/>
                <a:gd name="T2" fmla="*/ 352 w 352"/>
                <a:gd name="T3" fmla="*/ 24 h 52"/>
                <a:gd name="T4" fmla="*/ 346 w 352"/>
                <a:gd name="T5" fmla="*/ 0 h 52"/>
                <a:gd name="T6" fmla="*/ 8 w 352"/>
                <a:gd name="T7" fmla="*/ 0 h 52"/>
                <a:gd name="T8" fmla="*/ 2 w 352"/>
                <a:gd name="T9" fmla="*/ 24 h 52"/>
                <a:gd name="T10" fmla="*/ 0 w 352"/>
                <a:gd name="T11" fmla="*/ 24 h 52"/>
                <a:gd name="T12" fmla="*/ 0 w 352"/>
                <a:gd name="T13" fmla="*/ 52 h 52"/>
                <a:gd name="T14" fmla="*/ 352 w 352"/>
                <a:gd name="T15" fmla="*/ 52 h 52"/>
                <a:gd name="T16" fmla="*/ 352 w 352"/>
                <a:gd name="T17" fmla="*/ 24 h 52"/>
                <a:gd name="T18" fmla="*/ 232 w 352"/>
                <a:gd name="T19" fmla="*/ 40 h 52"/>
                <a:gd name="T20" fmla="*/ 120 w 352"/>
                <a:gd name="T21" fmla="*/ 40 h 52"/>
                <a:gd name="T22" fmla="*/ 120 w 352"/>
                <a:gd name="T23" fmla="*/ 26 h 52"/>
                <a:gd name="T24" fmla="*/ 232 w 352"/>
                <a:gd name="T25" fmla="*/ 26 h 52"/>
                <a:gd name="T26" fmla="*/ 232 w 352"/>
                <a:gd name="T27" fmla="*/ 4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2" h="52">
                  <a:moveTo>
                    <a:pt x="352" y="24"/>
                  </a:moveTo>
                  <a:lnTo>
                    <a:pt x="352" y="24"/>
                  </a:lnTo>
                  <a:lnTo>
                    <a:pt x="346" y="0"/>
                  </a:lnTo>
                  <a:lnTo>
                    <a:pt x="8" y="0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0" y="52"/>
                  </a:lnTo>
                  <a:lnTo>
                    <a:pt x="352" y="52"/>
                  </a:lnTo>
                  <a:lnTo>
                    <a:pt x="352" y="24"/>
                  </a:lnTo>
                  <a:close/>
                  <a:moveTo>
                    <a:pt x="232" y="40"/>
                  </a:moveTo>
                  <a:lnTo>
                    <a:pt x="120" y="40"/>
                  </a:lnTo>
                  <a:lnTo>
                    <a:pt x="120" y="26"/>
                  </a:lnTo>
                  <a:lnTo>
                    <a:pt x="232" y="26"/>
                  </a:lnTo>
                  <a:lnTo>
                    <a:pt x="232" y="40"/>
                  </a:lnTo>
                  <a:close/>
                </a:path>
              </a:pathLst>
            </a:custGeom>
            <a:solidFill>
              <a:srgbClr val="4C4B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0" name="Rectangle 103"/>
            <p:cNvSpPr>
              <a:spLocks noChangeArrowheads="1"/>
            </p:cNvSpPr>
            <p:nvPr/>
          </p:nvSpPr>
          <p:spPr bwMode="auto">
            <a:xfrm>
              <a:off x="12184063" y="798513"/>
              <a:ext cx="215900" cy="34925"/>
            </a:xfrm>
            <a:prstGeom prst="rect">
              <a:avLst/>
            </a:prstGeom>
            <a:solidFill>
              <a:srgbClr val="4C4B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1" name="Rectangle 104"/>
            <p:cNvSpPr>
              <a:spLocks noChangeArrowheads="1"/>
            </p:cNvSpPr>
            <p:nvPr/>
          </p:nvSpPr>
          <p:spPr bwMode="auto">
            <a:xfrm>
              <a:off x="12184063" y="871538"/>
              <a:ext cx="215900" cy="34925"/>
            </a:xfrm>
            <a:prstGeom prst="rect">
              <a:avLst/>
            </a:prstGeom>
            <a:solidFill>
              <a:srgbClr val="4C4B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2" name="Rectangle 105"/>
            <p:cNvSpPr>
              <a:spLocks noChangeArrowheads="1"/>
            </p:cNvSpPr>
            <p:nvPr/>
          </p:nvSpPr>
          <p:spPr bwMode="auto">
            <a:xfrm>
              <a:off x="12184063" y="947738"/>
              <a:ext cx="215900" cy="38100"/>
            </a:xfrm>
            <a:prstGeom prst="rect">
              <a:avLst/>
            </a:prstGeom>
            <a:solidFill>
              <a:srgbClr val="4C4B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3" name="Freeform 106"/>
            <p:cNvSpPr>
              <a:spLocks/>
            </p:cNvSpPr>
            <p:nvPr/>
          </p:nvSpPr>
          <p:spPr bwMode="auto">
            <a:xfrm>
              <a:off x="12111038" y="696913"/>
              <a:ext cx="473075" cy="368300"/>
            </a:xfrm>
            <a:custGeom>
              <a:avLst/>
              <a:gdLst>
                <a:gd name="T0" fmla="*/ 298 w 298"/>
                <a:gd name="T1" fmla="*/ 226 h 232"/>
                <a:gd name="T2" fmla="*/ 298 w 298"/>
                <a:gd name="T3" fmla="*/ 226 h 232"/>
                <a:gd name="T4" fmla="*/ 282 w 298"/>
                <a:gd name="T5" fmla="*/ 224 h 232"/>
                <a:gd name="T6" fmla="*/ 268 w 298"/>
                <a:gd name="T7" fmla="*/ 220 h 232"/>
                <a:gd name="T8" fmla="*/ 254 w 298"/>
                <a:gd name="T9" fmla="*/ 214 h 232"/>
                <a:gd name="T10" fmla="*/ 240 w 298"/>
                <a:gd name="T11" fmla="*/ 206 h 232"/>
                <a:gd name="T12" fmla="*/ 26 w 298"/>
                <a:gd name="T13" fmla="*/ 206 h 232"/>
                <a:gd name="T14" fmla="*/ 26 w 298"/>
                <a:gd name="T15" fmla="*/ 26 h 232"/>
                <a:gd name="T16" fmla="*/ 252 w 298"/>
                <a:gd name="T17" fmla="*/ 26 h 232"/>
                <a:gd name="T18" fmla="*/ 252 w 298"/>
                <a:gd name="T19" fmla="*/ 26 h 232"/>
                <a:gd name="T20" fmla="*/ 264 w 298"/>
                <a:gd name="T21" fmla="*/ 22 h 232"/>
                <a:gd name="T22" fmla="*/ 274 w 298"/>
                <a:gd name="T23" fmla="*/ 18 h 232"/>
                <a:gd name="T24" fmla="*/ 284 w 298"/>
                <a:gd name="T25" fmla="*/ 16 h 232"/>
                <a:gd name="T26" fmla="*/ 296 w 298"/>
                <a:gd name="T27" fmla="*/ 16 h 232"/>
                <a:gd name="T28" fmla="*/ 296 w 298"/>
                <a:gd name="T29" fmla="*/ 16 h 232"/>
                <a:gd name="T30" fmla="*/ 298 w 298"/>
                <a:gd name="T31" fmla="*/ 16 h 232"/>
                <a:gd name="T32" fmla="*/ 298 w 298"/>
                <a:gd name="T33" fmla="*/ 0 h 232"/>
                <a:gd name="T34" fmla="*/ 0 w 298"/>
                <a:gd name="T35" fmla="*/ 0 h 232"/>
                <a:gd name="T36" fmla="*/ 0 w 298"/>
                <a:gd name="T37" fmla="*/ 232 h 232"/>
                <a:gd name="T38" fmla="*/ 298 w 298"/>
                <a:gd name="T39" fmla="*/ 232 h 232"/>
                <a:gd name="T40" fmla="*/ 298 w 298"/>
                <a:gd name="T41" fmla="*/ 22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8" h="232">
                  <a:moveTo>
                    <a:pt x="298" y="226"/>
                  </a:moveTo>
                  <a:lnTo>
                    <a:pt x="298" y="226"/>
                  </a:lnTo>
                  <a:lnTo>
                    <a:pt x="282" y="224"/>
                  </a:lnTo>
                  <a:lnTo>
                    <a:pt x="268" y="220"/>
                  </a:lnTo>
                  <a:lnTo>
                    <a:pt x="254" y="214"/>
                  </a:lnTo>
                  <a:lnTo>
                    <a:pt x="240" y="206"/>
                  </a:lnTo>
                  <a:lnTo>
                    <a:pt x="26" y="206"/>
                  </a:lnTo>
                  <a:lnTo>
                    <a:pt x="26" y="26"/>
                  </a:lnTo>
                  <a:lnTo>
                    <a:pt x="252" y="26"/>
                  </a:lnTo>
                  <a:lnTo>
                    <a:pt x="252" y="26"/>
                  </a:lnTo>
                  <a:lnTo>
                    <a:pt x="264" y="22"/>
                  </a:lnTo>
                  <a:lnTo>
                    <a:pt x="274" y="18"/>
                  </a:lnTo>
                  <a:lnTo>
                    <a:pt x="284" y="16"/>
                  </a:lnTo>
                  <a:lnTo>
                    <a:pt x="296" y="16"/>
                  </a:lnTo>
                  <a:lnTo>
                    <a:pt x="296" y="16"/>
                  </a:lnTo>
                  <a:lnTo>
                    <a:pt x="298" y="16"/>
                  </a:lnTo>
                  <a:lnTo>
                    <a:pt x="298" y="0"/>
                  </a:lnTo>
                  <a:lnTo>
                    <a:pt x="0" y="0"/>
                  </a:lnTo>
                  <a:lnTo>
                    <a:pt x="0" y="232"/>
                  </a:lnTo>
                  <a:lnTo>
                    <a:pt x="298" y="232"/>
                  </a:lnTo>
                  <a:lnTo>
                    <a:pt x="298" y="226"/>
                  </a:lnTo>
                  <a:close/>
                </a:path>
              </a:pathLst>
            </a:custGeom>
            <a:solidFill>
              <a:srgbClr val="4C4B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4" name="Freeform 107"/>
            <p:cNvSpPr>
              <a:spLocks noEditPoints="1"/>
            </p:cNvSpPr>
            <p:nvPr/>
          </p:nvSpPr>
          <p:spPr bwMode="auto">
            <a:xfrm>
              <a:off x="12431713" y="735013"/>
              <a:ext cx="463550" cy="393700"/>
            </a:xfrm>
            <a:custGeom>
              <a:avLst/>
              <a:gdLst>
                <a:gd name="T0" fmla="*/ 194 w 292"/>
                <a:gd name="T1" fmla="*/ 132 h 248"/>
                <a:gd name="T2" fmla="*/ 188 w 292"/>
                <a:gd name="T3" fmla="*/ 128 h 248"/>
                <a:gd name="T4" fmla="*/ 192 w 292"/>
                <a:gd name="T5" fmla="*/ 110 h 248"/>
                <a:gd name="T6" fmla="*/ 188 w 292"/>
                <a:gd name="T7" fmla="*/ 72 h 248"/>
                <a:gd name="T8" fmla="*/ 182 w 292"/>
                <a:gd name="T9" fmla="*/ 54 h 248"/>
                <a:gd name="T10" fmla="*/ 158 w 292"/>
                <a:gd name="T11" fmla="*/ 24 h 248"/>
                <a:gd name="T12" fmla="*/ 126 w 292"/>
                <a:gd name="T13" fmla="*/ 4 h 248"/>
                <a:gd name="T14" fmla="*/ 90 w 292"/>
                <a:gd name="T15" fmla="*/ 0 h 248"/>
                <a:gd name="T16" fmla="*/ 52 w 292"/>
                <a:gd name="T17" fmla="*/ 8 h 248"/>
                <a:gd name="T18" fmla="*/ 36 w 292"/>
                <a:gd name="T19" fmla="*/ 20 h 248"/>
                <a:gd name="T20" fmla="*/ 12 w 292"/>
                <a:gd name="T21" fmla="*/ 48 h 248"/>
                <a:gd name="T22" fmla="*/ 2 w 292"/>
                <a:gd name="T23" fmla="*/ 82 h 248"/>
                <a:gd name="T24" fmla="*/ 4 w 292"/>
                <a:gd name="T25" fmla="*/ 120 h 248"/>
                <a:gd name="T26" fmla="*/ 12 w 292"/>
                <a:gd name="T27" fmla="*/ 140 h 248"/>
                <a:gd name="T28" fmla="*/ 34 w 292"/>
                <a:gd name="T29" fmla="*/ 170 h 248"/>
                <a:gd name="T30" fmla="*/ 68 w 292"/>
                <a:gd name="T31" fmla="*/ 188 h 248"/>
                <a:gd name="T32" fmla="*/ 104 w 292"/>
                <a:gd name="T33" fmla="*/ 194 h 248"/>
                <a:gd name="T34" fmla="*/ 140 w 292"/>
                <a:gd name="T35" fmla="*/ 184 h 248"/>
                <a:gd name="T36" fmla="*/ 156 w 292"/>
                <a:gd name="T37" fmla="*/ 174 h 248"/>
                <a:gd name="T38" fmla="*/ 160 w 292"/>
                <a:gd name="T39" fmla="*/ 178 h 248"/>
                <a:gd name="T40" fmla="*/ 248 w 292"/>
                <a:gd name="T41" fmla="*/ 242 h 248"/>
                <a:gd name="T42" fmla="*/ 266 w 292"/>
                <a:gd name="T43" fmla="*/ 248 h 248"/>
                <a:gd name="T44" fmla="*/ 282 w 292"/>
                <a:gd name="T45" fmla="*/ 238 h 248"/>
                <a:gd name="T46" fmla="*/ 288 w 292"/>
                <a:gd name="T47" fmla="*/ 230 h 248"/>
                <a:gd name="T48" fmla="*/ 292 w 292"/>
                <a:gd name="T49" fmla="*/ 212 h 248"/>
                <a:gd name="T50" fmla="*/ 282 w 292"/>
                <a:gd name="T51" fmla="*/ 196 h 248"/>
                <a:gd name="T52" fmla="*/ 126 w 292"/>
                <a:gd name="T53" fmla="*/ 156 h 248"/>
                <a:gd name="T54" fmla="*/ 114 w 292"/>
                <a:gd name="T55" fmla="*/ 162 h 248"/>
                <a:gd name="T56" fmla="*/ 88 w 292"/>
                <a:gd name="T57" fmla="*/ 162 h 248"/>
                <a:gd name="T58" fmla="*/ 66 w 292"/>
                <a:gd name="T59" fmla="*/ 154 h 248"/>
                <a:gd name="T60" fmla="*/ 46 w 292"/>
                <a:gd name="T61" fmla="*/ 138 h 248"/>
                <a:gd name="T62" fmla="*/ 38 w 292"/>
                <a:gd name="T63" fmla="*/ 126 h 248"/>
                <a:gd name="T64" fmla="*/ 32 w 292"/>
                <a:gd name="T65" fmla="*/ 100 h 248"/>
                <a:gd name="T66" fmla="*/ 34 w 292"/>
                <a:gd name="T67" fmla="*/ 74 h 248"/>
                <a:gd name="T68" fmla="*/ 46 w 292"/>
                <a:gd name="T69" fmla="*/ 52 h 248"/>
                <a:gd name="T70" fmla="*/ 66 w 292"/>
                <a:gd name="T71" fmla="*/ 36 h 248"/>
                <a:gd name="T72" fmla="*/ 78 w 292"/>
                <a:gd name="T73" fmla="*/ 32 h 248"/>
                <a:gd name="T74" fmla="*/ 104 w 292"/>
                <a:gd name="T75" fmla="*/ 30 h 248"/>
                <a:gd name="T76" fmla="*/ 128 w 292"/>
                <a:gd name="T77" fmla="*/ 38 h 248"/>
                <a:gd name="T78" fmla="*/ 146 w 292"/>
                <a:gd name="T79" fmla="*/ 56 h 248"/>
                <a:gd name="T80" fmla="*/ 154 w 292"/>
                <a:gd name="T81" fmla="*/ 68 h 248"/>
                <a:gd name="T82" fmla="*/ 162 w 292"/>
                <a:gd name="T83" fmla="*/ 94 h 248"/>
                <a:gd name="T84" fmla="*/ 158 w 292"/>
                <a:gd name="T85" fmla="*/ 118 h 248"/>
                <a:gd name="T86" fmla="*/ 146 w 292"/>
                <a:gd name="T87" fmla="*/ 140 h 248"/>
                <a:gd name="T88" fmla="*/ 126 w 292"/>
                <a:gd name="T89" fmla="*/ 15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2" h="248">
                  <a:moveTo>
                    <a:pt x="282" y="196"/>
                  </a:moveTo>
                  <a:lnTo>
                    <a:pt x="194" y="132"/>
                  </a:lnTo>
                  <a:lnTo>
                    <a:pt x="194" y="132"/>
                  </a:lnTo>
                  <a:lnTo>
                    <a:pt x="188" y="128"/>
                  </a:lnTo>
                  <a:lnTo>
                    <a:pt x="188" y="128"/>
                  </a:lnTo>
                  <a:lnTo>
                    <a:pt x="192" y="110"/>
                  </a:lnTo>
                  <a:lnTo>
                    <a:pt x="192" y="92"/>
                  </a:lnTo>
                  <a:lnTo>
                    <a:pt x="188" y="72"/>
                  </a:lnTo>
                  <a:lnTo>
                    <a:pt x="182" y="54"/>
                  </a:lnTo>
                  <a:lnTo>
                    <a:pt x="182" y="54"/>
                  </a:lnTo>
                  <a:lnTo>
                    <a:pt x="172" y="38"/>
                  </a:lnTo>
                  <a:lnTo>
                    <a:pt x="158" y="24"/>
                  </a:lnTo>
                  <a:lnTo>
                    <a:pt x="142" y="12"/>
                  </a:lnTo>
                  <a:lnTo>
                    <a:pt x="126" y="4"/>
                  </a:lnTo>
                  <a:lnTo>
                    <a:pt x="108" y="0"/>
                  </a:lnTo>
                  <a:lnTo>
                    <a:pt x="90" y="0"/>
                  </a:lnTo>
                  <a:lnTo>
                    <a:pt x="70" y="2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36" y="20"/>
                  </a:lnTo>
                  <a:lnTo>
                    <a:pt x="22" y="32"/>
                  </a:lnTo>
                  <a:lnTo>
                    <a:pt x="12" y="48"/>
                  </a:lnTo>
                  <a:lnTo>
                    <a:pt x="6" y="64"/>
                  </a:lnTo>
                  <a:lnTo>
                    <a:pt x="2" y="82"/>
                  </a:lnTo>
                  <a:lnTo>
                    <a:pt x="0" y="102"/>
                  </a:lnTo>
                  <a:lnTo>
                    <a:pt x="4" y="120"/>
                  </a:lnTo>
                  <a:lnTo>
                    <a:pt x="12" y="140"/>
                  </a:lnTo>
                  <a:lnTo>
                    <a:pt x="12" y="140"/>
                  </a:lnTo>
                  <a:lnTo>
                    <a:pt x="22" y="156"/>
                  </a:lnTo>
                  <a:lnTo>
                    <a:pt x="34" y="170"/>
                  </a:lnTo>
                  <a:lnTo>
                    <a:pt x="50" y="180"/>
                  </a:lnTo>
                  <a:lnTo>
                    <a:pt x="68" y="188"/>
                  </a:lnTo>
                  <a:lnTo>
                    <a:pt x="84" y="192"/>
                  </a:lnTo>
                  <a:lnTo>
                    <a:pt x="104" y="194"/>
                  </a:lnTo>
                  <a:lnTo>
                    <a:pt x="122" y="192"/>
                  </a:lnTo>
                  <a:lnTo>
                    <a:pt x="140" y="184"/>
                  </a:lnTo>
                  <a:lnTo>
                    <a:pt x="140" y="184"/>
                  </a:lnTo>
                  <a:lnTo>
                    <a:pt x="156" y="174"/>
                  </a:lnTo>
                  <a:lnTo>
                    <a:pt x="156" y="174"/>
                  </a:lnTo>
                  <a:lnTo>
                    <a:pt x="160" y="178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58" y="246"/>
                  </a:lnTo>
                  <a:lnTo>
                    <a:pt x="266" y="248"/>
                  </a:lnTo>
                  <a:lnTo>
                    <a:pt x="276" y="244"/>
                  </a:lnTo>
                  <a:lnTo>
                    <a:pt x="282" y="238"/>
                  </a:lnTo>
                  <a:lnTo>
                    <a:pt x="288" y="230"/>
                  </a:lnTo>
                  <a:lnTo>
                    <a:pt x="288" y="230"/>
                  </a:lnTo>
                  <a:lnTo>
                    <a:pt x="292" y="222"/>
                  </a:lnTo>
                  <a:lnTo>
                    <a:pt x="292" y="212"/>
                  </a:lnTo>
                  <a:lnTo>
                    <a:pt x="290" y="204"/>
                  </a:lnTo>
                  <a:lnTo>
                    <a:pt x="282" y="196"/>
                  </a:lnTo>
                  <a:lnTo>
                    <a:pt x="282" y="196"/>
                  </a:lnTo>
                  <a:close/>
                  <a:moveTo>
                    <a:pt x="126" y="156"/>
                  </a:moveTo>
                  <a:lnTo>
                    <a:pt x="126" y="156"/>
                  </a:lnTo>
                  <a:lnTo>
                    <a:pt x="114" y="162"/>
                  </a:lnTo>
                  <a:lnTo>
                    <a:pt x="102" y="164"/>
                  </a:lnTo>
                  <a:lnTo>
                    <a:pt x="88" y="162"/>
                  </a:lnTo>
                  <a:lnTo>
                    <a:pt x="76" y="160"/>
                  </a:lnTo>
                  <a:lnTo>
                    <a:pt x="66" y="154"/>
                  </a:lnTo>
                  <a:lnTo>
                    <a:pt x="54" y="146"/>
                  </a:lnTo>
                  <a:lnTo>
                    <a:pt x="46" y="138"/>
                  </a:lnTo>
                  <a:lnTo>
                    <a:pt x="38" y="126"/>
                  </a:lnTo>
                  <a:lnTo>
                    <a:pt x="38" y="126"/>
                  </a:lnTo>
                  <a:lnTo>
                    <a:pt x="34" y="112"/>
                  </a:lnTo>
                  <a:lnTo>
                    <a:pt x="32" y="100"/>
                  </a:lnTo>
                  <a:lnTo>
                    <a:pt x="32" y="86"/>
                  </a:lnTo>
                  <a:lnTo>
                    <a:pt x="34" y="74"/>
                  </a:lnTo>
                  <a:lnTo>
                    <a:pt x="40" y="62"/>
                  </a:lnTo>
                  <a:lnTo>
                    <a:pt x="46" y="52"/>
                  </a:lnTo>
                  <a:lnTo>
                    <a:pt x="56" y="44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78" y="32"/>
                  </a:lnTo>
                  <a:lnTo>
                    <a:pt x="92" y="30"/>
                  </a:lnTo>
                  <a:lnTo>
                    <a:pt x="104" y="30"/>
                  </a:lnTo>
                  <a:lnTo>
                    <a:pt x="116" y="34"/>
                  </a:lnTo>
                  <a:lnTo>
                    <a:pt x="128" y="38"/>
                  </a:lnTo>
                  <a:lnTo>
                    <a:pt x="138" y="46"/>
                  </a:lnTo>
                  <a:lnTo>
                    <a:pt x="146" y="56"/>
                  </a:lnTo>
                  <a:lnTo>
                    <a:pt x="154" y="68"/>
                  </a:lnTo>
                  <a:lnTo>
                    <a:pt x="154" y="68"/>
                  </a:lnTo>
                  <a:lnTo>
                    <a:pt x="160" y="80"/>
                  </a:lnTo>
                  <a:lnTo>
                    <a:pt x="162" y="94"/>
                  </a:lnTo>
                  <a:lnTo>
                    <a:pt x="162" y="106"/>
                  </a:lnTo>
                  <a:lnTo>
                    <a:pt x="158" y="118"/>
                  </a:lnTo>
                  <a:lnTo>
                    <a:pt x="154" y="130"/>
                  </a:lnTo>
                  <a:lnTo>
                    <a:pt x="146" y="140"/>
                  </a:lnTo>
                  <a:lnTo>
                    <a:pt x="138" y="150"/>
                  </a:lnTo>
                  <a:lnTo>
                    <a:pt x="126" y="156"/>
                  </a:lnTo>
                  <a:lnTo>
                    <a:pt x="126" y="156"/>
                  </a:lnTo>
                  <a:close/>
                </a:path>
              </a:pathLst>
            </a:custGeom>
            <a:solidFill>
              <a:srgbClr val="0E7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63" name="Rectangle 546"/>
          <p:cNvSpPr>
            <a:spLocks noChangeArrowheads="1"/>
          </p:cNvSpPr>
          <p:nvPr/>
        </p:nvSpPr>
        <p:spPr bwMode="auto">
          <a:xfrm flipH="1">
            <a:off x="4333896" y="3580626"/>
            <a:ext cx="2714011" cy="441028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000" b="1" spc="-5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4" name="Freeform 547"/>
          <p:cNvSpPr>
            <a:spLocks/>
          </p:cNvSpPr>
          <p:nvPr/>
        </p:nvSpPr>
        <p:spPr bwMode="auto">
          <a:xfrm flipH="1">
            <a:off x="4333905" y="3585167"/>
            <a:ext cx="361950" cy="574452"/>
          </a:xfrm>
          <a:custGeom>
            <a:avLst/>
            <a:gdLst>
              <a:gd name="T0" fmla="*/ 228 w 228"/>
              <a:gd name="T1" fmla="*/ 0 h 292"/>
              <a:gd name="T2" fmla="*/ 0 w 228"/>
              <a:gd name="T3" fmla="*/ 98 h 292"/>
              <a:gd name="T4" fmla="*/ 0 w 228"/>
              <a:gd name="T5" fmla="*/ 292 h 292"/>
              <a:gd name="T6" fmla="*/ 228 w 228"/>
              <a:gd name="T7" fmla="*/ 195 h 292"/>
              <a:gd name="T8" fmla="*/ 228 w 228"/>
              <a:gd name="T9" fmla="*/ 0 h 292"/>
              <a:gd name="connsiteX0" fmla="*/ 10000 w 10000"/>
              <a:gd name="connsiteY0" fmla="*/ 0 h 10000"/>
              <a:gd name="connsiteX1" fmla="*/ 0 w 10000"/>
              <a:gd name="connsiteY1" fmla="*/ 3798 h 10000"/>
              <a:gd name="connsiteX2" fmla="*/ 0 w 10000"/>
              <a:gd name="connsiteY2" fmla="*/ 10000 h 10000"/>
              <a:gd name="connsiteX3" fmla="*/ 10000 w 10000"/>
              <a:gd name="connsiteY3" fmla="*/ 6678 h 10000"/>
              <a:gd name="connsiteX4" fmla="*/ 1000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3798"/>
                </a:lnTo>
                <a:lnTo>
                  <a:pt x="0" y="10000"/>
                </a:lnTo>
                <a:lnTo>
                  <a:pt x="10000" y="6678"/>
                </a:lnTo>
                <a:lnTo>
                  <a:pt x="1000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b="1"/>
          </a:p>
        </p:txBody>
      </p:sp>
      <p:sp>
        <p:nvSpPr>
          <p:cNvPr id="65" name="직사각형 6"/>
          <p:cNvSpPr>
            <a:spLocks noChangeArrowheads="1"/>
          </p:cNvSpPr>
          <p:nvPr/>
        </p:nvSpPr>
        <p:spPr bwMode="auto">
          <a:xfrm>
            <a:off x="1152277" y="3504618"/>
            <a:ext cx="1447796" cy="26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3" rIns="91422" bIns="45713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B6993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개발방법론 적용 개념</a:t>
            </a:r>
          </a:p>
        </p:txBody>
      </p:sp>
      <p:sp>
        <p:nvSpPr>
          <p:cNvPr id="66" name="직사각형 6"/>
          <p:cNvSpPr>
            <a:spLocks noChangeArrowheads="1"/>
          </p:cNvSpPr>
          <p:nvPr/>
        </p:nvSpPr>
        <p:spPr bwMode="auto">
          <a:xfrm>
            <a:off x="6310514" y="3606835"/>
            <a:ext cx="710415" cy="26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3" rIns="91422" bIns="45713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 spc="-50">
                <a:ln>
                  <a:solidFill>
                    <a:prstClr val="white">
                      <a:alpha val="0"/>
                    </a:prst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rPr>
              <a:t>유의사항</a:t>
            </a:r>
            <a:endParaRPr lang="ko-KR" altLang="en-US" sz="1100" b="1" spc="-50" dirty="0">
              <a:ln>
                <a:solidFill>
                  <a:prstClr val="white">
                    <a:alpha val="0"/>
                  </a:prstClr>
                </a:solidFill>
              </a:ln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4584958" y="3930369"/>
            <a:ext cx="240590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/>
          <p:cNvGrpSpPr/>
          <p:nvPr/>
        </p:nvGrpSpPr>
        <p:grpSpPr>
          <a:xfrm>
            <a:off x="4802863" y="4044678"/>
            <a:ext cx="2173537" cy="3836620"/>
            <a:chOff x="4824371" y="3580617"/>
            <a:chExt cx="2130711" cy="3836620"/>
          </a:xfrm>
        </p:grpSpPr>
        <p:sp>
          <p:nvSpPr>
            <p:cNvPr id="174" name="직사각형 173"/>
            <p:cNvSpPr/>
            <p:nvPr/>
          </p:nvSpPr>
          <p:spPr>
            <a:xfrm>
              <a:off x="5022230" y="3587967"/>
              <a:ext cx="1924494" cy="8506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5022231" y="3587966"/>
              <a:ext cx="1932851" cy="243766"/>
            </a:xfrm>
            <a:prstGeom prst="rect">
              <a:avLst/>
            </a:prstGeom>
            <a:solidFill>
              <a:srgbClr val="97D9F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2" tIns="45713" rIns="91422" bIns="45713" anchor="ctr"/>
            <a:lstStyle/>
            <a:p>
              <a:pPr algn="ctr" defTabSz="1111250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  <a:sym typeface="Monotype Sorts"/>
                </a:rPr>
                <a:t>유지관리 환경의 특성 식별</a:t>
              </a:r>
              <a:endParaRPr kumimoji="1" lang="ko-KR" altLang="en-US" sz="10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76" name="TextBox 513"/>
            <p:cNvSpPr txBox="1"/>
            <p:nvPr/>
          </p:nvSpPr>
          <p:spPr>
            <a:xfrm>
              <a:off x="5139234" y="3887428"/>
              <a:ext cx="1773353" cy="4667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87313" indent="-87313" defTabSz="895350" eaLnBrk="0" latinLnBrk="0" hangingPunct="0">
                <a:spcBef>
                  <a:spcPct val="10000"/>
                </a:spcBef>
                <a:spcAft>
                  <a:spcPct val="10000"/>
                </a:spcAft>
                <a:buClr>
                  <a:srgbClr val="929292"/>
                </a:buClr>
                <a:buSzPct val="110000"/>
                <a:buFont typeface="Arial" pitchFamily="34" charset="0"/>
                <a:buChar char="•"/>
                <a:tabLst>
                  <a:tab pos="93663" algn="l"/>
                </a:tabLst>
                <a:defRPr sz="900" spc="-100">
                  <a:solidFill>
                    <a:srgbClr val="262626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산돌고딕 L"/>
                </a:defRPr>
              </a:lvl1pPr>
              <a:lvl2pPr marL="742950" indent="-28575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2pPr>
              <a:lvl3pPr marL="11430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3pPr>
              <a:lvl4pPr marL="16002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4pPr>
              <a:lvl5pPr marL="20574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9pPr>
            </a:lstStyle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유지관리 범위</a:t>
              </a:r>
              <a:endParaRPr lang="en-US" altLang="ko-KR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사업기간과 체계유형</a:t>
              </a:r>
              <a:endParaRPr lang="en-US" altLang="ko-KR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시스템의 수명주기 활동 등</a:t>
              </a:r>
            </a:p>
          </p:txBody>
        </p:sp>
        <p:grpSp>
          <p:nvGrpSpPr>
            <p:cNvPr id="177" name="그룹 176"/>
            <p:cNvGrpSpPr/>
            <p:nvPr/>
          </p:nvGrpSpPr>
          <p:grpSpPr>
            <a:xfrm>
              <a:off x="5022230" y="4522635"/>
              <a:ext cx="1932852" cy="1784134"/>
              <a:chOff x="5075211" y="4545025"/>
              <a:chExt cx="1971703" cy="1784134"/>
            </a:xfrm>
          </p:grpSpPr>
          <p:sp>
            <p:nvSpPr>
              <p:cNvPr id="186" name="직사각형 185"/>
              <p:cNvSpPr/>
              <p:nvPr/>
            </p:nvSpPr>
            <p:spPr>
              <a:xfrm>
                <a:off x="5075211" y="4545025"/>
                <a:ext cx="1963177" cy="17841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" name="직사각형 186"/>
              <p:cNvSpPr/>
              <p:nvPr/>
            </p:nvSpPr>
            <p:spPr>
              <a:xfrm>
                <a:off x="5075212" y="4545025"/>
                <a:ext cx="1971702" cy="243766"/>
              </a:xfrm>
              <a:prstGeom prst="rect">
                <a:avLst/>
              </a:prstGeom>
              <a:solidFill>
                <a:srgbClr val="97D9F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2" tIns="45713" rIns="91422" bIns="45713" anchor="ctr"/>
              <a:lstStyle/>
              <a:p>
                <a:pPr algn="ctr" defTabSz="1111250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000" b="1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범위결정과 문서화</a:t>
                </a:r>
              </a:p>
            </p:txBody>
          </p:sp>
          <p:sp>
            <p:nvSpPr>
              <p:cNvPr id="188" name="TextBox 513"/>
              <p:cNvSpPr txBox="1"/>
              <p:nvPr/>
            </p:nvSpPr>
            <p:spPr>
              <a:xfrm>
                <a:off x="5194567" y="4842949"/>
                <a:ext cx="1808998" cy="1410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defPPr>
                  <a:defRPr lang="ko-KR"/>
                </a:defPPr>
                <a:lvl1pPr marL="87313" indent="-87313" defTabSz="895350" eaLnBrk="0" latinLnBrk="0" hangingPunct="0">
                  <a:spcBef>
                    <a:spcPct val="10000"/>
                  </a:spcBef>
                  <a:spcAft>
                    <a:spcPct val="10000"/>
                  </a:spcAft>
                  <a:buClr>
                    <a:srgbClr val="929292"/>
                  </a:buClr>
                  <a:buSzPct val="110000"/>
                  <a:buFont typeface="Arial" pitchFamily="34" charset="0"/>
                  <a:buChar char="•"/>
                  <a:tabLst>
                    <a:tab pos="93663" algn="l"/>
                  </a:tabLst>
                  <a:defRPr sz="900" spc="-1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산돌고딕 L"/>
                  </a:defRPr>
                </a:lvl1pPr>
                <a:lvl2pPr marL="742950" indent="-28575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2pPr>
                <a:lvl3pPr marL="1143000" indent="-22860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3pPr>
                <a:lvl4pPr marL="1600200" indent="-22860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4pPr>
                <a:lvl5pPr marL="2057400" indent="-22860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5pPr>
                <a:lvl6pPr marL="25146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6pPr>
                <a:lvl7pPr marL="29718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7pPr>
                <a:lvl8pPr marL="34290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8pPr>
                <a:lvl9pPr marL="38862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9pPr>
              </a:lstStyle>
              <a:p>
                <a:pPr>
                  <a:spcBef>
                    <a:spcPts val="200"/>
                  </a:spcBef>
                  <a:spcAft>
                    <a:spcPts val="0"/>
                  </a:spcAft>
                </a:pP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변경사항을 토대로 사업관리기관과의 협의를 거쳐 산출물 기준 결정</a:t>
                </a:r>
              </a:p>
              <a:p>
                <a:pPr marL="182563" indent="-90488" defTabSz="914400" eaLnBrk="1" fontAlgn="base" hangingPunct="1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80000"/>
                  <a:buFont typeface="HY신명조" panose="02030600000101010101" pitchFamily="18" charset="-127"/>
                  <a:buChar char="-"/>
                  <a:tabLst/>
                </a:pPr>
                <a:r>
                  <a:rPr kumimoji="1" lang="ko-KR" altLang="en-US" spc="0" dirty="0">
                    <a:ln>
                      <a:solidFill>
                        <a:srgbClr val="F78E3F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cs"/>
                  </a:rPr>
                  <a:t>가이드에서 제공되는 기준  적용</a:t>
                </a:r>
              </a:p>
              <a:p>
                <a:pPr marL="182563" indent="-90488" defTabSz="914400" eaLnBrk="1" fontAlgn="base" hangingPunct="1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80000"/>
                  <a:buFont typeface="HY신명조" panose="02030600000101010101" pitchFamily="18" charset="-127"/>
                  <a:buChar char="-"/>
                  <a:tabLst/>
                </a:pPr>
                <a:r>
                  <a:rPr kumimoji="1" lang="ko-KR" altLang="en-US" spc="0" dirty="0">
                    <a:ln>
                      <a:solidFill>
                        <a:srgbClr val="F78E3F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cs"/>
                  </a:rPr>
                  <a:t>해당 기준을 수정</a:t>
                </a:r>
                <a:r>
                  <a:rPr kumimoji="1" lang="en-US" altLang="ko-KR" spc="0" dirty="0">
                    <a:ln>
                      <a:solidFill>
                        <a:srgbClr val="F78E3F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cs"/>
                  </a:rPr>
                  <a:t>, </a:t>
                </a:r>
                <a:r>
                  <a:rPr kumimoji="1" lang="ko-KR" altLang="en-US" spc="0" dirty="0">
                    <a:ln>
                      <a:solidFill>
                        <a:srgbClr val="F78E3F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cs"/>
                  </a:rPr>
                  <a:t>보완 또는 새로운 기준 생성 적용</a:t>
                </a:r>
              </a:p>
              <a:p>
                <a:pPr>
                  <a:spcBef>
                    <a:spcPts val="200"/>
                  </a:spcBef>
                  <a:spcAft>
                    <a:spcPts val="0"/>
                  </a:spcAft>
                </a:pP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결정사항 문서화</a:t>
                </a:r>
              </a:p>
              <a:p>
                <a:pPr marL="182563" indent="-90488" defTabSz="914400" eaLnBrk="1" fontAlgn="base" hangingPunct="1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80000"/>
                  <a:buFont typeface="HY신명조" panose="02030600000101010101" pitchFamily="18" charset="-127"/>
                  <a:buChar char="-"/>
                  <a:tabLst/>
                </a:pPr>
                <a:r>
                  <a:rPr kumimoji="1" lang="ko-KR" altLang="en-US" spc="0" dirty="0">
                    <a:ln>
                      <a:solidFill>
                        <a:srgbClr val="F78E3F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cs"/>
                  </a:rPr>
                  <a:t>사업관리기관과 협의된 내용을 보고서 또는 기타 문서에 포함</a:t>
                </a:r>
              </a:p>
            </p:txBody>
          </p:sp>
        </p:grpSp>
        <p:grpSp>
          <p:nvGrpSpPr>
            <p:cNvPr id="178" name="그룹 177"/>
            <p:cNvGrpSpPr/>
            <p:nvPr/>
          </p:nvGrpSpPr>
          <p:grpSpPr>
            <a:xfrm>
              <a:off x="5022230" y="6390754"/>
              <a:ext cx="1932852" cy="1017575"/>
              <a:chOff x="5075211" y="4545025"/>
              <a:chExt cx="1971703" cy="1017575"/>
            </a:xfrm>
          </p:grpSpPr>
          <p:sp>
            <p:nvSpPr>
              <p:cNvPr id="183" name="직사각형 182"/>
              <p:cNvSpPr/>
              <p:nvPr/>
            </p:nvSpPr>
            <p:spPr>
              <a:xfrm>
                <a:off x="5075211" y="4545025"/>
                <a:ext cx="1963177" cy="10175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" name="직사각형 183"/>
              <p:cNvSpPr/>
              <p:nvPr/>
            </p:nvSpPr>
            <p:spPr>
              <a:xfrm>
                <a:off x="5075212" y="4545025"/>
                <a:ext cx="1971702" cy="243766"/>
              </a:xfrm>
              <a:prstGeom prst="rect">
                <a:avLst/>
              </a:prstGeom>
              <a:solidFill>
                <a:srgbClr val="97D9F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22" tIns="45713" rIns="91422" bIns="45713" anchor="ctr"/>
              <a:lstStyle/>
              <a:p>
                <a:pPr algn="ctr" defTabSz="1111250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1000" b="1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latin typeface="HY신명조" panose="02030600000101010101" pitchFamily="18" charset="-127"/>
                    <a:ea typeface="HY신명조" panose="02030600000101010101" pitchFamily="18" charset="-127"/>
                    <a:sym typeface="Monotype Sorts"/>
                  </a:rPr>
                  <a:t>적용 및 감시</a:t>
                </a:r>
              </a:p>
            </p:txBody>
          </p:sp>
          <p:sp>
            <p:nvSpPr>
              <p:cNvPr id="185" name="TextBox 513"/>
              <p:cNvSpPr txBox="1"/>
              <p:nvPr/>
            </p:nvSpPr>
            <p:spPr>
              <a:xfrm>
                <a:off x="5194567" y="4842949"/>
                <a:ext cx="1808998" cy="4411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defPPr>
                  <a:defRPr lang="ko-KR"/>
                </a:defPPr>
                <a:lvl1pPr marL="87313" indent="-87313" defTabSz="895350" eaLnBrk="0" latinLnBrk="0" hangingPunct="0">
                  <a:spcBef>
                    <a:spcPct val="10000"/>
                  </a:spcBef>
                  <a:spcAft>
                    <a:spcPct val="10000"/>
                  </a:spcAft>
                  <a:buClr>
                    <a:srgbClr val="929292"/>
                  </a:buClr>
                  <a:buSzPct val="110000"/>
                  <a:buFont typeface="Arial" pitchFamily="34" charset="0"/>
                  <a:buChar char="•"/>
                  <a:tabLst>
                    <a:tab pos="93663" algn="l"/>
                  </a:tabLst>
                  <a:defRPr sz="900" spc="-1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산돌고딕 L"/>
                  </a:defRPr>
                </a:lvl1pPr>
                <a:lvl2pPr marL="742950" indent="-28575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2pPr>
                <a:lvl3pPr marL="1143000" indent="-22860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3pPr>
                <a:lvl4pPr marL="1600200" indent="-22860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4pPr>
                <a:lvl5pPr marL="2057400" indent="-22860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5pPr>
                <a:lvl6pPr marL="25146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6pPr>
                <a:lvl7pPr marL="29718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7pPr>
                <a:lvl8pPr marL="34290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8pPr>
                <a:lvl9pPr marL="38862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9pPr>
              </a:lstStyle>
              <a:p>
                <a:pPr>
                  <a:spcBef>
                    <a:spcPts val="200"/>
                  </a:spcBef>
                  <a:spcAft>
                    <a:spcPts val="0"/>
                  </a:spcAft>
                </a:pP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결정된 사항들이 제대로 적용되고 있는지 품질보증 활동 수행</a:t>
                </a:r>
              </a:p>
              <a:p>
                <a:pPr>
                  <a:spcBef>
                    <a:spcPts val="200"/>
                  </a:spcBef>
                  <a:spcAft>
                    <a:spcPts val="0"/>
                  </a:spcAft>
                </a:pP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사업수행 기간 동안 지속적인 감시</a:t>
                </a:r>
              </a:p>
            </p:txBody>
          </p:sp>
        </p:grpSp>
        <p:grpSp>
          <p:nvGrpSpPr>
            <p:cNvPr id="179" name="그룹 178"/>
            <p:cNvGrpSpPr/>
            <p:nvPr/>
          </p:nvGrpSpPr>
          <p:grpSpPr>
            <a:xfrm>
              <a:off x="4824371" y="3580617"/>
              <a:ext cx="2129021" cy="3836620"/>
              <a:chOff x="4873375" y="3580617"/>
              <a:chExt cx="2171815" cy="3836620"/>
            </a:xfrm>
          </p:grpSpPr>
          <p:sp>
            <p:nvSpPr>
              <p:cNvPr id="181" name="L 도형 15"/>
              <p:cNvSpPr/>
              <p:nvPr/>
            </p:nvSpPr>
            <p:spPr>
              <a:xfrm>
                <a:off x="4873375" y="3580617"/>
                <a:ext cx="2171815" cy="3827712"/>
              </a:xfrm>
              <a:custGeom>
                <a:avLst/>
                <a:gdLst/>
                <a:ahLst/>
                <a:cxnLst/>
                <a:rect l="l" t="t" r="r" b="b"/>
                <a:pathLst>
                  <a:path w="2171815" h="4137433">
                    <a:moveTo>
                      <a:pt x="220015" y="0"/>
                    </a:moveTo>
                    <a:lnTo>
                      <a:pt x="221134" y="0"/>
                    </a:lnTo>
                    <a:lnTo>
                      <a:pt x="221134" y="3903398"/>
                    </a:lnTo>
                    <a:lnTo>
                      <a:pt x="2171815" y="3903398"/>
                    </a:lnTo>
                    <a:lnTo>
                      <a:pt x="2171815" y="4137433"/>
                    </a:lnTo>
                    <a:lnTo>
                      <a:pt x="0" y="4137433"/>
                    </a:lnTo>
                    <a:lnTo>
                      <a:pt x="0" y="205971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자유형 181"/>
              <p:cNvSpPr/>
              <p:nvPr/>
            </p:nvSpPr>
            <p:spPr>
              <a:xfrm>
                <a:off x="4892040" y="7181017"/>
                <a:ext cx="1012765" cy="236220"/>
              </a:xfrm>
              <a:custGeom>
                <a:avLst/>
                <a:gdLst>
                  <a:gd name="connsiteX0" fmla="*/ 205740 w 982980"/>
                  <a:gd name="connsiteY0" fmla="*/ 0 h 213360"/>
                  <a:gd name="connsiteX1" fmla="*/ 0 w 982980"/>
                  <a:gd name="connsiteY1" fmla="*/ 213360 h 213360"/>
                  <a:gd name="connsiteX2" fmla="*/ 982980 w 982980"/>
                  <a:gd name="connsiteY2" fmla="*/ 213360 h 213360"/>
                  <a:gd name="connsiteX3" fmla="*/ 982980 w 982980"/>
                  <a:gd name="connsiteY3" fmla="*/ 15240 h 213360"/>
                  <a:gd name="connsiteX4" fmla="*/ 205740 w 982980"/>
                  <a:gd name="connsiteY4" fmla="*/ 0 h 213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2980" h="213360">
                    <a:moveTo>
                      <a:pt x="205740" y="0"/>
                    </a:moveTo>
                    <a:lnTo>
                      <a:pt x="0" y="213360"/>
                    </a:lnTo>
                    <a:lnTo>
                      <a:pt x="982980" y="213360"/>
                    </a:lnTo>
                    <a:lnTo>
                      <a:pt x="982980" y="15240"/>
                    </a:lnTo>
                    <a:lnTo>
                      <a:pt x="20574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86000"/>
                    </a:schemeClr>
                  </a:gs>
                  <a:gs pos="69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80" name="직사각형 6"/>
            <p:cNvSpPr>
              <a:spLocks noChangeArrowheads="1"/>
            </p:cNvSpPr>
            <p:nvPr/>
          </p:nvSpPr>
          <p:spPr bwMode="auto">
            <a:xfrm>
              <a:off x="5501857" y="7145013"/>
              <a:ext cx="864559" cy="268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2" tIns="45713" rIns="91422" bIns="45713">
              <a:spAutoFit/>
            </a:bodyPr>
            <a:lstStyle>
              <a:lvl1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765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30337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909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9481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latin typeface="HY신명조" panose="02030600000101010101" pitchFamily="18" charset="-127"/>
                  <a:ea typeface="HY신명조" panose="02030600000101010101" pitchFamily="18" charset="-127"/>
                </a:rPr>
                <a:t>문서화 활동</a:t>
              </a:r>
            </a:p>
          </p:txBody>
        </p:sp>
      </p:grpSp>
      <p:sp>
        <p:nvSpPr>
          <p:cNvPr id="75" name="Rectangle 548"/>
          <p:cNvSpPr>
            <a:spLocks noChangeArrowheads="1"/>
          </p:cNvSpPr>
          <p:nvPr/>
        </p:nvSpPr>
        <p:spPr bwMode="auto">
          <a:xfrm flipH="1">
            <a:off x="719138" y="3810999"/>
            <a:ext cx="3976716" cy="4451963"/>
          </a:xfrm>
          <a:prstGeom prst="rect">
            <a:avLst/>
          </a:prstGeom>
          <a:solidFill>
            <a:srgbClr val="0E699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6" name="Rectangle 548"/>
          <p:cNvSpPr>
            <a:spLocks noChangeArrowheads="1"/>
          </p:cNvSpPr>
          <p:nvPr/>
        </p:nvSpPr>
        <p:spPr bwMode="auto">
          <a:xfrm flipH="1">
            <a:off x="766821" y="4076983"/>
            <a:ext cx="3881350" cy="6459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7" name="직사각형 6"/>
          <p:cNvSpPr>
            <a:spLocks noChangeArrowheads="1"/>
          </p:cNvSpPr>
          <p:nvPr/>
        </p:nvSpPr>
        <p:spPr bwMode="auto">
          <a:xfrm>
            <a:off x="2140693" y="3812131"/>
            <a:ext cx="1133607" cy="286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3" rIns="91422" bIns="45713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5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적용규정 및 지침</a:t>
            </a:r>
          </a:p>
        </p:txBody>
      </p:sp>
      <p:sp>
        <p:nvSpPr>
          <p:cNvPr id="78" name="Rectangle 548"/>
          <p:cNvSpPr>
            <a:spLocks noChangeArrowheads="1"/>
          </p:cNvSpPr>
          <p:nvPr/>
        </p:nvSpPr>
        <p:spPr bwMode="auto">
          <a:xfrm flipH="1">
            <a:off x="766821" y="5280325"/>
            <a:ext cx="3881350" cy="29003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9" name="직사각형 6"/>
          <p:cNvSpPr>
            <a:spLocks noChangeArrowheads="1"/>
          </p:cNvSpPr>
          <p:nvPr/>
        </p:nvSpPr>
        <p:spPr bwMode="auto">
          <a:xfrm>
            <a:off x="2427631" y="5012261"/>
            <a:ext cx="559732" cy="26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3" rIns="91422" bIns="45713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5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문서화</a:t>
            </a:r>
          </a:p>
        </p:txBody>
      </p:sp>
      <p:sp>
        <p:nvSpPr>
          <p:cNvPr id="80" name="AutoShape 6"/>
          <p:cNvSpPr>
            <a:spLocks noChangeArrowheads="1"/>
          </p:cNvSpPr>
          <p:nvPr/>
        </p:nvSpPr>
        <p:spPr bwMode="auto">
          <a:xfrm>
            <a:off x="2031711" y="4374010"/>
            <a:ext cx="1351570" cy="644601"/>
          </a:xfrm>
          <a:prstGeom prst="downArrow">
            <a:avLst>
              <a:gd name="adj1" fmla="val 75808"/>
              <a:gd name="adj2" fmla="val 35146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spc="-5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1" name="직사각형 6"/>
          <p:cNvSpPr>
            <a:spLocks noChangeArrowheads="1"/>
          </p:cNvSpPr>
          <p:nvPr/>
        </p:nvSpPr>
        <p:spPr bwMode="auto">
          <a:xfrm>
            <a:off x="2355098" y="4670001"/>
            <a:ext cx="665530" cy="252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2" tIns="45713" rIns="91422" bIns="45713">
            <a:spAutoFit/>
          </a:bodyPr>
          <a:lstStyle>
            <a:lvl1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defTabSz="1111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765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337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909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948113" indent="-290513" defTabSz="11112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개선사항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943873" y="4164349"/>
            <a:ext cx="3653446" cy="473610"/>
            <a:chOff x="8847911" y="3843199"/>
            <a:chExt cx="3653446" cy="473610"/>
          </a:xfrm>
        </p:grpSpPr>
        <p:sp>
          <p:nvSpPr>
            <p:cNvPr id="166" name="TextBox 1019"/>
            <p:cNvSpPr txBox="1"/>
            <p:nvPr/>
          </p:nvSpPr>
          <p:spPr>
            <a:xfrm>
              <a:off x="9153867" y="3843199"/>
              <a:ext cx="509489" cy="3898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noAutofit/>
            </a:bodyPr>
            <a:lstStyle>
              <a:defPPr>
                <a:defRPr lang="ko-KR"/>
              </a:defPPr>
              <a:lvl1pPr algn="ctr">
                <a:lnSpc>
                  <a:spcPct val="80000"/>
                </a:lnSpc>
                <a:defRPr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0" lvl="1" algn="ctr" defTabSz="1067603" eaLnBrk="0" latinLnBrk="0" hangingPunct="0">
                <a:lnSpc>
                  <a:spcPts val="717"/>
                </a:lnSpc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781625" algn="l"/>
                </a:tabLst>
                <a:defRPr kumimoji="1" sz="500">
                  <a:solidFill>
                    <a:schemeClr val="tx2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defRPr>
              </a:lvl2pPr>
            </a:lstStyle>
            <a:p>
              <a:pPr algn="l" latinLnBrk="0">
                <a:lnSpc>
                  <a:spcPct val="100000"/>
                </a:lnSpc>
              </a:pPr>
              <a:r>
                <a:rPr lang="ko-KR" altLang="en-US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법령</a:t>
              </a:r>
              <a:r>
                <a:rPr lang="en-US" altLang="ko-KR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,</a:t>
              </a:r>
            </a:p>
            <a:p>
              <a:pPr algn="l" latinLnBrk="0">
                <a:lnSpc>
                  <a:spcPct val="100000"/>
                </a:lnSpc>
              </a:pPr>
              <a:r>
                <a:rPr lang="ko-KR" altLang="en-US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훈령</a:t>
              </a:r>
              <a:r>
                <a:rPr lang="en-US" altLang="ko-KR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,</a:t>
              </a:r>
            </a:p>
            <a:p>
              <a:pPr algn="l" latinLnBrk="0">
                <a:lnSpc>
                  <a:spcPct val="100000"/>
                </a:lnSpc>
              </a:pPr>
              <a:r>
                <a:rPr lang="ko-KR" altLang="en-US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지침</a:t>
              </a:r>
            </a:p>
          </p:txBody>
        </p:sp>
        <p:sp>
          <p:nvSpPr>
            <p:cNvPr id="167" name="TextBox 1020"/>
            <p:cNvSpPr txBox="1"/>
            <p:nvPr/>
          </p:nvSpPr>
          <p:spPr>
            <a:xfrm>
              <a:off x="10019345" y="3843199"/>
              <a:ext cx="509489" cy="3898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noAutofit/>
            </a:bodyPr>
            <a:lstStyle>
              <a:defPPr>
                <a:defRPr lang="ko-KR"/>
              </a:defPPr>
              <a:lvl1pPr algn="ctr">
                <a:lnSpc>
                  <a:spcPct val="80000"/>
                </a:lnSpc>
                <a:defRPr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0" lvl="1" algn="ctr" defTabSz="1067603" eaLnBrk="0" latinLnBrk="0" hangingPunct="0">
                <a:lnSpc>
                  <a:spcPts val="717"/>
                </a:lnSpc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781625" algn="l"/>
                </a:tabLst>
                <a:defRPr kumimoji="1" sz="500">
                  <a:solidFill>
                    <a:schemeClr val="tx2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defRPr>
              </a:lvl2pPr>
            </a:lstStyle>
            <a:p>
              <a:pPr algn="l" latinLnBrk="0">
                <a:lnSpc>
                  <a:spcPct val="100000"/>
                </a:lnSpc>
              </a:pPr>
              <a:r>
                <a:rPr lang="ko-KR" altLang="en-US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제안</a:t>
              </a:r>
              <a:endParaRPr lang="en-US" altLang="ko-KR" sz="900" spc="-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</a:endParaRPr>
            </a:p>
            <a:p>
              <a:pPr algn="l" latinLnBrk="0">
                <a:lnSpc>
                  <a:spcPct val="100000"/>
                </a:lnSpc>
              </a:pPr>
              <a:r>
                <a:rPr lang="ko-KR" altLang="en-US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요청서</a:t>
              </a:r>
              <a:endParaRPr lang="en-US" altLang="ko-KR" sz="900" spc="-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</a:endParaRPr>
            </a:p>
            <a:p>
              <a:pPr algn="l" latinLnBrk="0">
                <a:lnSpc>
                  <a:spcPct val="100000"/>
                </a:lnSpc>
              </a:pPr>
              <a:r>
                <a:rPr lang="en-US" altLang="ko-KR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(RFP)</a:t>
              </a:r>
              <a:endParaRPr lang="ko-KR" altLang="en-US" sz="900" spc="-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168" name="TextBox 1021"/>
            <p:cNvSpPr txBox="1"/>
            <p:nvPr/>
          </p:nvSpPr>
          <p:spPr>
            <a:xfrm>
              <a:off x="10943417" y="3843199"/>
              <a:ext cx="509489" cy="3898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noAutofit/>
            </a:bodyPr>
            <a:lstStyle>
              <a:defPPr>
                <a:defRPr lang="ko-KR"/>
              </a:defPPr>
              <a:lvl1pPr algn="ctr">
                <a:lnSpc>
                  <a:spcPct val="80000"/>
                </a:lnSpc>
                <a:defRPr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0" lvl="1" algn="ctr" defTabSz="1067603" eaLnBrk="0" latinLnBrk="0" hangingPunct="0">
                <a:lnSpc>
                  <a:spcPts val="717"/>
                </a:lnSpc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781625" algn="l"/>
                </a:tabLst>
                <a:defRPr kumimoji="1" sz="500">
                  <a:solidFill>
                    <a:schemeClr val="tx2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defRPr>
              </a:lvl2pPr>
            </a:lstStyle>
            <a:p>
              <a:pPr algn="l" latinLnBrk="0">
                <a:lnSpc>
                  <a:spcPct val="100000"/>
                </a:lnSpc>
              </a:pPr>
              <a:endParaRPr lang="en-US" altLang="ko-KR" sz="900" spc="-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</a:endParaRPr>
            </a:p>
            <a:p>
              <a:pPr algn="l" latinLnBrk="0">
                <a:lnSpc>
                  <a:spcPct val="100000"/>
                </a:lnSpc>
              </a:pPr>
              <a:r>
                <a:rPr lang="ko-KR" altLang="en-US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제안서</a:t>
              </a:r>
            </a:p>
          </p:txBody>
        </p:sp>
        <p:sp>
          <p:nvSpPr>
            <p:cNvPr id="169" name="TextBox 1022"/>
            <p:cNvSpPr txBox="1"/>
            <p:nvPr/>
          </p:nvSpPr>
          <p:spPr>
            <a:xfrm>
              <a:off x="11917624" y="3920169"/>
              <a:ext cx="583733" cy="3068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noAutofit/>
            </a:bodyPr>
            <a:lstStyle>
              <a:defPPr>
                <a:defRPr lang="ko-KR"/>
              </a:defPPr>
              <a:lvl1pPr algn="ctr">
                <a:lnSpc>
                  <a:spcPct val="80000"/>
                </a:lnSpc>
                <a:defRPr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defRPr>
              </a:lvl1pPr>
              <a:lvl2pPr marL="0" lvl="1" algn="ctr" defTabSz="1067603" eaLnBrk="0" latinLnBrk="0" hangingPunct="0">
                <a:lnSpc>
                  <a:spcPts val="717"/>
                </a:lnSpc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781625" algn="l"/>
                </a:tabLst>
                <a:defRPr kumimoji="1" sz="500">
                  <a:solidFill>
                    <a:schemeClr val="tx2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defRPr>
              </a:lvl2pPr>
            </a:lstStyle>
            <a:p>
              <a:pPr algn="l" latinLnBrk="0">
                <a:lnSpc>
                  <a:spcPct val="100000"/>
                </a:lnSpc>
              </a:pPr>
              <a:r>
                <a:rPr lang="ko-KR" altLang="en-US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사업수행</a:t>
              </a:r>
              <a:endParaRPr lang="en-US" altLang="ko-KR" sz="900" spc="-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</a:endParaRPr>
            </a:p>
            <a:p>
              <a:pPr algn="l" latinLnBrk="0">
                <a:lnSpc>
                  <a:spcPct val="100000"/>
                </a:lnSpc>
              </a:pPr>
              <a:r>
                <a:rPr lang="ko-KR" altLang="en-US" sz="900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</a:rPr>
                <a:t>계획서</a:t>
              </a:r>
            </a:p>
          </p:txBody>
        </p:sp>
        <p:pic>
          <p:nvPicPr>
            <p:cNvPr id="170" name="Picture 11" descr="not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6243" y="3856757"/>
              <a:ext cx="430138" cy="460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1" name="Picture 11" descr="not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68091" y="3856757"/>
              <a:ext cx="430138" cy="460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2" name="Picture 11" descr="not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63553" y="3856757"/>
              <a:ext cx="430138" cy="460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" name="Picture 1106" descr="'PL' 캐릭터  [v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847911" y="3989854"/>
              <a:ext cx="288052" cy="320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3" name="Picture 31" descr="business icon_0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90057" y="4181456"/>
            <a:ext cx="345219" cy="449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" name="Rectangle 548"/>
          <p:cNvSpPr>
            <a:spLocks noChangeArrowheads="1"/>
          </p:cNvSpPr>
          <p:nvPr/>
        </p:nvSpPr>
        <p:spPr bwMode="auto">
          <a:xfrm flipH="1">
            <a:off x="766821" y="5285434"/>
            <a:ext cx="3881350" cy="29313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lIns="91422" tIns="45713" rIns="91422" bIns="45713" anchor="ctr"/>
          <a:lstStyle/>
          <a:p>
            <a:pPr algn="ctr" defTabSz="914491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pc="-50">
              <a:solidFill>
                <a:prstClr val="black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116" name="그룹 115"/>
          <p:cNvGrpSpPr/>
          <p:nvPr/>
        </p:nvGrpSpPr>
        <p:grpSpPr>
          <a:xfrm>
            <a:off x="734518" y="5392994"/>
            <a:ext cx="3982156" cy="868234"/>
            <a:chOff x="734518" y="4815174"/>
            <a:chExt cx="3982156" cy="818307"/>
          </a:xfrm>
        </p:grpSpPr>
        <p:grpSp>
          <p:nvGrpSpPr>
            <p:cNvPr id="157" name="그룹 156"/>
            <p:cNvGrpSpPr/>
            <p:nvPr/>
          </p:nvGrpSpPr>
          <p:grpSpPr>
            <a:xfrm>
              <a:off x="1747840" y="4853006"/>
              <a:ext cx="2968834" cy="780475"/>
              <a:chOff x="1936166" y="3439913"/>
              <a:chExt cx="2727075" cy="648691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 flipH="1">
                <a:off x="1936166" y="4088604"/>
                <a:ext cx="2620430" cy="0"/>
              </a:xfrm>
              <a:prstGeom prst="line">
                <a:avLst/>
              </a:prstGeom>
              <a:solidFill>
                <a:srgbClr val="FFFFFF"/>
              </a:solidFill>
              <a:ln w="9525" algn="ctr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ffectLst/>
            </p:spPr>
          </p:cxnSp>
          <p:sp>
            <p:nvSpPr>
              <p:cNvPr id="165" name="Text Box 370"/>
              <p:cNvSpPr txBox="1">
                <a:spLocks noChangeArrowheads="1"/>
              </p:cNvSpPr>
              <p:nvPr/>
            </p:nvSpPr>
            <p:spPr bwMode="auto">
              <a:xfrm>
                <a:off x="1982239" y="3439913"/>
                <a:ext cx="2681002" cy="6228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marL="87313" indent="-87313" defTabSz="895350" eaLnBrk="0" latinLnBrk="0" hangingPunct="0">
                  <a:spcBef>
                    <a:spcPct val="10000"/>
                  </a:spcBef>
                  <a:spcAft>
                    <a:spcPct val="10000"/>
                  </a:spcAft>
                  <a:buClr>
                    <a:srgbClr val="929292"/>
                  </a:buClr>
                  <a:buSzPct val="110000"/>
                  <a:buFont typeface="Arial" pitchFamily="34" charset="0"/>
                  <a:buChar char="•"/>
                  <a:tabLst>
                    <a:tab pos="93663" algn="l"/>
                  </a:tabLst>
                  <a:defRPr sz="900" spc="-100">
                    <a:solidFill>
                      <a:srgbClr val="262626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  <a:cs typeface="산돌고딕 L"/>
                  </a:defRPr>
                </a:lvl1pPr>
                <a:lvl2pPr marL="742950" indent="-28575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2pPr>
                <a:lvl3pPr marL="1143000" indent="-22860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3pPr>
                <a:lvl4pPr marL="1600200" indent="-22860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4pPr>
                <a:lvl5pPr marL="2057400" indent="-228600" defTabSz="895350"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5pPr>
                <a:lvl6pPr marL="25146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6pPr>
                <a:lvl7pPr marL="29718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7pPr>
                <a:lvl8pPr marL="34290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8pPr>
                <a:lvl9pPr marL="3886200" indent="-228600" defTabSz="8953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93663" algn="l"/>
                  </a:tabLst>
                  <a:defRPr>
                    <a:latin typeface="산돌고딕 L"/>
                    <a:ea typeface="산돌고딕 L"/>
                    <a:cs typeface="산돌고딕 L"/>
                  </a:defRPr>
                </a:lvl9pPr>
              </a:lstStyle>
              <a:p>
                <a:pPr>
                  <a:spcBef>
                    <a:spcPts val="200"/>
                  </a:spcBef>
                  <a:spcAft>
                    <a:spcPts val="0"/>
                  </a:spcAft>
                </a:pP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</a:rPr>
                  <a:t>모의논리분석서</a:t>
                </a:r>
                <a:endPara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endParaRPr>
              </a:p>
              <a:p>
                <a:pPr>
                  <a:spcBef>
                    <a:spcPts val="200"/>
                  </a:spcBef>
                  <a:spcAft>
                    <a:spcPts val="0"/>
                  </a:spcAft>
                </a:pP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</a:rPr>
                  <a:t>사용자 지침서</a:t>
                </a:r>
                <a:endPara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endParaRPr>
              </a:p>
              <a:p>
                <a:pPr>
                  <a:spcBef>
                    <a:spcPts val="200"/>
                  </a:spcBef>
                  <a:spcAft>
                    <a:spcPts val="0"/>
                  </a:spcAft>
                </a:pPr>
                <a:r>
                  <a:rPr lang="ko-KR" altLang="en-US" spc="-5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</a:rPr>
                  <a:t>운용자</a:t>
                </a: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</a:rPr>
                  <a:t> 지침서</a:t>
                </a:r>
                <a:endPara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endParaRPr>
              </a:p>
              <a:p>
                <a:pPr>
                  <a:spcBef>
                    <a:spcPts val="200"/>
                  </a:spcBef>
                  <a:spcAft>
                    <a:spcPts val="0"/>
                  </a:spcAft>
                </a:pP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</a:rPr>
                  <a:t>운용소스코드 및 </a:t>
                </a:r>
                <a:r>
                  <a:rPr lang="en-US" altLang="ko-KR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</a:rPr>
                  <a:t>DB </a:t>
                </a: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</a:rPr>
                  <a:t>관련</a:t>
                </a:r>
                <a:endPara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endParaRPr>
              </a:p>
              <a:p>
                <a:pPr>
                  <a:spcBef>
                    <a:spcPts val="200"/>
                  </a:spcBef>
                  <a:spcAft>
                    <a:spcPts val="0"/>
                  </a:spcAft>
                </a:pPr>
                <a:r>
                  <a:rPr lang="ko-KR" altLang="en-US" spc="-5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</a:rPr>
                  <a:t>기타 유지관리 수행으로 변경된 자료</a:t>
                </a:r>
              </a:p>
            </p:txBody>
          </p:sp>
        </p:grpSp>
        <p:grpSp>
          <p:nvGrpSpPr>
            <p:cNvPr id="158" name="그룹 157"/>
            <p:cNvGrpSpPr/>
            <p:nvPr/>
          </p:nvGrpSpPr>
          <p:grpSpPr>
            <a:xfrm>
              <a:off x="734518" y="4815174"/>
              <a:ext cx="962582" cy="818282"/>
              <a:chOff x="734518" y="4815174"/>
              <a:chExt cx="962582" cy="818282"/>
            </a:xfrm>
          </p:grpSpPr>
          <p:sp>
            <p:nvSpPr>
              <p:cNvPr id="159" name="대각선 방향의 모서리가 잘린 사각형 158"/>
              <p:cNvSpPr/>
              <p:nvPr/>
            </p:nvSpPr>
            <p:spPr>
              <a:xfrm>
                <a:off x="839848" y="4876799"/>
                <a:ext cx="857252" cy="756657"/>
              </a:xfrm>
              <a:prstGeom prst="snip2DiagRect">
                <a:avLst/>
              </a:prstGeom>
              <a:solidFill>
                <a:srgbClr val="FFFFFF"/>
              </a:solidFill>
              <a:ln w="9525" algn="ctr">
                <a:solidFill>
                  <a:srgbClr val="0E7FB2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indent="-152415" algn="ctr" latinLnBrk="0">
                  <a:spcBef>
                    <a:spcPts val="200"/>
                  </a:spcBef>
                </a:pPr>
                <a:r>
                  <a:rPr lang="ko-KR" altLang="en-US" sz="900" b="1" spc="-5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HY신명조" pitchFamily="18" charset="-127"/>
                    <a:ea typeface="HY신명조" pitchFamily="18" charset="-127"/>
                  </a:rPr>
                  <a:t>관리대상</a:t>
                </a:r>
                <a:endParaRPr lang="en-US" altLang="ko-KR" sz="900" b="1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endParaRPr>
              </a:p>
              <a:p>
                <a:pPr indent="-152415" algn="ctr" latinLnBrk="0">
                  <a:spcBef>
                    <a:spcPts val="200"/>
                  </a:spcBef>
                </a:pPr>
                <a:r>
                  <a:rPr lang="ko-KR" altLang="en-US" sz="900" b="1" spc="-5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HY신명조" pitchFamily="18" charset="-127"/>
                    <a:ea typeface="HY신명조" pitchFamily="18" charset="-127"/>
                  </a:rPr>
                  <a:t>산출물</a:t>
                </a:r>
              </a:p>
            </p:txBody>
          </p:sp>
          <p:grpSp>
            <p:nvGrpSpPr>
              <p:cNvPr id="160" name="그룹 159"/>
              <p:cNvGrpSpPr/>
              <p:nvPr/>
            </p:nvGrpSpPr>
            <p:grpSpPr>
              <a:xfrm flipH="1">
                <a:off x="806759" y="4850572"/>
                <a:ext cx="208142" cy="169103"/>
                <a:chOff x="1126397" y="-56751"/>
                <a:chExt cx="461583" cy="324240"/>
              </a:xfrm>
            </p:grpSpPr>
            <p:sp>
              <p:nvSpPr>
                <p:cNvPr id="162" name="Freeform 194"/>
                <p:cNvSpPr>
                  <a:spLocks/>
                </p:cNvSpPr>
                <p:nvPr/>
              </p:nvSpPr>
              <p:spPr bwMode="auto">
                <a:xfrm>
                  <a:off x="1126397" y="-56751"/>
                  <a:ext cx="121657" cy="60830"/>
                </a:xfrm>
                <a:custGeom>
                  <a:avLst/>
                  <a:gdLst>
                    <a:gd name="T0" fmla="*/ 82 w 82"/>
                    <a:gd name="T1" fmla="*/ 42 h 42"/>
                    <a:gd name="T2" fmla="*/ 82 w 82"/>
                    <a:gd name="T3" fmla="*/ 42 h 42"/>
                    <a:gd name="T4" fmla="*/ 82 w 82"/>
                    <a:gd name="T5" fmla="*/ 34 h 42"/>
                    <a:gd name="T6" fmla="*/ 79 w 82"/>
                    <a:gd name="T7" fmla="*/ 26 h 42"/>
                    <a:gd name="T8" fmla="*/ 76 w 82"/>
                    <a:gd name="T9" fmla="*/ 19 h 42"/>
                    <a:gd name="T10" fmla="*/ 71 w 82"/>
                    <a:gd name="T11" fmla="*/ 13 h 42"/>
                    <a:gd name="T12" fmla="*/ 65 w 82"/>
                    <a:gd name="T13" fmla="*/ 8 h 42"/>
                    <a:gd name="T14" fmla="*/ 58 w 82"/>
                    <a:gd name="T15" fmla="*/ 3 h 42"/>
                    <a:gd name="T16" fmla="*/ 50 w 82"/>
                    <a:gd name="T17" fmla="*/ 2 h 42"/>
                    <a:gd name="T18" fmla="*/ 42 w 82"/>
                    <a:gd name="T19" fmla="*/ 0 h 42"/>
                    <a:gd name="T20" fmla="*/ 42 w 82"/>
                    <a:gd name="T21" fmla="*/ 0 h 42"/>
                    <a:gd name="T22" fmla="*/ 32 w 82"/>
                    <a:gd name="T23" fmla="*/ 2 h 42"/>
                    <a:gd name="T24" fmla="*/ 26 w 82"/>
                    <a:gd name="T25" fmla="*/ 3 h 42"/>
                    <a:gd name="T26" fmla="*/ 18 w 82"/>
                    <a:gd name="T27" fmla="*/ 8 h 42"/>
                    <a:gd name="T28" fmla="*/ 11 w 82"/>
                    <a:gd name="T29" fmla="*/ 13 h 42"/>
                    <a:gd name="T30" fmla="*/ 6 w 82"/>
                    <a:gd name="T31" fmla="*/ 19 h 42"/>
                    <a:gd name="T32" fmla="*/ 3 w 82"/>
                    <a:gd name="T33" fmla="*/ 26 h 42"/>
                    <a:gd name="T34" fmla="*/ 0 w 82"/>
                    <a:gd name="T35" fmla="*/ 34 h 42"/>
                    <a:gd name="T36" fmla="*/ 0 w 82"/>
                    <a:gd name="T37" fmla="*/ 42 h 42"/>
                    <a:gd name="T38" fmla="*/ 82 w 82"/>
                    <a:gd name="T39" fmla="*/ 4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2" h="42">
                      <a:moveTo>
                        <a:pt x="82" y="42"/>
                      </a:moveTo>
                      <a:lnTo>
                        <a:pt x="82" y="42"/>
                      </a:lnTo>
                      <a:lnTo>
                        <a:pt x="82" y="34"/>
                      </a:lnTo>
                      <a:lnTo>
                        <a:pt x="79" y="26"/>
                      </a:lnTo>
                      <a:lnTo>
                        <a:pt x="76" y="19"/>
                      </a:lnTo>
                      <a:lnTo>
                        <a:pt x="71" y="13"/>
                      </a:lnTo>
                      <a:lnTo>
                        <a:pt x="65" y="8"/>
                      </a:lnTo>
                      <a:lnTo>
                        <a:pt x="58" y="3"/>
                      </a:lnTo>
                      <a:lnTo>
                        <a:pt x="50" y="2"/>
                      </a:lnTo>
                      <a:lnTo>
                        <a:pt x="42" y="0"/>
                      </a:lnTo>
                      <a:lnTo>
                        <a:pt x="42" y="0"/>
                      </a:lnTo>
                      <a:lnTo>
                        <a:pt x="32" y="2"/>
                      </a:lnTo>
                      <a:lnTo>
                        <a:pt x="26" y="3"/>
                      </a:lnTo>
                      <a:lnTo>
                        <a:pt x="18" y="8"/>
                      </a:lnTo>
                      <a:lnTo>
                        <a:pt x="11" y="13"/>
                      </a:lnTo>
                      <a:lnTo>
                        <a:pt x="6" y="19"/>
                      </a:lnTo>
                      <a:lnTo>
                        <a:pt x="3" y="26"/>
                      </a:lnTo>
                      <a:lnTo>
                        <a:pt x="0" y="34"/>
                      </a:lnTo>
                      <a:lnTo>
                        <a:pt x="0" y="42"/>
                      </a:lnTo>
                      <a:lnTo>
                        <a:pt x="82" y="42"/>
                      </a:lnTo>
                      <a:close/>
                    </a:path>
                  </a:pathLst>
                </a:custGeom>
                <a:solidFill>
                  <a:srgbClr val="0E699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spcBef>
                      <a:spcPts val="200"/>
                    </a:spcBef>
                  </a:pPr>
                  <a:endParaRPr lang="ko-KR" altLang="en-US"/>
                </a:p>
              </p:txBody>
            </p:sp>
            <p:sp>
              <p:nvSpPr>
                <p:cNvPr id="163" name="Freeform 195"/>
                <p:cNvSpPr>
                  <a:spLocks/>
                </p:cNvSpPr>
                <p:nvPr/>
              </p:nvSpPr>
              <p:spPr bwMode="auto">
                <a:xfrm>
                  <a:off x="1179559" y="-56751"/>
                  <a:ext cx="408421" cy="324240"/>
                </a:xfrm>
                <a:custGeom>
                  <a:avLst/>
                  <a:gdLst>
                    <a:gd name="T0" fmla="*/ 241 w 283"/>
                    <a:gd name="T1" fmla="*/ 0 h 341"/>
                    <a:gd name="T2" fmla="*/ 0 w 283"/>
                    <a:gd name="T3" fmla="*/ 0 h 341"/>
                    <a:gd name="T4" fmla="*/ 0 w 283"/>
                    <a:gd name="T5" fmla="*/ 0 h 341"/>
                    <a:gd name="T6" fmla="*/ 8 w 283"/>
                    <a:gd name="T7" fmla="*/ 2 h 341"/>
                    <a:gd name="T8" fmla="*/ 16 w 283"/>
                    <a:gd name="T9" fmla="*/ 3 h 341"/>
                    <a:gd name="T10" fmla="*/ 23 w 283"/>
                    <a:gd name="T11" fmla="*/ 8 h 341"/>
                    <a:gd name="T12" fmla="*/ 29 w 283"/>
                    <a:gd name="T13" fmla="*/ 13 h 341"/>
                    <a:gd name="T14" fmla="*/ 34 w 283"/>
                    <a:gd name="T15" fmla="*/ 19 h 341"/>
                    <a:gd name="T16" fmla="*/ 37 w 283"/>
                    <a:gd name="T17" fmla="*/ 26 h 341"/>
                    <a:gd name="T18" fmla="*/ 40 w 283"/>
                    <a:gd name="T19" fmla="*/ 34 h 341"/>
                    <a:gd name="T20" fmla="*/ 40 w 283"/>
                    <a:gd name="T21" fmla="*/ 42 h 341"/>
                    <a:gd name="T22" fmla="*/ 40 w 283"/>
                    <a:gd name="T23" fmla="*/ 263 h 341"/>
                    <a:gd name="T24" fmla="*/ 162 w 283"/>
                    <a:gd name="T25" fmla="*/ 341 h 341"/>
                    <a:gd name="T26" fmla="*/ 283 w 283"/>
                    <a:gd name="T27" fmla="*/ 263 h 341"/>
                    <a:gd name="T28" fmla="*/ 283 w 283"/>
                    <a:gd name="T29" fmla="*/ 42 h 341"/>
                    <a:gd name="T30" fmla="*/ 283 w 283"/>
                    <a:gd name="T31" fmla="*/ 42 h 341"/>
                    <a:gd name="T32" fmla="*/ 281 w 283"/>
                    <a:gd name="T33" fmla="*/ 34 h 341"/>
                    <a:gd name="T34" fmla="*/ 278 w 283"/>
                    <a:gd name="T35" fmla="*/ 26 h 341"/>
                    <a:gd name="T36" fmla="*/ 275 w 283"/>
                    <a:gd name="T37" fmla="*/ 19 h 341"/>
                    <a:gd name="T38" fmla="*/ 270 w 283"/>
                    <a:gd name="T39" fmla="*/ 13 h 341"/>
                    <a:gd name="T40" fmla="*/ 263 w 283"/>
                    <a:gd name="T41" fmla="*/ 8 h 341"/>
                    <a:gd name="T42" fmla="*/ 257 w 283"/>
                    <a:gd name="T43" fmla="*/ 3 h 341"/>
                    <a:gd name="T44" fmla="*/ 249 w 283"/>
                    <a:gd name="T45" fmla="*/ 2 h 341"/>
                    <a:gd name="T46" fmla="*/ 241 w 283"/>
                    <a:gd name="T47" fmla="*/ 0 h 341"/>
                    <a:gd name="T48" fmla="*/ 241 w 283"/>
                    <a:gd name="T49" fmla="*/ 0 h 3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83" h="341">
                      <a:moveTo>
                        <a:pt x="241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8" y="2"/>
                      </a:lnTo>
                      <a:lnTo>
                        <a:pt x="16" y="3"/>
                      </a:lnTo>
                      <a:lnTo>
                        <a:pt x="23" y="8"/>
                      </a:lnTo>
                      <a:lnTo>
                        <a:pt x="29" y="13"/>
                      </a:lnTo>
                      <a:lnTo>
                        <a:pt x="34" y="19"/>
                      </a:lnTo>
                      <a:lnTo>
                        <a:pt x="37" y="26"/>
                      </a:lnTo>
                      <a:lnTo>
                        <a:pt x="40" y="34"/>
                      </a:lnTo>
                      <a:lnTo>
                        <a:pt x="40" y="42"/>
                      </a:lnTo>
                      <a:lnTo>
                        <a:pt x="40" y="263"/>
                      </a:lnTo>
                      <a:lnTo>
                        <a:pt x="162" y="341"/>
                      </a:lnTo>
                      <a:lnTo>
                        <a:pt x="283" y="263"/>
                      </a:lnTo>
                      <a:lnTo>
                        <a:pt x="283" y="42"/>
                      </a:lnTo>
                      <a:lnTo>
                        <a:pt x="283" y="42"/>
                      </a:lnTo>
                      <a:lnTo>
                        <a:pt x="281" y="34"/>
                      </a:lnTo>
                      <a:lnTo>
                        <a:pt x="278" y="26"/>
                      </a:lnTo>
                      <a:lnTo>
                        <a:pt x="275" y="19"/>
                      </a:lnTo>
                      <a:lnTo>
                        <a:pt x="270" y="13"/>
                      </a:lnTo>
                      <a:lnTo>
                        <a:pt x="263" y="8"/>
                      </a:lnTo>
                      <a:lnTo>
                        <a:pt x="257" y="3"/>
                      </a:lnTo>
                      <a:lnTo>
                        <a:pt x="249" y="2"/>
                      </a:lnTo>
                      <a:lnTo>
                        <a:pt x="241" y="0"/>
                      </a:lnTo>
                      <a:lnTo>
                        <a:pt x="241" y="0"/>
                      </a:lnTo>
                      <a:close/>
                    </a:path>
                  </a:pathLst>
                </a:custGeom>
                <a:solidFill>
                  <a:srgbClr val="1C9FD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spcBef>
                      <a:spcPts val="200"/>
                    </a:spcBef>
                  </a:pPr>
                  <a:endParaRPr lang="ko-KR" altLang="en-US"/>
                </a:p>
              </p:txBody>
            </p:sp>
          </p:grpSp>
          <p:sp>
            <p:nvSpPr>
              <p:cNvPr id="161" name="직사각형 6"/>
              <p:cNvSpPr>
                <a:spLocks noChangeArrowheads="1"/>
              </p:cNvSpPr>
              <p:nvPr/>
            </p:nvSpPr>
            <p:spPr bwMode="auto">
              <a:xfrm>
                <a:off x="734518" y="4815174"/>
                <a:ext cx="280810" cy="221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22" tIns="45713" rIns="91422" bIns="45713">
                <a:spAutoFit/>
              </a:bodyPr>
              <a:lstStyle>
                <a:lvl1pPr defTabSz="11112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defTabSz="11112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defTabSz="11112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defTabSz="11112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defTabSz="11112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765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30337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909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948113" indent="-290513" defTabSz="11112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fontAlgn="base">
                  <a:lnSpc>
                    <a:spcPct val="120000"/>
                  </a:lnSpc>
                  <a:spcBef>
                    <a:spcPts val="200"/>
                  </a:spcBef>
                  <a:spcAft>
                    <a:spcPct val="0"/>
                  </a:spcAft>
                </a:pPr>
                <a:r>
                  <a:rPr lang="en-US" altLang="ko-KR" sz="700" b="1" spc="-50" dirty="0">
                    <a:ln w="6350">
                      <a:solidFill>
                        <a:prstClr val="white"/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01</a:t>
                </a:r>
                <a:endParaRPr lang="ko-KR" altLang="en-US" sz="700" b="1" spc="-50" dirty="0">
                  <a:ln w="6350">
                    <a:solidFill>
                      <a:prstClr val="white"/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</p:grpSp>
      </p:grpSp>
      <p:grpSp>
        <p:nvGrpSpPr>
          <p:cNvPr id="149" name="그룹 148"/>
          <p:cNvGrpSpPr/>
          <p:nvPr/>
        </p:nvGrpSpPr>
        <p:grpSpPr>
          <a:xfrm>
            <a:off x="734518" y="6420942"/>
            <a:ext cx="962582" cy="437611"/>
            <a:chOff x="734518" y="4815174"/>
            <a:chExt cx="962582" cy="412447"/>
          </a:xfrm>
        </p:grpSpPr>
        <p:sp>
          <p:nvSpPr>
            <p:cNvPr id="150" name="대각선 방향의 모서리가 잘린 사각형 149"/>
            <p:cNvSpPr/>
            <p:nvPr/>
          </p:nvSpPr>
          <p:spPr>
            <a:xfrm>
              <a:off x="839848" y="4876800"/>
              <a:ext cx="857252" cy="350821"/>
            </a:xfrm>
            <a:prstGeom prst="snip2DiagRect">
              <a:avLst/>
            </a:prstGeom>
            <a:solidFill>
              <a:srgbClr val="FFFFFF"/>
            </a:solidFill>
            <a:ln w="9525" algn="ctr">
              <a:solidFill>
                <a:srgbClr val="0E7FB2"/>
              </a:solidFill>
              <a:prstDash val="solid"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indent="-152415" algn="ctr" latinLnBrk="0">
                <a:spcBef>
                  <a:spcPts val="200"/>
                </a:spcBef>
              </a:pPr>
              <a:r>
                <a:rPr lang="ko-KR" altLang="en-US" sz="900" b="1" spc="-50" dirty="0" err="1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rPr>
                <a:t>테일러링</a:t>
              </a:r>
              <a:endParaRPr lang="en-US" altLang="ko-KR" sz="900" b="1" spc="-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HY신명조" pitchFamily="18" charset="-127"/>
                <a:ea typeface="HY신명조" pitchFamily="18" charset="-127"/>
              </a:endParaRPr>
            </a:p>
            <a:p>
              <a:pPr indent="-152415" algn="ctr" latinLnBrk="0">
                <a:spcBef>
                  <a:spcPts val="200"/>
                </a:spcBef>
              </a:pPr>
              <a:r>
                <a:rPr lang="ko-KR" altLang="en-US" sz="900" b="1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rPr>
                <a:t>가이드</a:t>
              </a:r>
            </a:p>
          </p:txBody>
        </p:sp>
        <p:grpSp>
          <p:nvGrpSpPr>
            <p:cNvPr id="151" name="그룹 150"/>
            <p:cNvGrpSpPr/>
            <p:nvPr/>
          </p:nvGrpSpPr>
          <p:grpSpPr>
            <a:xfrm flipH="1">
              <a:off x="806759" y="4850572"/>
              <a:ext cx="208142" cy="169103"/>
              <a:chOff x="1126397" y="-56751"/>
              <a:chExt cx="461583" cy="324240"/>
            </a:xfrm>
          </p:grpSpPr>
          <p:sp>
            <p:nvSpPr>
              <p:cNvPr id="153" name="Freeform 194"/>
              <p:cNvSpPr>
                <a:spLocks/>
              </p:cNvSpPr>
              <p:nvPr/>
            </p:nvSpPr>
            <p:spPr bwMode="auto">
              <a:xfrm>
                <a:off x="1126397" y="-56751"/>
                <a:ext cx="121657" cy="60830"/>
              </a:xfrm>
              <a:custGeom>
                <a:avLst/>
                <a:gdLst>
                  <a:gd name="T0" fmla="*/ 82 w 82"/>
                  <a:gd name="T1" fmla="*/ 42 h 42"/>
                  <a:gd name="T2" fmla="*/ 82 w 82"/>
                  <a:gd name="T3" fmla="*/ 42 h 42"/>
                  <a:gd name="T4" fmla="*/ 82 w 82"/>
                  <a:gd name="T5" fmla="*/ 34 h 42"/>
                  <a:gd name="T6" fmla="*/ 79 w 82"/>
                  <a:gd name="T7" fmla="*/ 26 h 42"/>
                  <a:gd name="T8" fmla="*/ 76 w 82"/>
                  <a:gd name="T9" fmla="*/ 19 h 42"/>
                  <a:gd name="T10" fmla="*/ 71 w 82"/>
                  <a:gd name="T11" fmla="*/ 13 h 42"/>
                  <a:gd name="T12" fmla="*/ 65 w 82"/>
                  <a:gd name="T13" fmla="*/ 8 h 42"/>
                  <a:gd name="T14" fmla="*/ 58 w 82"/>
                  <a:gd name="T15" fmla="*/ 3 h 42"/>
                  <a:gd name="T16" fmla="*/ 50 w 82"/>
                  <a:gd name="T17" fmla="*/ 2 h 42"/>
                  <a:gd name="T18" fmla="*/ 42 w 82"/>
                  <a:gd name="T19" fmla="*/ 0 h 42"/>
                  <a:gd name="T20" fmla="*/ 42 w 82"/>
                  <a:gd name="T21" fmla="*/ 0 h 42"/>
                  <a:gd name="T22" fmla="*/ 32 w 82"/>
                  <a:gd name="T23" fmla="*/ 2 h 42"/>
                  <a:gd name="T24" fmla="*/ 26 w 82"/>
                  <a:gd name="T25" fmla="*/ 3 h 42"/>
                  <a:gd name="T26" fmla="*/ 18 w 82"/>
                  <a:gd name="T27" fmla="*/ 8 h 42"/>
                  <a:gd name="T28" fmla="*/ 11 w 82"/>
                  <a:gd name="T29" fmla="*/ 13 h 42"/>
                  <a:gd name="T30" fmla="*/ 6 w 82"/>
                  <a:gd name="T31" fmla="*/ 19 h 42"/>
                  <a:gd name="T32" fmla="*/ 3 w 82"/>
                  <a:gd name="T33" fmla="*/ 26 h 42"/>
                  <a:gd name="T34" fmla="*/ 0 w 82"/>
                  <a:gd name="T35" fmla="*/ 34 h 42"/>
                  <a:gd name="T36" fmla="*/ 0 w 82"/>
                  <a:gd name="T37" fmla="*/ 42 h 42"/>
                  <a:gd name="T38" fmla="*/ 82 w 82"/>
                  <a:gd name="T39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2" h="42">
                    <a:moveTo>
                      <a:pt x="82" y="42"/>
                    </a:moveTo>
                    <a:lnTo>
                      <a:pt x="82" y="42"/>
                    </a:lnTo>
                    <a:lnTo>
                      <a:pt x="82" y="34"/>
                    </a:lnTo>
                    <a:lnTo>
                      <a:pt x="79" y="26"/>
                    </a:lnTo>
                    <a:lnTo>
                      <a:pt x="76" y="19"/>
                    </a:lnTo>
                    <a:lnTo>
                      <a:pt x="71" y="13"/>
                    </a:lnTo>
                    <a:lnTo>
                      <a:pt x="65" y="8"/>
                    </a:lnTo>
                    <a:lnTo>
                      <a:pt x="58" y="3"/>
                    </a:lnTo>
                    <a:lnTo>
                      <a:pt x="50" y="2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32" y="2"/>
                    </a:lnTo>
                    <a:lnTo>
                      <a:pt x="26" y="3"/>
                    </a:lnTo>
                    <a:lnTo>
                      <a:pt x="18" y="8"/>
                    </a:lnTo>
                    <a:lnTo>
                      <a:pt x="11" y="13"/>
                    </a:lnTo>
                    <a:lnTo>
                      <a:pt x="6" y="19"/>
                    </a:lnTo>
                    <a:lnTo>
                      <a:pt x="3" y="26"/>
                    </a:lnTo>
                    <a:lnTo>
                      <a:pt x="0" y="34"/>
                    </a:lnTo>
                    <a:lnTo>
                      <a:pt x="0" y="42"/>
                    </a:lnTo>
                    <a:lnTo>
                      <a:pt x="82" y="42"/>
                    </a:lnTo>
                    <a:close/>
                  </a:path>
                </a:pathLst>
              </a:custGeom>
              <a:solidFill>
                <a:srgbClr val="0E69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200"/>
                  </a:spcBef>
                </a:pPr>
                <a:endParaRPr lang="ko-KR" altLang="en-US"/>
              </a:p>
            </p:txBody>
          </p:sp>
          <p:sp>
            <p:nvSpPr>
              <p:cNvPr id="154" name="Freeform 195"/>
              <p:cNvSpPr>
                <a:spLocks/>
              </p:cNvSpPr>
              <p:nvPr/>
            </p:nvSpPr>
            <p:spPr bwMode="auto">
              <a:xfrm>
                <a:off x="1179559" y="-56751"/>
                <a:ext cx="408421" cy="324240"/>
              </a:xfrm>
              <a:custGeom>
                <a:avLst/>
                <a:gdLst>
                  <a:gd name="T0" fmla="*/ 241 w 283"/>
                  <a:gd name="T1" fmla="*/ 0 h 341"/>
                  <a:gd name="T2" fmla="*/ 0 w 283"/>
                  <a:gd name="T3" fmla="*/ 0 h 341"/>
                  <a:gd name="T4" fmla="*/ 0 w 283"/>
                  <a:gd name="T5" fmla="*/ 0 h 341"/>
                  <a:gd name="T6" fmla="*/ 8 w 283"/>
                  <a:gd name="T7" fmla="*/ 2 h 341"/>
                  <a:gd name="T8" fmla="*/ 16 w 283"/>
                  <a:gd name="T9" fmla="*/ 3 h 341"/>
                  <a:gd name="T10" fmla="*/ 23 w 283"/>
                  <a:gd name="T11" fmla="*/ 8 h 341"/>
                  <a:gd name="T12" fmla="*/ 29 w 283"/>
                  <a:gd name="T13" fmla="*/ 13 h 341"/>
                  <a:gd name="T14" fmla="*/ 34 w 283"/>
                  <a:gd name="T15" fmla="*/ 19 h 341"/>
                  <a:gd name="T16" fmla="*/ 37 w 283"/>
                  <a:gd name="T17" fmla="*/ 26 h 341"/>
                  <a:gd name="T18" fmla="*/ 40 w 283"/>
                  <a:gd name="T19" fmla="*/ 34 h 341"/>
                  <a:gd name="T20" fmla="*/ 40 w 283"/>
                  <a:gd name="T21" fmla="*/ 42 h 341"/>
                  <a:gd name="T22" fmla="*/ 40 w 283"/>
                  <a:gd name="T23" fmla="*/ 263 h 341"/>
                  <a:gd name="T24" fmla="*/ 162 w 283"/>
                  <a:gd name="T25" fmla="*/ 341 h 341"/>
                  <a:gd name="T26" fmla="*/ 283 w 283"/>
                  <a:gd name="T27" fmla="*/ 263 h 341"/>
                  <a:gd name="T28" fmla="*/ 283 w 283"/>
                  <a:gd name="T29" fmla="*/ 42 h 341"/>
                  <a:gd name="T30" fmla="*/ 283 w 283"/>
                  <a:gd name="T31" fmla="*/ 42 h 341"/>
                  <a:gd name="T32" fmla="*/ 281 w 283"/>
                  <a:gd name="T33" fmla="*/ 34 h 341"/>
                  <a:gd name="T34" fmla="*/ 278 w 283"/>
                  <a:gd name="T35" fmla="*/ 26 h 341"/>
                  <a:gd name="T36" fmla="*/ 275 w 283"/>
                  <a:gd name="T37" fmla="*/ 19 h 341"/>
                  <a:gd name="T38" fmla="*/ 270 w 283"/>
                  <a:gd name="T39" fmla="*/ 13 h 341"/>
                  <a:gd name="T40" fmla="*/ 263 w 283"/>
                  <a:gd name="T41" fmla="*/ 8 h 341"/>
                  <a:gd name="T42" fmla="*/ 257 w 283"/>
                  <a:gd name="T43" fmla="*/ 3 h 341"/>
                  <a:gd name="T44" fmla="*/ 249 w 283"/>
                  <a:gd name="T45" fmla="*/ 2 h 341"/>
                  <a:gd name="T46" fmla="*/ 241 w 283"/>
                  <a:gd name="T47" fmla="*/ 0 h 341"/>
                  <a:gd name="T48" fmla="*/ 241 w 283"/>
                  <a:gd name="T49" fmla="*/ 0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3" h="341">
                    <a:moveTo>
                      <a:pt x="241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8" y="2"/>
                    </a:lnTo>
                    <a:lnTo>
                      <a:pt x="16" y="3"/>
                    </a:lnTo>
                    <a:lnTo>
                      <a:pt x="23" y="8"/>
                    </a:lnTo>
                    <a:lnTo>
                      <a:pt x="29" y="13"/>
                    </a:lnTo>
                    <a:lnTo>
                      <a:pt x="34" y="19"/>
                    </a:lnTo>
                    <a:lnTo>
                      <a:pt x="37" y="26"/>
                    </a:lnTo>
                    <a:lnTo>
                      <a:pt x="40" y="34"/>
                    </a:lnTo>
                    <a:lnTo>
                      <a:pt x="40" y="42"/>
                    </a:lnTo>
                    <a:lnTo>
                      <a:pt x="40" y="263"/>
                    </a:lnTo>
                    <a:lnTo>
                      <a:pt x="162" y="341"/>
                    </a:lnTo>
                    <a:lnTo>
                      <a:pt x="283" y="263"/>
                    </a:lnTo>
                    <a:lnTo>
                      <a:pt x="283" y="42"/>
                    </a:lnTo>
                    <a:lnTo>
                      <a:pt x="283" y="42"/>
                    </a:lnTo>
                    <a:lnTo>
                      <a:pt x="281" y="34"/>
                    </a:lnTo>
                    <a:lnTo>
                      <a:pt x="278" y="26"/>
                    </a:lnTo>
                    <a:lnTo>
                      <a:pt x="275" y="19"/>
                    </a:lnTo>
                    <a:lnTo>
                      <a:pt x="270" y="13"/>
                    </a:lnTo>
                    <a:lnTo>
                      <a:pt x="263" y="8"/>
                    </a:lnTo>
                    <a:lnTo>
                      <a:pt x="257" y="3"/>
                    </a:lnTo>
                    <a:lnTo>
                      <a:pt x="249" y="2"/>
                    </a:lnTo>
                    <a:lnTo>
                      <a:pt x="241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1C9F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200"/>
                  </a:spcBef>
                </a:pPr>
                <a:endParaRPr lang="ko-KR" altLang="en-US"/>
              </a:p>
            </p:txBody>
          </p:sp>
        </p:grpSp>
        <p:sp>
          <p:nvSpPr>
            <p:cNvPr id="152" name="직사각형 6"/>
            <p:cNvSpPr>
              <a:spLocks noChangeArrowheads="1"/>
            </p:cNvSpPr>
            <p:nvPr/>
          </p:nvSpPr>
          <p:spPr bwMode="auto">
            <a:xfrm>
              <a:off x="734518" y="4815174"/>
              <a:ext cx="280810" cy="221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2" tIns="45713" rIns="91422" bIns="45713">
              <a:spAutoFit/>
            </a:bodyPr>
            <a:lstStyle>
              <a:lvl1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765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30337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909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9481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fontAlgn="base">
                <a:lnSpc>
                  <a:spcPct val="120000"/>
                </a:lnSpc>
                <a:spcBef>
                  <a:spcPts val="200"/>
                </a:spcBef>
                <a:spcAft>
                  <a:spcPct val="0"/>
                </a:spcAft>
              </a:pPr>
              <a:r>
                <a:rPr lang="en-US" altLang="ko-KR" sz="700" b="1" spc="-50" dirty="0">
                  <a:ln w="6350">
                    <a:solidFill>
                      <a:prstClr val="white"/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02</a:t>
              </a:r>
              <a:endParaRPr lang="ko-KR" altLang="en-US" sz="700" b="1" spc="-50" dirty="0">
                <a:ln w="6350">
                  <a:solidFill>
                    <a:prstClr val="white"/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1747840" y="6492950"/>
            <a:ext cx="2968834" cy="357747"/>
            <a:chOff x="1936166" y="3469561"/>
            <a:chExt cx="2727075" cy="280239"/>
          </a:xfrm>
        </p:grpSpPr>
        <p:cxnSp>
          <p:nvCxnSpPr>
            <p:cNvPr id="146" name="직선 연결선 145"/>
            <p:cNvCxnSpPr/>
            <p:nvPr/>
          </p:nvCxnSpPr>
          <p:spPr>
            <a:xfrm flipH="1">
              <a:off x="1936166" y="3749800"/>
              <a:ext cx="2620430" cy="0"/>
            </a:xfrm>
            <a:prstGeom prst="line">
              <a:avLst/>
            </a:prstGeom>
            <a:solidFill>
              <a:srgbClr val="FFFFFF"/>
            </a:solidFill>
            <a:ln w="9525" algn="ctr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</p:cxnSp>
        <p:sp>
          <p:nvSpPr>
            <p:cNvPr id="147" name="Text Box 370"/>
            <p:cNvSpPr txBox="1">
              <a:spLocks noChangeArrowheads="1"/>
            </p:cNvSpPr>
            <p:nvPr/>
          </p:nvSpPr>
          <p:spPr bwMode="auto">
            <a:xfrm>
              <a:off x="1982239" y="3469561"/>
              <a:ext cx="2681002" cy="237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87313" indent="-87313" defTabSz="895350" eaLnBrk="0" latinLnBrk="0" hangingPunct="0">
                <a:spcBef>
                  <a:spcPct val="10000"/>
                </a:spcBef>
                <a:spcAft>
                  <a:spcPct val="10000"/>
                </a:spcAft>
                <a:buClr>
                  <a:srgbClr val="929292"/>
                </a:buClr>
                <a:buSzPct val="110000"/>
                <a:buFont typeface="Arial" pitchFamily="34" charset="0"/>
                <a:buChar char="•"/>
                <a:tabLst>
                  <a:tab pos="93663" algn="l"/>
                </a:tabLst>
                <a:defRPr sz="900" spc="-100">
                  <a:solidFill>
                    <a:srgbClr val="262626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산돌고딕 L"/>
                </a:defRPr>
              </a:lvl1pPr>
              <a:lvl2pPr marL="742950" indent="-28575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2pPr>
              <a:lvl3pPr marL="11430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3pPr>
              <a:lvl4pPr marL="16002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4pPr>
              <a:lvl5pPr marL="20574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9pPr>
            </a:lstStyle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ko-KR" altLang="en-US" spc="-50" dirty="0" err="1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테일러링의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 의미</a:t>
              </a:r>
              <a:r>
                <a: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, 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방법 및 절차</a:t>
              </a:r>
            </a:p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ko-KR" altLang="en-US" spc="-50" dirty="0" err="1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테일러링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 적용 기준</a:t>
              </a:r>
            </a:p>
          </p:txBody>
        </p:sp>
      </p:grpSp>
      <p:grpSp>
        <p:nvGrpSpPr>
          <p:cNvPr id="140" name="그룹 139"/>
          <p:cNvGrpSpPr/>
          <p:nvPr/>
        </p:nvGrpSpPr>
        <p:grpSpPr>
          <a:xfrm>
            <a:off x="734518" y="6991443"/>
            <a:ext cx="962582" cy="437611"/>
            <a:chOff x="734518" y="4815174"/>
            <a:chExt cx="962582" cy="412447"/>
          </a:xfrm>
        </p:grpSpPr>
        <p:sp>
          <p:nvSpPr>
            <p:cNvPr id="141" name="대각선 방향의 모서리가 잘린 사각형 140"/>
            <p:cNvSpPr/>
            <p:nvPr/>
          </p:nvSpPr>
          <p:spPr>
            <a:xfrm>
              <a:off x="839848" y="4876800"/>
              <a:ext cx="857252" cy="350821"/>
            </a:xfrm>
            <a:prstGeom prst="snip2DiagRect">
              <a:avLst/>
            </a:prstGeom>
            <a:solidFill>
              <a:srgbClr val="FFFFFF"/>
            </a:solidFill>
            <a:ln w="9525" algn="ctr">
              <a:solidFill>
                <a:srgbClr val="0E7FB2"/>
              </a:solidFill>
              <a:prstDash val="solid"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 latinLnBrk="0">
                <a:spcBef>
                  <a:spcPts val="200"/>
                </a:spcBef>
              </a:pPr>
              <a:r>
                <a:rPr lang="ko-KR" altLang="en-US" sz="900" b="1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rPr>
                <a:t>세부절차</a:t>
              </a:r>
            </a:p>
          </p:txBody>
        </p:sp>
        <p:grpSp>
          <p:nvGrpSpPr>
            <p:cNvPr id="142" name="그룹 141"/>
            <p:cNvGrpSpPr/>
            <p:nvPr/>
          </p:nvGrpSpPr>
          <p:grpSpPr>
            <a:xfrm flipH="1">
              <a:off x="806759" y="4850572"/>
              <a:ext cx="208142" cy="169103"/>
              <a:chOff x="1126397" y="-56751"/>
              <a:chExt cx="461583" cy="324240"/>
            </a:xfrm>
          </p:grpSpPr>
          <p:sp>
            <p:nvSpPr>
              <p:cNvPr id="144" name="Freeform 194"/>
              <p:cNvSpPr>
                <a:spLocks/>
              </p:cNvSpPr>
              <p:nvPr/>
            </p:nvSpPr>
            <p:spPr bwMode="auto">
              <a:xfrm>
                <a:off x="1126397" y="-56751"/>
                <a:ext cx="121657" cy="60830"/>
              </a:xfrm>
              <a:custGeom>
                <a:avLst/>
                <a:gdLst>
                  <a:gd name="T0" fmla="*/ 82 w 82"/>
                  <a:gd name="T1" fmla="*/ 42 h 42"/>
                  <a:gd name="T2" fmla="*/ 82 w 82"/>
                  <a:gd name="T3" fmla="*/ 42 h 42"/>
                  <a:gd name="T4" fmla="*/ 82 w 82"/>
                  <a:gd name="T5" fmla="*/ 34 h 42"/>
                  <a:gd name="T6" fmla="*/ 79 w 82"/>
                  <a:gd name="T7" fmla="*/ 26 h 42"/>
                  <a:gd name="T8" fmla="*/ 76 w 82"/>
                  <a:gd name="T9" fmla="*/ 19 h 42"/>
                  <a:gd name="T10" fmla="*/ 71 w 82"/>
                  <a:gd name="T11" fmla="*/ 13 h 42"/>
                  <a:gd name="T12" fmla="*/ 65 w 82"/>
                  <a:gd name="T13" fmla="*/ 8 h 42"/>
                  <a:gd name="T14" fmla="*/ 58 w 82"/>
                  <a:gd name="T15" fmla="*/ 3 h 42"/>
                  <a:gd name="T16" fmla="*/ 50 w 82"/>
                  <a:gd name="T17" fmla="*/ 2 h 42"/>
                  <a:gd name="T18" fmla="*/ 42 w 82"/>
                  <a:gd name="T19" fmla="*/ 0 h 42"/>
                  <a:gd name="T20" fmla="*/ 42 w 82"/>
                  <a:gd name="T21" fmla="*/ 0 h 42"/>
                  <a:gd name="T22" fmla="*/ 32 w 82"/>
                  <a:gd name="T23" fmla="*/ 2 h 42"/>
                  <a:gd name="T24" fmla="*/ 26 w 82"/>
                  <a:gd name="T25" fmla="*/ 3 h 42"/>
                  <a:gd name="T26" fmla="*/ 18 w 82"/>
                  <a:gd name="T27" fmla="*/ 8 h 42"/>
                  <a:gd name="T28" fmla="*/ 11 w 82"/>
                  <a:gd name="T29" fmla="*/ 13 h 42"/>
                  <a:gd name="T30" fmla="*/ 6 w 82"/>
                  <a:gd name="T31" fmla="*/ 19 h 42"/>
                  <a:gd name="T32" fmla="*/ 3 w 82"/>
                  <a:gd name="T33" fmla="*/ 26 h 42"/>
                  <a:gd name="T34" fmla="*/ 0 w 82"/>
                  <a:gd name="T35" fmla="*/ 34 h 42"/>
                  <a:gd name="T36" fmla="*/ 0 w 82"/>
                  <a:gd name="T37" fmla="*/ 42 h 42"/>
                  <a:gd name="T38" fmla="*/ 82 w 82"/>
                  <a:gd name="T39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2" h="42">
                    <a:moveTo>
                      <a:pt x="82" y="42"/>
                    </a:moveTo>
                    <a:lnTo>
                      <a:pt x="82" y="42"/>
                    </a:lnTo>
                    <a:lnTo>
                      <a:pt x="82" y="34"/>
                    </a:lnTo>
                    <a:lnTo>
                      <a:pt x="79" y="26"/>
                    </a:lnTo>
                    <a:lnTo>
                      <a:pt x="76" y="19"/>
                    </a:lnTo>
                    <a:lnTo>
                      <a:pt x="71" y="13"/>
                    </a:lnTo>
                    <a:lnTo>
                      <a:pt x="65" y="8"/>
                    </a:lnTo>
                    <a:lnTo>
                      <a:pt x="58" y="3"/>
                    </a:lnTo>
                    <a:lnTo>
                      <a:pt x="50" y="2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32" y="2"/>
                    </a:lnTo>
                    <a:lnTo>
                      <a:pt x="26" y="3"/>
                    </a:lnTo>
                    <a:lnTo>
                      <a:pt x="18" y="8"/>
                    </a:lnTo>
                    <a:lnTo>
                      <a:pt x="11" y="13"/>
                    </a:lnTo>
                    <a:lnTo>
                      <a:pt x="6" y="19"/>
                    </a:lnTo>
                    <a:lnTo>
                      <a:pt x="3" y="26"/>
                    </a:lnTo>
                    <a:lnTo>
                      <a:pt x="0" y="34"/>
                    </a:lnTo>
                    <a:lnTo>
                      <a:pt x="0" y="42"/>
                    </a:lnTo>
                    <a:lnTo>
                      <a:pt x="82" y="42"/>
                    </a:lnTo>
                    <a:close/>
                  </a:path>
                </a:pathLst>
              </a:custGeom>
              <a:solidFill>
                <a:srgbClr val="0E69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200"/>
                  </a:spcBef>
                </a:pPr>
                <a:endParaRPr lang="ko-KR" altLang="en-US"/>
              </a:p>
            </p:txBody>
          </p:sp>
          <p:sp>
            <p:nvSpPr>
              <p:cNvPr id="145" name="Freeform 195"/>
              <p:cNvSpPr>
                <a:spLocks/>
              </p:cNvSpPr>
              <p:nvPr/>
            </p:nvSpPr>
            <p:spPr bwMode="auto">
              <a:xfrm>
                <a:off x="1179559" y="-56751"/>
                <a:ext cx="408421" cy="324240"/>
              </a:xfrm>
              <a:custGeom>
                <a:avLst/>
                <a:gdLst>
                  <a:gd name="T0" fmla="*/ 241 w 283"/>
                  <a:gd name="T1" fmla="*/ 0 h 341"/>
                  <a:gd name="T2" fmla="*/ 0 w 283"/>
                  <a:gd name="T3" fmla="*/ 0 h 341"/>
                  <a:gd name="T4" fmla="*/ 0 w 283"/>
                  <a:gd name="T5" fmla="*/ 0 h 341"/>
                  <a:gd name="T6" fmla="*/ 8 w 283"/>
                  <a:gd name="T7" fmla="*/ 2 h 341"/>
                  <a:gd name="T8" fmla="*/ 16 w 283"/>
                  <a:gd name="T9" fmla="*/ 3 h 341"/>
                  <a:gd name="T10" fmla="*/ 23 w 283"/>
                  <a:gd name="T11" fmla="*/ 8 h 341"/>
                  <a:gd name="T12" fmla="*/ 29 w 283"/>
                  <a:gd name="T13" fmla="*/ 13 h 341"/>
                  <a:gd name="T14" fmla="*/ 34 w 283"/>
                  <a:gd name="T15" fmla="*/ 19 h 341"/>
                  <a:gd name="T16" fmla="*/ 37 w 283"/>
                  <a:gd name="T17" fmla="*/ 26 h 341"/>
                  <a:gd name="T18" fmla="*/ 40 w 283"/>
                  <a:gd name="T19" fmla="*/ 34 h 341"/>
                  <a:gd name="T20" fmla="*/ 40 w 283"/>
                  <a:gd name="T21" fmla="*/ 42 h 341"/>
                  <a:gd name="T22" fmla="*/ 40 w 283"/>
                  <a:gd name="T23" fmla="*/ 263 h 341"/>
                  <a:gd name="T24" fmla="*/ 162 w 283"/>
                  <a:gd name="T25" fmla="*/ 341 h 341"/>
                  <a:gd name="T26" fmla="*/ 283 w 283"/>
                  <a:gd name="T27" fmla="*/ 263 h 341"/>
                  <a:gd name="T28" fmla="*/ 283 w 283"/>
                  <a:gd name="T29" fmla="*/ 42 h 341"/>
                  <a:gd name="T30" fmla="*/ 283 w 283"/>
                  <a:gd name="T31" fmla="*/ 42 h 341"/>
                  <a:gd name="T32" fmla="*/ 281 w 283"/>
                  <a:gd name="T33" fmla="*/ 34 h 341"/>
                  <a:gd name="T34" fmla="*/ 278 w 283"/>
                  <a:gd name="T35" fmla="*/ 26 h 341"/>
                  <a:gd name="T36" fmla="*/ 275 w 283"/>
                  <a:gd name="T37" fmla="*/ 19 h 341"/>
                  <a:gd name="T38" fmla="*/ 270 w 283"/>
                  <a:gd name="T39" fmla="*/ 13 h 341"/>
                  <a:gd name="T40" fmla="*/ 263 w 283"/>
                  <a:gd name="T41" fmla="*/ 8 h 341"/>
                  <a:gd name="T42" fmla="*/ 257 w 283"/>
                  <a:gd name="T43" fmla="*/ 3 h 341"/>
                  <a:gd name="T44" fmla="*/ 249 w 283"/>
                  <a:gd name="T45" fmla="*/ 2 h 341"/>
                  <a:gd name="T46" fmla="*/ 241 w 283"/>
                  <a:gd name="T47" fmla="*/ 0 h 341"/>
                  <a:gd name="T48" fmla="*/ 241 w 283"/>
                  <a:gd name="T49" fmla="*/ 0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3" h="341">
                    <a:moveTo>
                      <a:pt x="241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8" y="2"/>
                    </a:lnTo>
                    <a:lnTo>
                      <a:pt x="16" y="3"/>
                    </a:lnTo>
                    <a:lnTo>
                      <a:pt x="23" y="8"/>
                    </a:lnTo>
                    <a:lnTo>
                      <a:pt x="29" y="13"/>
                    </a:lnTo>
                    <a:lnTo>
                      <a:pt x="34" y="19"/>
                    </a:lnTo>
                    <a:lnTo>
                      <a:pt x="37" y="26"/>
                    </a:lnTo>
                    <a:lnTo>
                      <a:pt x="40" y="34"/>
                    </a:lnTo>
                    <a:lnTo>
                      <a:pt x="40" y="42"/>
                    </a:lnTo>
                    <a:lnTo>
                      <a:pt x="40" y="263"/>
                    </a:lnTo>
                    <a:lnTo>
                      <a:pt x="162" y="341"/>
                    </a:lnTo>
                    <a:lnTo>
                      <a:pt x="283" y="263"/>
                    </a:lnTo>
                    <a:lnTo>
                      <a:pt x="283" y="42"/>
                    </a:lnTo>
                    <a:lnTo>
                      <a:pt x="283" y="42"/>
                    </a:lnTo>
                    <a:lnTo>
                      <a:pt x="281" y="34"/>
                    </a:lnTo>
                    <a:lnTo>
                      <a:pt x="278" y="26"/>
                    </a:lnTo>
                    <a:lnTo>
                      <a:pt x="275" y="19"/>
                    </a:lnTo>
                    <a:lnTo>
                      <a:pt x="270" y="13"/>
                    </a:lnTo>
                    <a:lnTo>
                      <a:pt x="263" y="8"/>
                    </a:lnTo>
                    <a:lnTo>
                      <a:pt x="257" y="3"/>
                    </a:lnTo>
                    <a:lnTo>
                      <a:pt x="249" y="2"/>
                    </a:lnTo>
                    <a:lnTo>
                      <a:pt x="241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1C9F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200"/>
                  </a:spcBef>
                </a:pPr>
                <a:endParaRPr lang="ko-KR" altLang="en-US"/>
              </a:p>
            </p:txBody>
          </p:sp>
        </p:grpSp>
        <p:sp>
          <p:nvSpPr>
            <p:cNvPr id="143" name="직사각형 6"/>
            <p:cNvSpPr>
              <a:spLocks noChangeArrowheads="1"/>
            </p:cNvSpPr>
            <p:nvPr/>
          </p:nvSpPr>
          <p:spPr bwMode="auto">
            <a:xfrm>
              <a:off x="734518" y="4815174"/>
              <a:ext cx="280810" cy="204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2" tIns="45713" rIns="91422" bIns="45713">
              <a:spAutoFit/>
            </a:bodyPr>
            <a:lstStyle>
              <a:lvl1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765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30337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909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9481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fontAlgn="base">
                <a:lnSpc>
                  <a:spcPct val="120000"/>
                </a:lnSpc>
                <a:spcBef>
                  <a:spcPts val="200"/>
                </a:spcBef>
                <a:spcAft>
                  <a:spcPct val="0"/>
                </a:spcAft>
              </a:pPr>
              <a:r>
                <a:rPr lang="en-US" altLang="ko-KR" sz="700" b="1" spc="-50" dirty="0">
                  <a:ln w="6350">
                    <a:solidFill>
                      <a:prstClr val="white"/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03</a:t>
              </a:r>
              <a:endParaRPr lang="ko-KR" altLang="en-US" sz="700" b="1" spc="-50" dirty="0">
                <a:ln w="6350">
                  <a:solidFill>
                    <a:prstClr val="white"/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1747840" y="7089318"/>
            <a:ext cx="2968834" cy="344921"/>
            <a:chOff x="1936166" y="3479608"/>
            <a:chExt cx="2727075" cy="270192"/>
          </a:xfrm>
        </p:grpSpPr>
        <p:cxnSp>
          <p:nvCxnSpPr>
            <p:cNvPr id="137" name="직선 연결선 136"/>
            <p:cNvCxnSpPr/>
            <p:nvPr/>
          </p:nvCxnSpPr>
          <p:spPr>
            <a:xfrm flipH="1">
              <a:off x="1936166" y="3749800"/>
              <a:ext cx="2620430" cy="0"/>
            </a:xfrm>
            <a:prstGeom prst="line">
              <a:avLst/>
            </a:prstGeom>
            <a:solidFill>
              <a:srgbClr val="FFFFFF"/>
            </a:solidFill>
            <a:ln w="9525" algn="ctr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</p:cxnSp>
        <p:sp>
          <p:nvSpPr>
            <p:cNvPr id="138" name="Text Box 370"/>
            <p:cNvSpPr txBox="1">
              <a:spLocks noChangeArrowheads="1"/>
            </p:cNvSpPr>
            <p:nvPr/>
          </p:nvSpPr>
          <p:spPr bwMode="auto">
            <a:xfrm>
              <a:off x="1982239" y="3479608"/>
              <a:ext cx="2681002" cy="216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87313" indent="-87313" defTabSz="895350" eaLnBrk="0" latinLnBrk="0" hangingPunct="0">
                <a:spcBef>
                  <a:spcPct val="10000"/>
                </a:spcBef>
                <a:spcAft>
                  <a:spcPct val="10000"/>
                </a:spcAft>
                <a:buClr>
                  <a:srgbClr val="929292"/>
                </a:buClr>
                <a:buSzPct val="110000"/>
                <a:buFont typeface="Arial" pitchFamily="34" charset="0"/>
                <a:buChar char="•"/>
                <a:tabLst>
                  <a:tab pos="93663" algn="l"/>
                </a:tabLst>
                <a:defRPr sz="900" spc="-100">
                  <a:solidFill>
                    <a:srgbClr val="262626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산돌고딕 L"/>
                </a:defRPr>
              </a:lvl1pPr>
              <a:lvl2pPr marL="742950" indent="-28575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2pPr>
              <a:lvl3pPr marL="11430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3pPr>
              <a:lvl4pPr marL="16002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4pPr>
              <a:lvl5pPr marL="20574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9pPr>
            </a:lstStyle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SW 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개발단계 작업 별 개요</a:t>
              </a:r>
              <a:r>
                <a: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, 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절차 흐름도</a:t>
              </a:r>
              <a:r>
                <a: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, 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절차 설명</a:t>
              </a:r>
              <a:r>
                <a: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, 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고려사항</a:t>
              </a:r>
              <a:r>
                <a: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, 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서식</a:t>
              </a:r>
              <a:r>
                <a:rPr lang="en-US" altLang="ko-KR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, 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항목설명</a:t>
              </a:r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734518" y="7603511"/>
            <a:ext cx="962582" cy="437611"/>
            <a:chOff x="734518" y="4815174"/>
            <a:chExt cx="962582" cy="412447"/>
          </a:xfrm>
        </p:grpSpPr>
        <p:sp>
          <p:nvSpPr>
            <p:cNvPr id="132" name="대각선 방향의 모서리가 잘린 사각형 131"/>
            <p:cNvSpPr/>
            <p:nvPr/>
          </p:nvSpPr>
          <p:spPr>
            <a:xfrm>
              <a:off x="839848" y="4876800"/>
              <a:ext cx="857252" cy="350821"/>
            </a:xfrm>
            <a:prstGeom prst="snip2DiagRect">
              <a:avLst/>
            </a:prstGeom>
            <a:solidFill>
              <a:srgbClr val="FFFFFF"/>
            </a:solidFill>
            <a:ln w="9525" algn="ctr">
              <a:solidFill>
                <a:srgbClr val="0E7FB2"/>
              </a:solidFill>
              <a:prstDash val="solid"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 latinLnBrk="0">
                <a:spcBef>
                  <a:spcPts val="200"/>
                </a:spcBef>
              </a:pPr>
              <a:r>
                <a:rPr lang="ko-KR" altLang="en-US" sz="900" b="1" spc="-5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HY신명조" pitchFamily="18" charset="-127"/>
                  <a:ea typeface="HY신명조" pitchFamily="18" charset="-127"/>
                </a:rPr>
                <a:t>절차 및 서식 설명</a:t>
              </a:r>
            </a:p>
          </p:txBody>
        </p:sp>
        <p:grpSp>
          <p:nvGrpSpPr>
            <p:cNvPr id="133" name="그룹 132"/>
            <p:cNvGrpSpPr/>
            <p:nvPr/>
          </p:nvGrpSpPr>
          <p:grpSpPr>
            <a:xfrm flipH="1">
              <a:off x="806759" y="4850572"/>
              <a:ext cx="208142" cy="169103"/>
              <a:chOff x="1126397" y="-56751"/>
              <a:chExt cx="461583" cy="324240"/>
            </a:xfrm>
          </p:grpSpPr>
          <p:sp>
            <p:nvSpPr>
              <p:cNvPr id="135" name="Freeform 194"/>
              <p:cNvSpPr>
                <a:spLocks/>
              </p:cNvSpPr>
              <p:nvPr/>
            </p:nvSpPr>
            <p:spPr bwMode="auto">
              <a:xfrm>
                <a:off x="1126397" y="-56751"/>
                <a:ext cx="121657" cy="60830"/>
              </a:xfrm>
              <a:custGeom>
                <a:avLst/>
                <a:gdLst>
                  <a:gd name="T0" fmla="*/ 82 w 82"/>
                  <a:gd name="T1" fmla="*/ 42 h 42"/>
                  <a:gd name="T2" fmla="*/ 82 w 82"/>
                  <a:gd name="T3" fmla="*/ 42 h 42"/>
                  <a:gd name="T4" fmla="*/ 82 w 82"/>
                  <a:gd name="T5" fmla="*/ 34 h 42"/>
                  <a:gd name="T6" fmla="*/ 79 w 82"/>
                  <a:gd name="T7" fmla="*/ 26 h 42"/>
                  <a:gd name="T8" fmla="*/ 76 w 82"/>
                  <a:gd name="T9" fmla="*/ 19 h 42"/>
                  <a:gd name="T10" fmla="*/ 71 w 82"/>
                  <a:gd name="T11" fmla="*/ 13 h 42"/>
                  <a:gd name="T12" fmla="*/ 65 w 82"/>
                  <a:gd name="T13" fmla="*/ 8 h 42"/>
                  <a:gd name="T14" fmla="*/ 58 w 82"/>
                  <a:gd name="T15" fmla="*/ 3 h 42"/>
                  <a:gd name="T16" fmla="*/ 50 w 82"/>
                  <a:gd name="T17" fmla="*/ 2 h 42"/>
                  <a:gd name="T18" fmla="*/ 42 w 82"/>
                  <a:gd name="T19" fmla="*/ 0 h 42"/>
                  <a:gd name="T20" fmla="*/ 42 w 82"/>
                  <a:gd name="T21" fmla="*/ 0 h 42"/>
                  <a:gd name="T22" fmla="*/ 32 w 82"/>
                  <a:gd name="T23" fmla="*/ 2 h 42"/>
                  <a:gd name="T24" fmla="*/ 26 w 82"/>
                  <a:gd name="T25" fmla="*/ 3 h 42"/>
                  <a:gd name="T26" fmla="*/ 18 w 82"/>
                  <a:gd name="T27" fmla="*/ 8 h 42"/>
                  <a:gd name="T28" fmla="*/ 11 w 82"/>
                  <a:gd name="T29" fmla="*/ 13 h 42"/>
                  <a:gd name="T30" fmla="*/ 6 w 82"/>
                  <a:gd name="T31" fmla="*/ 19 h 42"/>
                  <a:gd name="T32" fmla="*/ 3 w 82"/>
                  <a:gd name="T33" fmla="*/ 26 h 42"/>
                  <a:gd name="T34" fmla="*/ 0 w 82"/>
                  <a:gd name="T35" fmla="*/ 34 h 42"/>
                  <a:gd name="T36" fmla="*/ 0 w 82"/>
                  <a:gd name="T37" fmla="*/ 42 h 42"/>
                  <a:gd name="T38" fmla="*/ 82 w 82"/>
                  <a:gd name="T39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2" h="42">
                    <a:moveTo>
                      <a:pt x="82" y="42"/>
                    </a:moveTo>
                    <a:lnTo>
                      <a:pt x="82" y="42"/>
                    </a:lnTo>
                    <a:lnTo>
                      <a:pt x="82" y="34"/>
                    </a:lnTo>
                    <a:lnTo>
                      <a:pt x="79" y="26"/>
                    </a:lnTo>
                    <a:lnTo>
                      <a:pt x="76" y="19"/>
                    </a:lnTo>
                    <a:lnTo>
                      <a:pt x="71" y="13"/>
                    </a:lnTo>
                    <a:lnTo>
                      <a:pt x="65" y="8"/>
                    </a:lnTo>
                    <a:lnTo>
                      <a:pt x="58" y="3"/>
                    </a:lnTo>
                    <a:lnTo>
                      <a:pt x="50" y="2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32" y="2"/>
                    </a:lnTo>
                    <a:lnTo>
                      <a:pt x="26" y="3"/>
                    </a:lnTo>
                    <a:lnTo>
                      <a:pt x="18" y="8"/>
                    </a:lnTo>
                    <a:lnTo>
                      <a:pt x="11" y="13"/>
                    </a:lnTo>
                    <a:lnTo>
                      <a:pt x="6" y="19"/>
                    </a:lnTo>
                    <a:lnTo>
                      <a:pt x="3" y="26"/>
                    </a:lnTo>
                    <a:lnTo>
                      <a:pt x="0" y="34"/>
                    </a:lnTo>
                    <a:lnTo>
                      <a:pt x="0" y="42"/>
                    </a:lnTo>
                    <a:lnTo>
                      <a:pt x="82" y="42"/>
                    </a:lnTo>
                    <a:close/>
                  </a:path>
                </a:pathLst>
              </a:custGeom>
              <a:solidFill>
                <a:srgbClr val="0E69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200"/>
                  </a:spcBef>
                </a:pPr>
                <a:endParaRPr lang="ko-KR" altLang="en-US"/>
              </a:p>
            </p:txBody>
          </p:sp>
          <p:sp>
            <p:nvSpPr>
              <p:cNvPr id="136" name="Freeform 195"/>
              <p:cNvSpPr>
                <a:spLocks/>
              </p:cNvSpPr>
              <p:nvPr/>
            </p:nvSpPr>
            <p:spPr bwMode="auto">
              <a:xfrm>
                <a:off x="1179559" y="-56751"/>
                <a:ext cx="408421" cy="324240"/>
              </a:xfrm>
              <a:custGeom>
                <a:avLst/>
                <a:gdLst>
                  <a:gd name="T0" fmla="*/ 241 w 283"/>
                  <a:gd name="T1" fmla="*/ 0 h 341"/>
                  <a:gd name="T2" fmla="*/ 0 w 283"/>
                  <a:gd name="T3" fmla="*/ 0 h 341"/>
                  <a:gd name="T4" fmla="*/ 0 w 283"/>
                  <a:gd name="T5" fmla="*/ 0 h 341"/>
                  <a:gd name="T6" fmla="*/ 8 w 283"/>
                  <a:gd name="T7" fmla="*/ 2 h 341"/>
                  <a:gd name="T8" fmla="*/ 16 w 283"/>
                  <a:gd name="T9" fmla="*/ 3 h 341"/>
                  <a:gd name="T10" fmla="*/ 23 w 283"/>
                  <a:gd name="T11" fmla="*/ 8 h 341"/>
                  <a:gd name="T12" fmla="*/ 29 w 283"/>
                  <a:gd name="T13" fmla="*/ 13 h 341"/>
                  <a:gd name="T14" fmla="*/ 34 w 283"/>
                  <a:gd name="T15" fmla="*/ 19 h 341"/>
                  <a:gd name="T16" fmla="*/ 37 w 283"/>
                  <a:gd name="T17" fmla="*/ 26 h 341"/>
                  <a:gd name="T18" fmla="*/ 40 w 283"/>
                  <a:gd name="T19" fmla="*/ 34 h 341"/>
                  <a:gd name="T20" fmla="*/ 40 w 283"/>
                  <a:gd name="T21" fmla="*/ 42 h 341"/>
                  <a:gd name="T22" fmla="*/ 40 w 283"/>
                  <a:gd name="T23" fmla="*/ 263 h 341"/>
                  <a:gd name="T24" fmla="*/ 162 w 283"/>
                  <a:gd name="T25" fmla="*/ 341 h 341"/>
                  <a:gd name="T26" fmla="*/ 283 w 283"/>
                  <a:gd name="T27" fmla="*/ 263 h 341"/>
                  <a:gd name="T28" fmla="*/ 283 w 283"/>
                  <a:gd name="T29" fmla="*/ 42 h 341"/>
                  <a:gd name="T30" fmla="*/ 283 w 283"/>
                  <a:gd name="T31" fmla="*/ 42 h 341"/>
                  <a:gd name="T32" fmla="*/ 281 w 283"/>
                  <a:gd name="T33" fmla="*/ 34 h 341"/>
                  <a:gd name="T34" fmla="*/ 278 w 283"/>
                  <a:gd name="T35" fmla="*/ 26 h 341"/>
                  <a:gd name="T36" fmla="*/ 275 w 283"/>
                  <a:gd name="T37" fmla="*/ 19 h 341"/>
                  <a:gd name="T38" fmla="*/ 270 w 283"/>
                  <a:gd name="T39" fmla="*/ 13 h 341"/>
                  <a:gd name="T40" fmla="*/ 263 w 283"/>
                  <a:gd name="T41" fmla="*/ 8 h 341"/>
                  <a:gd name="T42" fmla="*/ 257 w 283"/>
                  <a:gd name="T43" fmla="*/ 3 h 341"/>
                  <a:gd name="T44" fmla="*/ 249 w 283"/>
                  <a:gd name="T45" fmla="*/ 2 h 341"/>
                  <a:gd name="T46" fmla="*/ 241 w 283"/>
                  <a:gd name="T47" fmla="*/ 0 h 341"/>
                  <a:gd name="T48" fmla="*/ 241 w 283"/>
                  <a:gd name="T49" fmla="*/ 0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3" h="341">
                    <a:moveTo>
                      <a:pt x="241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8" y="2"/>
                    </a:lnTo>
                    <a:lnTo>
                      <a:pt x="16" y="3"/>
                    </a:lnTo>
                    <a:lnTo>
                      <a:pt x="23" y="8"/>
                    </a:lnTo>
                    <a:lnTo>
                      <a:pt x="29" y="13"/>
                    </a:lnTo>
                    <a:lnTo>
                      <a:pt x="34" y="19"/>
                    </a:lnTo>
                    <a:lnTo>
                      <a:pt x="37" y="26"/>
                    </a:lnTo>
                    <a:lnTo>
                      <a:pt x="40" y="34"/>
                    </a:lnTo>
                    <a:lnTo>
                      <a:pt x="40" y="42"/>
                    </a:lnTo>
                    <a:lnTo>
                      <a:pt x="40" y="263"/>
                    </a:lnTo>
                    <a:lnTo>
                      <a:pt x="162" y="341"/>
                    </a:lnTo>
                    <a:lnTo>
                      <a:pt x="283" y="263"/>
                    </a:lnTo>
                    <a:lnTo>
                      <a:pt x="283" y="42"/>
                    </a:lnTo>
                    <a:lnTo>
                      <a:pt x="283" y="42"/>
                    </a:lnTo>
                    <a:lnTo>
                      <a:pt x="281" y="34"/>
                    </a:lnTo>
                    <a:lnTo>
                      <a:pt x="278" y="26"/>
                    </a:lnTo>
                    <a:lnTo>
                      <a:pt x="275" y="19"/>
                    </a:lnTo>
                    <a:lnTo>
                      <a:pt x="270" y="13"/>
                    </a:lnTo>
                    <a:lnTo>
                      <a:pt x="263" y="8"/>
                    </a:lnTo>
                    <a:lnTo>
                      <a:pt x="257" y="3"/>
                    </a:lnTo>
                    <a:lnTo>
                      <a:pt x="249" y="2"/>
                    </a:lnTo>
                    <a:lnTo>
                      <a:pt x="241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1C9F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200"/>
                  </a:spcBef>
                </a:pPr>
                <a:endParaRPr lang="ko-KR" altLang="en-US"/>
              </a:p>
            </p:txBody>
          </p:sp>
        </p:grpSp>
        <p:sp>
          <p:nvSpPr>
            <p:cNvPr id="134" name="직사각형 6"/>
            <p:cNvSpPr>
              <a:spLocks noChangeArrowheads="1"/>
            </p:cNvSpPr>
            <p:nvPr/>
          </p:nvSpPr>
          <p:spPr bwMode="auto">
            <a:xfrm>
              <a:off x="734518" y="4815174"/>
              <a:ext cx="280810" cy="204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2" tIns="45713" rIns="91422" bIns="45713">
              <a:spAutoFit/>
            </a:bodyPr>
            <a:lstStyle>
              <a:lvl1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defTabSz="11112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765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30337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909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948113" indent="-290513" defTabSz="11112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fontAlgn="base">
                <a:lnSpc>
                  <a:spcPct val="120000"/>
                </a:lnSpc>
                <a:spcBef>
                  <a:spcPts val="200"/>
                </a:spcBef>
                <a:spcAft>
                  <a:spcPct val="0"/>
                </a:spcAft>
              </a:pPr>
              <a:r>
                <a:rPr lang="en-US" altLang="ko-KR" sz="700" b="1" spc="-50" dirty="0">
                  <a:ln w="6350">
                    <a:solidFill>
                      <a:prstClr val="white"/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04</a:t>
              </a:r>
              <a:endParaRPr lang="ko-KR" altLang="en-US" sz="700" b="1" spc="-50" dirty="0">
                <a:ln w="6350">
                  <a:solidFill>
                    <a:prstClr val="white"/>
                  </a:solidFill>
                </a:ln>
                <a:solidFill>
                  <a:prstClr val="white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121" name="그룹 120"/>
          <p:cNvGrpSpPr/>
          <p:nvPr/>
        </p:nvGrpSpPr>
        <p:grpSpPr>
          <a:xfrm>
            <a:off x="1747840" y="7653055"/>
            <a:ext cx="2968834" cy="388067"/>
            <a:chOff x="1936166" y="3469562"/>
            <a:chExt cx="2727075" cy="303989"/>
          </a:xfrm>
        </p:grpSpPr>
        <p:cxnSp>
          <p:nvCxnSpPr>
            <p:cNvPr id="128" name="직선 연결선 127"/>
            <p:cNvCxnSpPr/>
            <p:nvPr/>
          </p:nvCxnSpPr>
          <p:spPr>
            <a:xfrm flipH="1">
              <a:off x="1936166" y="3773551"/>
              <a:ext cx="2620430" cy="0"/>
            </a:xfrm>
            <a:prstGeom prst="line">
              <a:avLst/>
            </a:prstGeom>
            <a:solidFill>
              <a:srgbClr val="FFFFFF"/>
            </a:solidFill>
            <a:ln w="9525" algn="ctr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</p:cxnSp>
        <p:sp>
          <p:nvSpPr>
            <p:cNvPr id="129" name="Text Box 370"/>
            <p:cNvSpPr txBox="1">
              <a:spLocks noChangeArrowheads="1"/>
            </p:cNvSpPr>
            <p:nvPr/>
          </p:nvSpPr>
          <p:spPr bwMode="auto">
            <a:xfrm>
              <a:off x="1982239" y="3469562"/>
              <a:ext cx="2681002" cy="237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87313" indent="-87313" defTabSz="895350" eaLnBrk="0" latinLnBrk="0" hangingPunct="0">
                <a:spcBef>
                  <a:spcPct val="10000"/>
                </a:spcBef>
                <a:spcAft>
                  <a:spcPct val="10000"/>
                </a:spcAft>
                <a:buClr>
                  <a:srgbClr val="929292"/>
                </a:buClr>
                <a:buSzPct val="110000"/>
                <a:buFont typeface="Arial" pitchFamily="34" charset="0"/>
                <a:buChar char="•"/>
                <a:tabLst>
                  <a:tab pos="93663" algn="l"/>
                </a:tabLst>
                <a:defRPr sz="900" spc="-100">
                  <a:solidFill>
                    <a:srgbClr val="262626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산돌고딕 L"/>
                </a:defRPr>
              </a:lvl1pPr>
              <a:lvl2pPr marL="742950" indent="-28575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2pPr>
              <a:lvl3pPr marL="11430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3pPr>
              <a:lvl4pPr marL="16002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4pPr>
              <a:lvl5pPr marL="2057400" indent="-228600" defTabSz="895350"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tabLst>
                  <a:tab pos="93663" algn="l"/>
                </a:tabLst>
                <a:defRPr>
                  <a:latin typeface="산돌고딕 L"/>
                  <a:ea typeface="산돌고딕 L"/>
                  <a:cs typeface="산돌고딕 L"/>
                </a:defRPr>
              </a:lvl9pPr>
            </a:lstStyle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국방정보기술아키텍처 활용 개요</a:t>
              </a:r>
            </a:p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ko-KR" altLang="en-US" spc="-50" dirty="0" err="1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활동별</a:t>
              </a:r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</a:rPr>
                <a:t> 국방정보기술아키텍처 활용 가이드</a:t>
              </a:r>
            </a:p>
          </p:txBody>
        </p:sp>
      </p:grpSp>
      <p:sp>
        <p:nvSpPr>
          <p:cNvPr id="70" name="사다리꼴 69"/>
          <p:cNvSpPr/>
          <p:nvPr/>
        </p:nvSpPr>
        <p:spPr>
          <a:xfrm flipV="1">
            <a:off x="4800571" y="7861102"/>
            <a:ext cx="2171729" cy="129809"/>
          </a:xfrm>
          <a:prstGeom prst="trapezoid">
            <a:avLst>
              <a:gd name="adj" fmla="val 32568"/>
            </a:avLst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이등변 삼각형 214"/>
          <p:cNvSpPr/>
          <p:nvPr/>
        </p:nvSpPr>
        <p:spPr>
          <a:xfrm rot="5400000">
            <a:off x="6785054" y="7666163"/>
            <a:ext cx="431627" cy="19883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b="1">
              <a:solidFill>
                <a:schemeClr val="tx1"/>
              </a:solidFill>
            </a:endParaRPr>
          </a:p>
        </p:txBody>
      </p: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20C41C8D-D9E5-4BFF-8404-A7DC05B3D5C2}"/>
              </a:ext>
            </a:extLst>
          </p:cNvPr>
          <p:cNvGrpSpPr/>
          <p:nvPr/>
        </p:nvGrpSpPr>
        <p:grpSpPr>
          <a:xfrm>
            <a:off x="748623" y="2521803"/>
            <a:ext cx="6352126" cy="592587"/>
            <a:chOff x="739443" y="2694289"/>
            <a:chExt cx="6350829" cy="592501"/>
          </a:xfrm>
        </p:grpSpPr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564D106F-4EDD-41C0-BA2A-49FFF6F75774}"/>
                </a:ext>
              </a:extLst>
            </p:cNvPr>
            <p:cNvGrpSpPr/>
            <p:nvPr/>
          </p:nvGrpSpPr>
          <p:grpSpPr>
            <a:xfrm>
              <a:off x="739443" y="2694289"/>
              <a:ext cx="6350829" cy="592501"/>
              <a:chOff x="9427" y="3283689"/>
              <a:chExt cx="7057102" cy="592501"/>
            </a:xfrm>
          </p:grpSpPr>
          <p:sp>
            <p:nvSpPr>
              <p:cNvPr id="219" name="한쪽 모서리가 잘린 사각형 25">
                <a:extLst>
                  <a:ext uri="{FF2B5EF4-FFF2-40B4-BE49-F238E27FC236}">
                    <a16:creationId xmlns:a16="http://schemas.microsoft.com/office/drawing/2014/main" id="{28C069C2-B0C7-40FC-9550-60EFDBB7F40C}"/>
                  </a:ext>
                </a:extLst>
              </p:cNvPr>
              <p:cNvSpPr/>
              <p:nvPr/>
            </p:nvSpPr>
            <p:spPr bwMode="auto">
              <a:xfrm flipV="1">
                <a:off x="1268423" y="3283689"/>
                <a:ext cx="5761993" cy="591319"/>
              </a:xfrm>
              <a:prstGeom prst="snip1Rect">
                <a:avLst>
                  <a:gd name="adj" fmla="val 0"/>
                </a:avLst>
              </a:prstGeom>
              <a:solidFill>
                <a:srgbClr val="11A0DD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sp>
            <p:nvSpPr>
              <p:cNvPr id="220" name="Text Box 5">
                <a:extLst>
                  <a:ext uri="{FF2B5EF4-FFF2-40B4-BE49-F238E27FC236}">
                    <a16:creationId xmlns:a16="http://schemas.microsoft.com/office/drawing/2014/main" id="{B7D5CBA6-FB69-4C8C-A87B-CF885FD0DD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8547" y="3660197"/>
                <a:ext cx="919328" cy="169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defTabSz="914031" eaLnBrk="1" latinLnBrk="0" hangingPunct="1">
                  <a:spcAft>
                    <a:spcPct val="0"/>
                  </a:spcAft>
                </a:pPr>
                <a:r>
                  <a:rPr lang="ko-KR" altLang="en-US" sz="1100" b="1" spc="-150" dirty="0">
                    <a:ln w="0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11A0DD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요구사항</a:t>
                </a:r>
                <a:endParaRPr lang="en-US" altLang="ko-KR" sz="1100" b="1" spc="-1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1A0DD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3C0E5E83-ADA5-40A6-8C6F-A3A48C3CFBC6}"/>
                  </a:ext>
                </a:extLst>
              </p:cNvPr>
              <p:cNvCxnSpPr/>
              <p:nvPr/>
            </p:nvCxnSpPr>
            <p:spPr>
              <a:xfrm>
                <a:off x="9427" y="3870193"/>
                <a:ext cx="1225484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Text Box 5">
                <a:extLst>
                  <a:ext uri="{FF2B5EF4-FFF2-40B4-BE49-F238E27FC236}">
                    <a16:creationId xmlns:a16="http://schemas.microsoft.com/office/drawing/2014/main" id="{0DCC791E-6CBA-4451-A793-03FB717B8F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3749" y="3392024"/>
                <a:ext cx="5157885" cy="3769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모의논리분석서 검증 및 최신화</a:t>
                </a:r>
                <a:endParaRPr lang="en-US" altLang="ko-KR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  <a:p>
                <a:pPr marL="130097" indent="-130097" defTabSz="914031" eaLnBrk="1" latinLnBrk="0" hangingPunct="1">
                  <a:spcBef>
                    <a:spcPts val="300"/>
                  </a:spcBef>
                  <a:spcAft>
                    <a:spcPct val="0"/>
                  </a:spcAft>
                  <a:buSzPct val="70000"/>
                  <a:buFont typeface="Rix고딕 B" panose="02020603020101020101" pitchFamily="18" charset="-127"/>
                  <a:buChar char="▶"/>
                </a:pP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사용자지침서</a:t>
                </a:r>
                <a:r>
                  <a:rPr lang="en-US" altLang="ko-KR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, </a:t>
                </a:r>
                <a:r>
                  <a:rPr lang="ko-KR" altLang="en-US" sz="1100" b="1" spc="-50" dirty="0">
                    <a:ln w="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운용자지침서 검증 및 최신화</a:t>
                </a:r>
              </a:p>
            </p:txBody>
          </p:sp>
          <p:sp>
            <p:nvSpPr>
              <p:cNvPr id="223" name="직각 삼각형 222">
                <a:extLst>
                  <a:ext uri="{FF2B5EF4-FFF2-40B4-BE49-F238E27FC236}">
                    <a16:creationId xmlns:a16="http://schemas.microsoft.com/office/drawing/2014/main" id="{BFE18A3C-4018-4D60-AC35-5C4101A7450E}"/>
                  </a:ext>
                </a:extLst>
              </p:cNvPr>
              <p:cNvSpPr/>
              <p:nvPr/>
            </p:nvSpPr>
            <p:spPr bwMode="auto">
              <a:xfrm rot="10800000" flipV="1">
                <a:off x="6704974" y="3479085"/>
                <a:ext cx="361555" cy="397105"/>
              </a:xfrm>
              <a:prstGeom prst="rtTriangl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3847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000">
                  <a:solidFill>
                    <a:srgbClr val="000000"/>
                  </a:solidFill>
                  <a:ea typeface="KoPub돋움체 Medium" pitchFamily="18" charset="-127"/>
                  <a:cs typeface="Arial" charset="0"/>
                </a:endParaRPr>
              </a:p>
            </p:txBody>
          </p:sp>
          <p:cxnSp>
            <p:nvCxnSpPr>
              <p:cNvPr id="224" name="직선 연결선 223">
                <a:extLst>
                  <a:ext uri="{FF2B5EF4-FFF2-40B4-BE49-F238E27FC236}">
                    <a16:creationId xmlns:a16="http://schemas.microsoft.com/office/drawing/2014/main" id="{C1984A75-CC5F-4AA6-A377-07A7FA440DDA}"/>
                  </a:ext>
                </a:extLst>
              </p:cNvPr>
              <p:cNvCxnSpPr/>
              <p:nvPr/>
            </p:nvCxnSpPr>
            <p:spPr>
              <a:xfrm>
                <a:off x="9427" y="3286864"/>
                <a:ext cx="1225485" cy="0"/>
              </a:xfrm>
              <a:prstGeom prst="line">
                <a:avLst/>
              </a:prstGeom>
              <a:ln w="19050">
                <a:solidFill>
                  <a:srgbClr val="11A0D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5949DA76-A9C7-406B-91E3-C86916ACE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0533" y="2727456"/>
              <a:ext cx="431054" cy="429077"/>
            </a:xfrm>
            <a:prstGeom prst="rect">
              <a:avLst/>
            </a:prstGeom>
          </p:spPr>
        </p:pic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E778ED75-7F01-4159-99CB-40202BBCC146}"/>
              </a:ext>
            </a:extLst>
          </p:cNvPr>
          <p:cNvGrpSpPr/>
          <p:nvPr/>
        </p:nvGrpSpPr>
        <p:grpSpPr>
          <a:xfrm>
            <a:off x="762668" y="8442982"/>
            <a:ext cx="6330269" cy="169302"/>
            <a:chOff x="761696" y="5435378"/>
            <a:chExt cx="6328976" cy="169277"/>
          </a:xfrm>
        </p:grpSpPr>
        <p:sp>
          <p:nvSpPr>
            <p:cNvPr id="226" name="Text Box 5">
              <a:extLst>
                <a:ext uri="{FF2B5EF4-FFF2-40B4-BE49-F238E27FC236}">
                  <a16:creationId xmlns:a16="http://schemas.microsoft.com/office/drawing/2014/main" id="{4C63FCB2-D246-4B55-B42F-9D3CF8723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632" y="5435378"/>
              <a:ext cx="61340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913663" eaLnBrk="1" latinLnBrk="0" hangingPunct="1">
                <a:spcBef>
                  <a:spcPts val="500"/>
                </a:spcBef>
                <a:spcAft>
                  <a:spcPct val="0"/>
                </a:spcAft>
              </a:pPr>
              <a:r>
                <a:rPr lang="ko-KR" altLang="en-US" sz="1100" b="1" spc="-50" dirty="0">
                  <a:ln w="0"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산출물 검증 및 최신화</a:t>
              </a:r>
            </a:p>
          </p:txBody>
        </p: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E1145A7-8C88-4089-B208-D3F204A3EB44}"/>
                </a:ext>
              </a:extLst>
            </p:cNvPr>
            <p:cNvGrpSpPr/>
            <p:nvPr/>
          </p:nvGrpSpPr>
          <p:grpSpPr>
            <a:xfrm>
              <a:off x="761696" y="5449170"/>
              <a:ext cx="141020" cy="144299"/>
              <a:chOff x="7508602" y="1909057"/>
              <a:chExt cx="252710" cy="258586"/>
            </a:xfrm>
          </p:grpSpPr>
          <p:sp>
            <p:nvSpPr>
              <p:cNvPr id="228" name="타원 227">
                <a:extLst>
                  <a:ext uri="{FF2B5EF4-FFF2-40B4-BE49-F238E27FC236}">
                    <a16:creationId xmlns:a16="http://schemas.microsoft.com/office/drawing/2014/main" id="{C33D245F-0F4C-4974-BC91-7241C044CBC3}"/>
                  </a:ext>
                </a:extLst>
              </p:cNvPr>
              <p:cNvSpPr/>
              <p:nvPr/>
            </p:nvSpPr>
            <p:spPr>
              <a:xfrm>
                <a:off x="7508602" y="1909057"/>
                <a:ext cx="252710" cy="2585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3663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50">
                  <a:solidFill>
                    <a:prstClr val="whit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pic>
            <p:nvPicPr>
              <p:cNvPr id="229" name="Picture 132" descr="ㅇ">
                <a:extLst>
                  <a:ext uri="{FF2B5EF4-FFF2-40B4-BE49-F238E27FC236}">
                    <a16:creationId xmlns:a16="http://schemas.microsoft.com/office/drawing/2014/main" id="{5DD5E435-124B-4CC6-9721-6E34036820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0356" y="1925314"/>
                <a:ext cx="213176" cy="214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CB4251DF-6206-4844-B251-3A953F226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554980"/>
              </p:ext>
            </p:extLst>
          </p:nvPr>
        </p:nvGraphicFramePr>
        <p:xfrm>
          <a:off x="720271" y="8731014"/>
          <a:ext cx="6336000" cy="143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대상 산출물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kern="1200" spc="-50" baseline="0" dirty="0">
                          <a:ln w="0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검  증    및    최  신  화    방  법</a:t>
                      </a:r>
                    </a:p>
                  </a:txBody>
                  <a:tcPr marL="91459" marR="91459" marT="45727" marB="45727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모의논리분석서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실제로 구현되어 있는 내용 및 형상을 기준으로 검증하고 산출물을 보완</a:t>
                      </a:r>
                    </a:p>
                    <a:p>
                      <a:pPr marL="0" marR="0" lvl="0" indent="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</a:t>
                      </a:r>
                      <a:r>
                        <a:rPr kumimoji="1" lang="en-US" altLang="ko-KR" sz="9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- </a:t>
                      </a:r>
                      <a:r>
                        <a:rPr kumimoji="1" lang="ko-KR" altLang="en-US" sz="9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실제로 구현되어 있으나 산출물에 없는 내용은 추가</a:t>
                      </a:r>
                      <a:endParaRPr kumimoji="1" lang="en-US" altLang="ko-KR" sz="9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9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- </a:t>
                      </a:r>
                      <a:r>
                        <a:rPr kumimoji="1" lang="ko-KR" altLang="en-US" sz="9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산출물에는 있으나 구현되어 있지 않은 내용은</a:t>
                      </a:r>
                      <a:r>
                        <a:rPr kumimoji="1" lang="en-US" altLang="ko-KR" sz="9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‘</a:t>
                      </a:r>
                      <a:r>
                        <a:rPr kumimoji="1" lang="ko-KR" altLang="en-US" sz="9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미 구현</a:t>
                      </a:r>
                      <a:r>
                        <a:rPr kumimoji="1" lang="en-US" altLang="ko-KR" sz="9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’</a:t>
                      </a:r>
                      <a:r>
                        <a:rPr kumimoji="1" lang="ko-KR" altLang="en-US" sz="9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등으로 산출물에 표기</a:t>
                      </a: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기능개선 요구사항 적용 중 식별된 내용을 기준으로 검증 및 최신화</a:t>
                      </a: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사용자지침서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5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모의논리분석서에 있는 내용이 실제로 구현되어 있는지 검증하고 모의논리분석서를 보완</a:t>
                      </a:r>
                    </a:p>
                    <a:p>
                      <a:pPr marL="0" marR="0" lvl="0" indent="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-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실제로 구현되어 있으나 모의논리분석서에 없는 내용은 모의논리분석서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소스코드 주석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모의논리 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   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분석서에 추가 등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에 추가</a:t>
                      </a:r>
                      <a:endParaRPr kumimoji="1" lang="en-US" altLang="ko-KR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  <a:p>
                      <a:pPr marL="0" marR="0" lvl="0" indent="0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모의논리분석서에는 있으나 구현되어 있지 않은 내용은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‘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미 구현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’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등으로 모의논리분석서에 표기</a:t>
                      </a: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endParaRPr kumimoji="1" lang="ko-KR" altLang="en-US" sz="1000" kern="1200" spc="-50" dirty="0">
                        <a:ln w="0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  <a:cs typeface="+mn-cs"/>
                      </a:endParaRP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srgbClr val="686868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kern="1200" spc="-7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운용자지침서</a:t>
                      </a:r>
                    </a:p>
                  </a:txBody>
                  <a:tcPr marL="91459" marR="91459" marT="45727" marB="45727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합참 사업추진 및 관리기관이 획득 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생성하여 업체에 제공하는 자료</a:t>
                      </a: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법령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규정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고시</a:t>
                      </a:r>
                      <a:r>
                        <a:rPr kumimoji="1" lang="en-US" altLang="ko-KR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공문</a:t>
                      </a:r>
                    </a:p>
                    <a:p>
                      <a:pPr marL="68249" marR="0" lvl="0" indent="-68249" algn="l" defTabSz="652332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120"/>
                        </a:spcAft>
                        <a:buClr>
                          <a:prstClr val="black">
                            <a:lumMod val="65000"/>
                            <a:lumOff val="35000"/>
                          </a:prstClr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-50" dirty="0">
                          <a:ln w="0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  <a:cs typeface="+mn-cs"/>
                        </a:rPr>
                        <a:t>군 관련자료 등</a:t>
                      </a:r>
                    </a:p>
                  </a:txBody>
                  <a:tcPr marL="72000" marR="72000" marT="35989" marB="3598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7C306494-E47A-4D1F-9AB7-5E69A2A37AEC}"/>
              </a:ext>
            </a:extLst>
          </p:cNvPr>
          <p:cNvSpPr txBox="1"/>
          <p:nvPr/>
        </p:nvSpPr>
        <p:spPr>
          <a:xfrm>
            <a:off x="4427280" y="1011951"/>
            <a:ext cx="2664840" cy="225935"/>
          </a:xfrm>
          <a:prstGeom prst="rect">
            <a:avLst/>
          </a:prstGeom>
          <a:noFill/>
        </p:spPr>
        <p:txBody>
          <a:bodyPr wrap="square" lIns="101829" tIns="50915" rIns="101829" bIns="50915" rtlCol="0" anchor="t">
            <a:spAutoFit/>
          </a:bodyPr>
          <a:lstStyle/>
          <a:p>
            <a:pPr algn="r" defTabSz="913663" fontAlgn="base" latinLnBrk="0">
              <a:spcBef>
                <a:spcPts val="200"/>
              </a:spcBef>
              <a:spcAft>
                <a:spcPct val="0"/>
              </a:spcAft>
            </a:pPr>
            <a:r>
              <a:rPr kumimoji="1" lang="en-US" altLang="ko-KR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3.7 </a:t>
            </a:r>
            <a:r>
              <a:rPr kumimoji="1" lang="ko-KR" altLang="en-US" sz="800" spc="-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산출물 관리 방안</a:t>
            </a:r>
          </a:p>
        </p:txBody>
      </p:sp>
    </p:spTree>
    <p:extLst>
      <p:ext uri="{BB962C8B-B14F-4D97-AF65-F5344CB8AC3E}">
        <p14:creationId xmlns:p14="http://schemas.microsoft.com/office/powerpoint/2010/main" val="3504231295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7224</TotalTime>
  <Words>2455</Words>
  <Application>Microsoft Office PowerPoint</Application>
  <PresentationFormat>사용자 지정</PresentationFormat>
  <Paragraphs>798</Paragraphs>
  <Slides>13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6" baseType="lpstr">
      <vt:lpstr>HY신명조</vt:lpstr>
      <vt:lpstr>HY헤드라인M</vt:lpstr>
      <vt:lpstr>KoPub돋움체 Medium</vt:lpstr>
      <vt:lpstr>Monotype Sorts</vt:lpstr>
      <vt:lpstr>Rix고딕 B</vt:lpstr>
      <vt:lpstr>Rix모던고딕 B</vt:lpstr>
      <vt:lpstr>Rix모던고딕 L</vt:lpstr>
      <vt:lpstr>맑은 고딕</vt:lpstr>
      <vt:lpstr>바탕</vt:lpstr>
      <vt:lpstr>Arial</vt:lpstr>
      <vt:lpstr>Wingdings</vt:lpstr>
      <vt:lpstr>3_디자인 사용자 지정</vt:lpstr>
      <vt:lpstr>Photo Editor 사진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72142</dc:creator>
  <cp:lastModifiedBy>사용자</cp:lastModifiedBy>
  <cp:revision>571</cp:revision>
  <cp:lastPrinted>2022-10-03T05:14:24Z</cp:lastPrinted>
  <dcterms:created xsi:type="dcterms:W3CDTF">2015-03-01T05:44:18Z</dcterms:created>
  <dcterms:modified xsi:type="dcterms:W3CDTF">2026-06-05T00:14:23Z</dcterms:modified>
</cp:coreProperties>
</file>