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6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7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8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17" r:id="rId2"/>
    <p:sldMasterId id="2147483730" r:id="rId3"/>
    <p:sldMasterId id="2147483743" r:id="rId4"/>
    <p:sldMasterId id="2147483746" r:id="rId5"/>
    <p:sldMasterId id="2147483749" r:id="rId6"/>
    <p:sldMasterId id="2147483752" r:id="rId7"/>
    <p:sldMasterId id="2147483755" r:id="rId8"/>
    <p:sldMasterId id="2147483758" r:id="rId9"/>
  </p:sldMasterIdLst>
  <p:notesMasterIdLst>
    <p:notesMasterId r:id="rId64"/>
  </p:notesMasterIdLst>
  <p:handoutMasterIdLst>
    <p:handoutMasterId r:id="rId65"/>
  </p:handoutMasterIdLst>
  <p:sldIdLst>
    <p:sldId id="294" r:id="rId10"/>
    <p:sldId id="300" r:id="rId11"/>
    <p:sldId id="297" r:id="rId12"/>
    <p:sldId id="273" r:id="rId13"/>
    <p:sldId id="274" r:id="rId14"/>
    <p:sldId id="278" r:id="rId15"/>
    <p:sldId id="298" r:id="rId16"/>
    <p:sldId id="280" r:id="rId17"/>
    <p:sldId id="279" r:id="rId18"/>
    <p:sldId id="271" r:id="rId19"/>
    <p:sldId id="276" r:id="rId20"/>
    <p:sldId id="299" r:id="rId21"/>
    <p:sldId id="277" r:id="rId22"/>
    <p:sldId id="311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9" r:id="rId34"/>
    <p:sldId id="312" r:id="rId35"/>
    <p:sldId id="313" r:id="rId36"/>
    <p:sldId id="314" r:id="rId37"/>
    <p:sldId id="315" r:id="rId38"/>
    <p:sldId id="282" r:id="rId39"/>
    <p:sldId id="284" r:id="rId40"/>
    <p:sldId id="283" r:id="rId41"/>
    <p:sldId id="285" r:id="rId42"/>
    <p:sldId id="286" r:id="rId43"/>
    <p:sldId id="316" r:id="rId44"/>
    <p:sldId id="317" r:id="rId45"/>
    <p:sldId id="318" r:id="rId46"/>
    <p:sldId id="332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330" r:id="rId55"/>
    <p:sldId id="331" r:id="rId56"/>
    <p:sldId id="341" r:id="rId57"/>
    <p:sldId id="337" r:id="rId58"/>
    <p:sldId id="354" r:id="rId59"/>
    <p:sldId id="338" r:id="rId60"/>
    <p:sldId id="339" r:id="rId61"/>
    <p:sldId id="355" r:id="rId62"/>
    <p:sldId id="340" r:id="rId63"/>
  </p:sldIdLst>
  <p:sldSz cx="6858000" cy="9906000" type="A4"/>
  <p:notesSz cx="9925050" cy="67929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40" userDrawn="1">
          <p15:clr>
            <a:srgbClr val="A4A3A4"/>
          </p15:clr>
        </p15:guide>
        <p15:guide id="2" orient="horz" pos="5740">
          <p15:clr>
            <a:srgbClr val="A4A3A4"/>
          </p15:clr>
        </p15:guide>
        <p15:guide id="3" pos="3351">
          <p15:clr>
            <a:srgbClr val="A4A3A4"/>
          </p15:clr>
        </p15:guide>
        <p15:guide id="4" pos="40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0">
          <p15:clr>
            <a:srgbClr val="A4A3A4"/>
          </p15:clr>
        </p15:guide>
        <p15:guide id="2" pos="312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E0FF"/>
    <a:srgbClr val="BCDFFF"/>
    <a:srgbClr val="B7F1FF"/>
    <a:srgbClr val="B3BFDE"/>
    <a:srgbClr val="ACB2D2"/>
    <a:srgbClr val="9CB2CC"/>
    <a:srgbClr val="336699"/>
    <a:srgbClr val="A3CDDF"/>
    <a:srgbClr val="FFFFFF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6479" autoAdjust="0"/>
    <p:restoredTop sz="98854" autoAdjust="0"/>
  </p:normalViewPr>
  <p:slideViewPr>
    <p:cSldViewPr>
      <p:cViewPr>
        <p:scale>
          <a:sx n="90" d="100"/>
          <a:sy n="90" d="100"/>
        </p:scale>
        <p:origin x="2304" y="-734"/>
      </p:cViewPr>
      <p:guideLst>
        <p:guide orient="horz" pos="6240"/>
        <p:guide orient="horz" pos="5740"/>
        <p:guide pos="3351"/>
        <p:guide pos="40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3205"/>
    </p:cViewPr>
  </p:sorterViewPr>
  <p:notesViewPr>
    <p:cSldViewPr>
      <p:cViewPr>
        <p:scale>
          <a:sx n="400" d="100"/>
          <a:sy n="400" d="100"/>
        </p:scale>
        <p:origin x="-6876" y="-6036"/>
      </p:cViewPr>
      <p:guideLst>
        <p:guide orient="horz" pos="2140"/>
        <p:guide pos="3125"/>
      </p:guideLst>
    </p:cSldViewPr>
  </p:notesViewPr>
  <p:gridSpacing cx="37805" cy="378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viewProps" Target="viewProps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989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3" tIns="46046" rIns="92093" bIns="46046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6100" y="0"/>
            <a:ext cx="42989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3" tIns="46046" rIns="92093" bIns="46046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3188"/>
            <a:ext cx="42989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3" tIns="46046" rIns="92093" bIns="46046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6100" y="6453188"/>
            <a:ext cx="42989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3" tIns="46046" rIns="92093" bIns="4604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3100C5FD-49D2-43C0-8D6A-9C034AD5555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0650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989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3" tIns="46046" rIns="92093" bIns="46046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3" tIns="46046" rIns="92093" bIns="46046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81463" y="509588"/>
            <a:ext cx="1765300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227388"/>
            <a:ext cx="7940675" cy="305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3" tIns="46046" rIns="92093" bIns="460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1600"/>
            <a:ext cx="42989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3" tIns="46046" rIns="92093" bIns="46046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3" tIns="46046" rIns="92093" bIns="4604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86A2DC3C-AD64-474F-9235-142A6CD2A97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03190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4307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6537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6537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6537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6537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849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7168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971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971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3037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3037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15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4925" indent="-286509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6039" indent="-229208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4455" indent="-229208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62870" indent="-229208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21286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9702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38117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96533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ko-KR"/>
              <a:t>2222</a:t>
            </a:r>
          </a:p>
        </p:txBody>
      </p:sp>
      <p:sp>
        <p:nvSpPr>
          <p:cNvPr id="225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11" tIns="45956" rIns="91911" bIns="45956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6618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4925" indent="-286509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6039" indent="-229208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4455" indent="-229208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62870" indent="-229208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21286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9702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38117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96533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ko-KR"/>
              <a:t>2222</a:t>
            </a:r>
          </a:p>
        </p:txBody>
      </p:sp>
      <p:sp>
        <p:nvSpPr>
          <p:cNvPr id="225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11" tIns="45956" rIns="91911" bIns="45956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661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4925" indent="-286509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6039" indent="-229208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4455" indent="-229208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62870" indent="-229208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21286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9702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38117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96533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ko-KR"/>
              <a:t>2222</a:t>
            </a:r>
          </a:p>
        </p:txBody>
      </p:sp>
      <p:sp>
        <p:nvSpPr>
          <p:cNvPr id="225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11" tIns="45956" rIns="91911" bIns="45956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6618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19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20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21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62223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62223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4925" indent="-286509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6039" indent="-229208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4455" indent="-229208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62870" indent="-229208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21286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9702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38117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96533" indent="-22920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ko-KR"/>
              <a:t>2222</a:t>
            </a:r>
          </a:p>
        </p:txBody>
      </p:sp>
      <p:sp>
        <p:nvSpPr>
          <p:cNvPr id="225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11" tIns="45956" rIns="91911" bIns="45956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6618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26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97854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97854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97854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97854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97854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97854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97854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97854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307205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A2DC3C-AD64-474F-9235-142A6CD2A97B}" type="slidenum">
              <a:rPr lang="en-US" altLang="ko-KR" smtClean="0"/>
              <a:pPr/>
              <a:t>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518831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2D70CEDC-E764-AAD3-37A6-A234941E7D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18B3DA93-0C67-54C2-06FA-40DD5B9F2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C1C20C70-8387-39C3-3399-DA1C06194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315F64C-3ED7-4F78-9154-D72AC63F241F}" type="slidenum">
              <a:rPr lang="en-US" altLang="ko-KR" smtClean="0"/>
              <a:pPr/>
              <a:t>39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A46BC4E6-6831-0967-5EA7-BC2359AB85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171D8DB0-16A7-9A72-6890-7D4D13E6B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71109225-9FD4-1A45-B500-C2F10CBC2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31C328C-851E-425A-9A83-D8C5E7D52F05}" type="slidenum">
              <a:rPr lang="en-US" altLang="ko-KR" smtClean="0"/>
              <a:pPr/>
              <a:t>40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E149E0F-91B3-DEF6-F229-A35550D95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75BC55B-A7EB-32DB-B693-EDB71C8CE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41DE129-5FBB-4C53-A6D5-27BAAD992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DB8FB44F-56E7-4B7D-AAA6-AC50501988E6}" type="slidenum">
              <a:rPr lang="en-US" altLang="ko-KR" smtClean="0"/>
              <a:pPr/>
              <a:t>41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74E56BDB-66F5-F229-CB6C-03BD8B0155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611519E-2C4A-DD36-2203-96778D273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5511A96D-5370-E622-FAF0-0B89F4F0B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7B4FF1C-4631-4C32-A034-B5F7CC18C3B0}" type="slidenum">
              <a:rPr lang="en-US" altLang="ko-KR" smtClean="0"/>
              <a:pPr/>
              <a:t>42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4B221918-DE1E-C0F4-E663-26507A27A3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42F422F3-F36D-E084-52BF-C20DF3C87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624D718A-B5B8-9BE1-A91D-DCCDB0BD6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FA64290-722C-4FFF-838A-89A642C9EB1A}" type="slidenum">
              <a:rPr lang="en-US" altLang="ko-KR" smtClean="0"/>
              <a:pPr/>
              <a:t>43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슬라이드 이미지 개체 틀 1">
            <a:extLst>
              <a:ext uri="{FF2B5EF4-FFF2-40B4-BE49-F238E27FC236}">
                <a16:creationId xmlns:a16="http://schemas.microsoft.com/office/drawing/2014/main" id="{2ECE99AE-A5FF-2C05-7B13-98707B7A15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슬라이드 노트 개체 틀 2">
            <a:extLst>
              <a:ext uri="{FF2B5EF4-FFF2-40B4-BE49-F238E27FC236}">
                <a16:creationId xmlns:a16="http://schemas.microsoft.com/office/drawing/2014/main" id="{0167BAA8-E09B-D366-4E6A-D4F3AEEB8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556" name="슬라이드 번호 개체 틀 3">
            <a:extLst>
              <a:ext uri="{FF2B5EF4-FFF2-40B4-BE49-F238E27FC236}">
                <a16:creationId xmlns:a16="http://schemas.microsoft.com/office/drawing/2014/main" id="{7EFBC157-E8CF-BFA7-55DE-26478BDD8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081F78C3-C59E-4C39-8CD0-B1C4F78CE78F}" type="slidenum">
              <a:rPr lang="en-US" altLang="ko-KR" smtClean="0"/>
              <a:pPr/>
              <a:t>44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슬라이드 이미지 개체 틀 1">
            <a:extLst>
              <a:ext uri="{FF2B5EF4-FFF2-40B4-BE49-F238E27FC236}">
                <a16:creationId xmlns:a16="http://schemas.microsoft.com/office/drawing/2014/main" id="{CC720E97-8126-1E16-87C0-04BB8C816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슬라이드 노트 개체 틀 2">
            <a:extLst>
              <a:ext uri="{FF2B5EF4-FFF2-40B4-BE49-F238E27FC236}">
                <a16:creationId xmlns:a16="http://schemas.microsoft.com/office/drawing/2014/main" id="{BC84B565-A1F8-46DA-29CF-F509B5F56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5604" name="슬라이드 번호 개체 틀 3">
            <a:extLst>
              <a:ext uri="{FF2B5EF4-FFF2-40B4-BE49-F238E27FC236}">
                <a16:creationId xmlns:a16="http://schemas.microsoft.com/office/drawing/2014/main" id="{C212E8C5-9062-C265-1E68-380243E6B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14D9B8C-F4A8-4241-BA7D-423CDCC142E7}" type="slidenum">
              <a:rPr lang="en-US" altLang="ko-KR" smtClean="0"/>
              <a:pPr/>
              <a:t>45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>
            <a:extLst>
              <a:ext uri="{FF2B5EF4-FFF2-40B4-BE49-F238E27FC236}">
                <a16:creationId xmlns:a16="http://schemas.microsoft.com/office/drawing/2014/main" id="{8B4095E8-FE38-9FD1-78F8-03E09DC5AE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>
            <a:extLst>
              <a:ext uri="{FF2B5EF4-FFF2-40B4-BE49-F238E27FC236}">
                <a16:creationId xmlns:a16="http://schemas.microsoft.com/office/drawing/2014/main" id="{59B83C43-C0D8-4013-7F02-38636D119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52" name="슬라이드 번호 개체 틀 3">
            <a:extLst>
              <a:ext uri="{FF2B5EF4-FFF2-40B4-BE49-F238E27FC236}">
                <a16:creationId xmlns:a16="http://schemas.microsoft.com/office/drawing/2014/main" id="{D1DCB4F9-DDB8-2944-2147-E15B79D1D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C3250E2-7A9C-4926-ADBA-B50651BF6933}" type="slidenum">
              <a:rPr lang="en-US" altLang="ko-KR" smtClean="0"/>
              <a:pPr/>
              <a:t>46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이미지 개체 틀 1">
            <a:extLst>
              <a:ext uri="{FF2B5EF4-FFF2-40B4-BE49-F238E27FC236}">
                <a16:creationId xmlns:a16="http://schemas.microsoft.com/office/drawing/2014/main" id="{8AB4AA27-CAAA-9C2D-B2DB-32C94C5753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슬라이드 노트 개체 틀 2">
            <a:extLst>
              <a:ext uri="{FF2B5EF4-FFF2-40B4-BE49-F238E27FC236}">
                <a16:creationId xmlns:a16="http://schemas.microsoft.com/office/drawing/2014/main" id="{B165A67E-82F4-1F3C-D8B8-7B7A4DB97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0" name="슬라이드 번호 개체 틀 3">
            <a:extLst>
              <a:ext uri="{FF2B5EF4-FFF2-40B4-BE49-F238E27FC236}">
                <a16:creationId xmlns:a16="http://schemas.microsoft.com/office/drawing/2014/main" id="{F8154628-0600-04EA-931F-63CE5E7FF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C7B7635-704C-4E34-B4C4-9BC4956366BC}" type="slidenum">
              <a:rPr lang="en-US" altLang="ko-KR" smtClean="0"/>
              <a:pPr/>
              <a:t>47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49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66978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51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40343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52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593966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DCF5F4F-8F5C-4892-AC92-3998F14E282E}" type="slidenum">
              <a:rPr lang="en-US" altLang="ko-KR"/>
              <a:pPr/>
              <a:t>54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72453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334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206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547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6575"/>
            <a:ext cx="5829300" cy="212407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20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56805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5028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6365875"/>
            <a:ext cx="5829300" cy="196691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4198938"/>
            <a:ext cx="5829300" cy="21669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81957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0"/>
            <a:ext cx="3009900" cy="6537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311400"/>
            <a:ext cx="3009900" cy="6537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68659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738"/>
            <a:ext cx="3030538" cy="9239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663"/>
            <a:ext cx="3030538" cy="57070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63" y="2217738"/>
            <a:ext cx="3030537" cy="9239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63" y="3141663"/>
            <a:ext cx="3030537" cy="57070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3440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06506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693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3700"/>
            <a:ext cx="2255838" cy="1679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3700"/>
            <a:ext cx="3833812" cy="8455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2073275"/>
            <a:ext cx="2255838" cy="677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72282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934200"/>
            <a:ext cx="4114800" cy="8191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85825"/>
            <a:ext cx="4114800" cy="594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753350"/>
            <a:ext cx="4114800" cy="1162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41952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3501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6875"/>
            <a:ext cx="1543050" cy="845185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6875"/>
            <a:ext cx="4476750" cy="8451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8925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6575"/>
            <a:ext cx="5829300" cy="212407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20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18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목차 </a:t>
            </a:r>
            <a:r>
              <a:rPr lang="en-US" altLang="ko-KR"/>
              <a:t>- </a:t>
            </a:r>
            <a:fld id="{8F4502A1-8317-4573-9F67-B25BC778EA3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3278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8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목차 </a:t>
            </a:r>
            <a:r>
              <a:rPr lang="en-US" altLang="ko-KR"/>
              <a:t>- </a:t>
            </a:r>
            <a:fld id="{A145AD35-4BC0-4616-999C-2FD9201C151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3477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6365875"/>
            <a:ext cx="5829300" cy="196691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4198938"/>
            <a:ext cx="5829300" cy="21669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8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목차 </a:t>
            </a:r>
            <a:r>
              <a:rPr lang="en-US" altLang="ko-KR"/>
              <a:t>- </a:t>
            </a:r>
            <a:fld id="{64C7035B-6EAD-4757-A6A0-927A231DDF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15537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0"/>
            <a:ext cx="3009900" cy="6537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311400"/>
            <a:ext cx="3009900" cy="6537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8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목차 </a:t>
            </a:r>
            <a:r>
              <a:rPr lang="en-US" altLang="ko-KR"/>
              <a:t>- </a:t>
            </a:r>
            <a:fld id="{B6A040B3-A928-40FA-9C0F-CCF290EBFC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99009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738"/>
            <a:ext cx="3030538" cy="9239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663"/>
            <a:ext cx="3030538" cy="57070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63" y="2217738"/>
            <a:ext cx="3030537" cy="9239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63" y="3141663"/>
            <a:ext cx="3030537" cy="57070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8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목차 </a:t>
            </a:r>
            <a:r>
              <a:rPr lang="en-US" altLang="ko-KR"/>
              <a:t>- </a:t>
            </a:r>
            <a:fld id="{C62EC933-E0EA-4275-A513-4DEEFC5CA4C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62308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8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목차 </a:t>
            </a:r>
            <a:r>
              <a:rPr lang="en-US" altLang="ko-KR"/>
              <a:t>- </a:t>
            </a:r>
            <a:fld id="{D321DB9E-EF38-4CB9-AAE9-A304D55E127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28583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목차 </a:t>
            </a:r>
            <a:r>
              <a:rPr lang="en-US" altLang="ko-KR"/>
              <a:t>- </a:t>
            </a:r>
            <a:fld id="{F38A63CB-ACA7-4586-A0E0-43C9B37AAF2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16945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3700"/>
            <a:ext cx="2255838" cy="1679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3700"/>
            <a:ext cx="3833812" cy="8455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2073275"/>
            <a:ext cx="2255838" cy="677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8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목차 </a:t>
            </a:r>
            <a:r>
              <a:rPr lang="en-US" altLang="ko-KR"/>
              <a:t>- </a:t>
            </a:r>
            <a:fld id="{69C01495-90AF-4667-B017-95FFE61CC7B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50103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934200"/>
            <a:ext cx="4114800" cy="8191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85825"/>
            <a:ext cx="4114800" cy="594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753350"/>
            <a:ext cx="4114800" cy="1162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8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목차 </a:t>
            </a:r>
            <a:r>
              <a:rPr lang="en-US" altLang="ko-KR"/>
              <a:t>- </a:t>
            </a:r>
            <a:fld id="{55D9DFCA-C7C7-4B26-AF20-5647A9BE022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3301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8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목차 </a:t>
            </a:r>
            <a:r>
              <a:rPr lang="en-US" altLang="ko-KR"/>
              <a:t>- </a:t>
            </a:r>
            <a:fld id="{0EC7B4A7-8907-4844-9D45-898C029A6E4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80954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6875"/>
            <a:ext cx="1543050" cy="845185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6875"/>
            <a:ext cx="4476750" cy="8451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8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목차 </a:t>
            </a:r>
            <a:r>
              <a:rPr lang="en-US" altLang="ko-KR"/>
              <a:t>- </a:t>
            </a:r>
            <a:fld id="{77762B18-965B-44EB-A8BD-9F3A0142F60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1374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4879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4260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0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8990" y="1172500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1331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6276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0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8990" y="1172500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2963050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47681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0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8990" y="1172500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722624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476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0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8990" y="1172500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837813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664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0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8990" y="1172500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817456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480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0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8990" y="1172500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9605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oleObject" Target="../embeddings/oleObject1.bin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5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oleObject" Target="../embeddings/oleObject2.bin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oleObject" Target="../embeddings/oleObject3.bin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oleObject" Target="../embeddings/oleObject4.bin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oleObject" Target="../embeddings/oleObject4.bin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oleObject" Target="../embeddings/oleObject4.bin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oleObject" Target="../embeddings/oleObject4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81"/>
          <p:cNvGraphicFramePr>
            <a:graphicFrameLocks noChangeAspect="1"/>
          </p:cNvGraphicFramePr>
          <p:nvPr userDrawn="1"/>
        </p:nvGraphicFramePr>
        <p:xfrm>
          <a:off x="0" y="9572625"/>
          <a:ext cx="68580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9142857" imgH="444288" progId="">
                  <p:embed/>
                </p:oleObj>
              </mc:Choice>
              <mc:Fallback>
                <p:oleObj name="Image" r:id="rId5" imgW="9142857" imgH="444288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572625"/>
                        <a:ext cx="685800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6" name="Rectangle 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9702800"/>
            <a:ext cx="3847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1" latinLnBrk="1" hangingPunct="1">
              <a:defRPr sz="900">
                <a:solidFill>
                  <a:srgbClr val="28303C"/>
                </a:solidFill>
                <a:latin typeface="HY신명조" pitchFamily="18" charset="-127"/>
                <a:ea typeface="HY신명조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Ⅰ - #</a:t>
            </a:r>
          </a:p>
        </p:txBody>
      </p:sp>
      <p:pic>
        <p:nvPicPr>
          <p:cNvPr id="1028" name="Picture 21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7" name="Text Box 23"/>
          <p:cNvSpPr txBox="1">
            <a:spLocks noChangeArrowheads="1"/>
          </p:cNvSpPr>
          <p:nvPr userDrawn="1"/>
        </p:nvSpPr>
        <p:spPr bwMode="auto">
          <a:xfrm>
            <a:off x="-44450" y="420688"/>
            <a:ext cx="31702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latinLnBrk="1" hangingPunct="1">
              <a:spcBef>
                <a:spcPct val="50000"/>
              </a:spcBef>
              <a:defRPr/>
            </a:pPr>
            <a:r>
              <a:rPr lang="en-US" altLang="ko-KR" sz="1000">
                <a:latin typeface="HY헤드라인M" pitchFamily="18" charset="-127"/>
                <a:ea typeface="HY헤드라인M" pitchFamily="18" charset="-127"/>
              </a:rPr>
              <a:t>2025 </a:t>
            </a:r>
            <a:r>
              <a:rPr lang="ko-KR" altLang="en-US" sz="1000">
                <a:latin typeface="HY헤드라인M" pitchFamily="18" charset="-127"/>
                <a:ea typeface="HY헤드라인M" pitchFamily="18" charset="-127"/>
              </a:rPr>
              <a:t>태극</a:t>
            </a:r>
            <a:r>
              <a:rPr lang="en-US" altLang="ko-KR" sz="1000">
                <a:latin typeface="HY헤드라인M" pitchFamily="18" charset="-127"/>
                <a:ea typeface="HY헤드라인M" pitchFamily="18" charset="-127"/>
              </a:rPr>
              <a:t>JOS</a:t>
            </a:r>
            <a:r>
              <a:rPr lang="ko-KR" altLang="en-US" sz="1000">
                <a:latin typeface="HY헤드라인M" pitchFamily="18" charset="-127"/>
                <a:ea typeface="HY헤드라인M" pitchFamily="18" charset="-127"/>
              </a:rPr>
              <a:t>모델 유지보수 외주용역</a:t>
            </a:r>
          </a:p>
        </p:txBody>
      </p:sp>
      <p:sp>
        <p:nvSpPr>
          <p:cNvPr id="1031" name="Text Box 185"/>
          <p:cNvSpPr txBox="1">
            <a:spLocks noChangeArrowheads="1"/>
          </p:cNvSpPr>
          <p:nvPr userDrawn="1"/>
        </p:nvSpPr>
        <p:spPr bwMode="auto">
          <a:xfrm>
            <a:off x="5054600" y="104775"/>
            <a:ext cx="16637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500" b="1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Ⅰ</a:t>
            </a:r>
            <a:r>
              <a:rPr lang="en-US" altLang="ko-KR" sz="1500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일반현황</a:t>
            </a: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32" name="_x33193280" descr="EMB00000dfc0b4c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258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29" r:id="rId3"/>
  </p:sldLayoutIdLst>
  <p:hf hdr="0" ftr="0" dt="0"/>
  <p:txStyles>
    <p:titleStyle>
      <a:lvl1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just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buChar char="•"/>
        <a:defRPr kumimoji="1" sz="1200">
          <a:solidFill>
            <a:schemeClr val="tx1"/>
          </a:solidFill>
          <a:latin typeface="+mn-lt"/>
          <a:ea typeface="+mn-ea"/>
          <a:cs typeface="+mn-cs"/>
        </a:defRPr>
      </a:lvl1pPr>
      <a:lvl2pPr marL="823913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2319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39888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09" descr="그림1">
            <a:extLst>
              <a:ext uri="{FF2B5EF4-FFF2-40B4-BE49-F238E27FC236}">
                <a16:creationId xmlns:a16="http://schemas.microsoft.com/office/drawing/2014/main" id="{8D4202BC-A130-E2A4-21C9-8D3563DD00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08">
            <a:extLst>
              <a:ext uri="{FF2B5EF4-FFF2-40B4-BE49-F238E27FC236}">
                <a16:creationId xmlns:a16="http://schemas.microsoft.com/office/drawing/2014/main" id="{E6679DF2-19B5-AB6A-955D-435B012DF2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694113" y="720725"/>
            <a:ext cx="2646362" cy="26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en-US" altLang="ko-KR" sz="15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Joint Operations Simulation</a:t>
            </a:r>
          </a:p>
        </p:txBody>
      </p:sp>
    </p:spTree>
    <p:extLst>
      <p:ext uri="{BB962C8B-B14F-4D97-AF65-F5344CB8AC3E}">
        <p14:creationId xmlns:p14="http://schemas.microsoft.com/office/powerpoint/2010/main" val="399496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2pPr>
      <a:lvl3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3pPr>
      <a:lvl4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4pPr>
      <a:lvl5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5pPr>
      <a:lvl6pPr marL="4572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6pPr>
      <a:lvl7pPr marL="9144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7pPr>
      <a:lvl8pPr marL="13716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8pPr>
      <a:lvl9pPr marL="18288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9pPr>
    </p:titleStyle>
    <p:bodyStyle>
      <a:lvl1pPr marL="342900" indent="-342900" algn="just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kumimoji="1" sz="1200">
          <a:solidFill>
            <a:schemeClr val="tx1"/>
          </a:solidFill>
          <a:latin typeface="+mn-lt"/>
          <a:ea typeface="+mn-ea"/>
          <a:cs typeface="+mn-cs"/>
        </a:defRPr>
      </a:lvl1pPr>
      <a:lvl2pPr marL="823913" indent="-285750" algn="l" rtl="0" eaLnBrk="0" fontAlgn="base" latinLnBrk="1" hangingPunct="0">
        <a:spcBef>
          <a:spcPct val="20000"/>
        </a:spcBef>
        <a:spcAft>
          <a:spcPct val="0"/>
        </a:spcAft>
        <a:defRPr kumimoji="1" sz="2800">
          <a:solidFill>
            <a:schemeClr val="tx1"/>
          </a:solidFill>
          <a:latin typeface="+mn-lt"/>
          <a:ea typeface="+mn-ea"/>
        </a:defRPr>
      </a:lvl2pPr>
      <a:lvl3pPr marL="1231900" indent="-228600" algn="l" rtl="0" eaLnBrk="0" fontAlgn="base" latinLnBrk="1" hangingPunct="0">
        <a:spcBef>
          <a:spcPct val="20000"/>
        </a:spcBef>
        <a:spcAft>
          <a:spcPct val="0"/>
        </a:spcAft>
        <a:defRPr kumimoji="1" sz="2400">
          <a:solidFill>
            <a:schemeClr val="tx1"/>
          </a:solidFill>
          <a:latin typeface="+mn-lt"/>
          <a:ea typeface="+mn-ea"/>
        </a:defRPr>
      </a:lvl3pPr>
      <a:lvl4pPr marL="1639888" indent="-228600" algn="l" rtl="0" eaLnBrk="0" fontAlgn="base" latinLnBrk="1" hangingPunct="0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95" descr="그림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2" name="Rectangle 18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09988" y="9224963"/>
            <a:ext cx="5810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latinLnBrk="1" hangingPunct="1">
              <a:defRPr sz="1000">
                <a:solidFill>
                  <a:srgbClr val="28303C"/>
                </a:solidFill>
                <a:latin typeface="Yoon 윤고딕 520_TT" pitchFamily="18" charset="-127"/>
                <a:ea typeface="Yoon 윤고딕 520_TT" pitchFamily="18" charset="-127"/>
              </a:defRPr>
            </a:lvl1pPr>
          </a:lstStyle>
          <a:p>
            <a:r>
              <a:rPr lang="ko-KR" altLang="en-US"/>
              <a:t>목차 </a:t>
            </a:r>
            <a:r>
              <a:rPr lang="en-US" altLang="ko-KR"/>
              <a:t>- </a:t>
            </a:r>
            <a:fld id="{90AB591B-4A27-4E0F-954C-E4AAA574F630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1028" name="Rectangle 196"/>
          <p:cNvSpPr>
            <a:spLocks noChangeArrowheads="1"/>
          </p:cNvSpPr>
          <p:nvPr/>
        </p:nvSpPr>
        <p:spPr bwMode="auto">
          <a:xfrm>
            <a:off x="669925" y="1096963"/>
            <a:ext cx="566738" cy="6313487"/>
          </a:xfrm>
          <a:prstGeom prst="rect">
            <a:avLst/>
          </a:prstGeom>
          <a:noFill/>
          <a:ln>
            <a:noFill/>
          </a:ln>
        </p:spPr>
        <p:txBody>
          <a:bodyPr vert="eaVert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en-US" altLang="ko-KR" sz="35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Joint Operations Simulation</a:t>
            </a:r>
          </a:p>
        </p:txBody>
      </p:sp>
      <p:sp>
        <p:nvSpPr>
          <p:cNvPr id="1029" name="Text Box 187"/>
          <p:cNvSpPr txBox="1">
            <a:spLocks noChangeArrowheads="1"/>
          </p:cNvSpPr>
          <p:nvPr/>
        </p:nvSpPr>
        <p:spPr bwMode="auto">
          <a:xfrm>
            <a:off x="290513" y="568325"/>
            <a:ext cx="2306637" cy="7318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0066">
                <a:alpha val="50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4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94007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</p:sldLayoutIdLst>
  <p:hf hdr="0" ftr="0" dt="0"/>
  <p:txStyles>
    <p:titleStyle>
      <a:lvl1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2pPr>
      <a:lvl3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3pPr>
      <a:lvl4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4pPr>
      <a:lvl5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5pPr>
      <a:lvl6pPr marL="4572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6pPr>
      <a:lvl7pPr marL="9144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7pPr>
      <a:lvl8pPr marL="13716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8pPr>
      <a:lvl9pPr marL="18288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각헤드라인M" pitchFamily="18" charset="-127"/>
          <a:ea typeface="HY각헤드라인M" pitchFamily="18" charset="-127"/>
        </a:defRPr>
      </a:lvl9pPr>
    </p:titleStyle>
    <p:bodyStyle>
      <a:lvl1pPr marL="342900" indent="-342900" algn="just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buChar char="•"/>
        <a:defRPr kumimoji="1" sz="1200">
          <a:solidFill>
            <a:schemeClr val="tx1"/>
          </a:solidFill>
          <a:latin typeface="+mn-lt"/>
          <a:ea typeface="+mn-ea"/>
          <a:cs typeface="+mn-cs"/>
        </a:defRPr>
      </a:lvl1pPr>
      <a:lvl2pPr marL="823913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2319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39888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81"/>
          <p:cNvGraphicFramePr>
            <a:graphicFrameLocks noChangeAspect="1"/>
          </p:cNvGraphicFramePr>
          <p:nvPr userDrawn="1"/>
        </p:nvGraphicFramePr>
        <p:xfrm>
          <a:off x="0" y="9572625"/>
          <a:ext cx="68580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9142857" imgH="444288" progId="">
                  <p:embed/>
                </p:oleObj>
              </mc:Choice>
              <mc:Fallback>
                <p:oleObj name="Image" r:id="rId4" imgW="9142857" imgH="444288" progId="">
                  <p:embed/>
                  <p:pic>
                    <p:nvPicPr>
                      <p:cNvPr id="1026" name="Object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572625"/>
                        <a:ext cx="685800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6" name="Rectangle 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9702800"/>
            <a:ext cx="3847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1" latinLnBrk="1" hangingPunct="1">
              <a:defRPr sz="900">
                <a:solidFill>
                  <a:srgbClr val="28303C"/>
                </a:solidFill>
                <a:latin typeface="HY신명조" pitchFamily="18" charset="-127"/>
                <a:ea typeface="HY신명조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Ⅱ - #</a:t>
            </a:r>
          </a:p>
        </p:txBody>
      </p:sp>
      <p:pic>
        <p:nvPicPr>
          <p:cNvPr id="1028" name="Picture 21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7" name="Text Box 23"/>
          <p:cNvSpPr txBox="1">
            <a:spLocks noChangeArrowheads="1"/>
          </p:cNvSpPr>
          <p:nvPr userDrawn="1"/>
        </p:nvSpPr>
        <p:spPr bwMode="auto">
          <a:xfrm>
            <a:off x="-44450" y="420688"/>
            <a:ext cx="31702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latinLnBrk="1" hangingPunct="1">
              <a:spcBef>
                <a:spcPct val="50000"/>
              </a:spcBef>
              <a:defRPr/>
            </a:pPr>
            <a:r>
              <a:rPr lang="en-US" altLang="ko-KR" sz="1000">
                <a:latin typeface="HY헤드라인M" pitchFamily="18" charset="-127"/>
                <a:ea typeface="HY헤드라인M" pitchFamily="18" charset="-127"/>
              </a:rPr>
              <a:t>2025 </a:t>
            </a:r>
            <a:r>
              <a:rPr lang="ko-KR" altLang="en-US" sz="1000">
                <a:latin typeface="HY헤드라인M" pitchFamily="18" charset="-127"/>
                <a:ea typeface="HY헤드라인M" pitchFamily="18" charset="-127"/>
              </a:rPr>
              <a:t>태극</a:t>
            </a:r>
            <a:r>
              <a:rPr lang="en-US" altLang="ko-KR" sz="1000">
                <a:latin typeface="HY헤드라인M" pitchFamily="18" charset="-127"/>
                <a:ea typeface="HY헤드라인M" pitchFamily="18" charset="-127"/>
              </a:rPr>
              <a:t>JOS</a:t>
            </a:r>
            <a:r>
              <a:rPr lang="ko-KR" altLang="en-US" sz="1000">
                <a:latin typeface="HY헤드라인M" pitchFamily="18" charset="-127"/>
                <a:ea typeface="HY헤드라인M" pitchFamily="18" charset="-127"/>
              </a:rPr>
              <a:t>모델 유지보수 외주용역</a:t>
            </a:r>
          </a:p>
        </p:txBody>
      </p:sp>
      <p:sp>
        <p:nvSpPr>
          <p:cNvPr id="1031" name="Text Box 185"/>
          <p:cNvSpPr txBox="1">
            <a:spLocks noChangeArrowheads="1"/>
          </p:cNvSpPr>
          <p:nvPr userDrawn="1"/>
        </p:nvSpPr>
        <p:spPr bwMode="auto">
          <a:xfrm>
            <a:off x="5054600" y="104775"/>
            <a:ext cx="1663700" cy="2308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500" b="1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Ⅱ</a:t>
            </a:r>
            <a:r>
              <a:rPr lang="en-US" altLang="ko-KR" sz="1500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전략 및 방법론</a:t>
            </a: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32" name="_x33193280" descr="EMB00000dfc0b4c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258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43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</p:sldLayoutIdLst>
  <p:hf hdr="0" ftr="0" dt="0"/>
  <p:txStyles>
    <p:titleStyle>
      <a:lvl1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just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buChar char="•"/>
        <a:defRPr kumimoji="1" sz="1200">
          <a:solidFill>
            <a:schemeClr val="tx1"/>
          </a:solidFill>
          <a:latin typeface="+mn-lt"/>
          <a:ea typeface="+mn-ea"/>
          <a:cs typeface="+mn-cs"/>
        </a:defRPr>
      </a:lvl1pPr>
      <a:lvl2pPr marL="823913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2319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39888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81"/>
          <p:cNvGraphicFramePr>
            <a:graphicFrameLocks noChangeAspect="1"/>
          </p:cNvGraphicFramePr>
          <p:nvPr userDrawn="1"/>
        </p:nvGraphicFramePr>
        <p:xfrm>
          <a:off x="0" y="9572625"/>
          <a:ext cx="68580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9142857" imgH="444288" progId="">
                  <p:embed/>
                </p:oleObj>
              </mc:Choice>
              <mc:Fallback>
                <p:oleObj name="Image" r:id="rId4" imgW="9142857" imgH="444288" progId="">
                  <p:embed/>
                  <p:pic>
                    <p:nvPicPr>
                      <p:cNvPr id="1026" name="Object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572625"/>
                        <a:ext cx="685800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6" name="Rectangle 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9702800"/>
            <a:ext cx="3847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1" latinLnBrk="1" hangingPunct="1">
              <a:defRPr sz="900">
                <a:solidFill>
                  <a:srgbClr val="28303C"/>
                </a:solidFill>
                <a:latin typeface="HY신명조" pitchFamily="18" charset="-127"/>
                <a:ea typeface="HY신명조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Ⅲ - #</a:t>
            </a:r>
          </a:p>
        </p:txBody>
      </p:sp>
      <p:pic>
        <p:nvPicPr>
          <p:cNvPr id="1028" name="Picture 21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7" name="Text Box 23"/>
          <p:cNvSpPr txBox="1">
            <a:spLocks noChangeArrowheads="1"/>
          </p:cNvSpPr>
          <p:nvPr userDrawn="1"/>
        </p:nvSpPr>
        <p:spPr bwMode="auto">
          <a:xfrm>
            <a:off x="-44450" y="420688"/>
            <a:ext cx="31702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latinLnBrk="1" hangingPunct="1">
              <a:spcBef>
                <a:spcPct val="50000"/>
              </a:spcBef>
              <a:defRPr/>
            </a:pPr>
            <a:r>
              <a:rPr lang="en-US" altLang="ko-KR" sz="1000">
                <a:latin typeface="HY헤드라인M" pitchFamily="18" charset="-127"/>
                <a:ea typeface="HY헤드라인M" pitchFamily="18" charset="-127"/>
              </a:rPr>
              <a:t>2025 </a:t>
            </a:r>
            <a:r>
              <a:rPr lang="ko-KR" altLang="en-US" sz="1000">
                <a:latin typeface="HY헤드라인M" pitchFamily="18" charset="-127"/>
                <a:ea typeface="HY헤드라인M" pitchFamily="18" charset="-127"/>
              </a:rPr>
              <a:t>태극</a:t>
            </a:r>
            <a:r>
              <a:rPr lang="en-US" altLang="ko-KR" sz="1000">
                <a:latin typeface="HY헤드라인M" pitchFamily="18" charset="-127"/>
                <a:ea typeface="HY헤드라인M" pitchFamily="18" charset="-127"/>
              </a:rPr>
              <a:t>JOS</a:t>
            </a:r>
            <a:r>
              <a:rPr lang="ko-KR" altLang="en-US" sz="1000">
                <a:latin typeface="HY헤드라인M" pitchFamily="18" charset="-127"/>
                <a:ea typeface="HY헤드라인M" pitchFamily="18" charset="-127"/>
              </a:rPr>
              <a:t>모델 유지보수 외주용역</a:t>
            </a:r>
          </a:p>
        </p:txBody>
      </p:sp>
      <p:sp>
        <p:nvSpPr>
          <p:cNvPr id="1031" name="Text Box 185"/>
          <p:cNvSpPr txBox="1">
            <a:spLocks noChangeArrowheads="1"/>
          </p:cNvSpPr>
          <p:nvPr userDrawn="1"/>
        </p:nvSpPr>
        <p:spPr bwMode="auto">
          <a:xfrm>
            <a:off x="5054600" y="104775"/>
            <a:ext cx="16637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500" b="1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Ⅲ</a:t>
            </a:r>
            <a:r>
              <a:rPr lang="en-US" altLang="ko-KR" sz="1500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 err="1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수행계획</a:t>
            </a:r>
            <a:endParaRPr lang="ko-KR" altLang="en-US" sz="1500">
              <a:solidFill>
                <a:srgbClr val="336699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32" name="_x33193280" descr="EMB00000dfc0b4c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258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3901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ftr="0" dt="0"/>
  <p:txStyles>
    <p:titleStyle>
      <a:lvl1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just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buChar char="•"/>
        <a:defRPr kumimoji="1" sz="1200">
          <a:solidFill>
            <a:schemeClr val="tx1"/>
          </a:solidFill>
          <a:latin typeface="+mn-lt"/>
          <a:ea typeface="+mn-ea"/>
          <a:cs typeface="+mn-cs"/>
        </a:defRPr>
      </a:lvl1pPr>
      <a:lvl2pPr marL="823913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2319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39888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81"/>
          <p:cNvGraphicFramePr>
            <a:graphicFrameLocks noChangeAspect="1"/>
          </p:cNvGraphicFramePr>
          <p:nvPr userDrawn="1"/>
        </p:nvGraphicFramePr>
        <p:xfrm>
          <a:off x="0" y="9572625"/>
          <a:ext cx="68580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9142857" imgH="444288" progId="Photoshop.Image.9">
                  <p:embed/>
                </p:oleObj>
              </mc:Choice>
              <mc:Fallback>
                <p:oleObj name="Image" r:id="rId4" imgW="9142857" imgH="444288" progId="Photoshop.Image.9">
                  <p:embed/>
                  <p:pic>
                    <p:nvPicPr>
                      <p:cNvPr id="1026" name="Object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572625"/>
                        <a:ext cx="685800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6" name="Rectangle 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9702800"/>
            <a:ext cx="3847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1" latinLnBrk="1" hangingPunct="1">
              <a:defRPr sz="900">
                <a:solidFill>
                  <a:srgbClr val="28303C"/>
                </a:solidFill>
                <a:latin typeface="HY신명조" pitchFamily="18" charset="-127"/>
                <a:ea typeface="HY신명조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Ⅳ - #</a:t>
            </a:r>
          </a:p>
        </p:txBody>
      </p:sp>
      <p:pic>
        <p:nvPicPr>
          <p:cNvPr id="1028" name="Picture 21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7" name="Text Box 23"/>
          <p:cNvSpPr txBox="1">
            <a:spLocks noChangeArrowheads="1"/>
          </p:cNvSpPr>
          <p:nvPr userDrawn="1"/>
        </p:nvSpPr>
        <p:spPr bwMode="auto">
          <a:xfrm>
            <a:off x="-44450" y="420688"/>
            <a:ext cx="31702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latinLnBrk="1" hangingPunct="1">
              <a:spcBef>
                <a:spcPct val="50000"/>
              </a:spcBef>
              <a:defRPr/>
            </a:pPr>
            <a:r>
              <a:rPr lang="en-US" altLang="ko-KR" sz="1000">
                <a:latin typeface="HY헤드라인M" pitchFamily="18" charset="-127"/>
                <a:ea typeface="HY헤드라인M" pitchFamily="18" charset="-127"/>
              </a:rPr>
              <a:t>2025 </a:t>
            </a:r>
            <a:r>
              <a:rPr lang="ko-KR" altLang="en-US" sz="1000">
                <a:latin typeface="HY헤드라인M" pitchFamily="18" charset="-127"/>
                <a:ea typeface="HY헤드라인M" pitchFamily="18" charset="-127"/>
              </a:rPr>
              <a:t>태극</a:t>
            </a:r>
            <a:r>
              <a:rPr lang="en-US" altLang="ko-KR" sz="1000">
                <a:latin typeface="HY헤드라인M" pitchFamily="18" charset="-127"/>
                <a:ea typeface="HY헤드라인M" pitchFamily="18" charset="-127"/>
              </a:rPr>
              <a:t>JOS</a:t>
            </a:r>
            <a:r>
              <a:rPr lang="ko-KR" altLang="en-US" sz="1000">
                <a:latin typeface="HY헤드라인M" pitchFamily="18" charset="-127"/>
                <a:ea typeface="HY헤드라인M" pitchFamily="18" charset="-127"/>
              </a:rPr>
              <a:t>모델 유지보수 외주용역</a:t>
            </a:r>
          </a:p>
        </p:txBody>
      </p:sp>
      <p:sp>
        <p:nvSpPr>
          <p:cNvPr id="1031" name="Text Box 185"/>
          <p:cNvSpPr txBox="1">
            <a:spLocks noChangeArrowheads="1"/>
          </p:cNvSpPr>
          <p:nvPr userDrawn="1"/>
        </p:nvSpPr>
        <p:spPr bwMode="auto">
          <a:xfrm>
            <a:off x="5054600" y="104775"/>
            <a:ext cx="16637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500" b="1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Ⅳ</a:t>
            </a:r>
            <a:r>
              <a:rPr lang="en-US" altLang="ko-KR" sz="1500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 err="1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수행기반</a:t>
            </a:r>
            <a:endParaRPr lang="ko-KR" altLang="en-US" sz="1500">
              <a:solidFill>
                <a:srgbClr val="336699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32" name="_x33193280" descr="EMB00000dfc0b4c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258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8382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</p:sldLayoutIdLst>
  <p:hf hdr="0" ftr="0" dt="0"/>
  <p:txStyles>
    <p:titleStyle>
      <a:lvl1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just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buChar char="•"/>
        <a:defRPr kumimoji="1" sz="1200">
          <a:solidFill>
            <a:schemeClr val="tx1"/>
          </a:solidFill>
          <a:latin typeface="+mn-lt"/>
          <a:ea typeface="+mn-ea"/>
          <a:cs typeface="+mn-cs"/>
        </a:defRPr>
      </a:lvl1pPr>
      <a:lvl2pPr marL="823913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2319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39888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81"/>
          <p:cNvGraphicFramePr>
            <a:graphicFrameLocks noChangeAspect="1"/>
          </p:cNvGraphicFramePr>
          <p:nvPr userDrawn="1"/>
        </p:nvGraphicFramePr>
        <p:xfrm>
          <a:off x="0" y="9572625"/>
          <a:ext cx="68580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9142857" imgH="444288" progId="Photoshop.Image.9">
                  <p:embed/>
                </p:oleObj>
              </mc:Choice>
              <mc:Fallback>
                <p:oleObj name="Image" r:id="rId4" imgW="9142857" imgH="444288" progId="Photoshop.Image.9">
                  <p:embed/>
                  <p:pic>
                    <p:nvPicPr>
                      <p:cNvPr id="1026" name="Object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572625"/>
                        <a:ext cx="685800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6" name="Rectangle 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9702800"/>
            <a:ext cx="3847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1" latinLnBrk="1" hangingPunct="1">
              <a:defRPr sz="900">
                <a:solidFill>
                  <a:srgbClr val="28303C"/>
                </a:solidFill>
                <a:latin typeface="HY신명조" pitchFamily="18" charset="-127"/>
                <a:ea typeface="HY신명조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Ⅴ - #</a:t>
            </a:r>
          </a:p>
        </p:txBody>
      </p:sp>
      <p:pic>
        <p:nvPicPr>
          <p:cNvPr id="1028" name="Picture 21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7" name="Text Box 23"/>
          <p:cNvSpPr txBox="1">
            <a:spLocks noChangeArrowheads="1"/>
          </p:cNvSpPr>
          <p:nvPr userDrawn="1"/>
        </p:nvSpPr>
        <p:spPr bwMode="auto">
          <a:xfrm>
            <a:off x="-44450" y="420688"/>
            <a:ext cx="31702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latinLnBrk="1" hangingPunct="1">
              <a:spcBef>
                <a:spcPct val="50000"/>
              </a:spcBef>
              <a:defRPr/>
            </a:pPr>
            <a:r>
              <a:rPr lang="en-US" altLang="ko-KR" sz="1000" dirty="0">
                <a:latin typeface="HY헤드라인M" pitchFamily="18" charset="-127"/>
                <a:ea typeface="HY헤드라인M" pitchFamily="18" charset="-127"/>
              </a:rPr>
              <a:t>2025 </a:t>
            </a:r>
            <a:r>
              <a:rPr lang="ko-KR" altLang="en-US" sz="1000" dirty="0">
                <a:latin typeface="HY헤드라인M" pitchFamily="18" charset="-127"/>
                <a:ea typeface="HY헤드라인M" pitchFamily="18" charset="-127"/>
              </a:rPr>
              <a:t>태극</a:t>
            </a:r>
            <a:r>
              <a:rPr lang="en-US" altLang="ko-KR" sz="1000" dirty="0">
                <a:latin typeface="HY헤드라인M" pitchFamily="18" charset="-127"/>
                <a:ea typeface="HY헤드라인M" pitchFamily="18" charset="-127"/>
              </a:rPr>
              <a:t>JOS</a:t>
            </a:r>
            <a:r>
              <a:rPr lang="ko-KR" altLang="en-US" sz="1000" dirty="0">
                <a:latin typeface="HY헤드라인M" pitchFamily="18" charset="-127"/>
                <a:ea typeface="HY헤드라인M" pitchFamily="18" charset="-127"/>
              </a:rPr>
              <a:t>모델 유지보수 외주용역</a:t>
            </a:r>
          </a:p>
        </p:txBody>
      </p:sp>
      <p:sp>
        <p:nvSpPr>
          <p:cNvPr id="1031" name="Text Box 185"/>
          <p:cNvSpPr txBox="1">
            <a:spLocks noChangeArrowheads="1"/>
          </p:cNvSpPr>
          <p:nvPr userDrawn="1"/>
        </p:nvSpPr>
        <p:spPr bwMode="auto">
          <a:xfrm>
            <a:off x="5054600" y="104775"/>
            <a:ext cx="1663700" cy="2308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500" b="1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Ⅴ</a:t>
            </a:r>
            <a:r>
              <a:rPr lang="en-US" altLang="ko-KR" sz="1500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프로젝트 관리</a:t>
            </a: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32" name="_x33193280" descr="EMB00000dfc0b4c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258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1979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</p:sldLayoutIdLst>
  <p:hf hdr="0" ftr="0" dt="0"/>
  <p:txStyles>
    <p:titleStyle>
      <a:lvl1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just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buChar char="•"/>
        <a:defRPr kumimoji="1" sz="1200">
          <a:solidFill>
            <a:schemeClr val="tx1"/>
          </a:solidFill>
          <a:latin typeface="+mn-lt"/>
          <a:ea typeface="+mn-ea"/>
          <a:cs typeface="+mn-cs"/>
        </a:defRPr>
      </a:lvl1pPr>
      <a:lvl2pPr marL="823913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2319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39888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81"/>
          <p:cNvGraphicFramePr>
            <a:graphicFrameLocks noChangeAspect="1"/>
          </p:cNvGraphicFramePr>
          <p:nvPr userDrawn="1"/>
        </p:nvGraphicFramePr>
        <p:xfrm>
          <a:off x="0" y="9572625"/>
          <a:ext cx="68580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9142857" imgH="444288" progId="Photoshop.Image.9">
                  <p:embed/>
                </p:oleObj>
              </mc:Choice>
              <mc:Fallback>
                <p:oleObj name="Image" r:id="rId4" imgW="9142857" imgH="444288" progId="Photoshop.Image.9">
                  <p:embed/>
                  <p:pic>
                    <p:nvPicPr>
                      <p:cNvPr id="1026" name="Object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572625"/>
                        <a:ext cx="685800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6" name="Rectangle 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9702800"/>
            <a:ext cx="3847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1" latinLnBrk="1" hangingPunct="1">
              <a:defRPr sz="900">
                <a:solidFill>
                  <a:srgbClr val="28303C"/>
                </a:solidFill>
                <a:latin typeface="HY신명조" pitchFamily="18" charset="-127"/>
                <a:ea typeface="HY신명조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Ⅵ - #</a:t>
            </a:r>
          </a:p>
        </p:txBody>
      </p:sp>
      <p:pic>
        <p:nvPicPr>
          <p:cNvPr id="1028" name="Picture 21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7" name="Text Box 23"/>
          <p:cNvSpPr txBox="1">
            <a:spLocks noChangeArrowheads="1"/>
          </p:cNvSpPr>
          <p:nvPr userDrawn="1"/>
        </p:nvSpPr>
        <p:spPr bwMode="auto">
          <a:xfrm>
            <a:off x="-44450" y="420688"/>
            <a:ext cx="31702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latinLnBrk="1" hangingPunct="1">
              <a:spcBef>
                <a:spcPct val="50000"/>
              </a:spcBef>
              <a:defRPr/>
            </a:pPr>
            <a:r>
              <a:rPr lang="en-US" altLang="ko-KR" sz="1000" dirty="0">
                <a:latin typeface="HY헤드라인M" pitchFamily="18" charset="-127"/>
                <a:ea typeface="HY헤드라인M" pitchFamily="18" charset="-127"/>
              </a:rPr>
              <a:t>2025 </a:t>
            </a:r>
            <a:r>
              <a:rPr lang="ko-KR" altLang="en-US" sz="1000" dirty="0">
                <a:latin typeface="HY헤드라인M" pitchFamily="18" charset="-127"/>
                <a:ea typeface="HY헤드라인M" pitchFamily="18" charset="-127"/>
              </a:rPr>
              <a:t>태극</a:t>
            </a:r>
            <a:r>
              <a:rPr lang="en-US" altLang="ko-KR" sz="1000" dirty="0">
                <a:latin typeface="HY헤드라인M" pitchFamily="18" charset="-127"/>
                <a:ea typeface="HY헤드라인M" pitchFamily="18" charset="-127"/>
              </a:rPr>
              <a:t>JOS</a:t>
            </a:r>
            <a:r>
              <a:rPr lang="ko-KR" altLang="en-US" sz="1000" dirty="0">
                <a:latin typeface="HY헤드라인M" pitchFamily="18" charset="-127"/>
                <a:ea typeface="HY헤드라인M" pitchFamily="18" charset="-127"/>
              </a:rPr>
              <a:t>모델 유지보수 외주용역</a:t>
            </a:r>
          </a:p>
        </p:txBody>
      </p:sp>
      <p:sp>
        <p:nvSpPr>
          <p:cNvPr id="1031" name="Text Box 185"/>
          <p:cNvSpPr txBox="1">
            <a:spLocks noChangeArrowheads="1"/>
          </p:cNvSpPr>
          <p:nvPr userDrawn="1"/>
        </p:nvSpPr>
        <p:spPr bwMode="auto">
          <a:xfrm>
            <a:off x="5054600" y="104775"/>
            <a:ext cx="16637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500" b="1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Ⅵ</a:t>
            </a:r>
            <a:r>
              <a:rPr lang="en-US" altLang="ko-KR" sz="1500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프로젝트 지원</a:t>
            </a: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32" name="_x33193280" descr="EMB00000dfc0b4c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258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830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</p:sldLayoutIdLst>
  <p:hf hdr="0" ftr="0" dt="0"/>
  <p:txStyles>
    <p:titleStyle>
      <a:lvl1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just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buChar char="•"/>
        <a:defRPr kumimoji="1" sz="1200">
          <a:solidFill>
            <a:schemeClr val="tx1"/>
          </a:solidFill>
          <a:latin typeface="+mn-lt"/>
          <a:ea typeface="+mn-ea"/>
          <a:cs typeface="+mn-cs"/>
        </a:defRPr>
      </a:lvl1pPr>
      <a:lvl2pPr marL="823913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2319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39888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81"/>
          <p:cNvGraphicFramePr>
            <a:graphicFrameLocks noChangeAspect="1"/>
          </p:cNvGraphicFramePr>
          <p:nvPr userDrawn="1"/>
        </p:nvGraphicFramePr>
        <p:xfrm>
          <a:off x="0" y="9572625"/>
          <a:ext cx="68580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9142857" imgH="444288" progId="Photoshop.Image.9">
                  <p:embed/>
                </p:oleObj>
              </mc:Choice>
              <mc:Fallback>
                <p:oleObj name="Image" r:id="rId4" imgW="9142857" imgH="444288" progId="Photoshop.Image.9">
                  <p:embed/>
                  <p:pic>
                    <p:nvPicPr>
                      <p:cNvPr id="1026" name="Object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572625"/>
                        <a:ext cx="685800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6" name="Rectangle 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9702800"/>
            <a:ext cx="3847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1" latinLnBrk="1" hangingPunct="1">
              <a:defRPr sz="900">
                <a:solidFill>
                  <a:srgbClr val="28303C"/>
                </a:solidFill>
                <a:latin typeface="HY신명조" pitchFamily="18" charset="-127"/>
                <a:ea typeface="HY신명조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Ⅶ - #</a:t>
            </a:r>
          </a:p>
        </p:txBody>
      </p:sp>
      <p:pic>
        <p:nvPicPr>
          <p:cNvPr id="1028" name="Picture 21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7" name="Text Box 23"/>
          <p:cNvSpPr txBox="1">
            <a:spLocks noChangeArrowheads="1"/>
          </p:cNvSpPr>
          <p:nvPr userDrawn="1"/>
        </p:nvSpPr>
        <p:spPr bwMode="auto">
          <a:xfrm>
            <a:off x="-44450" y="420688"/>
            <a:ext cx="31702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latinLnBrk="1" hangingPunct="1">
              <a:spcBef>
                <a:spcPct val="50000"/>
              </a:spcBef>
              <a:defRPr/>
            </a:pPr>
            <a:r>
              <a:rPr lang="en-US" altLang="ko-KR" sz="1000">
                <a:latin typeface="HY헤드라인M" pitchFamily="18" charset="-127"/>
                <a:ea typeface="HY헤드라인M" pitchFamily="18" charset="-127"/>
              </a:rPr>
              <a:t>2025 </a:t>
            </a:r>
            <a:r>
              <a:rPr lang="ko-KR" altLang="en-US" sz="1000">
                <a:latin typeface="HY헤드라인M" pitchFamily="18" charset="-127"/>
                <a:ea typeface="HY헤드라인M" pitchFamily="18" charset="-127"/>
              </a:rPr>
              <a:t>태극</a:t>
            </a:r>
            <a:r>
              <a:rPr lang="en-US" altLang="ko-KR" sz="1000">
                <a:latin typeface="HY헤드라인M" pitchFamily="18" charset="-127"/>
                <a:ea typeface="HY헤드라인M" pitchFamily="18" charset="-127"/>
              </a:rPr>
              <a:t>JOS</a:t>
            </a:r>
            <a:r>
              <a:rPr lang="ko-KR" altLang="en-US" sz="1000">
                <a:latin typeface="HY헤드라인M" pitchFamily="18" charset="-127"/>
                <a:ea typeface="HY헤드라인M" pitchFamily="18" charset="-127"/>
              </a:rPr>
              <a:t>모델 유지보수 외주용역</a:t>
            </a:r>
          </a:p>
        </p:txBody>
      </p:sp>
      <p:sp>
        <p:nvSpPr>
          <p:cNvPr id="1031" name="Text Box 185"/>
          <p:cNvSpPr txBox="1">
            <a:spLocks noChangeArrowheads="1"/>
          </p:cNvSpPr>
          <p:nvPr userDrawn="1"/>
        </p:nvSpPr>
        <p:spPr bwMode="auto">
          <a:xfrm>
            <a:off x="5054600" y="104775"/>
            <a:ext cx="16637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500" b="1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Ⅶ</a:t>
            </a:r>
            <a:r>
              <a:rPr lang="en-US" altLang="ko-KR" sz="1500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rPr>
              <a:t>기타</a:t>
            </a: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32" name="_x33193280" descr="EMB00000dfc0b4c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258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891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</p:sldLayoutIdLst>
  <p:hf hdr="0" ftr="0" dt="0"/>
  <p:txStyles>
    <p:titleStyle>
      <a:lvl1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>
        <a:lnSpc>
          <a:spcPct val="110000"/>
        </a:lnSpc>
        <a:spcBef>
          <a:spcPct val="10000"/>
        </a:spcBef>
        <a:spcAft>
          <a:spcPct val="10000"/>
        </a:spcAft>
        <a:defRPr sz="1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just" rtl="0" eaLnBrk="0" fontAlgn="base" hangingPunct="0">
        <a:lnSpc>
          <a:spcPct val="110000"/>
        </a:lnSpc>
        <a:spcBef>
          <a:spcPct val="10000"/>
        </a:spcBef>
        <a:spcAft>
          <a:spcPct val="10000"/>
        </a:spcAft>
        <a:buChar char="•"/>
        <a:defRPr kumimoji="1" sz="1200">
          <a:solidFill>
            <a:schemeClr val="tx1"/>
          </a:solidFill>
          <a:latin typeface="+mn-lt"/>
          <a:ea typeface="+mn-ea"/>
          <a:cs typeface="+mn-cs"/>
        </a:defRPr>
      </a:lvl1pPr>
      <a:lvl2pPr marL="823913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2319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39888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jpeg"/><Relationship Id="rId4" Type="http://schemas.openxmlformats.org/officeDocument/2006/relationships/image" Target="../media/image7.jpe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5.png"/><Relationship Id="rId5" Type="http://schemas.openxmlformats.org/officeDocument/2006/relationships/image" Target="../media/image6.jpe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4.png"/><Relationship Id="rId5" Type="http://schemas.openxmlformats.org/officeDocument/2006/relationships/image" Target="../media/image6.jpeg"/><Relationship Id="rId10" Type="http://schemas.openxmlformats.org/officeDocument/2006/relationships/image" Target="../media/image38.png"/><Relationship Id="rId4" Type="http://schemas.openxmlformats.org/officeDocument/2006/relationships/image" Target="../media/image33.jpe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4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41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41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4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6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41.jpe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jpeg"/><Relationship Id="rId7" Type="http://schemas.openxmlformats.org/officeDocument/2006/relationships/image" Target="../media/image60.png"/><Relationship Id="rId12" Type="http://schemas.openxmlformats.org/officeDocument/2006/relationships/image" Target="../media/image6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59.png"/><Relationship Id="rId11" Type="http://schemas.openxmlformats.org/officeDocument/2006/relationships/image" Target="../media/image64.jpe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.jpe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6.jpe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3. </a:t>
            </a: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</a:rPr>
              <a:t>참여인력</a:t>
            </a:r>
            <a:endParaRPr lang="ko-KR" altLang="en-US" sz="1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296863" y="836880"/>
            <a:ext cx="6242050" cy="991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다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현장대리인 지정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(MHR-003)</a:t>
            </a:r>
          </a:p>
          <a:p>
            <a:pPr algn="just" ea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40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응용</a:t>
            </a:r>
            <a:r>
              <a:rPr lang="en-US" altLang="ko-KR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SW</a:t>
            </a:r>
            <a:r>
              <a:rPr lang="ko-KR" altLang="en-US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개발자 능력 요건을 갖추며</a:t>
            </a:r>
            <a:r>
              <a:rPr lang="en-US" altLang="ko-KR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용역사업을 총괄할 수 있는 지식과 경험을 보유한 인원으로 현장 대리인을 지정하겠습니다</a:t>
            </a:r>
            <a:r>
              <a:rPr lang="en-US" altLang="ko-KR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3200400" y="9702800"/>
            <a:ext cx="432811" cy="138499"/>
          </a:xfrm>
        </p:spPr>
        <p:txBody>
          <a:bodyPr/>
          <a:lstStyle/>
          <a:p>
            <a:pPr>
              <a:defRPr/>
            </a:pPr>
            <a:r>
              <a:rPr lang="en-US" altLang="ko-KR"/>
              <a:t>Ⅰ - 10</a:t>
            </a:r>
          </a:p>
        </p:txBody>
      </p:sp>
      <p:graphicFrame>
        <p:nvGraphicFramePr>
          <p:cNvPr id="21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405691"/>
              </p:ext>
            </p:extLst>
          </p:nvPr>
        </p:nvGraphicFramePr>
        <p:xfrm>
          <a:off x="481013" y="2373966"/>
          <a:ext cx="5859462" cy="4015623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56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7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제안업체는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용역업무을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총괄하는 현장대리인을 지정하여야 하며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이를 제안서에 명시하고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변경 시에는 공문으로 발주기관에 제출하여야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7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현장대리인은 용역사업을 총괄할 수 있는 지식과 경험을 보유한 관리자이어야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7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공동수급으로 제안할 경우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‘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사업지분율이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제일 높은 사업자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’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의 정규직 관리자로 선정하여야 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7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현장대리인은 사업 범위에 대한 모든 책임을 진다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.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공동수급으로 참여한 경우에도 현장대리인은 공동수급업체의 사업 범위에 대한 조정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통제 권한을 갖고 발주기관에 협조해야 하며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용역사업 결과물에 대한 책임을 져야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7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제안업체의 업무관리 및 용역업체의 근태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퇴근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연차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근무태도 등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관리는 현장대리인이 직접 관리해야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7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현장대리인이 부재 시에는 대리를 지정하여야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374650" y="1928600"/>
            <a:ext cx="6116638" cy="357187"/>
            <a:chOff x="236" y="2167"/>
            <a:chExt cx="3853" cy="225"/>
          </a:xfrm>
        </p:grpSpPr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0" name="Picture 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Picture 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517" y="2220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l" eaLnBrk="1" hangingPunct="1"/>
              <a:r>
                <a:rPr lang="ko-KR" altLang="en-US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현장대리인 지정 및 사업관리 정의</a:t>
              </a:r>
            </a:p>
          </p:txBody>
        </p:sp>
      </p:grpSp>
      <p:grpSp>
        <p:nvGrpSpPr>
          <p:cNvPr id="31" name="Group 4"/>
          <p:cNvGrpSpPr>
            <a:grpSpLocks/>
          </p:cNvGrpSpPr>
          <p:nvPr/>
        </p:nvGrpSpPr>
        <p:grpSpPr bwMode="auto">
          <a:xfrm>
            <a:off x="366713" y="6708493"/>
            <a:ext cx="6116637" cy="357188"/>
            <a:chOff x="236" y="2167"/>
            <a:chExt cx="3853" cy="225"/>
          </a:xfrm>
        </p:grpSpPr>
        <p:grpSp>
          <p:nvGrpSpPr>
            <p:cNvPr id="32" name="Group 5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34" name="Picture 6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" name="Picture 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3" name="Text Box 8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l" eaLnBrk="1" hangingPunct="1"/>
              <a:r>
                <a:rPr lang="ko-KR" altLang="en-US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투입인력 현황</a:t>
              </a:r>
            </a:p>
          </p:txBody>
        </p:sp>
      </p:grp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493929"/>
              </p:ext>
            </p:extLst>
          </p:nvPr>
        </p:nvGraphicFramePr>
        <p:xfrm>
          <a:off x="555820" y="7229586"/>
          <a:ext cx="5784655" cy="1881964"/>
        </p:xfrm>
        <a:graphic>
          <a:graphicData uri="http://schemas.openxmlformats.org/drawingml/2006/table">
            <a:tbl>
              <a:tblPr/>
              <a:tblGrid>
                <a:gridCol w="760658">
                  <a:extLst>
                    <a:ext uri="{9D8B030D-6E8A-4147-A177-3AD203B41FA5}">
                      <a16:colId xmlns:a16="http://schemas.microsoft.com/office/drawing/2014/main" val="1577748577"/>
                    </a:ext>
                  </a:extLst>
                </a:gridCol>
                <a:gridCol w="411297">
                  <a:extLst>
                    <a:ext uri="{9D8B030D-6E8A-4147-A177-3AD203B41FA5}">
                      <a16:colId xmlns:a16="http://schemas.microsoft.com/office/drawing/2014/main" val="2969426148"/>
                    </a:ext>
                  </a:extLst>
                </a:gridCol>
                <a:gridCol w="615591">
                  <a:extLst>
                    <a:ext uri="{9D8B030D-6E8A-4147-A177-3AD203B41FA5}">
                      <a16:colId xmlns:a16="http://schemas.microsoft.com/office/drawing/2014/main" val="189644581"/>
                    </a:ext>
                  </a:extLst>
                </a:gridCol>
                <a:gridCol w="922157">
                  <a:extLst>
                    <a:ext uri="{9D8B030D-6E8A-4147-A177-3AD203B41FA5}">
                      <a16:colId xmlns:a16="http://schemas.microsoft.com/office/drawing/2014/main" val="932578098"/>
                    </a:ext>
                  </a:extLst>
                </a:gridCol>
                <a:gridCol w="732146">
                  <a:extLst>
                    <a:ext uri="{9D8B030D-6E8A-4147-A177-3AD203B41FA5}">
                      <a16:colId xmlns:a16="http://schemas.microsoft.com/office/drawing/2014/main" val="2448648076"/>
                    </a:ext>
                  </a:extLst>
                </a:gridCol>
                <a:gridCol w="732146">
                  <a:extLst>
                    <a:ext uri="{9D8B030D-6E8A-4147-A177-3AD203B41FA5}">
                      <a16:colId xmlns:a16="http://schemas.microsoft.com/office/drawing/2014/main" val="1676595346"/>
                    </a:ext>
                  </a:extLst>
                </a:gridCol>
                <a:gridCol w="1610660">
                  <a:extLst>
                    <a:ext uri="{9D8B030D-6E8A-4147-A177-3AD203B41FA5}">
                      <a16:colId xmlns:a16="http://schemas.microsoft.com/office/drawing/2014/main" val="1248151912"/>
                    </a:ext>
                  </a:extLst>
                </a:gridCol>
              </a:tblGrid>
              <a:tr h="302440">
                <a:tc rowSpan="2"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성 명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직급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최종학위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및 전공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참여형태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직무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태극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JOS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모델 </a:t>
                      </a:r>
                      <a:r>
                        <a:rPr kumimoji="1" lang="ko-KR" altLang="en-US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참여경험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531206"/>
                  </a:ext>
                </a:extLst>
              </a:tr>
              <a:tr h="3024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취득년도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학위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전공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562987"/>
                  </a:ext>
                </a:extLst>
              </a:tr>
              <a:tr h="640705">
                <a:tc>
                  <a:txBody>
                    <a:bodyPr/>
                    <a:lstStyle>
                      <a:lvl1pPr indent="192088"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박건우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현장 대리인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192088"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부장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192088"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2015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192088"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학사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컴퓨터 공학과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상주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(12M)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응용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SW</a:t>
                      </a: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개발자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18~25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년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태극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JOS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모델 유지보수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26331"/>
                  </a:ext>
                </a:extLst>
              </a:tr>
              <a:tr h="636379">
                <a:tc>
                  <a:txBody>
                    <a:bodyPr/>
                    <a:lstStyle>
                      <a:lvl1pPr indent="192088"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이성두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192088"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부장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192088"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2010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192088"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학사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컴퓨터 공학과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상주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(12M)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응용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SW</a:t>
                      </a: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개발자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12~14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년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17~25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년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태극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JOS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모델 유지보수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974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524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8CA0A01B-F0F4-F347-455E-270A14064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350" y="1909763"/>
            <a:ext cx="1625600" cy="16160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6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10000">
                <a:solidFill>
                  <a:schemeClr val="bg1"/>
                </a:solidFill>
                <a:latin typeface="Yoon 윤명조 540_TT" pitchFamily="18" charset="-127"/>
                <a:ea typeface="Yoon 윤명조 540_TT" pitchFamily="18" charset="-127"/>
              </a:rPr>
              <a:t>Ⅱ</a:t>
            </a:r>
          </a:p>
        </p:txBody>
      </p:sp>
      <p:sp>
        <p:nvSpPr>
          <p:cNvPr id="187395" name="Text Box 3">
            <a:extLst>
              <a:ext uri="{FF2B5EF4-FFF2-40B4-BE49-F238E27FC236}">
                <a16:creationId xmlns:a16="http://schemas.microsoft.com/office/drawing/2014/main" id="{6906CC6E-4D35-79C2-F4D3-7BC7ED643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2408238"/>
            <a:ext cx="3098800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전략 및 방법론</a:t>
            </a: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A38C94F7-F5A4-F354-04BB-C99702313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4129088"/>
            <a:ext cx="3930650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>
                <a:latin typeface="Yoon 윤고딕 530_TT" pitchFamily="18" charset="-127"/>
                <a:ea typeface="Yoon 윤고딕 530_TT" pitchFamily="18" charset="-127"/>
              </a:rPr>
              <a:t>사업 이해도</a:t>
            </a:r>
            <a:endParaRPr lang="en-US" altLang="ko-KR">
              <a:latin typeface="Yoon 윤고딕 530_TT" pitchFamily="18" charset="-127"/>
              <a:ea typeface="Yoon 윤고딕 530_TT" pitchFamily="18" charset="-127"/>
            </a:endParaRPr>
          </a:p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>
                <a:latin typeface="Yoon 윤고딕 530_TT" pitchFamily="18" charset="-127"/>
                <a:ea typeface="Yoon 윤고딕 530_TT" pitchFamily="18" charset="-127"/>
              </a:rPr>
              <a:t>추진전략</a:t>
            </a:r>
            <a:endParaRPr lang="en-US" altLang="ko-KR">
              <a:latin typeface="Yoon 윤고딕 530_TT" pitchFamily="18" charset="-127"/>
              <a:ea typeface="Yoon 윤고딕 530_TT" pitchFamily="18" charset="-127"/>
            </a:endParaRPr>
          </a:p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>
                <a:latin typeface="Yoon 윤고딕 530_TT" pitchFamily="18" charset="-127"/>
                <a:ea typeface="Yoon 윤고딕 530_TT" pitchFamily="18" charset="-127"/>
              </a:rPr>
              <a:t>추진체계</a:t>
            </a:r>
            <a:endParaRPr lang="en-US" altLang="ko-KR">
              <a:latin typeface="Yoon 윤고딕 530_TT" pitchFamily="18" charset="-127"/>
              <a:ea typeface="Yoon 윤고딕 530_TT" pitchFamily="18" charset="-127"/>
            </a:endParaRPr>
          </a:p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>
                <a:latin typeface="Yoon 윤고딕 530_TT" pitchFamily="18" charset="-127"/>
                <a:ea typeface="Yoon 윤고딕 530_TT" pitchFamily="18" charset="-127"/>
              </a:rPr>
              <a:t>사업추진 방법론</a:t>
            </a:r>
            <a:endParaRPr lang="en-US" altLang="ko-KR">
              <a:latin typeface="Yoon 윤고딕 530_TT" pitchFamily="18" charset="-127"/>
              <a:ea typeface="Yoon 윤고딕 530_TT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Ⅱ - 1</a:t>
            </a:r>
          </a:p>
        </p:txBody>
      </p:sp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사업 이해도</a:t>
            </a:r>
          </a:p>
        </p:txBody>
      </p:sp>
      <p:sp>
        <p:nvSpPr>
          <p:cNvPr id="6" name="Rectangle 169"/>
          <p:cNvSpPr>
            <a:spLocks noChangeArrowheads="1"/>
          </p:cNvSpPr>
          <p:nvPr/>
        </p:nvSpPr>
        <p:spPr bwMode="auto">
          <a:xfrm>
            <a:off x="401638" y="4763975"/>
            <a:ext cx="6054725" cy="442595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C0C0C0"/>
            </a:solidFill>
            <a:miter lim="800000"/>
            <a:headEnd/>
            <a:tailEnd/>
          </a:ln>
          <a:effectLst>
            <a:outerShdw dist="17961" dir="2700000" algn="ctr" rotWithShape="0">
              <a:srgbClr val="C9D2DD"/>
            </a:outerShdw>
          </a:effec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grpSp>
        <p:nvGrpSpPr>
          <p:cNvPr id="7" name="Group 131"/>
          <p:cNvGrpSpPr>
            <a:grpSpLocks/>
          </p:cNvGrpSpPr>
          <p:nvPr/>
        </p:nvGrpSpPr>
        <p:grpSpPr bwMode="auto">
          <a:xfrm>
            <a:off x="723900" y="4851288"/>
            <a:ext cx="5508625" cy="1609725"/>
            <a:chOff x="5919" y="73"/>
            <a:chExt cx="3470" cy="1157"/>
          </a:xfrm>
        </p:grpSpPr>
        <p:sp>
          <p:nvSpPr>
            <p:cNvPr id="8" name="AutoShape 132"/>
            <p:cNvSpPr>
              <a:spLocks/>
            </p:cNvSpPr>
            <p:nvPr/>
          </p:nvSpPr>
          <p:spPr bwMode="auto">
            <a:xfrm rot="5400000" flipV="1">
              <a:off x="7075" y="-1083"/>
              <a:ext cx="1157" cy="3470"/>
            </a:xfrm>
            <a:prstGeom prst="leftBracket">
              <a:avLst>
                <a:gd name="adj" fmla="val 149957"/>
              </a:avLst>
            </a:prstGeom>
            <a:gradFill rotWithShape="1">
              <a:gsLst>
                <a:gs pos="0">
                  <a:srgbClr val="C1D5E7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/>
            </a:p>
          </p:txBody>
        </p:sp>
        <p:sp>
          <p:nvSpPr>
            <p:cNvPr id="9" name="AutoShape 133"/>
            <p:cNvSpPr>
              <a:spLocks/>
            </p:cNvSpPr>
            <p:nvPr/>
          </p:nvSpPr>
          <p:spPr bwMode="auto">
            <a:xfrm rot="5400000" flipV="1">
              <a:off x="7085" y="-1007"/>
              <a:ext cx="1138" cy="3334"/>
            </a:xfrm>
            <a:prstGeom prst="leftBracket">
              <a:avLst>
                <a:gd name="adj" fmla="val 146485"/>
              </a:avLst>
            </a:prstGeom>
            <a:gradFill rotWithShape="1">
              <a:gsLst>
                <a:gs pos="0">
                  <a:srgbClr val="87A8D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/>
            </a:p>
          </p:txBody>
        </p:sp>
        <p:sp>
          <p:nvSpPr>
            <p:cNvPr id="10" name="AutoShape 134"/>
            <p:cNvSpPr>
              <a:spLocks/>
            </p:cNvSpPr>
            <p:nvPr/>
          </p:nvSpPr>
          <p:spPr bwMode="auto">
            <a:xfrm rot="5400000" flipV="1">
              <a:off x="7100" y="-786"/>
              <a:ext cx="1107" cy="2880"/>
            </a:xfrm>
            <a:prstGeom prst="leftBracket">
              <a:avLst>
                <a:gd name="adj" fmla="val 130081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/>
            </a:p>
          </p:txBody>
        </p:sp>
        <p:sp>
          <p:nvSpPr>
            <p:cNvPr id="11" name="AutoShape 135"/>
            <p:cNvSpPr>
              <a:spLocks/>
            </p:cNvSpPr>
            <p:nvPr/>
          </p:nvSpPr>
          <p:spPr bwMode="auto">
            <a:xfrm rot="5400000" flipV="1">
              <a:off x="7098" y="-630"/>
              <a:ext cx="1112" cy="2608"/>
            </a:xfrm>
            <a:prstGeom prst="leftBracket">
              <a:avLst>
                <a:gd name="adj" fmla="val 107733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/>
            </a:p>
          </p:txBody>
        </p:sp>
      </p:grpSp>
      <p:grpSp>
        <p:nvGrpSpPr>
          <p:cNvPr id="12" name="Group 136"/>
          <p:cNvGrpSpPr>
            <a:grpSpLocks/>
          </p:cNvGrpSpPr>
          <p:nvPr/>
        </p:nvGrpSpPr>
        <p:grpSpPr bwMode="auto">
          <a:xfrm>
            <a:off x="939800" y="5672025"/>
            <a:ext cx="5075238" cy="909638"/>
            <a:chOff x="-3734" y="3068"/>
            <a:chExt cx="3608" cy="650"/>
          </a:xfrm>
        </p:grpSpPr>
        <p:grpSp>
          <p:nvGrpSpPr>
            <p:cNvPr id="13" name="Group 137"/>
            <p:cNvGrpSpPr>
              <a:grpSpLocks/>
            </p:cNvGrpSpPr>
            <p:nvPr/>
          </p:nvGrpSpPr>
          <p:grpSpPr bwMode="auto">
            <a:xfrm>
              <a:off x="-3734" y="3166"/>
              <a:ext cx="3608" cy="552"/>
              <a:chOff x="-3734" y="3166"/>
              <a:chExt cx="3608" cy="552"/>
            </a:xfrm>
          </p:grpSpPr>
          <p:sp>
            <p:nvSpPr>
              <p:cNvPr id="15" name="Freeform 138"/>
              <p:cNvSpPr>
                <a:spLocks/>
              </p:cNvSpPr>
              <p:nvPr/>
            </p:nvSpPr>
            <p:spPr bwMode="auto">
              <a:xfrm flipV="1">
                <a:off x="-3734" y="3166"/>
                <a:ext cx="3608" cy="521"/>
              </a:xfrm>
              <a:custGeom>
                <a:avLst/>
                <a:gdLst>
                  <a:gd name="T0" fmla="*/ 0 w 3752"/>
                  <a:gd name="T1" fmla="*/ 0 h 264"/>
                  <a:gd name="T2" fmla="*/ 34 w 3752"/>
                  <a:gd name="T3" fmla="*/ 2147483646 h 264"/>
                  <a:gd name="T4" fmla="*/ 63 w 3752"/>
                  <a:gd name="T5" fmla="*/ 2147483646 h 264"/>
                  <a:gd name="T6" fmla="*/ 13 w 3752"/>
                  <a:gd name="T7" fmla="*/ 2147483646 h 264"/>
                  <a:gd name="T8" fmla="*/ 13 w 3752"/>
                  <a:gd name="T9" fmla="*/ 2147483646 h 2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52"/>
                  <a:gd name="T16" fmla="*/ 0 h 264"/>
                  <a:gd name="T17" fmla="*/ 3752 w 3752"/>
                  <a:gd name="T18" fmla="*/ 264 h 2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52" h="264">
                    <a:moveTo>
                      <a:pt x="0" y="0"/>
                    </a:moveTo>
                    <a:lnTo>
                      <a:pt x="1880" y="264"/>
                    </a:lnTo>
                    <a:lnTo>
                      <a:pt x="3752" y="16"/>
                    </a:lnTo>
                    <a:lnTo>
                      <a:pt x="96" y="16"/>
                    </a:lnTo>
                    <a:lnTo>
                      <a:pt x="224" y="16"/>
                    </a:lnTo>
                  </a:path>
                </a:pathLst>
              </a:custGeom>
              <a:gradFill rotWithShape="0">
                <a:gsLst>
                  <a:gs pos="0">
                    <a:srgbClr val="6699FF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 wrap="none" anchor="ctr"/>
              <a:lstStyle/>
              <a:p>
                <a:endParaRPr lang="ko-KR" altLang="en-US"/>
              </a:p>
            </p:txBody>
          </p:sp>
          <p:sp>
            <p:nvSpPr>
              <p:cNvPr id="16" name="Freeform 139"/>
              <p:cNvSpPr>
                <a:spLocks/>
              </p:cNvSpPr>
              <p:nvPr/>
            </p:nvSpPr>
            <p:spPr bwMode="auto">
              <a:xfrm flipH="1">
                <a:off x="-1703" y="3210"/>
                <a:ext cx="686" cy="498"/>
              </a:xfrm>
              <a:custGeom>
                <a:avLst/>
                <a:gdLst>
                  <a:gd name="T0" fmla="*/ 0 w 1173"/>
                  <a:gd name="T1" fmla="*/ 0 h 1083"/>
                  <a:gd name="T2" fmla="*/ 1 w 1173"/>
                  <a:gd name="T3" fmla="*/ 0 h 1083"/>
                  <a:gd name="T4" fmla="*/ 1 w 1173"/>
                  <a:gd name="T5" fmla="*/ 0 h 1083"/>
                  <a:gd name="T6" fmla="*/ 1 w 1173"/>
                  <a:gd name="T7" fmla="*/ 0 h 1083"/>
                  <a:gd name="T8" fmla="*/ 1 w 1173"/>
                  <a:gd name="T9" fmla="*/ 0 h 1083"/>
                  <a:gd name="T10" fmla="*/ 0 w 1173"/>
                  <a:gd name="T11" fmla="*/ 0 h 108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73"/>
                  <a:gd name="T19" fmla="*/ 0 h 1083"/>
                  <a:gd name="T20" fmla="*/ 1173 w 1173"/>
                  <a:gd name="T21" fmla="*/ 1083 h 108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73" h="1083">
                    <a:moveTo>
                      <a:pt x="0" y="1083"/>
                    </a:moveTo>
                    <a:lnTo>
                      <a:pt x="665" y="292"/>
                    </a:lnTo>
                    <a:lnTo>
                      <a:pt x="301" y="292"/>
                    </a:lnTo>
                    <a:lnTo>
                      <a:pt x="1173" y="0"/>
                    </a:lnTo>
                    <a:lnTo>
                      <a:pt x="592" y="1050"/>
                    </a:lnTo>
                    <a:lnTo>
                      <a:pt x="0" y="108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4D6F0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b"/>
              <a:lstStyle/>
              <a:p>
                <a:endParaRPr lang="ko-KR" altLang="en-US"/>
              </a:p>
            </p:txBody>
          </p:sp>
          <p:sp>
            <p:nvSpPr>
              <p:cNvPr id="17" name="Freeform 140"/>
              <p:cNvSpPr>
                <a:spLocks/>
              </p:cNvSpPr>
              <p:nvPr/>
            </p:nvSpPr>
            <p:spPr bwMode="auto">
              <a:xfrm flipH="1">
                <a:off x="-2882" y="3210"/>
                <a:ext cx="695" cy="508"/>
              </a:xfrm>
              <a:custGeom>
                <a:avLst/>
                <a:gdLst>
                  <a:gd name="T0" fmla="*/ 1 w 1189"/>
                  <a:gd name="T1" fmla="*/ 0 h 1103"/>
                  <a:gd name="T2" fmla="*/ 1 w 1189"/>
                  <a:gd name="T3" fmla="*/ 0 h 1103"/>
                  <a:gd name="T4" fmla="*/ 1 w 1189"/>
                  <a:gd name="T5" fmla="*/ 0 h 1103"/>
                  <a:gd name="T6" fmla="*/ 0 w 1189"/>
                  <a:gd name="T7" fmla="*/ 0 h 1103"/>
                  <a:gd name="T8" fmla="*/ 1 w 1189"/>
                  <a:gd name="T9" fmla="*/ 0 h 1103"/>
                  <a:gd name="T10" fmla="*/ 1 w 1189"/>
                  <a:gd name="T11" fmla="*/ 0 h 110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89"/>
                  <a:gd name="T19" fmla="*/ 0 h 1103"/>
                  <a:gd name="T20" fmla="*/ 1189 w 1189"/>
                  <a:gd name="T21" fmla="*/ 1103 h 110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89" h="1103">
                    <a:moveTo>
                      <a:pt x="1189" y="1103"/>
                    </a:moveTo>
                    <a:lnTo>
                      <a:pt x="511" y="292"/>
                    </a:lnTo>
                    <a:lnTo>
                      <a:pt x="875" y="292"/>
                    </a:lnTo>
                    <a:lnTo>
                      <a:pt x="0" y="0"/>
                    </a:lnTo>
                    <a:lnTo>
                      <a:pt x="584" y="1050"/>
                    </a:lnTo>
                    <a:lnTo>
                      <a:pt x="1189" y="11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4D6F0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b"/>
              <a:lstStyle/>
              <a:p>
                <a:endParaRPr lang="ko-KR" altLang="en-US"/>
              </a:p>
            </p:txBody>
          </p:sp>
          <p:sp>
            <p:nvSpPr>
              <p:cNvPr id="18" name="Freeform 141"/>
              <p:cNvSpPr>
                <a:spLocks/>
              </p:cNvSpPr>
              <p:nvPr/>
            </p:nvSpPr>
            <p:spPr bwMode="auto">
              <a:xfrm flipH="1">
                <a:off x="-2483" y="3193"/>
                <a:ext cx="1094" cy="501"/>
              </a:xfrm>
              <a:custGeom>
                <a:avLst/>
                <a:gdLst>
                  <a:gd name="T0" fmla="*/ 0 w 1260"/>
                  <a:gd name="T1" fmla="*/ 1 h 846"/>
                  <a:gd name="T2" fmla="*/ 3 w 1260"/>
                  <a:gd name="T3" fmla="*/ 1 h 846"/>
                  <a:gd name="T4" fmla="*/ 3 w 1260"/>
                  <a:gd name="T5" fmla="*/ 0 h 846"/>
                  <a:gd name="T6" fmla="*/ 3 w 1260"/>
                  <a:gd name="T7" fmla="*/ 0 h 846"/>
                  <a:gd name="T8" fmla="*/ 0 w 1260"/>
                  <a:gd name="T9" fmla="*/ 1 h 8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60"/>
                  <a:gd name="T16" fmla="*/ 0 h 846"/>
                  <a:gd name="T17" fmla="*/ 1260 w 1260"/>
                  <a:gd name="T18" fmla="*/ 846 h 8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60" h="846">
                    <a:moveTo>
                      <a:pt x="0" y="846"/>
                    </a:moveTo>
                    <a:lnTo>
                      <a:pt x="1260" y="846"/>
                    </a:lnTo>
                    <a:lnTo>
                      <a:pt x="888" y="0"/>
                    </a:lnTo>
                    <a:lnTo>
                      <a:pt x="384" y="0"/>
                    </a:lnTo>
                    <a:lnTo>
                      <a:pt x="0" y="8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4D6F0"/>
                  </a:gs>
                  <a:gs pos="100000">
                    <a:srgbClr val="FBFCFE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b"/>
              <a:lstStyle/>
              <a:p>
                <a:endParaRPr lang="ko-KR" altLang="en-US"/>
              </a:p>
            </p:txBody>
          </p:sp>
        </p:grpSp>
        <p:sp>
          <p:nvSpPr>
            <p:cNvPr id="14" name="AutoShape 142"/>
            <p:cNvSpPr>
              <a:spLocks noChangeArrowheads="1"/>
            </p:cNvSpPr>
            <p:nvPr/>
          </p:nvSpPr>
          <p:spPr bwMode="auto">
            <a:xfrm flipH="1">
              <a:off x="-2200" y="3068"/>
              <a:ext cx="523" cy="130"/>
            </a:xfrm>
            <a:prstGeom prst="triangle">
              <a:avLst>
                <a:gd name="adj" fmla="val 50000"/>
              </a:avLst>
            </a:prstGeom>
            <a:solidFill>
              <a:srgbClr val="C4D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b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/>
            </a:p>
          </p:txBody>
        </p:sp>
      </p:grpSp>
      <p:sp>
        <p:nvSpPr>
          <p:cNvPr id="19" name="Text Box 81"/>
          <p:cNvSpPr txBox="1">
            <a:spLocks noChangeArrowheads="1"/>
          </p:cNvSpPr>
          <p:nvPr/>
        </p:nvSpPr>
        <p:spPr bwMode="auto">
          <a:xfrm>
            <a:off x="315913" y="1265238"/>
            <a:ext cx="6165850" cy="28368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제안 배경</a:t>
            </a:r>
            <a:endParaRPr lang="ko-KR" altLang="en-US" sz="150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5000"/>
              </a:lnSpc>
              <a:defRPr/>
            </a:pP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JOS(Joint Operations Simulation)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모델은 </a:t>
            </a:r>
            <a:r>
              <a:rPr lang="ko-KR" altLang="en-US" sz="1200" spc="-1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합참 주도하에 전구 작전수행 능력을 배양하고</a:t>
            </a:r>
            <a:r>
              <a:rPr lang="en-US" altLang="ko-KR" sz="1200" spc="-1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-1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합동전력 및 부대구조 발전 소요를 </a:t>
            </a:r>
            <a:r>
              <a:rPr lang="ko-KR" altLang="en-US" sz="1200" spc="-90" dirty="0">
                <a:latin typeface="HY신명조" panose="02030600000101010101" pitchFamily="18" charset="-127"/>
                <a:ea typeface="HY신명조" panose="02030600000101010101" pitchFamily="18" charset="-127"/>
              </a:rPr>
              <a:t>도출하기 위해 실시하는 태극연습을 지원하는 </a:t>
            </a:r>
            <a:r>
              <a:rPr lang="ko-KR" altLang="en-US" sz="1200" b="1" spc="-90" dirty="0">
                <a:latin typeface="HY신명조" panose="02030600000101010101" pitchFamily="18" charset="-127"/>
                <a:ea typeface="HY신명조" panose="02030600000101010101" pitchFamily="18" charset="-127"/>
              </a:rPr>
              <a:t>합동작전모의모델</a:t>
            </a:r>
            <a:r>
              <a:rPr lang="ko-KR" altLang="en-US" sz="1200" spc="-9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입니다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just" eaLnBrk="1" latinLnBrk="1" hangingPunct="1">
              <a:lnSpc>
                <a:spcPct val="125000"/>
              </a:lnSpc>
              <a:defRPr/>
            </a:pPr>
            <a:r>
              <a:rPr lang="ko-KR" altLang="ko-KR" sz="1200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 </a:t>
            </a:r>
            <a:r>
              <a:rPr lang="en-US" altLang="ko-KR" sz="1200" b="1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18</a:t>
            </a:r>
            <a:r>
              <a:rPr lang="ko-KR" altLang="ko-KR" sz="1200" b="1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년</a:t>
            </a:r>
            <a:r>
              <a:rPr lang="ko-KR" altLang="en-US" sz="1200" b="1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간</a:t>
            </a:r>
            <a:r>
              <a:rPr lang="ko-KR" altLang="ko-KR" sz="1200" b="1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ko-KR" sz="1200" b="1" spc="-5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태극JOS모델</a:t>
            </a:r>
            <a:r>
              <a:rPr lang="ko-KR" altLang="ko-KR" sz="1200" b="1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유지보수</a:t>
            </a:r>
            <a:r>
              <a:rPr lang="en-US" altLang="ko-KR" sz="1200" b="1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b="1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사업을 </a:t>
            </a:r>
            <a:r>
              <a:rPr lang="ko-KR" altLang="ko-KR" sz="1200" b="1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수행</a:t>
            </a:r>
            <a:r>
              <a:rPr lang="ko-KR" altLang="en-US" sz="1200" b="1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하고</a:t>
            </a:r>
            <a:r>
              <a:rPr lang="ko-KR" altLang="ko-KR" sz="1200" b="1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있으며</a:t>
            </a:r>
            <a:r>
              <a:rPr lang="ko-KR" altLang="ko-KR" sz="1200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합참 및 각 군에서 발주한 </a:t>
            </a:r>
            <a:r>
              <a:rPr lang="ko-KR" altLang="ko-KR" sz="1200" spc="-9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워게임</a:t>
            </a:r>
            <a:r>
              <a:rPr lang="ko-KR" altLang="ko-KR" sz="1200" spc="-9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용역사업에 참여한 경험 및 기술력을 바탕으로 </a:t>
            </a:r>
            <a:r>
              <a:rPr lang="ko-KR" altLang="ko-KR" sz="1200" spc="-9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태극JOS</a:t>
            </a:r>
            <a:r>
              <a:rPr lang="ko-KR" altLang="ko-KR" sz="1200" spc="-9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모델 </a:t>
            </a:r>
            <a:r>
              <a:rPr lang="ko-KR" altLang="en-US" sz="1200" spc="-9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체계의</a:t>
            </a:r>
            <a:r>
              <a:rPr lang="ko-KR" altLang="ko-KR" sz="1200" spc="-9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사용자 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추가 요구</a:t>
            </a:r>
            <a:r>
              <a:rPr lang="ko-KR" altLang="en-US" sz="1200" spc="-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기능 및 기술 운용상의 </a:t>
            </a:r>
            <a:r>
              <a:rPr lang="ko-KR" altLang="ko-KR" sz="1200" spc="-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문제점을 정확히 </a:t>
            </a:r>
            <a:r>
              <a:rPr lang="ko-KR" altLang="en-US" sz="1200" spc="-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이해하여</a:t>
            </a:r>
            <a:r>
              <a:rPr lang="ko-KR" altLang="ko-KR" sz="1200" spc="-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-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개선하고 </a:t>
            </a:r>
            <a:r>
              <a:rPr lang="en-US" altLang="ko-KR" sz="1200" b="1" u="sng" spc="-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en-US" altLang="ko-KR" sz="1200" b="1" spc="-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25</a:t>
            </a:r>
            <a:r>
              <a:rPr lang="ko-KR" altLang="ko-KR" sz="1200" b="1" spc="-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년</a:t>
            </a:r>
            <a:r>
              <a:rPr lang="ko-KR" altLang="en-US" sz="1200" b="1" spc="-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에도 최적의 모델 안정화에 </a:t>
            </a:r>
            <a:r>
              <a:rPr lang="ko-KR" altLang="en-US" sz="1200" b="1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목표를 두고 업무를 수행하였습니다</a:t>
            </a:r>
            <a:r>
              <a:rPr lang="en-US" altLang="ko-KR" sz="1200" b="1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just" eaLnBrk="1" latinLnBrk="1" hangingPunct="1">
              <a:lnSpc>
                <a:spcPct val="125000"/>
              </a:lnSpc>
              <a:defRPr/>
            </a:pPr>
            <a:r>
              <a:rPr lang="ko-KR" altLang="en-US" sz="1200" spc="-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이에 따라</a:t>
            </a:r>
            <a:r>
              <a:rPr lang="ko-KR" altLang="ko-KR" sz="1200" spc="-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본 사업에 필요한 인적, 기술적, 사업관리 역량, 축적된 기술 및 노하우를 통해 </a:t>
            </a:r>
            <a:r>
              <a:rPr lang="ko-KR" altLang="ko-KR" sz="1200" spc="-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사용자의 요구를 충족시켜 모델의 최적화 및 안정화 향상에 크게 기여</a:t>
            </a:r>
            <a:r>
              <a:rPr lang="ko-KR" altLang="en-US" sz="1200" spc="-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하고 효율성 증진을    위하여</a:t>
            </a:r>
            <a:r>
              <a:rPr lang="en-US" altLang="ko-KR" sz="1200" spc="-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ko-KR" sz="1200" spc="-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본 사업에 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참여하게 되었습니다.</a:t>
            </a:r>
            <a:endParaRPr lang="en-US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20" name="Group 84"/>
          <p:cNvGrpSpPr>
            <a:grpSpLocks/>
          </p:cNvGrpSpPr>
          <p:nvPr/>
        </p:nvGrpSpPr>
        <p:grpSpPr bwMode="auto">
          <a:xfrm>
            <a:off x="366713" y="4152900"/>
            <a:ext cx="6116637" cy="415925"/>
            <a:chOff x="236" y="2167"/>
            <a:chExt cx="3853" cy="225"/>
          </a:xfrm>
        </p:grpSpPr>
        <p:grpSp>
          <p:nvGrpSpPr>
            <p:cNvPr id="21" name="Group 85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23" name="Picture 86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" name="Picture 8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2" name="Text Box 88"/>
            <p:cNvSpPr txBox="1">
              <a:spLocks noChangeArrowheads="1"/>
            </p:cNvSpPr>
            <p:nvPr/>
          </p:nvSpPr>
          <p:spPr bwMode="auto">
            <a:xfrm>
              <a:off x="517" y="2227"/>
              <a:ext cx="2662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제안 배경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25" name="Group 145"/>
          <p:cNvGrpSpPr>
            <a:grpSpLocks/>
          </p:cNvGrpSpPr>
          <p:nvPr/>
        </p:nvGrpSpPr>
        <p:grpSpPr bwMode="auto">
          <a:xfrm>
            <a:off x="614363" y="6513400"/>
            <a:ext cx="1387475" cy="546100"/>
            <a:chOff x="-209" y="-1696"/>
            <a:chExt cx="928" cy="508"/>
          </a:xfrm>
        </p:grpSpPr>
        <p:sp>
          <p:nvSpPr>
            <p:cNvPr id="26" name="AutoShape 146"/>
            <p:cNvSpPr>
              <a:spLocks noChangeArrowheads="1"/>
            </p:cNvSpPr>
            <p:nvPr/>
          </p:nvSpPr>
          <p:spPr bwMode="auto">
            <a:xfrm>
              <a:off x="-209" y="-1678"/>
              <a:ext cx="928" cy="49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27" name="AutoShape 147"/>
            <p:cNvSpPr>
              <a:spLocks noChangeArrowheads="1"/>
            </p:cNvSpPr>
            <p:nvPr/>
          </p:nvSpPr>
          <p:spPr bwMode="auto">
            <a:xfrm>
              <a:off x="-194" y="-1696"/>
              <a:ext cx="898" cy="484"/>
            </a:xfrm>
            <a:prstGeom prst="roundRect">
              <a:avLst>
                <a:gd name="adj" fmla="val 16667"/>
              </a:avLst>
            </a:prstGeom>
            <a:solidFill>
              <a:srgbClr val="A6D1EC"/>
            </a:solidFill>
            <a:ln w="6350">
              <a:solidFill>
                <a:srgbClr val="2A3C8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28" name="AutoShape 148"/>
            <p:cNvSpPr>
              <a:spLocks/>
            </p:cNvSpPr>
            <p:nvPr/>
          </p:nvSpPr>
          <p:spPr bwMode="auto">
            <a:xfrm rot="5400000" flipV="1">
              <a:off x="149" y="-1955"/>
              <a:ext cx="211" cy="778"/>
            </a:xfrm>
            <a:prstGeom prst="leftBracket">
              <a:avLst>
                <a:gd name="adj" fmla="val 184360"/>
              </a:avLst>
            </a:prstGeom>
            <a:gradFill rotWithShape="1">
              <a:gsLst>
                <a:gs pos="0">
                  <a:srgbClr val="E0EFF8"/>
                </a:gs>
                <a:gs pos="100000">
                  <a:srgbClr val="A6D1EC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29" name="AutoShape 149"/>
            <p:cNvSpPr>
              <a:spLocks noChangeArrowheads="1"/>
            </p:cNvSpPr>
            <p:nvPr/>
          </p:nvSpPr>
          <p:spPr bwMode="auto">
            <a:xfrm>
              <a:off x="-170" y="-1378"/>
              <a:ext cx="850" cy="1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A6D1EC"/>
                </a:gs>
                <a:gs pos="100000">
                  <a:srgbClr val="CCEC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</p:grpSp>
      <p:grpSp>
        <p:nvGrpSpPr>
          <p:cNvPr id="30" name="Group 150"/>
          <p:cNvGrpSpPr>
            <a:grpSpLocks/>
          </p:cNvGrpSpPr>
          <p:nvPr/>
        </p:nvGrpSpPr>
        <p:grpSpPr bwMode="auto">
          <a:xfrm>
            <a:off x="2033588" y="6513400"/>
            <a:ext cx="1387475" cy="546100"/>
            <a:chOff x="-209" y="-1696"/>
            <a:chExt cx="928" cy="508"/>
          </a:xfrm>
        </p:grpSpPr>
        <p:sp>
          <p:nvSpPr>
            <p:cNvPr id="31" name="AutoShape 151"/>
            <p:cNvSpPr>
              <a:spLocks noChangeArrowheads="1"/>
            </p:cNvSpPr>
            <p:nvPr/>
          </p:nvSpPr>
          <p:spPr bwMode="auto">
            <a:xfrm>
              <a:off x="-209" y="-1678"/>
              <a:ext cx="928" cy="49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32" name="AutoShape 152"/>
            <p:cNvSpPr>
              <a:spLocks noChangeArrowheads="1"/>
            </p:cNvSpPr>
            <p:nvPr/>
          </p:nvSpPr>
          <p:spPr bwMode="auto">
            <a:xfrm>
              <a:off x="-194" y="-1696"/>
              <a:ext cx="898" cy="484"/>
            </a:xfrm>
            <a:prstGeom prst="roundRect">
              <a:avLst>
                <a:gd name="adj" fmla="val 16667"/>
              </a:avLst>
            </a:prstGeom>
            <a:solidFill>
              <a:srgbClr val="A6D1EC"/>
            </a:solidFill>
            <a:ln w="6350">
              <a:solidFill>
                <a:srgbClr val="2A3C8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33" name="AutoShape 153"/>
            <p:cNvSpPr>
              <a:spLocks/>
            </p:cNvSpPr>
            <p:nvPr/>
          </p:nvSpPr>
          <p:spPr bwMode="auto">
            <a:xfrm rot="5400000" flipV="1">
              <a:off x="149" y="-1955"/>
              <a:ext cx="211" cy="778"/>
            </a:xfrm>
            <a:prstGeom prst="leftBracket">
              <a:avLst>
                <a:gd name="adj" fmla="val 184360"/>
              </a:avLst>
            </a:prstGeom>
            <a:gradFill rotWithShape="1">
              <a:gsLst>
                <a:gs pos="0">
                  <a:srgbClr val="E0EFF8"/>
                </a:gs>
                <a:gs pos="100000">
                  <a:srgbClr val="A6D1EC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34" name="AutoShape 154"/>
            <p:cNvSpPr>
              <a:spLocks noChangeArrowheads="1"/>
            </p:cNvSpPr>
            <p:nvPr/>
          </p:nvSpPr>
          <p:spPr bwMode="auto">
            <a:xfrm>
              <a:off x="-170" y="-1378"/>
              <a:ext cx="850" cy="1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A6D1EC"/>
                </a:gs>
                <a:gs pos="100000">
                  <a:srgbClr val="CCEC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</p:grpSp>
      <p:grpSp>
        <p:nvGrpSpPr>
          <p:cNvPr id="35" name="Group 155"/>
          <p:cNvGrpSpPr>
            <a:grpSpLocks/>
          </p:cNvGrpSpPr>
          <p:nvPr/>
        </p:nvGrpSpPr>
        <p:grpSpPr bwMode="auto">
          <a:xfrm>
            <a:off x="3449638" y="6513400"/>
            <a:ext cx="1387475" cy="546100"/>
            <a:chOff x="-209" y="-1696"/>
            <a:chExt cx="928" cy="508"/>
          </a:xfrm>
        </p:grpSpPr>
        <p:sp>
          <p:nvSpPr>
            <p:cNvPr id="36" name="AutoShape 156"/>
            <p:cNvSpPr>
              <a:spLocks noChangeArrowheads="1"/>
            </p:cNvSpPr>
            <p:nvPr/>
          </p:nvSpPr>
          <p:spPr bwMode="auto">
            <a:xfrm>
              <a:off x="-209" y="-1678"/>
              <a:ext cx="928" cy="49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37" name="AutoShape 157"/>
            <p:cNvSpPr>
              <a:spLocks noChangeArrowheads="1"/>
            </p:cNvSpPr>
            <p:nvPr/>
          </p:nvSpPr>
          <p:spPr bwMode="auto">
            <a:xfrm>
              <a:off x="-194" y="-1696"/>
              <a:ext cx="898" cy="484"/>
            </a:xfrm>
            <a:prstGeom prst="roundRect">
              <a:avLst>
                <a:gd name="adj" fmla="val 16667"/>
              </a:avLst>
            </a:prstGeom>
            <a:solidFill>
              <a:srgbClr val="A6D1EC"/>
            </a:solidFill>
            <a:ln w="6350">
              <a:solidFill>
                <a:srgbClr val="2A3C8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38" name="AutoShape 158"/>
            <p:cNvSpPr>
              <a:spLocks/>
            </p:cNvSpPr>
            <p:nvPr/>
          </p:nvSpPr>
          <p:spPr bwMode="auto">
            <a:xfrm rot="5400000" flipV="1">
              <a:off x="149" y="-1955"/>
              <a:ext cx="211" cy="778"/>
            </a:xfrm>
            <a:prstGeom prst="leftBracket">
              <a:avLst>
                <a:gd name="adj" fmla="val 184360"/>
              </a:avLst>
            </a:prstGeom>
            <a:gradFill rotWithShape="1">
              <a:gsLst>
                <a:gs pos="0">
                  <a:srgbClr val="E0EFF8"/>
                </a:gs>
                <a:gs pos="100000">
                  <a:srgbClr val="A6D1EC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39" name="AutoShape 159"/>
            <p:cNvSpPr>
              <a:spLocks noChangeArrowheads="1"/>
            </p:cNvSpPr>
            <p:nvPr/>
          </p:nvSpPr>
          <p:spPr bwMode="auto">
            <a:xfrm>
              <a:off x="-170" y="-1378"/>
              <a:ext cx="850" cy="1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A6D1EC"/>
                </a:gs>
                <a:gs pos="100000">
                  <a:srgbClr val="CCEC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</p:grpSp>
      <p:grpSp>
        <p:nvGrpSpPr>
          <p:cNvPr id="40" name="Group 160"/>
          <p:cNvGrpSpPr>
            <a:grpSpLocks/>
          </p:cNvGrpSpPr>
          <p:nvPr/>
        </p:nvGrpSpPr>
        <p:grpSpPr bwMode="auto">
          <a:xfrm>
            <a:off x="4832350" y="6513400"/>
            <a:ext cx="1387475" cy="546100"/>
            <a:chOff x="-209" y="-1696"/>
            <a:chExt cx="928" cy="508"/>
          </a:xfrm>
        </p:grpSpPr>
        <p:sp>
          <p:nvSpPr>
            <p:cNvPr id="41" name="AutoShape 161"/>
            <p:cNvSpPr>
              <a:spLocks noChangeArrowheads="1"/>
            </p:cNvSpPr>
            <p:nvPr/>
          </p:nvSpPr>
          <p:spPr bwMode="auto">
            <a:xfrm>
              <a:off x="-209" y="-1678"/>
              <a:ext cx="928" cy="49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42" name="AutoShape 162"/>
            <p:cNvSpPr>
              <a:spLocks noChangeArrowheads="1"/>
            </p:cNvSpPr>
            <p:nvPr/>
          </p:nvSpPr>
          <p:spPr bwMode="auto">
            <a:xfrm>
              <a:off x="-194" y="-1696"/>
              <a:ext cx="898" cy="484"/>
            </a:xfrm>
            <a:prstGeom prst="roundRect">
              <a:avLst>
                <a:gd name="adj" fmla="val 16667"/>
              </a:avLst>
            </a:prstGeom>
            <a:solidFill>
              <a:srgbClr val="A6D1EC"/>
            </a:solidFill>
            <a:ln w="6350">
              <a:solidFill>
                <a:srgbClr val="2A3C8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43" name="AutoShape 163"/>
            <p:cNvSpPr>
              <a:spLocks/>
            </p:cNvSpPr>
            <p:nvPr/>
          </p:nvSpPr>
          <p:spPr bwMode="auto">
            <a:xfrm rot="5400000" flipV="1">
              <a:off x="149" y="-1955"/>
              <a:ext cx="211" cy="778"/>
            </a:xfrm>
            <a:prstGeom prst="leftBracket">
              <a:avLst>
                <a:gd name="adj" fmla="val 184360"/>
              </a:avLst>
            </a:prstGeom>
            <a:gradFill rotWithShape="1">
              <a:gsLst>
                <a:gs pos="0">
                  <a:srgbClr val="E0EFF8"/>
                </a:gs>
                <a:gs pos="100000">
                  <a:srgbClr val="A6D1EC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44" name="AutoShape 164"/>
            <p:cNvSpPr>
              <a:spLocks noChangeArrowheads="1"/>
            </p:cNvSpPr>
            <p:nvPr/>
          </p:nvSpPr>
          <p:spPr bwMode="auto">
            <a:xfrm>
              <a:off x="-170" y="-1378"/>
              <a:ext cx="850" cy="1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A6D1EC"/>
                </a:gs>
                <a:gs pos="100000">
                  <a:srgbClr val="CCEC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</p:grpSp>
      <p:sp>
        <p:nvSpPr>
          <p:cNvPr id="45" name="Rectangle 165"/>
          <p:cNvSpPr>
            <a:spLocks noChangeArrowheads="1"/>
          </p:cNvSpPr>
          <p:nvPr/>
        </p:nvSpPr>
        <p:spPr bwMode="auto">
          <a:xfrm>
            <a:off x="668338" y="6568963"/>
            <a:ext cx="1304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Clr>
                <a:schemeClr val="tx1"/>
              </a:buClr>
              <a:buSzPct val="80000"/>
            </a:pPr>
            <a:r>
              <a:rPr lang="ko-KR" altLang="en-US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</a:t>
            </a:r>
            <a:endParaRPr lang="en-US" altLang="ko-KR" sz="1000" b="1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eaLnBrk="1" hangingPunct="1">
              <a:buClr>
                <a:schemeClr val="tx1"/>
              </a:buClr>
              <a:buSzPct val="80000"/>
            </a:pPr>
            <a:r>
              <a:rPr lang="ko-KR" altLang="en-US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유지보수</a:t>
            </a:r>
          </a:p>
        </p:txBody>
      </p:sp>
      <p:sp>
        <p:nvSpPr>
          <p:cNvPr id="46" name="Rectangle 166"/>
          <p:cNvSpPr>
            <a:spLocks noChangeArrowheads="1"/>
          </p:cNvSpPr>
          <p:nvPr/>
        </p:nvSpPr>
        <p:spPr bwMode="auto">
          <a:xfrm>
            <a:off x="2083594" y="6662625"/>
            <a:ext cx="128746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Clr>
                <a:schemeClr val="tx1"/>
              </a:buClr>
              <a:buSzPct val="80000"/>
            </a:pPr>
            <a:r>
              <a:rPr lang="ko-KR" altLang="en-US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태극연습 지원</a:t>
            </a:r>
          </a:p>
        </p:txBody>
      </p:sp>
      <p:sp>
        <p:nvSpPr>
          <p:cNvPr id="47" name="Rectangle 167"/>
          <p:cNvSpPr>
            <a:spLocks noChangeArrowheads="1"/>
          </p:cNvSpPr>
          <p:nvPr/>
        </p:nvSpPr>
        <p:spPr bwMode="auto">
          <a:xfrm>
            <a:off x="3421063" y="6562613"/>
            <a:ext cx="1463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Clr>
                <a:schemeClr val="tx1"/>
              </a:buClr>
              <a:buSzPct val="80000"/>
            </a:pPr>
            <a:r>
              <a:rPr lang="ko-KR" altLang="en-US" sz="1000" b="1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합동군사대</a:t>
            </a:r>
            <a:endParaRPr lang="ko-KR" altLang="en-US" sz="1000" b="1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eaLnBrk="1" hangingPunct="1">
              <a:buClr>
                <a:schemeClr val="tx1"/>
              </a:buClr>
              <a:buSzPct val="80000"/>
            </a:pPr>
            <a:r>
              <a:rPr lang="ko-KR" altLang="en-US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전쟁실습지원</a:t>
            </a: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</a:p>
        </p:txBody>
      </p:sp>
      <p:sp>
        <p:nvSpPr>
          <p:cNvPr id="48" name="Rectangle 168"/>
          <p:cNvSpPr>
            <a:spLocks noChangeArrowheads="1"/>
          </p:cNvSpPr>
          <p:nvPr/>
        </p:nvSpPr>
        <p:spPr bwMode="auto">
          <a:xfrm>
            <a:off x="4854575" y="6493576"/>
            <a:ext cx="13525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Clr>
                <a:schemeClr val="tx1"/>
              </a:buClr>
              <a:buSzPct val="80000"/>
            </a:pPr>
            <a:r>
              <a:rPr lang="ko-KR" altLang="en-US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준비</a:t>
            </a:r>
            <a:r>
              <a:rPr lang="en-US" altLang="ko-KR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실행</a:t>
            </a:r>
            <a:r>
              <a:rPr lang="en-US" altLang="ko-KR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사후 단계별 모델운영 및 장애조치</a:t>
            </a:r>
          </a:p>
        </p:txBody>
      </p:sp>
      <p:grpSp>
        <p:nvGrpSpPr>
          <p:cNvPr id="49" name="Group 170"/>
          <p:cNvGrpSpPr>
            <a:grpSpLocks/>
          </p:cNvGrpSpPr>
          <p:nvPr/>
        </p:nvGrpSpPr>
        <p:grpSpPr bwMode="auto">
          <a:xfrm>
            <a:off x="555625" y="7111888"/>
            <a:ext cx="1852613" cy="1847850"/>
            <a:chOff x="228" y="4419"/>
            <a:chExt cx="1565" cy="1437"/>
          </a:xfrm>
        </p:grpSpPr>
        <p:sp>
          <p:nvSpPr>
            <p:cNvPr id="50" name="AutoShape 171"/>
            <p:cNvSpPr>
              <a:spLocks noChangeArrowheads="1"/>
            </p:cNvSpPr>
            <p:nvPr/>
          </p:nvSpPr>
          <p:spPr bwMode="auto">
            <a:xfrm>
              <a:off x="228" y="4419"/>
              <a:ext cx="1565" cy="1437"/>
            </a:xfrm>
            <a:prstGeom prst="roundRect">
              <a:avLst>
                <a:gd name="adj" fmla="val 3088"/>
              </a:avLst>
            </a:prstGeom>
            <a:gradFill rotWithShape="1">
              <a:gsLst>
                <a:gs pos="0">
                  <a:srgbClr val="4D7EC7"/>
                </a:gs>
                <a:gs pos="100000">
                  <a:srgbClr val="BBE0E3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bIns="0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51" name="AutoShape 172"/>
            <p:cNvSpPr>
              <a:spLocks noChangeArrowheads="1"/>
            </p:cNvSpPr>
            <p:nvPr/>
          </p:nvSpPr>
          <p:spPr bwMode="auto">
            <a:xfrm>
              <a:off x="260" y="4659"/>
              <a:ext cx="1500" cy="1159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7150" rIns="57150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grpSp>
          <p:nvGrpSpPr>
            <p:cNvPr id="52" name="Group 173"/>
            <p:cNvGrpSpPr>
              <a:grpSpLocks/>
            </p:cNvGrpSpPr>
            <p:nvPr/>
          </p:nvGrpSpPr>
          <p:grpSpPr bwMode="auto">
            <a:xfrm>
              <a:off x="287" y="4419"/>
              <a:ext cx="1445" cy="220"/>
              <a:chOff x="300" y="4548"/>
              <a:chExt cx="1445" cy="220"/>
            </a:xfrm>
          </p:grpSpPr>
          <p:sp>
            <p:nvSpPr>
              <p:cNvPr id="53" name="AutoShape 174"/>
              <p:cNvSpPr>
                <a:spLocks/>
              </p:cNvSpPr>
              <p:nvPr/>
            </p:nvSpPr>
            <p:spPr bwMode="auto">
              <a:xfrm rot="-5400000">
                <a:off x="913" y="3935"/>
                <a:ext cx="220" cy="1445"/>
              </a:xfrm>
              <a:prstGeom prst="leftBracket">
                <a:avLst>
                  <a:gd name="adj" fmla="val 110929"/>
                </a:avLst>
              </a:prstGeom>
              <a:solidFill>
                <a:srgbClr val="3457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 wrap="none" bIns="0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endParaRPr lang="ko-KR" altLang="en-US">
                  <a:latin typeface="가는각진제목체" pitchFamily="18" charset="-127"/>
                  <a:ea typeface="가는각진제목체" pitchFamily="18" charset="-127"/>
                </a:endParaRPr>
              </a:p>
            </p:txBody>
          </p:sp>
          <p:sp>
            <p:nvSpPr>
              <p:cNvPr id="54" name="AutoShape 175"/>
              <p:cNvSpPr>
                <a:spLocks/>
              </p:cNvSpPr>
              <p:nvPr/>
            </p:nvSpPr>
            <p:spPr bwMode="auto">
              <a:xfrm rot="-5400000">
                <a:off x="923" y="3996"/>
                <a:ext cx="200" cy="1326"/>
              </a:xfrm>
              <a:prstGeom prst="leftBracket">
                <a:avLst>
                  <a:gd name="adj" fmla="val 85208"/>
                </a:avLst>
              </a:prstGeom>
              <a:solidFill>
                <a:srgbClr val="C1D5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endParaRPr lang="ko-KR" altLang="en-US">
                  <a:latin typeface="가는각진제목체" pitchFamily="18" charset="-127"/>
                  <a:ea typeface="가는각진제목체" pitchFamily="18" charset="-127"/>
                </a:endParaRPr>
              </a:p>
            </p:txBody>
          </p:sp>
          <p:sp>
            <p:nvSpPr>
              <p:cNvPr id="55" name="AutoShape 176"/>
              <p:cNvSpPr>
                <a:spLocks/>
              </p:cNvSpPr>
              <p:nvPr/>
            </p:nvSpPr>
            <p:spPr bwMode="auto">
              <a:xfrm rot="-5400000">
                <a:off x="971" y="4096"/>
                <a:ext cx="104" cy="1199"/>
              </a:xfrm>
              <a:prstGeom prst="leftBracket">
                <a:avLst>
                  <a:gd name="adj" fmla="val 116463"/>
                </a:avLst>
              </a:prstGeom>
              <a:gradFill rotWithShape="1">
                <a:gsLst>
                  <a:gs pos="0">
                    <a:srgbClr val="F3F7FA"/>
                  </a:gs>
                  <a:gs pos="100000">
                    <a:srgbClr val="C1D5E7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endParaRPr lang="ko-KR" altLang="en-US">
                  <a:latin typeface="가는각진제목체" pitchFamily="18" charset="-127"/>
                  <a:ea typeface="가는각진제목체" pitchFamily="18" charset="-127"/>
                </a:endParaRPr>
              </a:p>
            </p:txBody>
          </p:sp>
        </p:grpSp>
      </p:grpSp>
      <p:sp>
        <p:nvSpPr>
          <p:cNvPr id="56" name="Rectangle 177"/>
          <p:cNvSpPr>
            <a:spLocks noChangeArrowheads="1"/>
          </p:cNvSpPr>
          <p:nvPr/>
        </p:nvSpPr>
        <p:spPr bwMode="auto">
          <a:xfrm>
            <a:off x="942513" y="7165362"/>
            <a:ext cx="1080425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Clr>
                <a:schemeClr val="tx1"/>
              </a:buClr>
              <a:buSzPct val="80000"/>
            </a:pPr>
            <a:r>
              <a:rPr kumimoji="0" lang="ko-KR" altLang="en-US" sz="1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사업에 대한 이해</a:t>
            </a:r>
          </a:p>
        </p:txBody>
      </p:sp>
      <p:sp>
        <p:nvSpPr>
          <p:cNvPr id="57" name="Rectangle 178"/>
          <p:cNvSpPr>
            <a:spLocks noChangeArrowheads="1"/>
          </p:cNvSpPr>
          <p:nvPr/>
        </p:nvSpPr>
        <p:spPr bwMode="auto">
          <a:xfrm>
            <a:off x="625475" y="7463581"/>
            <a:ext cx="1797050" cy="1385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marL="85725" indent="-85725" defTabSz="7127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127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127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127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127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4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en-US" altLang="ko-KR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‘08~‘25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년 태극</a:t>
            </a:r>
            <a:r>
              <a:rPr lang="en-US" altLang="ko-KR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 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유지보수</a:t>
            </a:r>
          </a:p>
          <a:p>
            <a:pPr eaLnBrk="1" hangingPunct="1">
              <a:lnSpc>
                <a:spcPts val="1000"/>
              </a:lnSpc>
              <a:spcBef>
                <a:spcPct val="4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en-US" altLang="ko-KR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AWAM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개발 및 유지보수</a:t>
            </a:r>
            <a:br>
              <a:rPr lang="en-US" altLang="ko-KR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-JTLS / JANUS 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분석</a:t>
            </a:r>
          </a:p>
          <a:p>
            <a:pPr eaLnBrk="1" hangingPunct="1">
              <a:lnSpc>
                <a:spcPts val="1000"/>
              </a:lnSpc>
              <a:spcBef>
                <a:spcPct val="4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대화력전 모의모델 체계 개발</a:t>
            </a:r>
          </a:p>
          <a:p>
            <a:pPr eaLnBrk="1" hangingPunct="1">
              <a:lnSpc>
                <a:spcPts val="1000"/>
              </a:lnSpc>
              <a:spcBef>
                <a:spcPct val="4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en-US" altLang="ko-KR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C4ISR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분석모델체계개발 및 유지보수</a:t>
            </a:r>
            <a:endParaRPr lang="en-US" altLang="ko-KR" sz="8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eaLnBrk="1" hangingPunct="1">
              <a:lnSpc>
                <a:spcPts val="1000"/>
              </a:lnSpc>
              <a:spcBef>
                <a:spcPct val="4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ko-KR" altLang="en-US" sz="8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합동지속지원모의모델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유지보수 </a:t>
            </a:r>
            <a:endParaRPr lang="en-US" altLang="ko-KR" sz="8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eaLnBrk="1" hangingPunct="1">
              <a:lnSpc>
                <a:spcPts val="1000"/>
              </a:lnSpc>
              <a:spcBef>
                <a:spcPct val="4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ko-KR" altLang="en-US" sz="8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해군교전급분석모델체계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개발 및 유지보수</a:t>
            </a:r>
            <a:endParaRPr lang="en-US" altLang="ko-KR" sz="8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58" name="Group 179"/>
          <p:cNvGrpSpPr>
            <a:grpSpLocks/>
          </p:cNvGrpSpPr>
          <p:nvPr/>
        </p:nvGrpSpPr>
        <p:grpSpPr bwMode="auto">
          <a:xfrm>
            <a:off x="2501900" y="7107125"/>
            <a:ext cx="1852613" cy="1852613"/>
            <a:chOff x="228" y="4419"/>
            <a:chExt cx="1565" cy="1437"/>
          </a:xfrm>
        </p:grpSpPr>
        <p:sp>
          <p:nvSpPr>
            <p:cNvPr id="59" name="AutoShape 180"/>
            <p:cNvSpPr>
              <a:spLocks noChangeArrowheads="1"/>
            </p:cNvSpPr>
            <p:nvPr/>
          </p:nvSpPr>
          <p:spPr bwMode="auto">
            <a:xfrm>
              <a:off x="228" y="4419"/>
              <a:ext cx="1565" cy="1437"/>
            </a:xfrm>
            <a:prstGeom prst="roundRect">
              <a:avLst>
                <a:gd name="adj" fmla="val 3088"/>
              </a:avLst>
            </a:prstGeom>
            <a:gradFill rotWithShape="1">
              <a:gsLst>
                <a:gs pos="0">
                  <a:srgbClr val="4D7EC7"/>
                </a:gs>
                <a:gs pos="100000">
                  <a:srgbClr val="BBE0E3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bIns="0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sp>
          <p:nvSpPr>
            <p:cNvPr id="60" name="AutoShape 181"/>
            <p:cNvSpPr>
              <a:spLocks noChangeArrowheads="1"/>
            </p:cNvSpPr>
            <p:nvPr/>
          </p:nvSpPr>
          <p:spPr bwMode="auto">
            <a:xfrm>
              <a:off x="260" y="4700"/>
              <a:ext cx="1500" cy="1119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7150" rIns="57150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grpSp>
          <p:nvGrpSpPr>
            <p:cNvPr id="61" name="Group 182"/>
            <p:cNvGrpSpPr>
              <a:grpSpLocks/>
            </p:cNvGrpSpPr>
            <p:nvPr/>
          </p:nvGrpSpPr>
          <p:grpSpPr bwMode="auto">
            <a:xfrm>
              <a:off x="287" y="4419"/>
              <a:ext cx="1445" cy="220"/>
              <a:chOff x="300" y="4548"/>
              <a:chExt cx="1445" cy="220"/>
            </a:xfrm>
          </p:grpSpPr>
          <p:sp>
            <p:nvSpPr>
              <p:cNvPr id="62" name="AutoShape 183"/>
              <p:cNvSpPr>
                <a:spLocks/>
              </p:cNvSpPr>
              <p:nvPr/>
            </p:nvSpPr>
            <p:spPr bwMode="auto">
              <a:xfrm rot="-5400000">
                <a:off x="913" y="3935"/>
                <a:ext cx="220" cy="1445"/>
              </a:xfrm>
              <a:prstGeom prst="leftBracket">
                <a:avLst>
                  <a:gd name="adj" fmla="val 110929"/>
                </a:avLst>
              </a:prstGeom>
              <a:solidFill>
                <a:srgbClr val="3457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 wrap="none" bIns="0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endParaRPr lang="ko-KR" altLang="en-US">
                  <a:latin typeface="가는각진제목체" pitchFamily="18" charset="-127"/>
                  <a:ea typeface="가는각진제목체" pitchFamily="18" charset="-127"/>
                </a:endParaRPr>
              </a:p>
            </p:txBody>
          </p:sp>
          <p:sp>
            <p:nvSpPr>
              <p:cNvPr id="63" name="AutoShape 184"/>
              <p:cNvSpPr>
                <a:spLocks/>
              </p:cNvSpPr>
              <p:nvPr/>
            </p:nvSpPr>
            <p:spPr bwMode="auto">
              <a:xfrm rot="-5400000">
                <a:off x="923" y="3996"/>
                <a:ext cx="200" cy="1326"/>
              </a:xfrm>
              <a:prstGeom prst="leftBracket">
                <a:avLst>
                  <a:gd name="adj" fmla="val 85208"/>
                </a:avLst>
              </a:prstGeom>
              <a:solidFill>
                <a:srgbClr val="C1D5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endParaRPr lang="ko-KR" altLang="en-US">
                  <a:latin typeface="가는각진제목체" pitchFamily="18" charset="-127"/>
                  <a:ea typeface="가는각진제목체" pitchFamily="18" charset="-127"/>
                </a:endParaRPr>
              </a:p>
            </p:txBody>
          </p:sp>
          <p:sp>
            <p:nvSpPr>
              <p:cNvPr id="64" name="AutoShape 185"/>
              <p:cNvSpPr>
                <a:spLocks/>
              </p:cNvSpPr>
              <p:nvPr/>
            </p:nvSpPr>
            <p:spPr bwMode="auto">
              <a:xfrm rot="-5400000">
                <a:off x="971" y="4096"/>
                <a:ext cx="104" cy="1199"/>
              </a:xfrm>
              <a:prstGeom prst="leftBracket">
                <a:avLst>
                  <a:gd name="adj" fmla="val 116463"/>
                </a:avLst>
              </a:prstGeom>
              <a:gradFill rotWithShape="1">
                <a:gsLst>
                  <a:gs pos="0">
                    <a:srgbClr val="F3F7FA"/>
                  </a:gs>
                  <a:gs pos="100000">
                    <a:srgbClr val="C1D5E7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endParaRPr lang="ko-KR" altLang="en-US">
                  <a:latin typeface="가는각진제목체" pitchFamily="18" charset="-127"/>
                  <a:ea typeface="가는각진제목체" pitchFamily="18" charset="-127"/>
                </a:endParaRPr>
              </a:p>
            </p:txBody>
          </p:sp>
        </p:grpSp>
      </p:grpSp>
      <p:sp>
        <p:nvSpPr>
          <p:cNvPr id="65" name="Rectangle 186"/>
          <p:cNvSpPr>
            <a:spLocks noChangeArrowheads="1"/>
          </p:cNvSpPr>
          <p:nvPr/>
        </p:nvSpPr>
        <p:spPr bwMode="auto">
          <a:xfrm>
            <a:off x="2840706" y="7147899"/>
            <a:ext cx="117500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Clr>
                <a:schemeClr val="tx1"/>
              </a:buClr>
              <a:buSzPct val="80000"/>
            </a:pPr>
            <a:r>
              <a:rPr kumimoji="0" lang="ko-KR" altLang="en-US" sz="1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관련사업 수행경험</a:t>
            </a:r>
          </a:p>
        </p:txBody>
      </p:sp>
      <p:grpSp>
        <p:nvGrpSpPr>
          <p:cNvPr id="66" name="Group 145"/>
          <p:cNvGrpSpPr>
            <a:grpSpLocks/>
          </p:cNvGrpSpPr>
          <p:nvPr/>
        </p:nvGrpSpPr>
        <p:grpSpPr bwMode="auto">
          <a:xfrm>
            <a:off x="4449763" y="7097600"/>
            <a:ext cx="1852612" cy="1862138"/>
            <a:chOff x="2803" y="4807"/>
            <a:chExt cx="1167" cy="1080"/>
          </a:xfrm>
        </p:grpSpPr>
        <p:grpSp>
          <p:nvGrpSpPr>
            <p:cNvPr id="67" name="Group 188"/>
            <p:cNvGrpSpPr>
              <a:grpSpLocks/>
            </p:cNvGrpSpPr>
            <p:nvPr/>
          </p:nvGrpSpPr>
          <p:grpSpPr bwMode="auto">
            <a:xfrm>
              <a:off x="2803" y="4807"/>
              <a:ext cx="1167" cy="1080"/>
              <a:chOff x="228" y="4419"/>
              <a:chExt cx="1565" cy="1437"/>
            </a:xfrm>
          </p:grpSpPr>
          <p:sp>
            <p:nvSpPr>
              <p:cNvPr id="70" name="AutoShape 189"/>
              <p:cNvSpPr>
                <a:spLocks noChangeArrowheads="1"/>
              </p:cNvSpPr>
              <p:nvPr/>
            </p:nvSpPr>
            <p:spPr bwMode="auto">
              <a:xfrm>
                <a:off x="228" y="4419"/>
                <a:ext cx="1565" cy="1437"/>
              </a:xfrm>
              <a:prstGeom prst="roundRect">
                <a:avLst>
                  <a:gd name="adj" fmla="val 3088"/>
                </a:avLst>
              </a:prstGeom>
              <a:gradFill rotWithShape="1">
                <a:gsLst>
                  <a:gs pos="0">
                    <a:srgbClr val="4D7EC7"/>
                  </a:gs>
                  <a:gs pos="100000">
                    <a:srgbClr val="BBE0E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bIns="0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endParaRPr lang="ko-KR" altLang="en-US">
                  <a:latin typeface="가는각진제목체" pitchFamily="18" charset="-127"/>
                  <a:ea typeface="가는각진제목체" pitchFamily="18" charset="-127"/>
                </a:endParaRPr>
              </a:p>
            </p:txBody>
          </p:sp>
          <p:sp>
            <p:nvSpPr>
              <p:cNvPr id="71" name="AutoShape 190"/>
              <p:cNvSpPr>
                <a:spLocks noChangeArrowheads="1"/>
              </p:cNvSpPr>
              <p:nvPr/>
            </p:nvSpPr>
            <p:spPr bwMode="auto">
              <a:xfrm>
                <a:off x="260" y="4659"/>
                <a:ext cx="1500" cy="1159"/>
              </a:xfrm>
              <a:prstGeom prst="roundRect">
                <a:avLst>
                  <a:gd name="adj" fmla="val 3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57150" rIns="57150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endParaRPr lang="ko-KR" altLang="en-US">
                  <a:latin typeface="가는각진제목체" pitchFamily="18" charset="-127"/>
                  <a:ea typeface="가는각진제목체" pitchFamily="18" charset="-127"/>
                </a:endParaRPr>
              </a:p>
            </p:txBody>
          </p:sp>
          <p:grpSp>
            <p:nvGrpSpPr>
              <p:cNvPr id="72" name="Group 191"/>
              <p:cNvGrpSpPr>
                <a:grpSpLocks/>
              </p:cNvGrpSpPr>
              <p:nvPr/>
            </p:nvGrpSpPr>
            <p:grpSpPr bwMode="auto">
              <a:xfrm>
                <a:off x="287" y="4419"/>
                <a:ext cx="1445" cy="220"/>
                <a:chOff x="300" y="4548"/>
                <a:chExt cx="1445" cy="220"/>
              </a:xfrm>
            </p:grpSpPr>
            <p:sp>
              <p:nvSpPr>
                <p:cNvPr id="73" name="AutoShape 192"/>
                <p:cNvSpPr>
                  <a:spLocks/>
                </p:cNvSpPr>
                <p:nvPr/>
              </p:nvSpPr>
              <p:spPr bwMode="auto">
                <a:xfrm rot="-5400000">
                  <a:off x="913" y="3935"/>
                  <a:ext cx="220" cy="1445"/>
                </a:xfrm>
                <a:prstGeom prst="leftBracket">
                  <a:avLst>
                    <a:gd name="adj" fmla="val 110929"/>
                  </a:avLst>
                </a:prstGeom>
                <a:solidFill>
                  <a:srgbClr val="34579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bIns="0" anchor="ctr"/>
                <a:lstStyle>
                  <a:lvl1pPr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algn="ctr" eaLnBrk="1" latinLnBrk="1" hangingPunct="1"/>
                  <a:endParaRPr lang="ko-KR" altLang="en-US">
                    <a:latin typeface="가는각진제목체" pitchFamily="18" charset="-127"/>
                    <a:ea typeface="가는각진제목체" pitchFamily="18" charset="-127"/>
                  </a:endParaRPr>
                </a:p>
              </p:txBody>
            </p:sp>
            <p:sp>
              <p:nvSpPr>
                <p:cNvPr id="74" name="AutoShape 193"/>
                <p:cNvSpPr>
                  <a:spLocks/>
                </p:cNvSpPr>
                <p:nvPr/>
              </p:nvSpPr>
              <p:spPr bwMode="auto">
                <a:xfrm rot="-5400000">
                  <a:off x="923" y="3996"/>
                  <a:ext cx="200" cy="1326"/>
                </a:xfrm>
                <a:prstGeom prst="leftBracket">
                  <a:avLst>
                    <a:gd name="adj" fmla="val 85208"/>
                  </a:avLst>
                </a:prstGeom>
                <a:solidFill>
                  <a:srgbClr val="C1D5E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>
                  <a:lvl1pPr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algn="ctr" eaLnBrk="1" latinLnBrk="1" hangingPunct="1"/>
                  <a:endParaRPr lang="ko-KR" altLang="en-US">
                    <a:latin typeface="가는각진제목체" pitchFamily="18" charset="-127"/>
                    <a:ea typeface="가는각진제목체" pitchFamily="18" charset="-127"/>
                  </a:endParaRPr>
                </a:p>
              </p:txBody>
            </p:sp>
            <p:sp>
              <p:nvSpPr>
                <p:cNvPr id="75" name="AutoShape 194"/>
                <p:cNvSpPr>
                  <a:spLocks/>
                </p:cNvSpPr>
                <p:nvPr/>
              </p:nvSpPr>
              <p:spPr bwMode="auto">
                <a:xfrm rot="-5400000">
                  <a:off x="971" y="4096"/>
                  <a:ext cx="104" cy="1199"/>
                </a:xfrm>
                <a:prstGeom prst="leftBracket">
                  <a:avLst>
                    <a:gd name="adj" fmla="val 116463"/>
                  </a:avLst>
                </a:prstGeom>
                <a:gradFill rotWithShape="1">
                  <a:gsLst>
                    <a:gs pos="0">
                      <a:srgbClr val="F3F7FA"/>
                    </a:gs>
                    <a:gs pos="100000">
                      <a:srgbClr val="C1D5E7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wrap="none" anchor="ctr"/>
                <a:lstStyle>
                  <a:lvl1pPr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algn="ctr" eaLnBrk="1" latinLnBrk="1" hangingPunct="1"/>
                  <a:endParaRPr lang="ko-KR" altLang="en-US">
                    <a:latin typeface="가는각진제목체" pitchFamily="18" charset="-127"/>
                    <a:ea typeface="가는각진제목체" pitchFamily="18" charset="-127"/>
                  </a:endParaRPr>
                </a:p>
              </p:txBody>
            </p:sp>
          </p:grpSp>
        </p:grpSp>
        <p:sp>
          <p:nvSpPr>
            <p:cNvPr id="68" name="Rectangle 195"/>
            <p:cNvSpPr>
              <a:spLocks noChangeArrowheads="1"/>
            </p:cNvSpPr>
            <p:nvPr/>
          </p:nvSpPr>
          <p:spPr bwMode="auto">
            <a:xfrm>
              <a:off x="3020" y="4835"/>
              <a:ext cx="733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buClr>
                  <a:schemeClr val="tx1"/>
                </a:buClr>
                <a:buSzPct val="80000"/>
              </a:pPr>
              <a:r>
                <a:rPr kumimoji="0" lang="ko-KR" altLang="en-US" sz="11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조직</a:t>
              </a:r>
              <a:r>
                <a:rPr kumimoji="0" lang="en-US" altLang="ko-KR" sz="11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, </a:t>
              </a:r>
              <a:r>
                <a:rPr kumimoji="0" lang="ko-KR" altLang="en-US" sz="11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인력</a:t>
              </a:r>
              <a:r>
                <a:rPr kumimoji="0" lang="en-US" altLang="ko-KR" sz="11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, </a:t>
              </a:r>
              <a:r>
                <a:rPr kumimoji="0" lang="ko-KR" altLang="en-US" sz="11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방법론</a:t>
              </a:r>
            </a:p>
          </p:txBody>
        </p:sp>
        <p:sp>
          <p:nvSpPr>
            <p:cNvPr id="69" name="Rectangle 196"/>
            <p:cNvSpPr>
              <a:spLocks noChangeArrowheads="1"/>
            </p:cNvSpPr>
            <p:nvPr/>
          </p:nvSpPr>
          <p:spPr bwMode="auto">
            <a:xfrm>
              <a:off x="2866" y="5036"/>
              <a:ext cx="1056" cy="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marL="85725" indent="-85725" defTabSz="71278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1278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1278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1278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1278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1278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1278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1278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1278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40000"/>
                </a:spcBef>
                <a:buClr>
                  <a:schemeClr val="tx1"/>
                </a:buClr>
                <a:buSzPct val="80000"/>
                <a:buFontTx/>
                <a:buChar char="•"/>
              </a:pPr>
              <a:r>
                <a:rPr lang="ko-KR" altLang="en-US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태극</a:t>
              </a:r>
              <a:r>
                <a:rPr lang="en-US" altLang="ko-KR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JOS</a:t>
              </a:r>
              <a:r>
                <a:rPr lang="ko-KR" altLang="en-US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모델 전문 인력</a:t>
              </a:r>
              <a:br>
                <a:rPr lang="en-US" altLang="ko-KR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</a:br>
              <a:r>
                <a:rPr lang="en-US" altLang="ko-KR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-</a:t>
              </a:r>
              <a:r>
                <a:rPr lang="ko-KR" altLang="en-US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군 </a:t>
              </a:r>
              <a:r>
                <a:rPr lang="ko-KR" altLang="en-US" sz="800" err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워게임</a:t>
              </a:r>
              <a:r>
                <a:rPr lang="ko-KR" altLang="en-US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 개발 경험자 투입</a:t>
              </a:r>
              <a:br>
                <a:rPr lang="en-US" altLang="ko-KR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</a:br>
              <a:r>
                <a:rPr lang="en-US" altLang="ko-KR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-</a:t>
              </a:r>
              <a:r>
                <a:rPr lang="ko-KR" altLang="en-US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태극</a:t>
              </a:r>
              <a:r>
                <a:rPr lang="en-US" altLang="ko-KR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JOS</a:t>
              </a:r>
              <a:r>
                <a:rPr lang="ko-KR" altLang="en-US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모델 유지보수 참여인력</a:t>
              </a:r>
            </a:p>
            <a:p>
              <a:pPr eaLnBrk="1" hangingPunct="1">
                <a:lnSpc>
                  <a:spcPct val="150000"/>
                </a:lnSpc>
                <a:spcBef>
                  <a:spcPct val="40000"/>
                </a:spcBef>
                <a:buClr>
                  <a:schemeClr val="tx1"/>
                </a:buClr>
                <a:buSzPct val="80000"/>
                <a:buFontTx/>
                <a:buChar char="•"/>
              </a:pPr>
              <a:r>
                <a:rPr lang="ko-KR" altLang="en-US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군 전문가 확보 및 지원으로 용역 수행간 문제점 즉시 해결</a:t>
              </a:r>
            </a:p>
            <a:p>
              <a:pPr eaLnBrk="1" hangingPunct="1">
                <a:lnSpc>
                  <a:spcPct val="150000"/>
                </a:lnSpc>
                <a:spcBef>
                  <a:spcPct val="40000"/>
                </a:spcBef>
                <a:buClr>
                  <a:schemeClr val="tx1"/>
                </a:buClr>
                <a:buSzPct val="80000"/>
                <a:buFontTx/>
                <a:buChar char="•"/>
              </a:pPr>
              <a:r>
                <a:rPr lang="ko-KR" altLang="en-US" sz="8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예방적 사업관리 방법론 활용으로 사업기간 준수</a:t>
              </a:r>
            </a:p>
          </p:txBody>
        </p:sp>
      </p:grpSp>
      <p:sp>
        <p:nvSpPr>
          <p:cNvPr id="76" name="Text Box 63"/>
          <p:cNvSpPr txBox="1">
            <a:spLocks noChangeArrowheads="1"/>
          </p:cNvSpPr>
          <p:nvPr/>
        </p:nvSpPr>
        <p:spPr bwMode="auto">
          <a:xfrm>
            <a:off x="290513" y="831850"/>
            <a:ext cx="62420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kumimoji="0" lang="ko-KR" altLang="en-US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이해도</a:t>
            </a:r>
          </a:p>
        </p:txBody>
      </p:sp>
      <p:sp>
        <p:nvSpPr>
          <p:cNvPr id="77" name="Rectangle 162"/>
          <p:cNvSpPr>
            <a:spLocks noChangeArrowheads="1"/>
          </p:cNvSpPr>
          <p:nvPr/>
        </p:nvSpPr>
        <p:spPr bwMode="auto">
          <a:xfrm>
            <a:off x="1128713" y="5098938"/>
            <a:ext cx="469900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80000"/>
            </a:pPr>
            <a:r>
              <a:rPr lang="en-US" altLang="ko-KR" sz="1600">
                <a:solidFill>
                  <a:srgbClr val="003366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M&amp;S </a:t>
            </a:r>
            <a:r>
              <a:rPr lang="ko-KR" altLang="en-US" sz="1600">
                <a:solidFill>
                  <a:srgbClr val="003366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체계를 포함한 전장 및 자원관리</a:t>
            </a:r>
            <a:endParaRPr lang="en-US" altLang="ko-KR" sz="1600">
              <a:solidFill>
                <a:srgbClr val="003366"/>
              </a:solidFill>
              <a:latin typeface="HY수평선B" panose="02030600000101010101" pitchFamily="18" charset="-127"/>
              <a:ea typeface="HY수평선B" panose="02030600000101010101" pitchFamily="18" charset="-127"/>
            </a:endParaRP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80000"/>
            </a:pPr>
            <a:r>
              <a:rPr lang="ko-KR" altLang="en-US" sz="1600">
                <a:solidFill>
                  <a:srgbClr val="003366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정보체계에 대한 통합유지보수 체계구축 달성</a:t>
            </a:r>
          </a:p>
        </p:txBody>
      </p:sp>
      <p:sp>
        <p:nvSpPr>
          <p:cNvPr id="78" name="AutoShape 167"/>
          <p:cNvSpPr>
            <a:spLocks noChangeArrowheads="1"/>
          </p:cNvSpPr>
          <p:nvPr/>
        </p:nvSpPr>
        <p:spPr bwMode="auto">
          <a:xfrm>
            <a:off x="1956812" y="5860938"/>
            <a:ext cx="2976563" cy="539750"/>
          </a:xfrm>
          <a:prstGeom prst="bevel">
            <a:avLst>
              <a:gd name="adj" fmla="val 793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6762" tIns="48381" rIns="96762" bIns="48381" anchor="ctr"/>
          <a:lstStyle>
            <a:lvl1pPr defTabSz="968375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68375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68375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68375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68375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buClr>
                <a:schemeClr val="tx1"/>
              </a:buClr>
              <a:buSzPct val="80000"/>
            </a:pPr>
            <a:r>
              <a:rPr kumimoji="0" lang="ko-KR" altLang="en-US" sz="1300" b="1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제안사의</a:t>
            </a:r>
            <a:r>
              <a:rPr kumimoji="0" lang="ko-KR" altLang="en-US" sz="13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축적된 기술 및 노하우로</a:t>
            </a:r>
            <a:r>
              <a:rPr kumimoji="0" lang="en-US" altLang="ko-KR" sz="13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</a:p>
          <a:p>
            <a:pPr algn="ctr" eaLnBrk="1" hangingPunct="1">
              <a:lnSpc>
                <a:spcPct val="90000"/>
              </a:lnSpc>
              <a:buClr>
                <a:schemeClr val="tx1"/>
              </a:buClr>
              <a:buSzPct val="80000"/>
            </a:pPr>
            <a:r>
              <a:rPr kumimoji="0" lang="ko-KR" altLang="en-US" sz="13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성공적인 태극</a:t>
            </a:r>
            <a:r>
              <a:rPr kumimoji="0" lang="en-US" altLang="ko-KR" sz="13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 </a:t>
            </a:r>
            <a:r>
              <a:rPr kumimoji="0" lang="ko-KR" altLang="en-US" sz="13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유지관리</a:t>
            </a:r>
          </a:p>
        </p:txBody>
      </p:sp>
      <p:sp>
        <p:nvSpPr>
          <p:cNvPr id="79" name="Rectangle 187"/>
          <p:cNvSpPr>
            <a:spLocks noChangeArrowheads="1"/>
          </p:cNvSpPr>
          <p:nvPr/>
        </p:nvSpPr>
        <p:spPr bwMode="auto">
          <a:xfrm>
            <a:off x="2582863" y="7614065"/>
            <a:ext cx="1770062" cy="1157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85725" indent="-85725" defTabSz="7127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127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127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127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127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4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성능 및 연동체계 개발</a:t>
            </a:r>
          </a:p>
          <a:p>
            <a:pPr eaLnBrk="1" hangingPunct="1">
              <a:spcBef>
                <a:spcPct val="4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ko-KR" altLang="en-US" sz="8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합동지속지원모의모델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개발</a:t>
            </a:r>
            <a:endParaRPr lang="en-US" altLang="ko-KR" sz="8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eaLnBrk="1" hangingPunct="1">
              <a:spcBef>
                <a:spcPct val="4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ko-KR" altLang="en-US" sz="8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한국형합동작전분석모델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개발</a:t>
            </a:r>
          </a:p>
          <a:p>
            <a:pPr eaLnBrk="1" hangingPunct="1">
              <a:spcBef>
                <a:spcPct val="4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en-US" altLang="ko-KR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AWAM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개발</a:t>
            </a:r>
            <a:endParaRPr lang="en-US" altLang="ko-KR" sz="8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eaLnBrk="1" hangingPunct="1">
              <a:spcBef>
                <a:spcPct val="4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en-US" altLang="ko-KR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C4ISR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분석모델체계개발</a:t>
            </a:r>
            <a:endParaRPr lang="en-US" altLang="ko-KR" sz="8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eaLnBrk="1" hangingPunct="1">
              <a:spcBef>
                <a:spcPct val="4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비전</a:t>
            </a:r>
            <a:r>
              <a:rPr lang="en-US" altLang="ko-KR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21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성능개량체계개발</a:t>
            </a:r>
            <a:endParaRPr lang="en-US" altLang="ko-KR" sz="8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eaLnBrk="1" hangingPunct="1">
              <a:spcBef>
                <a:spcPct val="4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en-US" altLang="ko-KR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CBM </a:t>
            </a:r>
            <a:r>
              <a:rPr lang="ko-KR" altLang="en-US" sz="8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짞쩐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모의모델 </a:t>
            </a:r>
            <a:r>
              <a:rPr lang="ko-KR" altLang="en-US" sz="8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첵게</a:t>
            </a:r>
            <a:r>
              <a:rPr lang="ko-KR" altLang="en-US" sz="8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개발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2220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Ⅱ – 2</a:t>
            </a:r>
          </a:p>
        </p:txBody>
      </p:sp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사업 이해도</a:t>
            </a:r>
          </a:p>
        </p:txBody>
      </p:sp>
      <p:sp>
        <p:nvSpPr>
          <p:cNvPr id="4" name="Rectangle 169"/>
          <p:cNvSpPr>
            <a:spLocks noChangeArrowheads="1"/>
          </p:cNvSpPr>
          <p:nvPr/>
        </p:nvSpPr>
        <p:spPr bwMode="auto">
          <a:xfrm>
            <a:off x="400050" y="3573463"/>
            <a:ext cx="6054725" cy="588010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C0C0C0"/>
            </a:solidFill>
            <a:miter lim="800000"/>
            <a:headEnd/>
            <a:tailEnd/>
          </a:ln>
          <a:effectLst>
            <a:outerShdw dist="17961" dir="2700000" algn="ctr" rotWithShape="0">
              <a:srgbClr val="C9D2DD"/>
            </a:outerShdw>
          </a:effec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grpSp>
        <p:nvGrpSpPr>
          <p:cNvPr id="5" name="Group 111"/>
          <p:cNvGrpSpPr>
            <a:grpSpLocks/>
          </p:cNvGrpSpPr>
          <p:nvPr/>
        </p:nvGrpSpPr>
        <p:grpSpPr bwMode="auto">
          <a:xfrm>
            <a:off x="1019175" y="6799263"/>
            <a:ext cx="4910138" cy="1023937"/>
            <a:chOff x="624" y="4746"/>
            <a:chExt cx="3168" cy="1014"/>
          </a:xfrm>
        </p:grpSpPr>
        <p:grpSp>
          <p:nvGrpSpPr>
            <p:cNvPr id="6" name="Group 112"/>
            <p:cNvGrpSpPr>
              <a:grpSpLocks/>
            </p:cNvGrpSpPr>
            <p:nvPr/>
          </p:nvGrpSpPr>
          <p:grpSpPr bwMode="auto">
            <a:xfrm>
              <a:off x="629" y="4746"/>
              <a:ext cx="3163" cy="1013"/>
              <a:chOff x="977" y="4639"/>
              <a:chExt cx="2514" cy="755"/>
            </a:xfrm>
          </p:grpSpPr>
          <p:sp>
            <p:nvSpPr>
              <p:cNvPr id="11" name="Freeform 117"/>
              <p:cNvSpPr>
                <a:spLocks/>
              </p:cNvSpPr>
              <p:nvPr/>
            </p:nvSpPr>
            <p:spPr bwMode="auto">
              <a:xfrm>
                <a:off x="1141" y="4982"/>
                <a:ext cx="964" cy="334"/>
              </a:xfrm>
              <a:custGeom>
                <a:avLst/>
                <a:gdLst>
                  <a:gd name="T0" fmla="*/ 1 w 1488"/>
                  <a:gd name="T1" fmla="*/ 0 h 1007"/>
                  <a:gd name="T2" fmla="*/ 1 w 1488"/>
                  <a:gd name="T3" fmla="*/ 0 h 1007"/>
                  <a:gd name="T4" fmla="*/ 1 w 1488"/>
                  <a:gd name="T5" fmla="*/ 0 h 1007"/>
                  <a:gd name="T6" fmla="*/ 1 w 1488"/>
                  <a:gd name="T7" fmla="*/ 0 h 1007"/>
                  <a:gd name="T8" fmla="*/ 1 w 1488"/>
                  <a:gd name="T9" fmla="*/ 0 h 1007"/>
                  <a:gd name="T10" fmla="*/ 1 w 1488"/>
                  <a:gd name="T11" fmla="*/ 0 h 1007"/>
                  <a:gd name="T12" fmla="*/ 1 w 1488"/>
                  <a:gd name="T13" fmla="*/ 0 h 1007"/>
                  <a:gd name="T14" fmla="*/ 1 w 1488"/>
                  <a:gd name="T15" fmla="*/ 0 h 1007"/>
                  <a:gd name="T16" fmla="*/ 1 w 1488"/>
                  <a:gd name="T17" fmla="*/ 0 h 1007"/>
                  <a:gd name="T18" fmla="*/ 1 w 1488"/>
                  <a:gd name="T19" fmla="*/ 0 h 1007"/>
                  <a:gd name="T20" fmla="*/ 1 w 1488"/>
                  <a:gd name="T21" fmla="*/ 0 h 1007"/>
                  <a:gd name="T22" fmla="*/ 1 w 1488"/>
                  <a:gd name="T23" fmla="*/ 0 h 1007"/>
                  <a:gd name="T24" fmla="*/ 1 w 1488"/>
                  <a:gd name="T25" fmla="*/ 0 h 1007"/>
                  <a:gd name="T26" fmla="*/ 1 w 1488"/>
                  <a:gd name="T27" fmla="*/ 0 h 1007"/>
                  <a:gd name="T28" fmla="*/ 1 w 1488"/>
                  <a:gd name="T29" fmla="*/ 0 h 1007"/>
                  <a:gd name="T30" fmla="*/ 1 w 1488"/>
                  <a:gd name="T31" fmla="*/ 0 h 1007"/>
                  <a:gd name="T32" fmla="*/ 1 w 1488"/>
                  <a:gd name="T33" fmla="*/ 0 h 1007"/>
                  <a:gd name="T34" fmla="*/ 1 w 1488"/>
                  <a:gd name="T35" fmla="*/ 0 h 1007"/>
                  <a:gd name="T36" fmla="*/ 1 w 1488"/>
                  <a:gd name="T37" fmla="*/ 0 h 1007"/>
                  <a:gd name="T38" fmla="*/ 1 w 1488"/>
                  <a:gd name="T39" fmla="*/ 0 h 1007"/>
                  <a:gd name="T40" fmla="*/ 1 w 1488"/>
                  <a:gd name="T41" fmla="*/ 0 h 1007"/>
                  <a:gd name="T42" fmla="*/ 1 w 1488"/>
                  <a:gd name="T43" fmla="*/ 0 h 1007"/>
                  <a:gd name="T44" fmla="*/ 1 w 1488"/>
                  <a:gd name="T45" fmla="*/ 0 h 1007"/>
                  <a:gd name="T46" fmla="*/ 1 w 1488"/>
                  <a:gd name="T47" fmla="*/ 0 h 1007"/>
                  <a:gd name="T48" fmla="*/ 1 w 1488"/>
                  <a:gd name="T49" fmla="*/ 0 h 1007"/>
                  <a:gd name="T50" fmla="*/ 1 w 1488"/>
                  <a:gd name="T51" fmla="*/ 0 h 1007"/>
                  <a:gd name="T52" fmla="*/ 1 w 1488"/>
                  <a:gd name="T53" fmla="*/ 0 h 1007"/>
                  <a:gd name="T54" fmla="*/ 1 w 1488"/>
                  <a:gd name="T55" fmla="*/ 0 h 1007"/>
                  <a:gd name="T56" fmla="*/ 1 w 1488"/>
                  <a:gd name="T57" fmla="*/ 0 h 1007"/>
                  <a:gd name="T58" fmla="*/ 1 w 1488"/>
                  <a:gd name="T59" fmla="*/ 0 h 1007"/>
                  <a:gd name="T60" fmla="*/ 1 w 1488"/>
                  <a:gd name="T61" fmla="*/ 0 h 1007"/>
                  <a:gd name="T62" fmla="*/ 1 w 1488"/>
                  <a:gd name="T63" fmla="*/ 0 h 1007"/>
                  <a:gd name="T64" fmla="*/ 1 w 1488"/>
                  <a:gd name="T65" fmla="*/ 0 h 1007"/>
                  <a:gd name="T66" fmla="*/ 1 w 1488"/>
                  <a:gd name="T67" fmla="*/ 0 h 1007"/>
                  <a:gd name="T68" fmla="*/ 1 w 1488"/>
                  <a:gd name="T69" fmla="*/ 0 h 1007"/>
                  <a:gd name="T70" fmla="*/ 1 w 1488"/>
                  <a:gd name="T71" fmla="*/ 0 h 1007"/>
                  <a:gd name="T72" fmla="*/ 1 w 1488"/>
                  <a:gd name="T73" fmla="*/ 0 h 1007"/>
                  <a:gd name="T74" fmla="*/ 1 w 1488"/>
                  <a:gd name="T75" fmla="*/ 0 h 1007"/>
                  <a:gd name="T76" fmla="*/ 1 w 1488"/>
                  <a:gd name="T77" fmla="*/ 0 h 1007"/>
                  <a:gd name="T78" fmla="*/ 1 w 1488"/>
                  <a:gd name="T79" fmla="*/ 0 h 1007"/>
                  <a:gd name="T80" fmla="*/ 1 w 1488"/>
                  <a:gd name="T81" fmla="*/ 0 h 1007"/>
                  <a:gd name="T82" fmla="*/ 1 w 1488"/>
                  <a:gd name="T83" fmla="*/ 0 h 1007"/>
                  <a:gd name="T84" fmla="*/ 1 w 1488"/>
                  <a:gd name="T85" fmla="*/ 0 h 1007"/>
                  <a:gd name="T86" fmla="*/ 1 w 1488"/>
                  <a:gd name="T87" fmla="*/ 0 h 1007"/>
                  <a:gd name="T88" fmla="*/ 1 w 1488"/>
                  <a:gd name="T89" fmla="*/ 0 h 1007"/>
                  <a:gd name="T90" fmla="*/ 1 w 1488"/>
                  <a:gd name="T91" fmla="*/ 0 h 1007"/>
                  <a:gd name="T92" fmla="*/ 1 w 1488"/>
                  <a:gd name="T93" fmla="*/ 0 h 1007"/>
                  <a:gd name="T94" fmla="*/ 1 w 1488"/>
                  <a:gd name="T95" fmla="*/ 0 h 1007"/>
                  <a:gd name="T96" fmla="*/ 1 w 1488"/>
                  <a:gd name="T97" fmla="*/ 0 h 1007"/>
                  <a:gd name="T98" fmla="*/ 1 w 1488"/>
                  <a:gd name="T99" fmla="*/ 0 h 1007"/>
                  <a:gd name="T100" fmla="*/ 1 w 1488"/>
                  <a:gd name="T101" fmla="*/ 0 h 1007"/>
                  <a:gd name="T102" fmla="*/ 1 w 1488"/>
                  <a:gd name="T103" fmla="*/ 0 h 1007"/>
                  <a:gd name="T104" fmla="*/ 1 w 1488"/>
                  <a:gd name="T105" fmla="*/ 0 h 1007"/>
                  <a:gd name="T106" fmla="*/ 1 w 1488"/>
                  <a:gd name="T107" fmla="*/ 0 h 1007"/>
                  <a:gd name="T108" fmla="*/ 1 w 1488"/>
                  <a:gd name="T109" fmla="*/ 0 h 1007"/>
                  <a:gd name="T110" fmla="*/ 1 w 1488"/>
                  <a:gd name="T111" fmla="*/ 0 h 1007"/>
                  <a:gd name="T112" fmla="*/ 1 w 1488"/>
                  <a:gd name="T113" fmla="*/ 0 h 1007"/>
                  <a:gd name="T114" fmla="*/ 1 w 1488"/>
                  <a:gd name="T115" fmla="*/ 0 h 1007"/>
                  <a:gd name="T116" fmla="*/ 1 w 1488"/>
                  <a:gd name="T117" fmla="*/ 0 h 1007"/>
                  <a:gd name="T118" fmla="*/ 1 w 1488"/>
                  <a:gd name="T119" fmla="*/ 0 h 1007"/>
                  <a:gd name="T120" fmla="*/ 1 w 1488"/>
                  <a:gd name="T121" fmla="*/ 0 h 10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488"/>
                  <a:gd name="T184" fmla="*/ 0 h 1007"/>
                  <a:gd name="T185" fmla="*/ 1488 w 1488"/>
                  <a:gd name="T186" fmla="*/ 1007 h 10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488" h="1007">
                    <a:moveTo>
                      <a:pt x="175" y="73"/>
                    </a:moveTo>
                    <a:lnTo>
                      <a:pt x="0" y="822"/>
                    </a:lnTo>
                    <a:lnTo>
                      <a:pt x="22" y="821"/>
                    </a:lnTo>
                    <a:lnTo>
                      <a:pt x="47" y="818"/>
                    </a:lnTo>
                    <a:lnTo>
                      <a:pt x="92" y="809"/>
                    </a:lnTo>
                    <a:lnTo>
                      <a:pt x="125" y="802"/>
                    </a:lnTo>
                    <a:lnTo>
                      <a:pt x="168" y="793"/>
                    </a:lnTo>
                    <a:lnTo>
                      <a:pt x="214" y="781"/>
                    </a:lnTo>
                    <a:lnTo>
                      <a:pt x="258" y="768"/>
                    </a:lnTo>
                    <a:lnTo>
                      <a:pt x="298" y="754"/>
                    </a:lnTo>
                    <a:lnTo>
                      <a:pt x="345" y="738"/>
                    </a:lnTo>
                    <a:lnTo>
                      <a:pt x="375" y="731"/>
                    </a:lnTo>
                    <a:lnTo>
                      <a:pt x="402" y="726"/>
                    </a:lnTo>
                    <a:lnTo>
                      <a:pt x="425" y="725"/>
                    </a:lnTo>
                    <a:lnTo>
                      <a:pt x="447" y="725"/>
                    </a:lnTo>
                    <a:lnTo>
                      <a:pt x="479" y="729"/>
                    </a:lnTo>
                    <a:lnTo>
                      <a:pt x="500" y="733"/>
                    </a:lnTo>
                    <a:lnTo>
                      <a:pt x="524" y="741"/>
                    </a:lnTo>
                    <a:lnTo>
                      <a:pt x="540" y="749"/>
                    </a:lnTo>
                    <a:lnTo>
                      <a:pt x="551" y="760"/>
                    </a:lnTo>
                    <a:lnTo>
                      <a:pt x="560" y="776"/>
                    </a:lnTo>
                    <a:lnTo>
                      <a:pt x="563" y="787"/>
                    </a:lnTo>
                    <a:lnTo>
                      <a:pt x="562" y="803"/>
                    </a:lnTo>
                    <a:lnTo>
                      <a:pt x="556" y="819"/>
                    </a:lnTo>
                    <a:lnTo>
                      <a:pt x="541" y="840"/>
                    </a:lnTo>
                    <a:lnTo>
                      <a:pt x="527" y="863"/>
                    </a:lnTo>
                    <a:lnTo>
                      <a:pt x="518" y="885"/>
                    </a:lnTo>
                    <a:lnTo>
                      <a:pt x="514" y="901"/>
                    </a:lnTo>
                    <a:lnTo>
                      <a:pt x="512" y="918"/>
                    </a:lnTo>
                    <a:lnTo>
                      <a:pt x="514" y="931"/>
                    </a:lnTo>
                    <a:lnTo>
                      <a:pt x="521" y="949"/>
                    </a:lnTo>
                    <a:lnTo>
                      <a:pt x="534" y="966"/>
                    </a:lnTo>
                    <a:lnTo>
                      <a:pt x="551" y="981"/>
                    </a:lnTo>
                    <a:lnTo>
                      <a:pt x="569" y="991"/>
                    </a:lnTo>
                    <a:lnTo>
                      <a:pt x="591" y="998"/>
                    </a:lnTo>
                    <a:lnTo>
                      <a:pt x="615" y="1004"/>
                    </a:lnTo>
                    <a:lnTo>
                      <a:pt x="634" y="1007"/>
                    </a:lnTo>
                    <a:lnTo>
                      <a:pt x="655" y="1004"/>
                    </a:lnTo>
                    <a:lnTo>
                      <a:pt x="676" y="1000"/>
                    </a:lnTo>
                    <a:lnTo>
                      <a:pt x="697" y="992"/>
                    </a:lnTo>
                    <a:lnTo>
                      <a:pt x="719" y="982"/>
                    </a:lnTo>
                    <a:lnTo>
                      <a:pt x="742" y="969"/>
                    </a:lnTo>
                    <a:lnTo>
                      <a:pt x="761" y="956"/>
                    </a:lnTo>
                    <a:lnTo>
                      <a:pt x="777" y="943"/>
                    </a:lnTo>
                    <a:lnTo>
                      <a:pt x="790" y="927"/>
                    </a:lnTo>
                    <a:lnTo>
                      <a:pt x="800" y="908"/>
                    </a:lnTo>
                    <a:lnTo>
                      <a:pt x="806" y="888"/>
                    </a:lnTo>
                    <a:lnTo>
                      <a:pt x="809" y="863"/>
                    </a:lnTo>
                    <a:lnTo>
                      <a:pt x="816" y="844"/>
                    </a:lnTo>
                    <a:lnTo>
                      <a:pt x="822" y="835"/>
                    </a:lnTo>
                    <a:lnTo>
                      <a:pt x="835" y="825"/>
                    </a:lnTo>
                    <a:lnTo>
                      <a:pt x="857" y="815"/>
                    </a:lnTo>
                    <a:lnTo>
                      <a:pt x="886" y="805"/>
                    </a:lnTo>
                    <a:lnTo>
                      <a:pt x="916" y="796"/>
                    </a:lnTo>
                    <a:lnTo>
                      <a:pt x="944" y="787"/>
                    </a:lnTo>
                    <a:lnTo>
                      <a:pt x="973" y="780"/>
                    </a:lnTo>
                    <a:lnTo>
                      <a:pt x="1015" y="773"/>
                    </a:lnTo>
                    <a:lnTo>
                      <a:pt x="1073" y="762"/>
                    </a:lnTo>
                    <a:lnTo>
                      <a:pt x="1139" y="757"/>
                    </a:lnTo>
                    <a:lnTo>
                      <a:pt x="1210" y="757"/>
                    </a:lnTo>
                    <a:lnTo>
                      <a:pt x="1280" y="757"/>
                    </a:lnTo>
                    <a:lnTo>
                      <a:pt x="1344" y="764"/>
                    </a:lnTo>
                    <a:lnTo>
                      <a:pt x="1352" y="751"/>
                    </a:lnTo>
                    <a:lnTo>
                      <a:pt x="1361" y="736"/>
                    </a:lnTo>
                    <a:lnTo>
                      <a:pt x="1373" y="723"/>
                    </a:lnTo>
                    <a:lnTo>
                      <a:pt x="1389" y="707"/>
                    </a:lnTo>
                    <a:lnTo>
                      <a:pt x="1400" y="696"/>
                    </a:lnTo>
                    <a:lnTo>
                      <a:pt x="1418" y="677"/>
                    </a:lnTo>
                    <a:lnTo>
                      <a:pt x="1432" y="661"/>
                    </a:lnTo>
                    <a:lnTo>
                      <a:pt x="1445" y="648"/>
                    </a:lnTo>
                    <a:lnTo>
                      <a:pt x="1459" y="632"/>
                    </a:lnTo>
                    <a:lnTo>
                      <a:pt x="1470" y="611"/>
                    </a:lnTo>
                    <a:lnTo>
                      <a:pt x="1475" y="598"/>
                    </a:lnTo>
                    <a:lnTo>
                      <a:pt x="1480" y="576"/>
                    </a:lnTo>
                    <a:lnTo>
                      <a:pt x="1486" y="559"/>
                    </a:lnTo>
                    <a:lnTo>
                      <a:pt x="1488" y="536"/>
                    </a:lnTo>
                    <a:lnTo>
                      <a:pt x="1482" y="517"/>
                    </a:lnTo>
                    <a:lnTo>
                      <a:pt x="1473" y="498"/>
                    </a:lnTo>
                    <a:lnTo>
                      <a:pt x="1463" y="486"/>
                    </a:lnTo>
                    <a:lnTo>
                      <a:pt x="1448" y="479"/>
                    </a:lnTo>
                    <a:lnTo>
                      <a:pt x="1434" y="473"/>
                    </a:lnTo>
                    <a:lnTo>
                      <a:pt x="1418" y="473"/>
                    </a:lnTo>
                    <a:lnTo>
                      <a:pt x="1402" y="473"/>
                    </a:lnTo>
                    <a:lnTo>
                      <a:pt x="1383" y="485"/>
                    </a:lnTo>
                    <a:lnTo>
                      <a:pt x="1368" y="501"/>
                    </a:lnTo>
                    <a:lnTo>
                      <a:pt x="1354" y="520"/>
                    </a:lnTo>
                    <a:lnTo>
                      <a:pt x="1338" y="543"/>
                    </a:lnTo>
                    <a:lnTo>
                      <a:pt x="1320" y="562"/>
                    </a:lnTo>
                    <a:lnTo>
                      <a:pt x="1303" y="576"/>
                    </a:lnTo>
                    <a:lnTo>
                      <a:pt x="1281" y="587"/>
                    </a:lnTo>
                    <a:lnTo>
                      <a:pt x="1256" y="594"/>
                    </a:lnTo>
                    <a:lnTo>
                      <a:pt x="1240" y="594"/>
                    </a:lnTo>
                    <a:lnTo>
                      <a:pt x="1222" y="589"/>
                    </a:lnTo>
                    <a:lnTo>
                      <a:pt x="1207" y="585"/>
                    </a:lnTo>
                    <a:lnTo>
                      <a:pt x="1192" y="579"/>
                    </a:lnTo>
                    <a:lnTo>
                      <a:pt x="1176" y="566"/>
                    </a:lnTo>
                    <a:lnTo>
                      <a:pt x="1166" y="555"/>
                    </a:lnTo>
                    <a:lnTo>
                      <a:pt x="1158" y="540"/>
                    </a:lnTo>
                    <a:lnTo>
                      <a:pt x="1153" y="525"/>
                    </a:lnTo>
                    <a:lnTo>
                      <a:pt x="1147" y="502"/>
                    </a:lnTo>
                    <a:lnTo>
                      <a:pt x="1146" y="482"/>
                    </a:lnTo>
                    <a:lnTo>
                      <a:pt x="1150" y="466"/>
                    </a:lnTo>
                    <a:lnTo>
                      <a:pt x="1160" y="448"/>
                    </a:lnTo>
                    <a:lnTo>
                      <a:pt x="1169" y="434"/>
                    </a:lnTo>
                    <a:lnTo>
                      <a:pt x="1185" y="416"/>
                    </a:lnTo>
                    <a:lnTo>
                      <a:pt x="1207" y="405"/>
                    </a:lnTo>
                    <a:lnTo>
                      <a:pt x="1223" y="396"/>
                    </a:lnTo>
                    <a:lnTo>
                      <a:pt x="1251" y="381"/>
                    </a:lnTo>
                    <a:lnTo>
                      <a:pt x="1277" y="367"/>
                    </a:lnTo>
                    <a:lnTo>
                      <a:pt x="1293" y="354"/>
                    </a:lnTo>
                    <a:lnTo>
                      <a:pt x="1307" y="342"/>
                    </a:lnTo>
                    <a:lnTo>
                      <a:pt x="1323" y="320"/>
                    </a:lnTo>
                    <a:lnTo>
                      <a:pt x="1329" y="297"/>
                    </a:lnTo>
                    <a:lnTo>
                      <a:pt x="1332" y="274"/>
                    </a:lnTo>
                    <a:lnTo>
                      <a:pt x="1333" y="255"/>
                    </a:lnTo>
                    <a:lnTo>
                      <a:pt x="1328" y="227"/>
                    </a:lnTo>
                    <a:lnTo>
                      <a:pt x="1320" y="207"/>
                    </a:lnTo>
                    <a:lnTo>
                      <a:pt x="1310" y="184"/>
                    </a:lnTo>
                    <a:lnTo>
                      <a:pt x="1300" y="162"/>
                    </a:lnTo>
                    <a:lnTo>
                      <a:pt x="1288" y="134"/>
                    </a:lnTo>
                    <a:lnTo>
                      <a:pt x="1278" y="111"/>
                    </a:lnTo>
                    <a:lnTo>
                      <a:pt x="1275" y="89"/>
                    </a:lnTo>
                    <a:lnTo>
                      <a:pt x="1274" y="67"/>
                    </a:lnTo>
                    <a:lnTo>
                      <a:pt x="1277" y="46"/>
                    </a:lnTo>
                    <a:lnTo>
                      <a:pt x="1277" y="22"/>
                    </a:lnTo>
                    <a:lnTo>
                      <a:pt x="1236" y="19"/>
                    </a:lnTo>
                    <a:lnTo>
                      <a:pt x="1181" y="19"/>
                    </a:lnTo>
                    <a:lnTo>
                      <a:pt x="1130" y="15"/>
                    </a:lnTo>
                    <a:lnTo>
                      <a:pt x="1091" y="12"/>
                    </a:lnTo>
                    <a:lnTo>
                      <a:pt x="1050" y="8"/>
                    </a:lnTo>
                    <a:lnTo>
                      <a:pt x="1002" y="3"/>
                    </a:lnTo>
                    <a:lnTo>
                      <a:pt x="964" y="0"/>
                    </a:lnTo>
                    <a:lnTo>
                      <a:pt x="937" y="2"/>
                    </a:lnTo>
                    <a:lnTo>
                      <a:pt x="910" y="6"/>
                    </a:lnTo>
                    <a:lnTo>
                      <a:pt x="894" y="12"/>
                    </a:lnTo>
                    <a:lnTo>
                      <a:pt x="881" y="21"/>
                    </a:lnTo>
                    <a:lnTo>
                      <a:pt x="871" y="32"/>
                    </a:lnTo>
                    <a:lnTo>
                      <a:pt x="867" y="46"/>
                    </a:lnTo>
                    <a:lnTo>
                      <a:pt x="870" y="59"/>
                    </a:lnTo>
                    <a:lnTo>
                      <a:pt x="876" y="73"/>
                    </a:lnTo>
                    <a:lnTo>
                      <a:pt x="886" y="91"/>
                    </a:lnTo>
                    <a:lnTo>
                      <a:pt x="894" y="107"/>
                    </a:lnTo>
                    <a:lnTo>
                      <a:pt x="899" y="124"/>
                    </a:lnTo>
                    <a:lnTo>
                      <a:pt x="899" y="142"/>
                    </a:lnTo>
                    <a:lnTo>
                      <a:pt x="894" y="159"/>
                    </a:lnTo>
                    <a:lnTo>
                      <a:pt x="884" y="175"/>
                    </a:lnTo>
                    <a:lnTo>
                      <a:pt x="873" y="189"/>
                    </a:lnTo>
                    <a:lnTo>
                      <a:pt x="857" y="203"/>
                    </a:lnTo>
                    <a:lnTo>
                      <a:pt x="838" y="214"/>
                    </a:lnTo>
                    <a:lnTo>
                      <a:pt x="817" y="223"/>
                    </a:lnTo>
                    <a:lnTo>
                      <a:pt x="796" y="229"/>
                    </a:lnTo>
                    <a:lnTo>
                      <a:pt x="775" y="233"/>
                    </a:lnTo>
                    <a:lnTo>
                      <a:pt x="753" y="236"/>
                    </a:lnTo>
                    <a:lnTo>
                      <a:pt x="733" y="239"/>
                    </a:lnTo>
                    <a:lnTo>
                      <a:pt x="714" y="239"/>
                    </a:lnTo>
                    <a:lnTo>
                      <a:pt x="695" y="236"/>
                    </a:lnTo>
                    <a:lnTo>
                      <a:pt x="678" y="233"/>
                    </a:lnTo>
                    <a:lnTo>
                      <a:pt x="662" y="229"/>
                    </a:lnTo>
                    <a:lnTo>
                      <a:pt x="649" y="224"/>
                    </a:lnTo>
                    <a:lnTo>
                      <a:pt x="634" y="216"/>
                    </a:lnTo>
                    <a:lnTo>
                      <a:pt x="623" y="207"/>
                    </a:lnTo>
                    <a:lnTo>
                      <a:pt x="612" y="194"/>
                    </a:lnTo>
                    <a:lnTo>
                      <a:pt x="599" y="179"/>
                    </a:lnTo>
                    <a:lnTo>
                      <a:pt x="589" y="165"/>
                    </a:lnTo>
                    <a:lnTo>
                      <a:pt x="579" y="152"/>
                    </a:lnTo>
                    <a:lnTo>
                      <a:pt x="567" y="134"/>
                    </a:lnTo>
                    <a:lnTo>
                      <a:pt x="556" y="118"/>
                    </a:lnTo>
                    <a:lnTo>
                      <a:pt x="541" y="102"/>
                    </a:lnTo>
                    <a:lnTo>
                      <a:pt x="525" y="86"/>
                    </a:lnTo>
                    <a:lnTo>
                      <a:pt x="509" y="75"/>
                    </a:lnTo>
                    <a:lnTo>
                      <a:pt x="492" y="64"/>
                    </a:lnTo>
                    <a:lnTo>
                      <a:pt x="473" y="57"/>
                    </a:lnTo>
                    <a:lnTo>
                      <a:pt x="453" y="51"/>
                    </a:lnTo>
                    <a:lnTo>
                      <a:pt x="426" y="47"/>
                    </a:lnTo>
                    <a:lnTo>
                      <a:pt x="397" y="46"/>
                    </a:lnTo>
                    <a:lnTo>
                      <a:pt x="373" y="44"/>
                    </a:lnTo>
                    <a:lnTo>
                      <a:pt x="349" y="44"/>
                    </a:lnTo>
                    <a:lnTo>
                      <a:pt x="322" y="46"/>
                    </a:lnTo>
                    <a:lnTo>
                      <a:pt x="297" y="50"/>
                    </a:lnTo>
                    <a:lnTo>
                      <a:pt x="271" y="54"/>
                    </a:lnTo>
                    <a:lnTo>
                      <a:pt x="242" y="60"/>
                    </a:lnTo>
                    <a:lnTo>
                      <a:pt x="213" y="66"/>
                    </a:lnTo>
                    <a:lnTo>
                      <a:pt x="175" y="73"/>
                    </a:lnTo>
                    <a:close/>
                  </a:path>
                </a:pathLst>
              </a:custGeom>
              <a:solidFill>
                <a:srgbClr val="D7E4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Freeform 117"/>
              <p:cNvSpPr>
                <a:spLocks/>
              </p:cNvSpPr>
              <p:nvPr/>
            </p:nvSpPr>
            <p:spPr bwMode="auto">
              <a:xfrm>
                <a:off x="1268" y="4827"/>
                <a:ext cx="964" cy="334"/>
              </a:xfrm>
              <a:custGeom>
                <a:avLst/>
                <a:gdLst>
                  <a:gd name="T0" fmla="*/ 1 w 1488"/>
                  <a:gd name="T1" fmla="*/ 0 h 1007"/>
                  <a:gd name="T2" fmla="*/ 1 w 1488"/>
                  <a:gd name="T3" fmla="*/ 0 h 1007"/>
                  <a:gd name="T4" fmla="*/ 1 w 1488"/>
                  <a:gd name="T5" fmla="*/ 0 h 1007"/>
                  <a:gd name="T6" fmla="*/ 1 w 1488"/>
                  <a:gd name="T7" fmla="*/ 0 h 1007"/>
                  <a:gd name="T8" fmla="*/ 1 w 1488"/>
                  <a:gd name="T9" fmla="*/ 0 h 1007"/>
                  <a:gd name="T10" fmla="*/ 1 w 1488"/>
                  <a:gd name="T11" fmla="*/ 0 h 1007"/>
                  <a:gd name="T12" fmla="*/ 1 w 1488"/>
                  <a:gd name="T13" fmla="*/ 0 h 1007"/>
                  <a:gd name="T14" fmla="*/ 1 w 1488"/>
                  <a:gd name="T15" fmla="*/ 0 h 1007"/>
                  <a:gd name="T16" fmla="*/ 1 w 1488"/>
                  <a:gd name="T17" fmla="*/ 0 h 1007"/>
                  <a:gd name="T18" fmla="*/ 1 w 1488"/>
                  <a:gd name="T19" fmla="*/ 0 h 1007"/>
                  <a:gd name="T20" fmla="*/ 1 w 1488"/>
                  <a:gd name="T21" fmla="*/ 0 h 1007"/>
                  <a:gd name="T22" fmla="*/ 1 w 1488"/>
                  <a:gd name="T23" fmla="*/ 0 h 1007"/>
                  <a:gd name="T24" fmla="*/ 1 w 1488"/>
                  <a:gd name="T25" fmla="*/ 0 h 1007"/>
                  <a:gd name="T26" fmla="*/ 1 w 1488"/>
                  <a:gd name="T27" fmla="*/ 0 h 1007"/>
                  <a:gd name="T28" fmla="*/ 1 w 1488"/>
                  <a:gd name="T29" fmla="*/ 0 h 1007"/>
                  <a:gd name="T30" fmla="*/ 1 w 1488"/>
                  <a:gd name="T31" fmla="*/ 0 h 1007"/>
                  <a:gd name="T32" fmla="*/ 1 w 1488"/>
                  <a:gd name="T33" fmla="*/ 0 h 1007"/>
                  <a:gd name="T34" fmla="*/ 1 w 1488"/>
                  <a:gd name="T35" fmla="*/ 0 h 1007"/>
                  <a:gd name="T36" fmla="*/ 1 w 1488"/>
                  <a:gd name="T37" fmla="*/ 0 h 1007"/>
                  <a:gd name="T38" fmla="*/ 1 w 1488"/>
                  <a:gd name="T39" fmla="*/ 0 h 1007"/>
                  <a:gd name="T40" fmla="*/ 1 w 1488"/>
                  <a:gd name="T41" fmla="*/ 0 h 1007"/>
                  <a:gd name="T42" fmla="*/ 1 w 1488"/>
                  <a:gd name="T43" fmla="*/ 0 h 1007"/>
                  <a:gd name="T44" fmla="*/ 1 w 1488"/>
                  <a:gd name="T45" fmla="*/ 0 h 1007"/>
                  <a:gd name="T46" fmla="*/ 1 w 1488"/>
                  <a:gd name="T47" fmla="*/ 0 h 1007"/>
                  <a:gd name="T48" fmla="*/ 1 w 1488"/>
                  <a:gd name="T49" fmla="*/ 0 h 1007"/>
                  <a:gd name="T50" fmla="*/ 1 w 1488"/>
                  <a:gd name="T51" fmla="*/ 0 h 1007"/>
                  <a:gd name="T52" fmla="*/ 1 w 1488"/>
                  <a:gd name="T53" fmla="*/ 0 h 1007"/>
                  <a:gd name="T54" fmla="*/ 1 w 1488"/>
                  <a:gd name="T55" fmla="*/ 0 h 1007"/>
                  <a:gd name="T56" fmla="*/ 1 w 1488"/>
                  <a:gd name="T57" fmla="*/ 0 h 1007"/>
                  <a:gd name="T58" fmla="*/ 1 w 1488"/>
                  <a:gd name="T59" fmla="*/ 0 h 1007"/>
                  <a:gd name="T60" fmla="*/ 1 w 1488"/>
                  <a:gd name="T61" fmla="*/ 0 h 1007"/>
                  <a:gd name="T62" fmla="*/ 1 w 1488"/>
                  <a:gd name="T63" fmla="*/ 0 h 1007"/>
                  <a:gd name="T64" fmla="*/ 1 w 1488"/>
                  <a:gd name="T65" fmla="*/ 0 h 1007"/>
                  <a:gd name="T66" fmla="*/ 1 w 1488"/>
                  <a:gd name="T67" fmla="*/ 0 h 1007"/>
                  <a:gd name="T68" fmla="*/ 1 w 1488"/>
                  <a:gd name="T69" fmla="*/ 0 h 1007"/>
                  <a:gd name="T70" fmla="*/ 1 w 1488"/>
                  <a:gd name="T71" fmla="*/ 0 h 1007"/>
                  <a:gd name="T72" fmla="*/ 1 w 1488"/>
                  <a:gd name="T73" fmla="*/ 0 h 1007"/>
                  <a:gd name="T74" fmla="*/ 1 w 1488"/>
                  <a:gd name="T75" fmla="*/ 0 h 1007"/>
                  <a:gd name="T76" fmla="*/ 1 w 1488"/>
                  <a:gd name="T77" fmla="*/ 0 h 1007"/>
                  <a:gd name="T78" fmla="*/ 1 w 1488"/>
                  <a:gd name="T79" fmla="*/ 0 h 1007"/>
                  <a:gd name="T80" fmla="*/ 1 w 1488"/>
                  <a:gd name="T81" fmla="*/ 0 h 1007"/>
                  <a:gd name="T82" fmla="*/ 1 w 1488"/>
                  <a:gd name="T83" fmla="*/ 0 h 1007"/>
                  <a:gd name="T84" fmla="*/ 1 w 1488"/>
                  <a:gd name="T85" fmla="*/ 0 h 1007"/>
                  <a:gd name="T86" fmla="*/ 1 w 1488"/>
                  <a:gd name="T87" fmla="*/ 0 h 1007"/>
                  <a:gd name="T88" fmla="*/ 1 w 1488"/>
                  <a:gd name="T89" fmla="*/ 0 h 1007"/>
                  <a:gd name="T90" fmla="*/ 1 w 1488"/>
                  <a:gd name="T91" fmla="*/ 0 h 1007"/>
                  <a:gd name="T92" fmla="*/ 1 w 1488"/>
                  <a:gd name="T93" fmla="*/ 0 h 1007"/>
                  <a:gd name="T94" fmla="*/ 1 w 1488"/>
                  <a:gd name="T95" fmla="*/ 0 h 1007"/>
                  <a:gd name="T96" fmla="*/ 1 w 1488"/>
                  <a:gd name="T97" fmla="*/ 0 h 1007"/>
                  <a:gd name="T98" fmla="*/ 1 w 1488"/>
                  <a:gd name="T99" fmla="*/ 0 h 1007"/>
                  <a:gd name="T100" fmla="*/ 1 w 1488"/>
                  <a:gd name="T101" fmla="*/ 0 h 1007"/>
                  <a:gd name="T102" fmla="*/ 1 w 1488"/>
                  <a:gd name="T103" fmla="*/ 0 h 1007"/>
                  <a:gd name="T104" fmla="*/ 1 w 1488"/>
                  <a:gd name="T105" fmla="*/ 0 h 1007"/>
                  <a:gd name="T106" fmla="*/ 1 w 1488"/>
                  <a:gd name="T107" fmla="*/ 0 h 1007"/>
                  <a:gd name="T108" fmla="*/ 1 w 1488"/>
                  <a:gd name="T109" fmla="*/ 0 h 1007"/>
                  <a:gd name="T110" fmla="*/ 1 w 1488"/>
                  <a:gd name="T111" fmla="*/ 0 h 1007"/>
                  <a:gd name="T112" fmla="*/ 1 w 1488"/>
                  <a:gd name="T113" fmla="*/ 0 h 1007"/>
                  <a:gd name="T114" fmla="*/ 1 w 1488"/>
                  <a:gd name="T115" fmla="*/ 0 h 1007"/>
                  <a:gd name="T116" fmla="*/ 1 w 1488"/>
                  <a:gd name="T117" fmla="*/ 0 h 1007"/>
                  <a:gd name="T118" fmla="*/ 1 w 1488"/>
                  <a:gd name="T119" fmla="*/ 0 h 1007"/>
                  <a:gd name="T120" fmla="*/ 1 w 1488"/>
                  <a:gd name="T121" fmla="*/ 0 h 10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488"/>
                  <a:gd name="T184" fmla="*/ 0 h 1007"/>
                  <a:gd name="T185" fmla="*/ 1488 w 1488"/>
                  <a:gd name="T186" fmla="*/ 1007 h 10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488" h="1007">
                    <a:moveTo>
                      <a:pt x="175" y="73"/>
                    </a:moveTo>
                    <a:lnTo>
                      <a:pt x="0" y="822"/>
                    </a:lnTo>
                    <a:lnTo>
                      <a:pt x="22" y="821"/>
                    </a:lnTo>
                    <a:lnTo>
                      <a:pt x="47" y="818"/>
                    </a:lnTo>
                    <a:lnTo>
                      <a:pt x="92" y="809"/>
                    </a:lnTo>
                    <a:lnTo>
                      <a:pt x="125" y="802"/>
                    </a:lnTo>
                    <a:lnTo>
                      <a:pt x="168" y="793"/>
                    </a:lnTo>
                    <a:lnTo>
                      <a:pt x="214" y="781"/>
                    </a:lnTo>
                    <a:lnTo>
                      <a:pt x="258" y="768"/>
                    </a:lnTo>
                    <a:lnTo>
                      <a:pt x="298" y="754"/>
                    </a:lnTo>
                    <a:lnTo>
                      <a:pt x="345" y="738"/>
                    </a:lnTo>
                    <a:lnTo>
                      <a:pt x="375" y="731"/>
                    </a:lnTo>
                    <a:lnTo>
                      <a:pt x="402" y="726"/>
                    </a:lnTo>
                    <a:lnTo>
                      <a:pt x="425" y="725"/>
                    </a:lnTo>
                    <a:lnTo>
                      <a:pt x="447" y="725"/>
                    </a:lnTo>
                    <a:lnTo>
                      <a:pt x="479" y="729"/>
                    </a:lnTo>
                    <a:lnTo>
                      <a:pt x="500" y="733"/>
                    </a:lnTo>
                    <a:lnTo>
                      <a:pt x="524" y="741"/>
                    </a:lnTo>
                    <a:lnTo>
                      <a:pt x="540" y="749"/>
                    </a:lnTo>
                    <a:lnTo>
                      <a:pt x="551" y="760"/>
                    </a:lnTo>
                    <a:lnTo>
                      <a:pt x="560" y="776"/>
                    </a:lnTo>
                    <a:lnTo>
                      <a:pt x="563" y="787"/>
                    </a:lnTo>
                    <a:lnTo>
                      <a:pt x="562" y="803"/>
                    </a:lnTo>
                    <a:lnTo>
                      <a:pt x="556" y="819"/>
                    </a:lnTo>
                    <a:lnTo>
                      <a:pt x="541" y="840"/>
                    </a:lnTo>
                    <a:lnTo>
                      <a:pt x="527" y="863"/>
                    </a:lnTo>
                    <a:lnTo>
                      <a:pt x="518" y="885"/>
                    </a:lnTo>
                    <a:lnTo>
                      <a:pt x="514" y="901"/>
                    </a:lnTo>
                    <a:lnTo>
                      <a:pt x="512" y="918"/>
                    </a:lnTo>
                    <a:lnTo>
                      <a:pt x="514" y="931"/>
                    </a:lnTo>
                    <a:lnTo>
                      <a:pt x="521" y="949"/>
                    </a:lnTo>
                    <a:lnTo>
                      <a:pt x="534" y="966"/>
                    </a:lnTo>
                    <a:lnTo>
                      <a:pt x="551" y="981"/>
                    </a:lnTo>
                    <a:lnTo>
                      <a:pt x="569" y="991"/>
                    </a:lnTo>
                    <a:lnTo>
                      <a:pt x="591" y="998"/>
                    </a:lnTo>
                    <a:lnTo>
                      <a:pt x="615" y="1004"/>
                    </a:lnTo>
                    <a:lnTo>
                      <a:pt x="634" y="1007"/>
                    </a:lnTo>
                    <a:lnTo>
                      <a:pt x="655" y="1004"/>
                    </a:lnTo>
                    <a:lnTo>
                      <a:pt x="676" y="1000"/>
                    </a:lnTo>
                    <a:lnTo>
                      <a:pt x="697" y="992"/>
                    </a:lnTo>
                    <a:lnTo>
                      <a:pt x="719" y="982"/>
                    </a:lnTo>
                    <a:lnTo>
                      <a:pt x="742" y="969"/>
                    </a:lnTo>
                    <a:lnTo>
                      <a:pt x="761" y="956"/>
                    </a:lnTo>
                    <a:lnTo>
                      <a:pt x="777" y="943"/>
                    </a:lnTo>
                    <a:lnTo>
                      <a:pt x="790" y="927"/>
                    </a:lnTo>
                    <a:lnTo>
                      <a:pt x="800" y="908"/>
                    </a:lnTo>
                    <a:lnTo>
                      <a:pt x="806" y="888"/>
                    </a:lnTo>
                    <a:lnTo>
                      <a:pt x="809" y="863"/>
                    </a:lnTo>
                    <a:lnTo>
                      <a:pt x="816" y="844"/>
                    </a:lnTo>
                    <a:lnTo>
                      <a:pt x="822" y="835"/>
                    </a:lnTo>
                    <a:lnTo>
                      <a:pt x="835" y="825"/>
                    </a:lnTo>
                    <a:lnTo>
                      <a:pt x="857" y="815"/>
                    </a:lnTo>
                    <a:lnTo>
                      <a:pt x="886" y="805"/>
                    </a:lnTo>
                    <a:lnTo>
                      <a:pt x="916" y="796"/>
                    </a:lnTo>
                    <a:lnTo>
                      <a:pt x="944" y="787"/>
                    </a:lnTo>
                    <a:lnTo>
                      <a:pt x="973" y="780"/>
                    </a:lnTo>
                    <a:lnTo>
                      <a:pt x="1015" y="773"/>
                    </a:lnTo>
                    <a:lnTo>
                      <a:pt x="1073" y="762"/>
                    </a:lnTo>
                    <a:lnTo>
                      <a:pt x="1139" y="757"/>
                    </a:lnTo>
                    <a:lnTo>
                      <a:pt x="1210" y="757"/>
                    </a:lnTo>
                    <a:lnTo>
                      <a:pt x="1280" y="757"/>
                    </a:lnTo>
                    <a:lnTo>
                      <a:pt x="1344" y="764"/>
                    </a:lnTo>
                    <a:lnTo>
                      <a:pt x="1352" y="751"/>
                    </a:lnTo>
                    <a:lnTo>
                      <a:pt x="1361" y="736"/>
                    </a:lnTo>
                    <a:lnTo>
                      <a:pt x="1373" y="723"/>
                    </a:lnTo>
                    <a:lnTo>
                      <a:pt x="1389" y="707"/>
                    </a:lnTo>
                    <a:lnTo>
                      <a:pt x="1400" y="696"/>
                    </a:lnTo>
                    <a:lnTo>
                      <a:pt x="1418" y="677"/>
                    </a:lnTo>
                    <a:lnTo>
                      <a:pt x="1432" y="661"/>
                    </a:lnTo>
                    <a:lnTo>
                      <a:pt x="1445" y="648"/>
                    </a:lnTo>
                    <a:lnTo>
                      <a:pt x="1459" y="632"/>
                    </a:lnTo>
                    <a:lnTo>
                      <a:pt x="1470" y="611"/>
                    </a:lnTo>
                    <a:lnTo>
                      <a:pt x="1475" y="598"/>
                    </a:lnTo>
                    <a:lnTo>
                      <a:pt x="1480" y="576"/>
                    </a:lnTo>
                    <a:lnTo>
                      <a:pt x="1486" y="559"/>
                    </a:lnTo>
                    <a:lnTo>
                      <a:pt x="1488" y="536"/>
                    </a:lnTo>
                    <a:lnTo>
                      <a:pt x="1482" y="517"/>
                    </a:lnTo>
                    <a:lnTo>
                      <a:pt x="1473" y="498"/>
                    </a:lnTo>
                    <a:lnTo>
                      <a:pt x="1463" y="486"/>
                    </a:lnTo>
                    <a:lnTo>
                      <a:pt x="1448" y="479"/>
                    </a:lnTo>
                    <a:lnTo>
                      <a:pt x="1434" y="473"/>
                    </a:lnTo>
                    <a:lnTo>
                      <a:pt x="1418" y="473"/>
                    </a:lnTo>
                    <a:lnTo>
                      <a:pt x="1402" y="473"/>
                    </a:lnTo>
                    <a:lnTo>
                      <a:pt x="1383" y="485"/>
                    </a:lnTo>
                    <a:lnTo>
                      <a:pt x="1368" y="501"/>
                    </a:lnTo>
                    <a:lnTo>
                      <a:pt x="1354" y="520"/>
                    </a:lnTo>
                    <a:lnTo>
                      <a:pt x="1338" y="543"/>
                    </a:lnTo>
                    <a:lnTo>
                      <a:pt x="1320" y="562"/>
                    </a:lnTo>
                    <a:lnTo>
                      <a:pt x="1303" y="576"/>
                    </a:lnTo>
                    <a:lnTo>
                      <a:pt x="1281" y="587"/>
                    </a:lnTo>
                    <a:lnTo>
                      <a:pt x="1256" y="594"/>
                    </a:lnTo>
                    <a:lnTo>
                      <a:pt x="1240" y="594"/>
                    </a:lnTo>
                    <a:lnTo>
                      <a:pt x="1222" y="589"/>
                    </a:lnTo>
                    <a:lnTo>
                      <a:pt x="1207" y="585"/>
                    </a:lnTo>
                    <a:lnTo>
                      <a:pt x="1192" y="579"/>
                    </a:lnTo>
                    <a:lnTo>
                      <a:pt x="1176" y="566"/>
                    </a:lnTo>
                    <a:lnTo>
                      <a:pt x="1166" y="555"/>
                    </a:lnTo>
                    <a:lnTo>
                      <a:pt x="1158" y="540"/>
                    </a:lnTo>
                    <a:lnTo>
                      <a:pt x="1153" y="525"/>
                    </a:lnTo>
                    <a:lnTo>
                      <a:pt x="1147" y="502"/>
                    </a:lnTo>
                    <a:lnTo>
                      <a:pt x="1146" y="482"/>
                    </a:lnTo>
                    <a:lnTo>
                      <a:pt x="1150" y="466"/>
                    </a:lnTo>
                    <a:lnTo>
                      <a:pt x="1160" y="448"/>
                    </a:lnTo>
                    <a:lnTo>
                      <a:pt x="1169" y="434"/>
                    </a:lnTo>
                    <a:lnTo>
                      <a:pt x="1185" y="416"/>
                    </a:lnTo>
                    <a:lnTo>
                      <a:pt x="1207" y="405"/>
                    </a:lnTo>
                    <a:lnTo>
                      <a:pt x="1223" y="396"/>
                    </a:lnTo>
                    <a:lnTo>
                      <a:pt x="1251" y="381"/>
                    </a:lnTo>
                    <a:lnTo>
                      <a:pt x="1277" y="367"/>
                    </a:lnTo>
                    <a:lnTo>
                      <a:pt x="1293" y="354"/>
                    </a:lnTo>
                    <a:lnTo>
                      <a:pt x="1307" y="342"/>
                    </a:lnTo>
                    <a:lnTo>
                      <a:pt x="1323" y="320"/>
                    </a:lnTo>
                    <a:lnTo>
                      <a:pt x="1329" y="297"/>
                    </a:lnTo>
                    <a:lnTo>
                      <a:pt x="1332" y="274"/>
                    </a:lnTo>
                    <a:lnTo>
                      <a:pt x="1333" y="255"/>
                    </a:lnTo>
                    <a:lnTo>
                      <a:pt x="1328" y="227"/>
                    </a:lnTo>
                    <a:lnTo>
                      <a:pt x="1320" y="207"/>
                    </a:lnTo>
                    <a:lnTo>
                      <a:pt x="1310" y="184"/>
                    </a:lnTo>
                    <a:lnTo>
                      <a:pt x="1300" y="162"/>
                    </a:lnTo>
                    <a:lnTo>
                      <a:pt x="1288" y="134"/>
                    </a:lnTo>
                    <a:lnTo>
                      <a:pt x="1278" y="111"/>
                    </a:lnTo>
                    <a:lnTo>
                      <a:pt x="1275" y="89"/>
                    </a:lnTo>
                    <a:lnTo>
                      <a:pt x="1274" y="67"/>
                    </a:lnTo>
                    <a:lnTo>
                      <a:pt x="1277" y="46"/>
                    </a:lnTo>
                    <a:lnTo>
                      <a:pt x="1277" y="22"/>
                    </a:lnTo>
                    <a:lnTo>
                      <a:pt x="1236" y="19"/>
                    </a:lnTo>
                    <a:lnTo>
                      <a:pt x="1181" y="19"/>
                    </a:lnTo>
                    <a:lnTo>
                      <a:pt x="1130" y="15"/>
                    </a:lnTo>
                    <a:lnTo>
                      <a:pt x="1091" y="12"/>
                    </a:lnTo>
                    <a:lnTo>
                      <a:pt x="1050" y="8"/>
                    </a:lnTo>
                    <a:lnTo>
                      <a:pt x="1002" y="3"/>
                    </a:lnTo>
                    <a:lnTo>
                      <a:pt x="964" y="0"/>
                    </a:lnTo>
                    <a:lnTo>
                      <a:pt x="937" y="2"/>
                    </a:lnTo>
                    <a:lnTo>
                      <a:pt x="910" y="6"/>
                    </a:lnTo>
                    <a:lnTo>
                      <a:pt x="894" y="12"/>
                    </a:lnTo>
                    <a:lnTo>
                      <a:pt x="881" y="21"/>
                    </a:lnTo>
                    <a:lnTo>
                      <a:pt x="871" y="32"/>
                    </a:lnTo>
                    <a:lnTo>
                      <a:pt x="867" y="46"/>
                    </a:lnTo>
                    <a:lnTo>
                      <a:pt x="870" y="59"/>
                    </a:lnTo>
                    <a:lnTo>
                      <a:pt x="876" y="73"/>
                    </a:lnTo>
                    <a:lnTo>
                      <a:pt x="886" y="91"/>
                    </a:lnTo>
                    <a:lnTo>
                      <a:pt x="894" y="107"/>
                    </a:lnTo>
                    <a:lnTo>
                      <a:pt x="899" y="124"/>
                    </a:lnTo>
                    <a:lnTo>
                      <a:pt x="899" y="142"/>
                    </a:lnTo>
                    <a:lnTo>
                      <a:pt x="894" y="159"/>
                    </a:lnTo>
                    <a:lnTo>
                      <a:pt x="884" y="175"/>
                    </a:lnTo>
                    <a:lnTo>
                      <a:pt x="873" y="189"/>
                    </a:lnTo>
                    <a:lnTo>
                      <a:pt x="857" y="203"/>
                    </a:lnTo>
                    <a:lnTo>
                      <a:pt x="838" y="214"/>
                    </a:lnTo>
                    <a:lnTo>
                      <a:pt x="817" y="223"/>
                    </a:lnTo>
                    <a:lnTo>
                      <a:pt x="796" y="229"/>
                    </a:lnTo>
                    <a:lnTo>
                      <a:pt x="775" y="233"/>
                    </a:lnTo>
                    <a:lnTo>
                      <a:pt x="753" y="236"/>
                    </a:lnTo>
                    <a:lnTo>
                      <a:pt x="733" y="239"/>
                    </a:lnTo>
                    <a:lnTo>
                      <a:pt x="714" y="239"/>
                    </a:lnTo>
                    <a:lnTo>
                      <a:pt x="695" y="236"/>
                    </a:lnTo>
                    <a:lnTo>
                      <a:pt x="678" y="233"/>
                    </a:lnTo>
                    <a:lnTo>
                      <a:pt x="662" y="229"/>
                    </a:lnTo>
                    <a:lnTo>
                      <a:pt x="649" y="224"/>
                    </a:lnTo>
                    <a:lnTo>
                      <a:pt x="634" y="216"/>
                    </a:lnTo>
                    <a:lnTo>
                      <a:pt x="623" y="207"/>
                    </a:lnTo>
                    <a:lnTo>
                      <a:pt x="612" y="194"/>
                    </a:lnTo>
                    <a:lnTo>
                      <a:pt x="599" y="179"/>
                    </a:lnTo>
                    <a:lnTo>
                      <a:pt x="589" y="165"/>
                    </a:lnTo>
                    <a:lnTo>
                      <a:pt x="579" y="152"/>
                    </a:lnTo>
                    <a:lnTo>
                      <a:pt x="567" y="134"/>
                    </a:lnTo>
                    <a:lnTo>
                      <a:pt x="556" y="118"/>
                    </a:lnTo>
                    <a:lnTo>
                      <a:pt x="541" y="102"/>
                    </a:lnTo>
                    <a:lnTo>
                      <a:pt x="525" y="86"/>
                    </a:lnTo>
                    <a:lnTo>
                      <a:pt x="509" y="75"/>
                    </a:lnTo>
                    <a:lnTo>
                      <a:pt x="492" y="64"/>
                    </a:lnTo>
                    <a:lnTo>
                      <a:pt x="473" y="57"/>
                    </a:lnTo>
                    <a:lnTo>
                      <a:pt x="453" y="51"/>
                    </a:lnTo>
                    <a:lnTo>
                      <a:pt x="426" y="47"/>
                    </a:lnTo>
                    <a:lnTo>
                      <a:pt x="397" y="46"/>
                    </a:lnTo>
                    <a:lnTo>
                      <a:pt x="373" y="44"/>
                    </a:lnTo>
                    <a:lnTo>
                      <a:pt x="349" y="44"/>
                    </a:lnTo>
                    <a:lnTo>
                      <a:pt x="322" y="46"/>
                    </a:lnTo>
                    <a:lnTo>
                      <a:pt x="297" y="50"/>
                    </a:lnTo>
                    <a:lnTo>
                      <a:pt x="271" y="54"/>
                    </a:lnTo>
                    <a:lnTo>
                      <a:pt x="242" y="60"/>
                    </a:lnTo>
                    <a:lnTo>
                      <a:pt x="213" y="66"/>
                    </a:lnTo>
                    <a:lnTo>
                      <a:pt x="175" y="73"/>
                    </a:lnTo>
                    <a:close/>
                  </a:path>
                </a:pathLst>
              </a:custGeom>
              <a:solidFill>
                <a:srgbClr val="D7E4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" name="Freeform 113"/>
              <p:cNvSpPr>
                <a:spLocks/>
              </p:cNvSpPr>
              <p:nvPr/>
            </p:nvSpPr>
            <p:spPr bwMode="auto">
              <a:xfrm>
                <a:off x="2527" y="4850"/>
                <a:ext cx="836" cy="330"/>
              </a:xfrm>
              <a:custGeom>
                <a:avLst/>
                <a:gdLst>
                  <a:gd name="T0" fmla="*/ 1 w 1382"/>
                  <a:gd name="T1" fmla="*/ 0 h 980"/>
                  <a:gd name="T2" fmla="*/ 1 w 1382"/>
                  <a:gd name="T3" fmla="*/ 0 h 980"/>
                  <a:gd name="T4" fmla="*/ 1 w 1382"/>
                  <a:gd name="T5" fmla="*/ 0 h 980"/>
                  <a:gd name="T6" fmla="*/ 1 w 1382"/>
                  <a:gd name="T7" fmla="*/ 0 h 980"/>
                  <a:gd name="T8" fmla="*/ 1 w 1382"/>
                  <a:gd name="T9" fmla="*/ 0 h 980"/>
                  <a:gd name="T10" fmla="*/ 1 w 1382"/>
                  <a:gd name="T11" fmla="*/ 0 h 980"/>
                  <a:gd name="T12" fmla="*/ 1 w 1382"/>
                  <a:gd name="T13" fmla="*/ 0 h 980"/>
                  <a:gd name="T14" fmla="*/ 1 w 1382"/>
                  <a:gd name="T15" fmla="*/ 0 h 980"/>
                  <a:gd name="T16" fmla="*/ 1 w 1382"/>
                  <a:gd name="T17" fmla="*/ 0 h 980"/>
                  <a:gd name="T18" fmla="*/ 1 w 1382"/>
                  <a:gd name="T19" fmla="*/ 0 h 980"/>
                  <a:gd name="T20" fmla="*/ 1 w 1382"/>
                  <a:gd name="T21" fmla="*/ 0 h 980"/>
                  <a:gd name="T22" fmla="*/ 1 w 1382"/>
                  <a:gd name="T23" fmla="*/ 0 h 980"/>
                  <a:gd name="T24" fmla="*/ 1 w 1382"/>
                  <a:gd name="T25" fmla="*/ 0 h 980"/>
                  <a:gd name="T26" fmla="*/ 1 w 1382"/>
                  <a:gd name="T27" fmla="*/ 0 h 980"/>
                  <a:gd name="T28" fmla="*/ 1 w 1382"/>
                  <a:gd name="T29" fmla="*/ 0 h 980"/>
                  <a:gd name="T30" fmla="*/ 1 w 1382"/>
                  <a:gd name="T31" fmla="*/ 0 h 980"/>
                  <a:gd name="T32" fmla="*/ 1 w 1382"/>
                  <a:gd name="T33" fmla="*/ 0 h 980"/>
                  <a:gd name="T34" fmla="*/ 1 w 1382"/>
                  <a:gd name="T35" fmla="*/ 0 h 980"/>
                  <a:gd name="T36" fmla="*/ 1 w 1382"/>
                  <a:gd name="T37" fmla="*/ 0 h 980"/>
                  <a:gd name="T38" fmla="*/ 1 w 1382"/>
                  <a:gd name="T39" fmla="*/ 0 h 980"/>
                  <a:gd name="T40" fmla="*/ 1 w 1382"/>
                  <a:gd name="T41" fmla="*/ 0 h 980"/>
                  <a:gd name="T42" fmla="*/ 1 w 1382"/>
                  <a:gd name="T43" fmla="*/ 0 h 980"/>
                  <a:gd name="T44" fmla="*/ 1 w 1382"/>
                  <a:gd name="T45" fmla="*/ 0 h 980"/>
                  <a:gd name="T46" fmla="*/ 1 w 1382"/>
                  <a:gd name="T47" fmla="*/ 0 h 980"/>
                  <a:gd name="T48" fmla="*/ 1 w 1382"/>
                  <a:gd name="T49" fmla="*/ 0 h 980"/>
                  <a:gd name="T50" fmla="*/ 1 w 1382"/>
                  <a:gd name="T51" fmla="*/ 0 h 980"/>
                  <a:gd name="T52" fmla="*/ 1 w 1382"/>
                  <a:gd name="T53" fmla="*/ 0 h 980"/>
                  <a:gd name="T54" fmla="*/ 1 w 1382"/>
                  <a:gd name="T55" fmla="*/ 0 h 980"/>
                  <a:gd name="T56" fmla="*/ 1 w 1382"/>
                  <a:gd name="T57" fmla="*/ 0 h 980"/>
                  <a:gd name="T58" fmla="*/ 1 w 1382"/>
                  <a:gd name="T59" fmla="*/ 0 h 980"/>
                  <a:gd name="T60" fmla="*/ 1 w 1382"/>
                  <a:gd name="T61" fmla="*/ 0 h 980"/>
                  <a:gd name="T62" fmla="*/ 1 w 1382"/>
                  <a:gd name="T63" fmla="*/ 0 h 980"/>
                  <a:gd name="T64" fmla="*/ 1 w 1382"/>
                  <a:gd name="T65" fmla="*/ 0 h 980"/>
                  <a:gd name="T66" fmla="*/ 1 w 1382"/>
                  <a:gd name="T67" fmla="*/ 0 h 980"/>
                  <a:gd name="T68" fmla="*/ 1 w 1382"/>
                  <a:gd name="T69" fmla="*/ 0 h 980"/>
                  <a:gd name="T70" fmla="*/ 1 w 1382"/>
                  <a:gd name="T71" fmla="*/ 0 h 980"/>
                  <a:gd name="T72" fmla="*/ 1 w 1382"/>
                  <a:gd name="T73" fmla="*/ 0 h 980"/>
                  <a:gd name="T74" fmla="*/ 1 w 1382"/>
                  <a:gd name="T75" fmla="*/ 0 h 980"/>
                  <a:gd name="T76" fmla="*/ 1 w 1382"/>
                  <a:gd name="T77" fmla="*/ 0 h 980"/>
                  <a:gd name="T78" fmla="*/ 1 w 1382"/>
                  <a:gd name="T79" fmla="*/ 0 h 980"/>
                  <a:gd name="T80" fmla="*/ 1 w 1382"/>
                  <a:gd name="T81" fmla="*/ 0 h 980"/>
                  <a:gd name="T82" fmla="*/ 1 w 1382"/>
                  <a:gd name="T83" fmla="*/ 0 h 980"/>
                  <a:gd name="T84" fmla="*/ 1 w 1382"/>
                  <a:gd name="T85" fmla="*/ 0 h 980"/>
                  <a:gd name="T86" fmla="*/ 1 w 1382"/>
                  <a:gd name="T87" fmla="*/ 0 h 980"/>
                  <a:gd name="T88" fmla="*/ 1 w 1382"/>
                  <a:gd name="T89" fmla="*/ 0 h 980"/>
                  <a:gd name="T90" fmla="*/ 1 w 1382"/>
                  <a:gd name="T91" fmla="*/ 0 h 980"/>
                  <a:gd name="T92" fmla="*/ 1 w 1382"/>
                  <a:gd name="T93" fmla="*/ 0 h 980"/>
                  <a:gd name="T94" fmla="*/ 1 w 1382"/>
                  <a:gd name="T95" fmla="*/ 0 h 980"/>
                  <a:gd name="T96" fmla="*/ 1 w 1382"/>
                  <a:gd name="T97" fmla="*/ 0 h 980"/>
                  <a:gd name="T98" fmla="*/ 1 w 1382"/>
                  <a:gd name="T99" fmla="*/ 0 h 980"/>
                  <a:gd name="T100" fmla="*/ 1 w 1382"/>
                  <a:gd name="T101" fmla="*/ 0 h 98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382"/>
                  <a:gd name="T154" fmla="*/ 0 h 980"/>
                  <a:gd name="T155" fmla="*/ 1382 w 1382"/>
                  <a:gd name="T156" fmla="*/ 980 h 98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382" h="980">
                    <a:moveTo>
                      <a:pt x="55" y="798"/>
                    </a:moveTo>
                    <a:lnTo>
                      <a:pt x="73" y="794"/>
                    </a:lnTo>
                    <a:lnTo>
                      <a:pt x="96" y="789"/>
                    </a:lnTo>
                    <a:lnTo>
                      <a:pt x="115" y="792"/>
                    </a:lnTo>
                    <a:lnTo>
                      <a:pt x="135" y="795"/>
                    </a:lnTo>
                    <a:lnTo>
                      <a:pt x="154" y="799"/>
                    </a:lnTo>
                    <a:lnTo>
                      <a:pt x="174" y="804"/>
                    </a:lnTo>
                    <a:lnTo>
                      <a:pt x="198" y="808"/>
                    </a:lnTo>
                    <a:lnTo>
                      <a:pt x="215" y="811"/>
                    </a:lnTo>
                    <a:lnTo>
                      <a:pt x="238" y="813"/>
                    </a:lnTo>
                    <a:lnTo>
                      <a:pt x="260" y="811"/>
                    </a:lnTo>
                    <a:lnTo>
                      <a:pt x="279" y="807"/>
                    </a:lnTo>
                    <a:lnTo>
                      <a:pt x="301" y="801"/>
                    </a:lnTo>
                    <a:lnTo>
                      <a:pt x="321" y="794"/>
                    </a:lnTo>
                    <a:lnTo>
                      <a:pt x="340" y="785"/>
                    </a:lnTo>
                    <a:lnTo>
                      <a:pt x="360" y="776"/>
                    </a:lnTo>
                    <a:lnTo>
                      <a:pt x="379" y="768"/>
                    </a:lnTo>
                    <a:lnTo>
                      <a:pt x="403" y="760"/>
                    </a:lnTo>
                    <a:lnTo>
                      <a:pt x="422" y="756"/>
                    </a:lnTo>
                    <a:lnTo>
                      <a:pt x="443" y="754"/>
                    </a:lnTo>
                    <a:lnTo>
                      <a:pt x="464" y="757"/>
                    </a:lnTo>
                    <a:lnTo>
                      <a:pt x="483" y="763"/>
                    </a:lnTo>
                    <a:lnTo>
                      <a:pt x="501" y="775"/>
                    </a:lnTo>
                    <a:lnTo>
                      <a:pt x="513" y="785"/>
                    </a:lnTo>
                    <a:lnTo>
                      <a:pt x="519" y="804"/>
                    </a:lnTo>
                    <a:lnTo>
                      <a:pt x="516" y="824"/>
                    </a:lnTo>
                    <a:lnTo>
                      <a:pt x="510" y="847"/>
                    </a:lnTo>
                    <a:lnTo>
                      <a:pt x="501" y="872"/>
                    </a:lnTo>
                    <a:lnTo>
                      <a:pt x="494" y="893"/>
                    </a:lnTo>
                    <a:lnTo>
                      <a:pt x="496" y="913"/>
                    </a:lnTo>
                    <a:lnTo>
                      <a:pt x="504" y="933"/>
                    </a:lnTo>
                    <a:lnTo>
                      <a:pt x="519" y="949"/>
                    </a:lnTo>
                    <a:lnTo>
                      <a:pt x="533" y="959"/>
                    </a:lnTo>
                    <a:lnTo>
                      <a:pt x="554" y="965"/>
                    </a:lnTo>
                    <a:lnTo>
                      <a:pt x="576" y="971"/>
                    </a:lnTo>
                    <a:lnTo>
                      <a:pt x="606" y="975"/>
                    </a:lnTo>
                    <a:lnTo>
                      <a:pt x="632" y="978"/>
                    </a:lnTo>
                    <a:lnTo>
                      <a:pt x="664" y="980"/>
                    </a:lnTo>
                    <a:lnTo>
                      <a:pt x="693" y="977"/>
                    </a:lnTo>
                    <a:lnTo>
                      <a:pt x="720" y="973"/>
                    </a:lnTo>
                    <a:lnTo>
                      <a:pt x="747" y="965"/>
                    </a:lnTo>
                    <a:lnTo>
                      <a:pt x="772" y="957"/>
                    </a:lnTo>
                    <a:lnTo>
                      <a:pt x="791" y="946"/>
                    </a:lnTo>
                    <a:lnTo>
                      <a:pt x="810" y="935"/>
                    </a:lnTo>
                    <a:lnTo>
                      <a:pt x="824" y="922"/>
                    </a:lnTo>
                    <a:lnTo>
                      <a:pt x="837" y="906"/>
                    </a:lnTo>
                    <a:lnTo>
                      <a:pt x="845" y="885"/>
                    </a:lnTo>
                    <a:lnTo>
                      <a:pt x="846" y="853"/>
                    </a:lnTo>
                    <a:lnTo>
                      <a:pt x="846" y="829"/>
                    </a:lnTo>
                    <a:lnTo>
                      <a:pt x="850" y="807"/>
                    </a:lnTo>
                    <a:lnTo>
                      <a:pt x="859" y="791"/>
                    </a:lnTo>
                    <a:lnTo>
                      <a:pt x="872" y="776"/>
                    </a:lnTo>
                    <a:lnTo>
                      <a:pt x="887" y="763"/>
                    </a:lnTo>
                    <a:lnTo>
                      <a:pt x="906" y="752"/>
                    </a:lnTo>
                    <a:lnTo>
                      <a:pt x="925" y="743"/>
                    </a:lnTo>
                    <a:lnTo>
                      <a:pt x="951" y="736"/>
                    </a:lnTo>
                    <a:lnTo>
                      <a:pt x="975" y="733"/>
                    </a:lnTo>
                    <a:lnTo>
                      <a:pt x="1002" y="730"/>
                    </a:lnTo>
                    <a:lnTo>
                      <a:pt x="1029" y="728"/>
                    </a:lnTo>
                    <a:lnTo>
                      <a:pt x="1058" y="727"/>
                    </a:lnTo>
                    <a:lnTo>
                      <a:pt x="1090" y="728"/>
                    </a:lnTo>
                    <a:lnTo>
                      <a:pt x="1115" y="730"/>
                    </a:lnTo>
                    <a:lnTo>
                      <a:pt x="1137" y="733"/>
                    </a:lnTo>
                    <a:lnTo>
                      <a:pt x="1160" y="736"/>
                    </a:lnTo>
                    <a:lnTo>
                      <a:pt x="1182" y="738"/>
                    </a:lnTo>
                    <a:lnTo>
                      <a:pt x="1205" y="740"/>
                    </a:lnTo>
                    <a:lnTo>
                      <a:pt x="1382" y="744"/>
                    </a:lnTo>
                    <a:lnTo>
                      <a:pt x="1205" y="58"/>
                    </a:lnTo>
                    <a:lnTo>
                      <a:pt x="1180" y="45"/>
                    </a:lnTo>
                    <a:lnTo>
                      <a:pt x="1163" y="35"/>
                    </a:lnTo>
                    <a:lnTo>
                      <a:pt x="1143" y="26"/>
                    </a:lnTo>
                    <a:lnTo>
                      <a:pt x="1118" y="17"/>
                    </a:lnTo>
                    <a:lnTo>
                      <a:pt x="1092" y="11"/>
                    </a:lnTo>
                    <a:lnTo>
                      <a:pt x="1064" y="7"/>
                    </a:lnTo>
                    <a:lnTo>
                      <a:pt x="1031" y="3"/>
                    </a:lnTo>
                    <a:lnTo>
                      <a:pt x="1000" y="1"/>
                    </a:lnTo>
                    <a:lnTo>
                      <a:pt x="970" y="0"/>
                    </a:lnTo>
                    <a:lnTo>
                      <a:pt x="935" y="0"/>
                    </a:lnTo>
                    <a:lnTo>
                      <a:pt x="894" y="0"/>
                    </a:lnTo>
                    <a:lnTo>
                      <a:pt x="862" y="3"/>
                    </a:lnTo>
                    <a:lnTo>
                      <a:pt x="830" y="5"/>
                    </a:lnTo>
                    <a:lnTo>
                      <a:pt x="802" y="8"/>
                    </a:lnTo>
                    <a:lnTo>
                      <a:pt x="776" y="14"/>
                    </a:lnTo>
                    <a:lnTo>
                      <a:pt x="756" y="20"/>
                    </a:lnTo>
                    <a:lnTo>
                      <a:pt x="738" y="27"/>
                    </a:lnTo>
                    <a:lnTo>
                      <a:pt x="724" y="36"/>
                    </a:lnTo>
                    <a:lnTo>
                      <a:pt x="714" y="45"/>
                    </a:lnTo>
                    <a:lnTo>
                      <a:pt x="708" y="58"/>
                    </a:lnTo>
                    <a:lnTo>
                      <a:pt x="708" y="71"/>
                    </a:lnTo>
                    <a:lnTo>
                      <a:pt x="715" y="84"/>
                    </a:lnTo>
                    <a:lnTo>
                      <a:pt x="724" y="96"/>
                    </a:lnTo>
                    <a:lnTo>
                      <a:pt x="730" y="107"/>
                    </a:lnTo>
                    <a:lnTo>
                      <a:pt x="730" y="125"/>
                    </a:lnTo>
                    <a:lnTo>
                      <a:pt x="721" y="139"/>
                    </a:lnTo>
                    <a:lnTo>
                      <a:pt x="709" y="154"/>
                    </a:lnTo>
                    <a:lnTo>
                      <a:pt x="692" y="168"/>
                    </a:lnTo>
                    <a:lnTo>
                      <a:pt x="674" y="181"/>
                    </a:lnTo>
                    <a:lnTo>
                      <a:pt x="657" y="190"/>
                    </a:lnTo>
                    <a:lnTo>
                      <a:pt x="640" y="197"/>
                    </a:lnTo>
                    <a:lnTo>
                      <a:pt x="621" y="206"/>
                    </a:lnTo>
                    <a:lnTo>
                      <a:pt x="600" y="212"/>
                    </a:lnTo>
                    <a:lnTo>
                      <a:pt x="580" y="216"/>
                    </a:lnTo>
                    <a:lnTo>
                      <a:pt x="560" y="219"/>
                    </a:lnTo>
                    <a:lnTo>
                      <a:pt x="542" y="222"/>
                    </a:lnTo>
                    <a:lnTo>
                      <a:pt x="519" y="222"/>
                    </a:lnTo>
                    <a:lnTo>
                      <a:pt x="499" y="219"/>
                    </a:lnTo>
                    <a:lnTo>
                      <a:pt x="480" y="216"/>
                    </a:lnTo>
                    <a:lnTo>
                      <a:pt x="462" y="210"/>
                    </a:lnTo>
                    <a:lnTo>
                      <a:pt x="443" y="203"/>
                    </a:lnTo>
                    <a:lnTo>
                      <a:pt x="427" y="194"/>
                    </a:lnTo>
                    <a:lnTo>
                      <a:pt x="417" y="184"/>
                    </a:lnTo>
                    <a:lnTo>
                      <a:pt x="413" y="174"/>
                    </a:lnTo>
                    <a:lnTo>
                      <a:pt x="411" y="164"/>
                    </a:lnTo>
                    <a:lnTo>
                      <a:pt x="413" y="149"/>
                    </a:lnTo>
                    <a:lnTo>
                      <a:pt x="417" y="135"/>
                    </a:lnTo>
                    <a:lnTo>
                      <a:pt x="427" y="117"/>
                    </a:lnTo>
                    <a:lnTo>
                      <a:pt x="440" y="101"/>
                    </a:lnTo>
                    <a:lnTo>
                      <a:pt x="451" y="88"/>
                    </a:lnTo>
                    <a:lnTo>
                      <a:pt x="458" y="78"/>
                    </a:lnTo>
                    <a:lnTo>
                      <a:pt x="464" y="62"/>
                    </a:lnTo>
                    <a:lnTo>
                      <a:pt x="468" y="46"/>
                    </a:lnTo>
                    <a:lnTo>
                      <a:pt x="464" y="33"/>
                    </a:lnTo>
                    <a:lnTo>
                      <a:pt x="455" y="21"/>
                    </a:lnTo>
                    <a:lnTo>
                      <a:pt x="439" y="11"/>
                    </a:lnTo>
                    <a:lnTo>
                      <a:pt x="422" y="7"/>
                    </a:lnTo>
                    <a:lnTo>
                      <a:pt x="404" y="3"/>
                    </a:lnTo>
                    <a:lnTo>
                      <a:pt x="379" y="0"/>
                    </a:lnTo>
                    <a:lnTo>
                      <a:pt x="330" y="0"/>
                    </a:lnTo>
                    <a:lnTo>
                      <a:pt x="294" y="3"/>
                    </a:lnTo>
                    <a:lnTo>
                      <a:pt x="260" y="7"/>
                    </a:lnTo>
                    <a:lnTo>
                      <a:pt x="217" y="13"/>
                    </a:lnTo>
                    <a:lnTo>
                      <a:pt x="177" y="20"/>
                    </a:lnTo>
                    <a:lnTo>
                      <a:pt x="134" y="27"/>
                    </a:lnTo>
                    <a:lnTo>
                      <a:pt x="105" y="33"/>
                    </a:lnTo>
                    <a:lnTo>
                      <a:pt x="80" y="39"/>
                    </a:lnTo>
                    <a:lnTo>
                      <a:pt x="67" y="45"/>
                    </a:lnTo>
                    <a:lnTo>
                      <a:pt x="71" y="58"/>
                    </a:lnTo>
                    <a:lnTo>
                      <a:pt x="77" y="80"/>
                    </a:lnTo>
                    <a:lnTo>
                      <a:pt x="80" y="100"/>
                    </a:lnTo>
                    <a:lnTo>
                      <a:pt x="81" y="116"/>
                    </a:lnTo>
                    <a:lnTo>
                      <a:pt x="78" y="135"/>
                    </a:lnTo>
                    <a:lnTo>
                      <a:pt x="74" y="151"/>
                    </a:lnTo>
                    <a:lnTo>
                      <a:pt x="68" y="168"/>
                    </a:lnTo>
                    <a:lnTo>
                      <a:pt x="62" y="183"/>
                    </a:lnTo>
                    <a:lnTo>
                      <a:pt x="55" y="205"/>
                    </a:lnTo>
                    <a:lnTo>
                      <a:pt x="46" y="226"/>
                    </a:lnTo>
                    <a:lnTo>
                      <a:pt x="38" y="248"/>
                    </a:lnTo>
                    <a:lnTo>
                      <a:pt x="26" y="270"/>
                    </a:lnTo>
                    <a:lnTo>
                      <a:pt x="19" y="290"/>
                    </a:lnTo>
                    <a:lnTo>
                      <a:pt x="13" y="308"/>
                    </a:lnTo>
                    <a:lnTo>
                      <a:pt x="7" y="327"/>
                    </a:lnTo>
                    <a:lnTo>
                      <a:pt x="1" y="352"/>
                    </a:lnTo>
                    <a:lnTo>
                      <a:pt x="0" y="373"/>
                    </a:lnTo>
                    <a:lnTo>
                      <a:pt x="3" y="392"/>
                    </a:lnTo>
                    <a:lnTo>
                      <a:pt x="9" y="411"/>
                    </a:lnTo>
                    <a:lnTo>
                      <a:pt x="19" y="424"/>
                    </a:lnTo>
                    <a:lnTo>
                      <a:pt x="32" y="436"/>
                    </a:lnTo>
                    <a:lnTo>
                      <a:pt x="49" y="442"/>
                    </a:lnTo>
                    <a:lnTo>
                      <a:pt x="68" y="442"/>
                    </a:lnTo>
                    <a:lnTo>
                      <a:pt x="93" y="437"/>
                    </a:lnTo>
                    <a:lnTo>
                      <a:pt x="115" y="427"/>
                    </a:lnTo>
                    <a:lnTo>
                      <a:pt x="134" y="416"/>
                    </a:lnTo>
                    <a:lnTo>
                      <a:pt x="148" y="397"/>
                    </a:lnTo>
                    <a:lnTo>
                      <a:pt x="158" y="375"/>
                    </a:lnTo>
                    <a:lnTo>
                      <a:pt x="161" y="353"/>
                    </a:lnTo>
                    <a:lnTo>
                      <a:pt x="169" y="336"/>
                    </a:lnTo>
                    <a:lnTo>
                      <a:pt x="180" y="320"/>
                    </a:lnTo>
                    <a:lnTo>
                      <a:pt x="195" y="306"/>
                    </a:lnTo>
                    <a:lnTo>
                      <a:pt x="212" y="296"/>
                    </a:lnTo>
                    <a:lnTo>
                      <a:pt x="231" y="292"/>
                    </a:lnTo>
                    <a:lnTo>
                      <a:pt x="247" y="290"/>
                    </a:lnTo>
                    <a:lnTo>
                      <a:pt x="266" y="290"/>
                    </a:lnTo>
                    <a:lnTo>
                      <a:pt x="288" y="293"/>
                    </a:lnTo>
                    <a:lnTo>
                      <a:pt x="305" y="299"/>
                    </a:lnTo>
                    <a:lnTo>
                      <a:pt x="321" y="308"/>
                    </a:lnTo>
                    <a:lnTo>
                      <a:pt x="337" y="322"/>
                    </a:lnTo>
                    <a:lnTo>
                      <a:pt x="349" y="337"/>
                    </a:lnTo>
                    <a:lnTo>
                      <a:pt x="359" y="359"/>
                    </a:lnTo>
                    <a:lnTo>
                      <a:pt x="362" y="379"/>
                    </a:lnTo>
                    <a:lnTo>
                      <a:pt x="360" y="398"/>
                    </a:lnTo>
                    <a:lnTo>
                      <a:pt x="355" y="420"/>
                    </a:lnTo>
                    <a:lnTo>
                      <a:pt x="346" y="442"/>
                    </a:lnTo>
                    <a:lnTo>
                      <a:pt x="334" y="461"/>
                    </a:lnTo>
                    <a:lnTo>
                      <a:pt x="318" y="481"/>
                    </a:lnTo>
                    <a:lnTo>
                      <a:pt x="304" y="497"/>
                    </a:lnTo>
                    <a:lnTo>
                      <a:pt x="285" y="514"/>
                    </a:lnTo>
                    <a:lnTo>
                      <a:pt x="269" y="528"/>
                    </a:lnTo>
                    <a:lnTo>
                      <a:pt x="251" y="539"/>
                    </a:lnTo>
                    <a:lnTo>
                      <a:pt x="235" y="545"/>
                    </a:lnTo>
                    <a:lnTo>
                      <a:pt x="212" y="551"/>
                    </a:lnTo>
                    <a:lnTo>
                      <a:pt x="195" y="554"/>
                    </a:lnTo>
                    <a:lnTo>
                      <a:pt x="174" y="558"/>
                    </a:lnTo>
                    <a:lnTo>
                      <a:pt x="157" y="564"/>
                    </a:lnTo>
                    <a:lnTo>
                      <a:pt x="135" y="574"/>
                    </a:lnTo>
                    <a:lnTo>
                      <a:pt x="116" y="586"/>
                    </a:lnTo>
                    <a:lnTo>
                      <a:pt x="102" y="599"/>
                    </a:lnTo>
                    <a:lnTo>
                      <a:pt x="86" y="615"/>
                    </a:lnTo>
                    <a:lnTo>
                      <a:pt x="74" y="629"/>
                    </a:lnTo>
                    <a:lnTo>
                      <a:pt x="61" y="650"/>
                    </a:lnTo>
                    <a:lnTo>
                      <a:pt x="54" y="667"/>
                    </a:lnTo>
                    <a:lnTo>
                      <a:pt x="46" y="688"/>
                    </a:lnTo>
                    <a:lnTo>
                      <a:pt x="44" y="708"/>
                    </a:lnTo>
                    <a:lnTo>
                      <a:pt x="44" y="725"/>
                    </a:lnTo>
                    <a:lnTo>
                      <a:pt x="46" y="747"/>
                    </a:lnTo>
                    <a:lnTo>
                      <a:pt x="51" y="773"/>
                    </a:lnTo>
                    <a:lnTo>
                      <a:pt x="55" y="798"/>
                    </a:lnTo>
                    <a:close/>
                  </a:path>
                </a:pathLst>
              </a:custGeom>
              <a:solidFill>
                <a:srgbClr val="D7E4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Freeform 114"/>
              <p:cNvSpPr>
                <a:spLocks/>
              </p:cNvSpPr>
              <p:nvPr/>
            </p:nvSpPr>
            <p:spPr bwMode="auto">
              <a:xfrm>
                <a:off x="1744" y="4804"/>
                <a:ext cx="1001" cy="345"/>
              </a:xfrm>
              <a:custGeom>
                <a:avLst/>
                <a:gdLst>
                  <a:gd name="T0" fmla="*/ 1 w 1652"/>
                  <a:gd name="T1" fmla="*/ 0 h 1043"/>
                  <a:gd name="T2" fmla="*/ 1 w 1652"/>
                  <a:gd name="T3" fmla="*/ 0 h 1043"/>
                  <a:gd name="T4" fmla="*/ 1 w 1652"/>
                  <a:gd name="T5" fmla="*/ 0 h 1043"/>
                  <a:gd name="T6" fmla="*/ 1 w 1652"/>
                  <a:gd name="T7" fmla="*/ 0 h 1043"/>
                  <a:gd name="T8" fmla="*/ 1 w 1652"/>
                  <a:gd name="T9" fmla="*/ 0 h 1043"/>
                  <a:gd name="T10" fmla="*/ 1 w 1652"/>
                  <a:gd name="T11" fmla="*/ 0 h 1043"/>
                  <a:gd name="T12" fmla="*/ 1 w 1652"/>
                  <a:gd name="T13" fmla="*/ 0 h 1043"/>
                  <a:gd name="T14" fmla="*/ 1 w 1652"/>
                  <a:gd name="T15" fmla="*/ 0 h 1043"/>
                  <a:gd name="T16" fmla="*/ 1 w 1652"/>
                  <a:gd name="T17" fmla="*/ 0 h 1043"/>
                  <a:gd name="T18" fmla="*/ 1 w 1652"/>
                  <a:gd name="T19" fmla="*/ 0 h 1043"/>
                  <a:gd name="T20" fmla="*/ 1 w 1652"/>
                  <a:gd name="T21" fmla="*/ 0 h 1043"/>
                  <a:gd name="T22" fmla="*/ 1 w 1652"/>
                  <a:gd name="T23" fmla="*/ 0 h 1043"/>
                  <a:gd name="T24" fmla="*/ 1 w 1652"/>
                  <a:gd name="T25" fmla="*/ 0 h 1043"/>
                  <a:gd name="T26" fmla="*/ 1 w 1652"/>
                  <a:gd name="T27" fmla="*/ 0 h 1043"/>
                  <a:gd name="T28" fmla="*/ 1 w 1652"/>
                  <a:gd name="T29" fmla="*/ 0 h 1043"/>
                  <a:gd name="T30" fmla="*/ 1 w 1652"/>
                  <a:gd name="T31" fmla="*/ 0 h 1043"/>
                  <a:gd name="T32" fmla="*/ 1 w 1652"/>
                  <a:gd name="T33" fmla="*/ 0 h 1043"/>
                  <a:gd name="T34" fmla="*/ 1 w 1652"/>
                  <a:gd name="T35" fmla="*/ 0 h 1043"/>
                  <a:gd name="T36" fmla="*/ 1 w 1652"/>
                  <a:gd name="T37" fmla="*/ 0 h 1043"/>
                  <a:gd name="T38" fmla="*/ 1 w 1652"/>
                  <a:gd name="T39" fmla="*/ 0 h 1043"/>
                  <a:gd name="T40" fmla="*/ 1 w 1652"/>
                  <a:gd name="T41" fmla="*/ 0 h 1043"/>
                  <a:gd name="T42" fmla="*/ 1 w 1652"/>
                  <a:gd name="T43" fmla="*/ 0 h 1043"/>
                  <a:gd name="T44" fmla="*/ 1 w 1652"/>
                  <a:gd name="T45" fmla="*/ 0 h 1043"/>
                  <a:gd name="T46" fmla="*/ 1 w 1652"/>
                  <a:gd name="T47" fmla="*/ 0 h 1043"/>
                  <a:gd name="T48" fmla="*/ 1 w 1652"/>
                  <a:gd name="T49" fmla="*/ 0 h 1043"/>
                  <a:gd name="T50" fmla="*/ 1 w 1652"/>
                  <a:gd name="T51" fmla="*/ 0 h 1043"/>
                  <a:gd name="T52" fmla="*/ 1 w 1652"/>
                  <a:gd name="T53" fmla="*/ 0 h 1043"/>
                  <a:gd name="T54" fmla="*/ 1 w 1652"/>
                  <a:gd name="T55" fmla="*/ 0 h 1043"/>
                  <a:gd name="T56" fmla="*/ 1 w 1652"/>
                  <a:gd name="T57" fmla="*/ 0 h 1043"/>
                  <a:gd name="T58" fmla="*/ 1 w 1652"/>
                  <a:gd name="T59" fmla="*/ 0 h 1043"/>
                  <a:gd name="T60" fmla="*/ 1 w 1652"/>
                  <a:gd name="T61" fmla="*/ 0 h 1043"/>
                  <a:gd name="T62" fmla="*/ 1 w 1652"/>
                  <a:gd name="T63" fmla="*/ 0 h 1043"/>
                  <a:gd name="T64" fmla="*/ 1 w 1652"/>
                  <a:gd name="T65" fmla="*/ 0 h 1043"/>
                  <a:gd name="T66" fmla="*/ 1 w 1652"/>
                  <a:gd name="T67" fmla="*/ 0 h 1043"/>
                  <a:gd name="T68" fmla="*/ 1 w 1652"/>
                  <a:gd name="T69" fmla="*/ 0 h 1043"/>
                  <a:gd name="T70" fmla="*/ 1 w 1652"/>
                  <a:gd name="T71" fmla="*/ 0 h 1043"/>
                  <a:gd name="T72" fmla="*/ 1 w 1652"/>
                  <a:gd name="T73" fmla="*/ 0 h 1043"/>
                  <a:gd name="T74" fmla="*/ 1 w 1652"/>
                  <a:gd name="T75" fmla="*/ 0 h 1043"/>
                  <a:gd name="T76" fmla="*/ 1 w 1652"/>
                  <a:gd name="T77" fmla="*/ 0 h 1043"/>
                  <a:gd name="T78" fmla="*/ 1 w 1652"/>
                  <a:gd name="T79" fmla="*/ 0 h 1043"/>
                  <a:gd name="T80" fmla="*/ 1 w 1652"/>
                  <a:gd name="T81" fmla="*/ 0 h 1043"/>
                  <a:gd name="T82" fmla="*/ 1 w 1652"/>
                  <a:gd name="T83" fmla="*/ 0 h 1043"/>
                  <a:gd name="T84" fmla="*/ 1 w 1652"/>
                  <a:gd name="T85" fmla="*/ 0 h 1043"/>
                  <a:gd name="T86" fmla="*/ 1 w 1652"/>
                  <a:gd name="T87" fmla="*/ 0 h 1043"/>
                  <a:gd name="T88" fmla="*/ 1 w 1652"/>
                  <a:gd name="T89" fmla="*/ 0 h 1043"/>
                  <a:gd name="T90" fmla="*/ 1 w 1652"/>
                  <a:gd name="T91" fmla="*/ 0 h 1043"/>
                  <a:gd name="T92" fmla="*/ 1 w 1652"/>
                  <a:gd name="T93" fmla="*/ 0 h 1043"/>
                  <a:gd name="T94" fmla="*/ 1 w 1652"/>
                  <a:gd name="T95" fmla="*/ 0 h 1043"/>
                  <a:gd name="T96" fmla="*/ 1 w 1652"/>
                  <a:gd name="T97" fmla="*/ 0 h 1043"/>
                  <a:gd name="T98" fmla="*/ 1 w 1652"/>
                  <a:gd name="T99" fmla="*/ 0 h 1043"/>
                  <a:gd name="T100" fmla="*/ 1 w 1652"/>
                  <a:gd name="T101" fmla="*/ 0 h 1043"/>
                  <a:gd name="T102" fmla="*/ 1 w 1652"/>
                  <a:gd name="T103" fmla="*/ 0 h 1043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652"/>
                  <a:gd name="T157" fmla="*/ 0 h 1043"/>
                  <a:gd name="T158" fmla="*/ 1652 w 1652"/>
                  <a:gd name="T159" fmla="*/ 1043 h 1043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652" h="1043">
                    <a:moveTo>
                      <a:pt x="1358" y="206"/>
                    </a:moveTo>
                    <a:lnTo>
                      <a:pt x="1364" y="233"/>
                    </a:lnTo>
                    <a:lnTo>
                      <a:pt x="1368" y="253"/>
                    </a:lnTo>
                    <a:lnTo>
                      <a:pt x="1370" y="269"/>
                    </a:lnTo>
                    <a:lnTo>
                      <a:pt x="1366" y="286"/>
                    </a:lnTo>
                    <a:lnTo>
                      <a:pt x="1358" y="311"/>
                    </a:lnTo>
                    <a:lnTo>
                      <a:pt x="1350" y="336"/>
                    </a:lnTo>
                    <a:lnTo>
                      <a:pt x="1341" y="359"/>
                    </a:lnTo>
                    <a:lnTo>
                      <a:pt x="1332" y="381"/>
                    </a:lnTo>
                    <a:lnTo>
                      <a:pt x="1320" y="408"/>
                    </a:lnTo>
                    <a:lnTo>
                      <a:pt x="1310" y="430"/>
                    </a:lnTo>
                    <a:lnTo>
                      <a:pt x="1303" y="449"/>
                    </a:lnTo>
                    <a:lnTo>
                      <a:pt x="1296" y="475"/>
                    </a:lnTo>
                    <a:lnTo>
                      <a:pt x="1288" y="497"/>
                    </a:lnTo>
                    <a:lnTo>
                      <a:pt x="1287" y="519"/>
                    </a:lnTo>
                    <a:lnTo>
                      <a:pt x="1291" y="542"/>
                    </a:lnTo>
                    <a:lnTo>
                      <a:pt x="1299" y="563"/>
                    </a:lnTo>
                    <a:lnTo>
                      <a:pt x="1313" y="580"/>
                    </a:lnTo>
                    <a:lnTo>
                      <a:pt x="1328" y="590"/>
                    </a:lnTo>
                    <a:lnTo>
                      <a:pt x="1350" y="592"/>
                    </a:lnTo>
                    <a:lnTo>
                      <a:pt x="1374" y="590"/>
                    </a:lnTo>
                    <a:lnTo>
                      <a:pt x="1392" y="583"/>
                    </a:lnTo>
                    <a:lnTo>
                      <a:pt x="1412" y="574"/>
                    </a:lnTo>
                    <a:lnTo>
                      <a:pt x="1428" y="561"/>
                    </a:lnTo>
                    <a:lnTo>
                      <a:pt x="1441" y="544"/>
                    </a:lnTo>
                    <a:lnTo>
                      <a:pt x="1448" y="523"/>
                    </a:lnTo>
                    <a:lnTo>
                      <a:pt x="1451" y="502"/>
                    </a:lnTo>
                    <a:lnTo>
                      <a:pt x="1461" y="481"/>
                    </a:lnTo>
                    <a:lnTo>
                      <a:pt x="1475" y="464"/>
                    </a:lnTo>
                    <a:lnTo>
                      <a:pt x="1493" y="451"/>
                    </a:lnTo>
                    <a:lnTo>
                      <a:pt x="1512" y="443"/>
                    </a:lnTo>
                    <a:lnTo>
                      <a:pt x="1533" y="440"/>
                    </a:lnTo>
                    <a:lnTo>
                      <a:pt x="1549" y="439"/>
                    </a:lnTo>
                    <a:lnTo>
                      <a:pt x="1569" y="442"/>
                    </a:lnTo>
                    <a:lnTo>
                      <a:pt x="1589" y="448"/>
                    </a:lnTo>
                    <a:lnTo>
                      <a:pt x="1608" y="455"/>
                    </a:lnTo>
                    <a:lnTo>
                      <a:pt x="1621" y="470"/>
                    </a:lnTo>
                    <a:lnTo>
                      <a:pt x="1633" y="484"/>
                    </a:lnTo>
                    <a:lnTo>
                      <a:pt x="1645" y="497"/>
                    </a:lnTo>
                    <a:lnTo>
                      <a:pt x="1650" y="516"/>
                    </a:lnTo>
                    <a:lnTo>
                      <a:pt x="1652" y="534"/>
                    </a:lnTo>
                    <a:lnTo>
                      <a:pt x="1649" y="552"/>
                    </a:lnTo>
                    <a:lnTo>
                      <a:pt x="1643" y="568"/>
                    </a:lnTo>
                    <a:lnTo>
                      <a:pt x="1639" y="582"/>
                    </a:lnTo>
                    <a:lnTo>
                      <a:pt x="1632" y="599"/>
                    </a:lnTo>
                    <a:lnTo>
                      <a:pt x="1616" y="621"/>
                    </a:lnTo>
                    <a:lnTo>
                      <a:pt x="1601" y="638"/>
                    </a:lnTo>
                    <a:lnTo>
                      <a:pt x="1584" y="656"/>
                    </a:lnTo>
                    <a:lnTo>
                      <a:pt x="1565" y="672"/>
                    </a:lnTo>
                    <a:lnTo>
                      <a:pt x="1544" y="686"/>
                    </a:lnTo>
                    <a:lnTo>
                      <a:pt x="1527" y="694"/>
                    </a:lnTo>
                    <a:lnTo>
                      <a:pt x="1508" y="698"/>
                    </a:lnTo>
                    <a:lnTo>
                      <a:pt x="1483" y="702"/>
                    </a:lnTo>
                    <a:lnTo>
                      <a:pt x="1466" y="707"/>
                    </a:lnTo>
                    <a:lnTo>
                      <a:pt x="1444" y="714"/>
                    </a:lnTo>
                    <a:lnTo>
                      <a:pt x="1425" y="723"/>
                    </a:lnTo>
                    <a:lnTo>
                      <a:pt x="1408" y="733"/>
                    </a:lnTo>
                    <a:lnTo>
                      <a:pt x="1395" y="746"/>
                    </a:lnTo>
                    <a:lnTo>
                      <a:pt x="1380" y="758"/>
                    </a:lnTo>
                    <a:lnTo>
                      <a:pt x="1367" y="772"/>
                    </a:lnTo>
                    <a:lnTo>
                      <a:pt x="1354" y="791"/>
                    </a:lnTo>
                    <a:lnTo>
                      <a:pt x="1344" y="811"/>
                    </a:lnTo>
                    <a:lnTo>
                      <a:pt x="1336" y="833"/>
                    </a:lnTo>
                    <a:lnTo>
                      <a:pt x="1332" y="856"/>
                    </a:lnTo>
                    <a:lnTo>
                      <a:pt x="1332" y="877"/>
                    </a:lnTo>
                    <a:lnTo>
                      <a:pt x="1336" y="900"/>
                    </a:lnTo>
                    <a:lnTo>
                      <a:pt x="1341" y="920"/>
                    </a:lnTo>
                    <a:lnTo>
                      <a:pt x="1344" y="942"/>
                    </a:lnTo>
                    <a:lnTo>
                      <a:pt x="1334" y="938"/>
                    </a:lnTo>
                    <a:lnTo>
                      <a:pt x="1318" y="931"/>
                    </a:lnTo>
                    <a:lnTo>
                      <a:pt x="1302" y="925"/>
                    </a:lnTo>
                    <a:lnTo>
                      <a:pt x="1284" y="922"/>
                    </a:lnTo>
                    <a:lnTo>
                      <a:pt x="1265" y="919"/>
                    </a:lnTo>
                    <a:lnTo>
                      <a:pt x="1243" y="920"/>
                    </a:lnTo>
                    <a:lnTo>
                      <a:pt x="1219" y="925"/>
                    </a:lnTo>
                    <a:lnTo>
                      <a:pt x="1197" y="929"/>
                    </a:lnTo>
                    <a:lnTo>
                      <a:pt x="1168" y="936"/>
                    </a:lnTo>
                    <a:lnTo>
                      <a:pt x="1139" y="945"/>
                    </a:lnTo>
                    <a:lnTo>
                      <a:pt x="1111" y="954"/>
                    </a:lnTo>
                    <a:lnTo>
                      <a:pt x="1083" y="964"/>
                    </a:lnTo>
                    <a:lnTo>
                      <a:pt x="1060" y="974"/>
                    </a:lnTo>
                    <a:lnTo>
                      <a:pt x="1036" y="986"/>
                    </a:lnTo>
                    <a:lnTo>
                      <a:pt x="1008" y="996"/>
                    </a:lnTo>
                    <a:lnTo>
                      <a:pt x="982" y="1005"/>
                    </a:lnTo>
                    <a:lnTo>
                      <a:pt x="948" y="1016"/>
                    </a:lnTo>
                    <a:lnTo>
                      <a:pt x="915" y="1028"/>
                    </a:lnTo>
                    <a:lnTo>
                      <a:pt x="890" y="1035"/>
                    </a:lnTo>
                    <a:lnTo>
                      <a:pt x="858" y="1040"/>
                    </a:lnTo>
                    <a:lnTo>
                      <a:pt x="831" y="1043"/>
                    </a:lnTo>
                    <a:lnTo>
                      <a:pt x="797" y="1040"/>
                    </a:lnTo>
                    <a:lnTo>
                      <a:pt x="772" y="1035"/>
                    </a:lnTo>
                    <a:lnTo>
                      <a:pt x="749" y="1028"/>
                    </a:lnTo>
                    <a:lnTo>
                      <a:pt x="733" y="1018"/>
                    </a:lnTo>
                    <a:lnTo>
                      <a:pt x="721" y="1003"/>
                    </a:lnTo>
                    <a:lnTo>
                      <a:pt x="714" y="983"/>
                    </a:lnTo>
                    <a:lnTo>
                      <a:pt x="714" y="965"/>
                    </a:lnTo>
                    <a:lnTo>
                      <a:pt x="720" y="949"/>
                    </a:lnTo>
                    <a:lnTo>
                      <a:pt x="729" y="933"/>
                    </a:lnTo>
                    <a:lnTo>
                      <a:pt x="742" y="918"/>
                    </a:lnTo>
                    <a:lnTo>
                      <a:pt x="759" y="902"/>
                    </a:lnTo>
                    <a:lnTo>
                      <a:pt x="781" y="886"/>
                    </a:lnTo>
                    <a:lnTo>
                      <a:pt x="804" y="875"/>
                    </a:lnTo>
                    <a:lnTo>
                      <a:pt x="832" y="867"/>
                    </a:lnTo>
                    <a:lnTo>
                      <a:pt x="854" y="861"/>
                    </a:lnTo>
                    <a:lnTo>
                      <a:pt x="876" y="854"/>
                    </a:lnTo>
                    <a:lnTo>
                      <a:pt x="900" y="845"/>
                    </a:lnTo>
                    <a:lnTo>
                      <a:pt x="924" y="833"/>
                    </a:lnTo>
                    <a:lnTo>
                      <a:pt x="942" y="823"/>
                    </a:lnTo>
                    <a:lnTo>
                      <a:pt x="956" y="811"/>
                    </a:lnTo>
                    <a:lnTo>
                      <a:pt x="960" y="798"/>
                    </a:lnTo>
                    <a:lnTo>
                      <a:pt x="957" y="784"/>
                    </a:lnTo>
                    <a:lnTo>
                      <a:pt x="947" y="769"/>
                    </a:lnTo>
                    <a:lnTo>
                      <a:pt x="931" y="758"/>
                    </a:lnTo>
                    <a:lnTo>
                      <a:pt x="918" y="750"/>
                    </a:lnTo>
                    <a:lnTo>
                      <a:pt x="903" y="746"/>
                    </a:lnTo>
                    <a:lnTo>
                      <a:pt x="880" y="743"/>
                    </a:lnTo>
                    <a:lnTo>
                      <a:pt x="852" y="743"/>
                    </a:lnTo>
                    <a:lnTo>
                      <a:pt x="825" y="744"/>
                    </a:lnTo>
                    <a:lnTo>
                      <a:pt x="799" y="747"/>
                    </a:lnTo>
                    <a:lnTo>
                      <a:pt x="774" y="752"/>
                    </a:lnTo>
                    <a:lnTo>
                      <a:pt x="752" y="758"/>
                    </a:lnTo>
                    <a:lnTo>
                      <a:pt x="729" y="765"/>
                    </a:lnTo>
                    <a:lnTo>
                      <a:pt x="701" y="775"/>
                    </a:lnTo>
                    <a:lnTo>
                      <a:pt x="676" y="787"/>
                    </a:lnTo>
                    <a:lnTo>
                      <a:pt x="655" y="797"/>
                    </a:lnTo>
                    <a:lnTo>
                      <a:pt x="626" y="813"/>
                    </a:lnTo>
                    <a:lnTo>
                      <a:pt x="598" y="830"/>
                    </a:lnTo>
                    <a:lnTo>
                      <a:pt x="572" y="845"/>
                    </a:lnTo>
                    <a:lnTo>
                      <a:pt x="547" y="861"/>
                    </a:lnTo>
                    <a:lnTo>
                      <a:pt x="518" y="877"/>
                    </a:lnTo>
                    <a:lnTo>
                      <a:pt x="490" y="890"/>
                    </a:lnTo>
                    <a:lnTo>
                      <a:pt x="460" y="902"/>
                    </a:lnTo>
                    <a:lnTo>
                      <a:pt x="428" y="912"/>
                    </a:lnTo>
                    <a:lnTo>
                      <a:pt x="396" y="919"/>
                    </a:lnTo>
                    <a:lnTo>
                      <a:pt x="358" y="925"/>
                    </a:lnTo>
                    <a:lnTo>
                      <a:pt x="328" y="929"/>
                    </a:lnTo>
                    <a:lnTo>
                      <a:pt x="284" y="933"/>
                    </a:lnTo>
                    <a:lnTo>
                      <a:pt x="252" y="936"/>
                    </a:lnTo>
                    <a:lnTo>
                      <a:pt x="220" y="935"/>
                    </a:lnTo>
                    <a:lnTo>
                      <a:pt x="200" y="935"/>
                    </a:lnTo>
                    <a:lnTo>
                      <a:pt x="207" y="919"/>
                    </a:lnTo>
                    <a:lnTo>
                      <a:pt x="220" y="900"/>
                    </a:lnTo>
                    <a:lnTo>
                      <a:pt x="237" y="883"/>
                    </a:lnTo>
                    <a:lnTo>
                      <a:pt x="255" y="864"/>
                    </a:lnTo>
                    <a:lnTo>
                      <a:pt x="277" y="840"/>
                    </a:lnTo>
                    <a:lnTo>
                      <a:pt x="294" y="824"/>
                    </a:lnTo>
                    <a:lnTo>
                      <a:pt x="309" y="807"/>
                    </a:lnTo>
                    <a:lnTo>
                      <a:pt x="322" y="785"/>
                    </a:lnTo>
                    <a:lnTo>
                      <a:pt x="330" y="763"/>
                    </a:lnTo>
                    <a:lnTo>
                      <a:pt x="336" y="740"/>
                    </a:lnTo>
                    <a:lnTo>
                      <a:pt x="341" y="718"/>
                    </a:lnTo>
                    <a:lnTo>
                      <a:pt x="338" y="694"/>
                    </a:lnTo>
                    <a:lnTo>
                      <a:pt x="332" y="678"/>
                    </a:lnTo>
                    <a:lnTo>
                      <a:pt x="320" y="663"/>
                    </a:lnTo>
                    <a:lnTo>
                      <a:pt x="310" y="654"/>
                    </a:lnTo>
                    <a:lnTo>
                      <a:pt x="297" y="647"/>
                    </a:lnTo>
                    <a:lnTo>
                      <a:pt x="282" y="644"/>
                    </a:lnTo>
                    <a:lnTo>
                      <a:pt x="266" y="643"/>
                    </a:lnTo>
                    <a:lnTo>
                      <a:pt x="250" y="647"/>
                    </a:lnTo>
                    <a:lnTo>
                      <a:pt x="234" y="657"/>
                    </a:lnTo>
                    <a:lnTo>
                      <a:pt x="221" y="670"/>
                    </a:lnTo>
                    <a:lnTo>
                      <a:pt x="208" y="686"/>
                    </a:lnTo>
                    <a:lnTo>
                      <a:pt x="197" y="704"/>
                    </a:lnTo>
                    <a:lnTo>
                      <a:pt x="185" y="718"/>
                    </a:lnTo>
                    <a:lnTo>
                      <a:pt x="172" y="733"/>
                    </a:lnTo>
                    <a:lnTo>
                      <a:pt x="157" y="747"/>
                    </a:lnTo>
                    <a:lnTo>
                      <a:pt x="139" y="758"/>
                    </a:lnTo>
                    <a:lnTo>
                      <a:pt x="120" y="762"/>
                    </a:lnTo>
                    <a:lnTo>
                      <a:pt x="99" y="765"/>
                    </a:lnTo>
                    <a:lnTo>
                      <a:pt x="79" y="762"/>
                    </a:lnTo>
                    <a:lnTo>
                      <a:pt x="59" y="756"/>
                    </a:lnTo>
                    <a:lnTo>
                      <a:pt x="40" y="744"/>
                    </a:lnTo>
                    <a:lnTo>
                      <a:pt x="25" y="733"/>
                    </a:lnTo>
                    <a:lnTo>
                      <a:pt x="13" y="715"/>
                    </a:lnTo>
                    <a:lnTo>
                      <a:pt x="6" y="695"/>
                    </a:lnTo>
                    <a:lnTo>
                      <a:pt x="2" y="676"/>
                    </a:lnTo>
                    <a:lnTo>
                      <a:pt x="0" y="656"/>
                    </a:lnTo>
                    <a:lnTo>
                      <a:pt x="3" y="638"/>
                    </a:lnTo>
                    <a:lnTo>
                      <a:pt x="11" y="622"/>
                    </a:lnTo>
                    <a:lnTo>
                      <a:pt x="24" y="603"/>
                    </a:lnTo>
                    <a:lnTo>
                      <a:pt x="41" y="587"/>
                    </a:lnTo>
                    <a:lnTo>
                      <a:pt x="61" y="574"/>
                    </a:lnTo>
                    <a:lnTo>
                      <a:pt x="79" y="566"/>
                    </a:lnTo>
                    <a:lnTo>
                      <a:pt x="102" y="554"/>
                    </a:lnTo>
                    <a:lnTo>
                      <a:pt x="123" y="542"/>
                    </a:lnTo>
                    <a:lnTo>
                      <a:pt x="143" y="528"/>
                    </a:lnTo>
                    <a:lnTo>
                      <a:pt x="162" y="510"/>
                    </a:lnTo>
                    <a:lnTo>
                      <a:pt x="176" y="491"/>
                    </a:lnTo>
                    <a:lnTo>
                      <a:pt x="184" y="467"/>
                    </a:lnTo>
                    <a:lnTo>
                      <a:pt x="186" y="443"/>
                    </a:lnTo>
                    <a:lnTo>
                      <a:pt x="185" y="422"/>
                    </a:lnTo>
                    <a:lnTo>
                      <a:pt x="181" y="397"/>
                    </a:lnTo>
                    <a:lnTo>
                      <a:pt x="172" y="372"/>
                    </a:lnTo>
                    <a:lnTo>
                      <a:pt x="159" y="343"/>
                    </a:lnTo>
                    <a:lnTo>
                      <a:pt x="147" y="317"/>
                    </a:lnTo>
                    <a:lnTo>
                      <a:pt x="134" y="289"/>
                    </a:lnTo>
                    <a:lnTo>
                      <a:pt x="128" y="259"/>
                    </a:lnTo>
                    <a:lnTo>
                      <a:pt x="128" y="237"/>
                    </a:lnTo>
                    <a:lnTo>
                      <a:pt x="131" y="212"/>
                    </a:lnTo>
                    <a:lnTo>
                      <a:pt x="133" y="195"/>
                    </a:lnTo>
                    <a:lnTo>
                      <a:pt x="150" y="198"/>
                    </a:lnTo>
                    <a:lnTo>
                      <a:pt x="175" y="201"/>
                    </a:lnTo>
                    <a:lnTo>
                      <a:pt x="201" y="203"/>
                    </a:lnTo>
                    <a:lnTo>
                      <a:pt x="230" y="208"/>
                    </a:lnTo>
                    <a:lnTo>
                      <a:pt x="259" y="211"/>
                    </a:lnTo>
                    <a:lnTo>
                      <a:pt x="291" y="215"/>
                    </a:lnTo>
                    <a:lnTo>
                      <a:pt x="325" y="218"/>
                    </a:lnTo>
                    <a:lnTo>
                      <a:pt x="361" y="219"/>
                    </a:lnTo>
                    <a:lnTo>
                      <a:pt x="432" y="219"/>
                    </a:lnTo>
                    <a:lnTo>
                      <a:pt x="457" y="218"/>
                    </a:lnTo>
                    <a:lnTo>
                      <a:pt x="482" y="217"/>
                    </a:lnTo>
                    <a:lnTo>
                      <a:pt x="509" y="212"/>
                    </a:lnTo>
                    <a:lnTo>
                      <a:pt x="533" y="205"/>
                    </a:lnTo>
                    <a:lnTo>
                      <a:pt x="550" y="196"/>
                    </a:lnTo>
                    <a:lnTo>
                      <a:pt x="564" y="186"/>
                    </a:lnTo>
                    <a:lnTo>
                      <a:pt x="575" y="176"/>
                    </a:lnTo>
                    <a:lnTo>
                      <a:pt x="579" y="164"/>
                    </a:lnTo>
                    <a:lnTo>
                      <a:pt x="579" y="147"/>
                    </a:lnTo>
                    <a:lnTo>
                      <a:pt x="575" y="126"/>
                    </a:lnTo>
                    <a:lnTo>
                      <a:pt x="567" y="106"/>
                    </a:lnTo>
                    <a:lnTo>
                      <a:pt x="560" y="87"/>
                    </a:lnTo>
                    <a:lnTo>
                      <a:pt x="560" y="70"/>
                    </a:lnTo>
                    <a:lnTo>
                      <a:pt x="569" y="54"/>
                    </a:lnTo>
                    <a:lnTo>
                      <a:pt x="582" y="39"/>
                    </a:lnTo>
                    <a:lnTo>
                      <a:pt x="601" y="27"/>
                    </a:lnTo>
                    <a:lnTo>
                      <a:pt x="623" y="19"/>
                    </a:lnTo>
                    <a:lnTo>
                      <a:pt x="647" y="11"/>
                    </a:lnTo>
                    <a:lnTo>
                      <a:pt x="672" y="7"/>
                    </a:lnTo>
                    <a:lnTo>
                      <a:pt x="703" y="3"/>
                    </a:lnTo>
                    <a:lnTo>
                      <a:pt x="727" y="0"/>
                    </a:lnTo>
                    <a:lnTo>
                      <a:pt x="755" y="0"/>
                    </a:lnTo>
                    <a:lnTo>
                      <a:pt x="778" y="1"/>
                    </a:lnTo>
                    <a:lnTo>
                      <a:pt x="803" y="7"/>
                    </a:lnTo>
                    <a:lnTo>
                      <a:pt x="826" y="14"/>
                    </a:lnTo>
                    <a:lnTo>
                      <a:pt x="848" y="25"/>
                    </a:lnTo>
                    <a:lnTo>
                      <a:pt x="865" y="36"/>
                    </a:lnTo>
                    <a:lnTo>
                      <a:pt x="881" y="51"/>
                    </a:lnTo>
                    <a:lnTo>
                      <a:pt x="889" y="65"/>
                    </a:lnTo>
                    <a:lnTo>
                      <a:pt x="892" y="80"/>
                    </a:lnTo>
                    <a:lnTo>
                      <a:pt x="887" y="97"/>
                    </a:lnTo>
                    <a:lnTo>
                      <a:pt x="880" y="112"/>
                    </a:lnTo>
                    <a:lnTo>
                      <a:pt x="867" y="135"/>
                    </a:lnTo>
                    <a:lnTo>
                      <a:pt x="858" y="154"/>
                    </a:lnTo>
                    <a:lnTo>
                      <a:pt x="851" y="174"/>
                    </a:lnTo>
                    <a:lnTo>
                      <a:pt x="851" y="192"/>
                    </a:lnTo>
                    <a:lnTo>
                      <a:pt x="858" y="209"/>
                    </a:lnTo>
                    <a:lnTo>
                      <a:pt x="873" y="222"/>
                    </a:lnTo>
                    <a:lnTo>
                      <a:pt x="886" y="230"/>
                    </a:lnTo>
                    <a:lnTo>
                      <a:pt x="906" y="237"/>
                    </a:lnTo>
                    <a:lnTo>
                      <a:pt x="931" y="243"/>
                    </a:lnTo>
                    <a:lnTo>
                      <a:pt x="954" y="246"/>
                    </a:lnTo>
                    <a:lnTo>
                      <a:pt x="985" y="249"/>
                    </a:lnTo>
                    <a:lnTo>
                      <a:pt x="1018" y="249"/>
                    </a:lnTo>
                    <a:lnTo>
                      <a:pt x="1046" y="244"/>
                    </a:lnTo>
                    <a:lnTo>
                      <a:pt x="1086" y="241"/>
                    </a:lnTo>
                    <a:lnTo>
                      <a:pt x="1127" y="235"/>
                    </a:lnTo>
                    <a:lnTo>
                      <a:pt x="1162" y="230"/>
                    </a:lnTo>
                    <a:lnTo>
                      <a:pt x="1197" y="224"/>
                    </a:lnTo>
                    <a:lnTo>
                      <a:pt x="1238" y="215"/>
                    </a:lnTo>
                    <a:lnTo>
                      <a:pt x="1286" y="205"/>
                    </a:lnTo>
                    <a:lnTo>
                      <a:pt x="1354" y="192"/>
                    </a:lnTo>
                    <a:lnTo>
                      <a:pt x="1358" y="206"/>
                    </a:lnTo>
                    <a:close/>
                  </a:path>
                </a:pathLst>
              </a:custGeom>
              <a:solidFill>
                <a:srgbClr val="EFF4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Freeform 115"/>
              <p:cNvSpPr>
                <a:spLocks/>
              </p:cNvSpPr>
              <p:nvPr/>
            </p:nvSpPr>
            <p:spPr bwMode="auto">
              <a:xfrm>
                <a:off x="1156" y="4667"/>
                <a:ext cx="735" cy="306"/>
              </a:xfrm>
              <a:custGeom>
                <a:avLst/>
                <a:gdLst>
                  <a:gd name="T0" fmla="*/ 1 w 1215"/>
                  <a:gd name="T1" fmla="*/ 0 h 925"/>
                  <a:gd name="T2" fmla="*/ 1 w 1215"/>
                  <a:gd name="T3" fmla="*/ 0 h 925"/>
                  <a:gd name="T4" fmla="*/ 1 w 1215"/>
                  <a:gd name="T5" fmla="*/ 0 h 925"/>
                  <a:gd name="T6" fmla="*/ 1 w 1215"/>
                  <a:gd name="T7" fmla="*/ 0 h 925"/>
                  <a:gd name="T8" fmla="*/ 1 w 1215"/>
                  <a:gd name="T9" fmla="*/ 0 h 925"/>
                  <a:gd name="T10" fmla="*/ 1 w 1215"/>
                  <a:gd name="T11" fmla="*/ 0 h 925"/>
                  <a:gd name="T12" fmla="*/ 1 w 1215"/>
                  <a:gd name="T13" fmla="*/ 0 h 925"/>
                  <a:gd name="T14" fmla="*/ 1 w 1215"/>
                  <a:gd name="T15" fmla="*/ 0 h 925"/>
                  <a:gd name="T16" fmla="*/ 1 w 1215"/>
                  <a:gd name="T17" fmla="*/ 0 h 925"/>
                  <a:gd name="T18" fmla="*/ 1 w 1215"/>
                  <a:gd name="T19" fmla="*/ 0 h 925"/>
                  <a:gd name="T20" fmla="*/ 1 w 1215"/>
                  <a:gd name="T21" fmla="*/ 0 h 925"/>
                  <a:gd name="T22" fmla="*/ 1 w 1215"/>
                  <a:gd name="T23" fmla="*/ 0 h 925"/>
                  <a:gd name="T24" fmla="*/ 1 w 1215"/>
                  <a:gd name="T25" fmla="*/ 0 h 925"/>
                  <a:gd name="T26" fmla="*/ 1 w 1215"/>
                  <a:gd name="T27" fmla="*/ 0 h 925"/>
                  <a:gd name="T28" fmla="*/ 1 w 1215"/>
                  <a:gd name="T29" fmla="*/ 0 h 925"/>
                  <a:gd name="T30" fmla="*/ 1 w 1215"/>
                  <a:gd name="T31" fmla="*/ 0 h 925"/>
                  <a:gd name="T32" fmla="*/ 1 w 1215"/>
                  <a:gd name="T33" fmla="*/ 0 h 925"/>
                  <a:gd name="T34" fmla="*/ 1 w 1215"/>
                  <a:gd name="T35" fmla="*/ 0 h 925"/>
                  <a:gd name="T36" fmla="*/ 1 w 1215"/>
                  <a:gd name="T37" fmla="*/ 0 h 925"/>
                  <a:gd name="T38" fmla="*/ 1 w 1215"/>
                  <a:gd name="T39" fmla="*/ 0 h 925"/>
                  <a:gd name="T40" fmla="*/ 1 w 1215"/>
                  <a:gd name="T41" fmla="*/ 0 h 925"/>
                  <a:gd name="T42" fmla="*/ 1 w 1215"/>
                  <a:gd name="T43" fmla="*/ 0 h 925"/>
                  <a:gd name="T44" fmla="*/ 1 w 1215"/>
                  <a:gd name="T45" fmla="*/ 0 h 925"/>
                  <a:gd name="T46" fmla="*/ 1 w 1215"/>
                  <a:gd name="T47" fmla="*/ 0 h 925"/>
                  <a:gd name="T48" fmla="*/ 1 w 1215"/>
                  <a:gd name="T49" fmla="*/ 0 h 925"/>
                  <a:gd name="T50" fmla="*/ 1 w 1215"/>
                  <a:gd name="T51" fmla="*/ 0 h 925"/>
                  <a:gd name="T52" fmla="*/ 1 w 1215"/>
                  <a:gd name="T53" fmla="*/ 0 h 925"/>
                  <a:gd name="T54" fmla="*/ 1 w 1215"/>
                  <a:gd name="T55" fmla="*/ 0 h 925"/>
                  <a:gd name="T56" fmla="*/ 1 w 1215"/>
                  <a:gd name="T57" fmla="*/ 0 h 925"/>
                  <a:gd name="T58" fmla="*/ 1 w 1215"/>
                  <a:gd name="T59" fmla="*/ 0 h 925"/>
                  <a:gd name="T60" fmla="*/ 1 w 1215"/>
                  <a:gd name="T61" fmla="*/ 0 h 925"/>
                  <a:gd name="T62" fmla="*/ 1 w 1215"/>
                  <a:gd name="T63" fmla="*/ 0 h 925"/>
                  <a:gd name="T64" fmla="*/ 1 w 1215"/>
                  <a:gd name="T65" fmla="*/ 0 h 925"/>
                  <a:gd name="T66" fmla="*/ 1 w 1215"/>
                  <a:gd name="T67" fmla="*/ 0 h 925"/>
                  <a:gd name="T68" fmla="*/ 1 w 1215"/>
                  <a:gd name="T69" fmla="*/ 0 h 925"/>
                  <a:gd name="T70" fmla="*/ 1 w 1215"/>
                  <a:gd name="T71" fmla="*/ 0 h 925"/>
                  <a:gd name="T72" fmla="*/ 1 w 1215"/>
                  <a:gd name="T73" fmla="*/ 0 h 925"/>
                  <a:gd name="T74" fmla="*/ 1 w 1215"/>
                  <a:gd name="T75" fmla="*/ 0 h 925"/>
                  <a:gd name="T76" fmla="*/ 1 w 1215"/>
                  <a:gd name="T77" fmla="*/ 0 h 925"/>
                  <a:gd name="T78" fmla="*/ 1 w 1215"/>
                  <a:gd name="T79" fmla="*/ 0 h 925"/>
                  <a:gd name="T80" fmla="*/ 1 w 1215"/>
                  <a:gd name="T81" fmla="*/ 0 h 925"/>
                  <a:gd name="T82" fmla="*/ 1 w 1215"/>
                  <a:gd name="T83" fmla="*/ 0 h 925"/>
                  <a:gd name="T84" fmla="*/ 0 w 1215"/>
                  <a:gd name="T85" fmla="*/ 0 h 925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215"/>
                  <a:gd name="T130" fmla="*/ 0 h 925"/>
                  <a:gd name="T131" fmla="*/ 1215 w 1215"/>
                  <a:gd name="T132" fmla="*/ 925 h 925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215" h="925">
                    <a:moveTo>
                      <a:pt x="0" y="759"/>
                    </a:moveTo>
                    <a:lnTo>
                      <a:pt x="160" y="0"/>
                    </a:lnTo>
                    <a:lnTo>
                      <a:pt x="1161" y="0"/>
                    </a:lnTo>
                    <a:lnTo>
                      <a:pt x="1153" y="12"/>
                    </a:lnTo>
                    <a:lnTo>
                      <a:pt x="1148" y="29"/>
                    </a:lnTo>
                    <a:lnTo>
                      <a:pt x="1148" y="48"/>
                    </a:lnTo>
                    <a:lnTo>
                      <a:pt x="1153" y="64"/>
                    </a:lnTo>
                    <a:lnTo>
                      <a:pt x="1163" y="81"/>
                    </a:lnTo>
                    <a:lnTo>
                      <a:pt x="1173" y="97"/>
                    </a:lnTo>
                    <a:lnTo>
                      <a:pt x="1182" y="111"/>
                    </a:lnTo>
                    <a:lnTo>
                      <a:pt x="1192" y="125"/>
                    </a:lnTo>
                    <a:lnTo>
                      <a:pt x="1199" y="140"/>
                    </a:lnTo>
                    <a:lnTo>
                      <a:pt x="1208" y="157"/>
                    </a:lnTo>
                    <a:lnTo>
                      <a:pt x="1212" y="173"/>
                    </a:lnTo>
                    <a:lnTo>
                      <a:pt x="1215" y="189"/>
                    </a:lnTo>
                    <a:lnTo>
                      <a:pt x="1215" y="204"/>
                    </a:lnTo>
                    <a:lnTo>
                      <a:pt x="1214" y="220"/>
                    </a:lnTo>
                    <a:lnTo>
                      <a:pt x="1211" y="230"/>
                    </a:lnTo>
                    <a:lnTo>
                      <a:pt x="1206" y="246"/>
                    </a:lnTo>
                    <a:lnTo>
                      <a:pt x="1201" y="259"/>
                    </a:lnTo>
                    <a:lnTo>
                      <a:pt x="1192" y="269"/>
                    </a:lnTo>
                    <a:lnTo>
                      <a:pt x="1182" y="279"/>
                    </a:lnTo>
                    <a:lnTo>
                      <a:pt x="1169" y="286"/>
                    </a:lnTo>
                    <a:lnTo>
                      <a:pt x="1147" y="291"/>
                    </a:lnTo>
                    <a:lnTo>
                      <a:pt x="1129" y="289"/>
                    </a:lnTo>
                    <a:lnTo>
                      <a:pt x="1112" y="284"/>
                    </a:lnTo>
                    <a:lnTo>
                      <a:pt x="1092" y="275"/>
                    </a:lnTo>
                    <a:lnTo>
                      <a:pt x="1070" y="265"/>
                    </a:lnTo>
                    <a:lnTo>
                      <a:pt x="1055" y="255"/>
                    </a:lnTo>
                    <a:lnTo>
                      <a:pt x="1039" y="244"/>
                    </a:lnTo>
                    <a:lnTo>
                      <a:pt x="1025" y="236"/>
                    </a:lnTo>
                    <a:lnTo>
                      <a:pt x="1012" y="227"/>
                    </a:lnTo>
                    <a:lnTo>
                      <a:pt x="997" y="220"/>
                    </a:lnTo>
                    <a:lnTo>
                      <a:pt x="981" y="215"/>
                    </a:lnTo>
                    <a:lnTo>
                      <a:pt x="964" y="214"/>
                    </a:lnTo>
                    <a:lnTo>
                      <a:pt x="948" y="217"/>
                    </a:lnTo>
                    <a:lnTo>
                      <a:pt x="930" y="223"/>
                    </a:lnTo>
                    <a:lnTo>
                      <a:pt x="917" y="231"/>
                    </a:lnTo>
                    <a:lnTo>
                      <a:pt x="903" y="241"/>
                    </a:lnTo>
                    <a:lnTo>
                      <a:pt x="888" y="256"/>
                    </a:lnTo>
                    <a:lnTo>
                      <a:pt x="876" y="272"/>
                    </a:lnTo>
                    <a:lnTo>
                      <a:pt x="865" y="294"/>
                    </a:lnTo>
                    <a:lnTo>
                      <a:pt x="859" y="313"/>
                    </a:lnTo>
                    <a:lnTo>
                      <a:pt x="855" y="332"/>
                    </a:lnTo>
                    <a:lnTo>
                      <a:pt x="856" y="353"/>
                    </a:lnTo>
                    <a:lnTo>
                      <a:pt x="858" y="372"/>
                    </a:lnTo>
                    <a:lnTo>
                      <a:pt x="863" y="394"/>
                    </a:lnTo>
                    <a:lnTo>
                      <a:pt x="871" y="412"/>
                    </a:lnTo>
                    <a:lnTo>
                      <a:pt x="881" y="430"/>
                    </a:lnTo>
                    <a:lnTo>
                      <a:pt x="892" y="445"/>
                    </a:lnTo>
                    <a:lnTo>
                      <a:pt x="907" y="458"/>
                    </a:lnTo>
                    <a:lnTo>
                      <a:pt x="923" y="471"/>
                    </a:lnTo>
                    <a:lnTo>
                      <a:pt x="946" y="483"/>
                    </a:lnTo>
                    <a:lnTo>
                      <a:pt x="970" y="492"/>
                    </a:lnTo>
                    <a:lnTo>
                      <a:pt x="996" y="497"/>
                    </a:lnTo>
                    <a:lnTo>
                      <a:pt x="1025" y="500"/>
                    </a:lnTo>
                    <a:lnTo>
                      <a:pt x="1060" y="499"/>
                    </a:lnTo>
                    <a:lnTo>
                      <a:pt x="1084" y="497"/>
                    </a:lnTo>
                    <a:lnTo>
                      <a:pt x="1109" y="496"/>
                    </a:lnTo>
                    <a:lnTo>
                      <a:pt x="1132" y="500"/>
                    </a:lnTo>
                    <a:lnTo>
                      <a:pt x="1148" y="509"/>
                    </a:lnTo>
                    <a:lnTo>
                      <a:pt x="1163" y="525"/>
                    </a:lnTo>
                    <a:lnTo>
                      <a:pt x="1172" y="544"/>
                    </a:lnTo>
                    <a:lnTo>
                      <a:pt x="1173" y="563"/>
                    </a:lnTo>
                    <a:lnTo>
                      <a:pt x="1172" y="579"/>
                    </a:lnTo>
                    <a:lnTo>
                      <a:pt x="1166" y="598"/>
                    </a:lnTo>
                    <a:lnTo>
                      <a:pt x="1156" y="621"/>
                    </a:lnTo>
                    <a:lnTo>
                      <a:pt x="1147" y="640"/>
                    </a:lnTo>
                    <a:lnTo>
                      <a:pt x="1135" y="662"/>
                    </a:lnTo>
                    <a:lnTo>
                      <a:pt x="1124" y="684"/>
                    </a:lnTo>
                    <a:lnTo>
                      <a:pt x="1111" y="707"/>
                    </a:lnTo>
                    <a:lnTo>
                      <a:pt x="1022" y="707"/>
                    </a:lnTo>
                    <a:lnTo>
                      <a:pt x="988" y="704"/>
                    </a:lnTo>
                    <a:lnTo>
                      <a:pt x="955" y="701"/>
                    </a:lnTo>
                    <a:lnTo>
                      <a:pt x="916" y="698"/>
                    </a:lnTo>
                    <a:lnTo>
                      <a:pt x="875" y="694"/>
                    </a:lnTo>
                    <a:lnTo>
                      <a:pt x="827" y="689"/>
                    </a:lnTo>
                    <a:lnTo>
                      <a:pt x="789" y="686"/>
                    </a:lnTo>
                    <a:lnTo>
                      <a:pt x="762" y="688"/>
                    </a:lnTo>
                    <a:lnTo>
                      <a:pt x="735" y="692"/>
                    </a:lnTo>
                    <a:lnTo>
                      <a:pt x="719" y="698"/>
                    </a:lnTo>
                    <a:lnTo>
                      <a:pt x="706" y="707"/>
                    </a:lnTo>
                    <a:lnTo>
                      <a:pt x="696" y="718"/>
                    </a:lnTo>
                    <a:lnTo>
                      <a:pt x="692" y="732"/>
                    </a:lnTo>
                    <a:lnTo>
                      <a:pt x="695" y="745"/>
                    </a:lnTo>
                    <a:lnTo>
                      <a:pt x="701" y="759"/>
                    </a:lnTo>
                    <a:lnTo>
                      <a:pt x="711" y="777"/>
                    </a:lnTo>
                    <a:lnTo>
                      <a:pt x="719" y="793"/>
                    </a:lnTo>
                    <a:lnTo>
                      <a:pt x="724" y="810"/>
                    </a:lnTo>
                    <a:lnTo>
                      <a:pt x="724" y="828"/>
                    </a:lnTo>
                    <a:lnTo>
                      <a:pt x="719" y="845"/>
                    </a:lnTo>
                    <a:lnTo>
                      <a:pt x="709" y="861"/>
                    </a:lnTo>
                    <a:lnTo>
                      <a:pt x="698" y="875"/>
                    </a:lnTo>
                    <a:lnTo>
                      <a:pt x="682" y="889"/>
                    </a:lnTo>
                    <a:lnTo>
                      <a:pt x="663" y="900"/>
                    </a:lnTo>
                    <a:lnTo>
                      <a:pt x="642" y="909"/>
                    </a:lnTo>
                    <a:lnTo>
                      <a:pt x="621" y="915"/>
                    </a:lnTo>
                    <a:lnTo>
                      <a:pt x="600" y="919"/>
                    </a:lnTo>
                    <a:lnTo>
                      <a:pt x="578" y="922"/>
                    </a:lnTo>
                    <a:lnTo>
                      <a:pt x="558" y="925"/>
                    </a:lnTo>
                    <a:lnTo>
                      <a:pt x="539" y="925"/>
                    </a:lnTo>
                    <a:lnTo>
                      <a:pt x="520" y="922"/>
                    </a:lnTo>
                    <a:lnTo>
                      <a:pt x="503" y="919"/>
                    </a:lnTo>
                    <a:lnTo>
                      <a:pt x="487" y="915"/>
                    </a:lnTo>
                    <a:lnTo>
                      <a:pt x="474" y="910"/>
                    </a:lnTo>
                    <a:lnTo>
                      <a:pt x="459" y="902"/>
                    </a:lnTo>
                    <a:lnTo>
                      <a:pt x="448" y="893"/>
                    </a:lnTo>
                    <a:lnTo>
                      <a:pt x="437" y="880"/>
                    </a:lnTo>
                    <a:lnTo>
                      <a:pt x="424" y="865"/>
                    </a:lnTo>
                    <a:lnTo>
                      <a:pt x="414" y="851"/>
                    </a:lnTo>
                    <a:lnTo>
                      <a:pt x="404" y="838"/>
                    </a:lnTo>
                    <a:lnTo>
                      <a:pt x="392" y="820"/>
                    </a:lnTo>
                    <a:lnTo>
                      <a:pt x="381" y="804"/>
                    </a:lnTo>
                    <a:lnTo>
                      <a:pt x="366" y="788"/>
                    </a:lnTo>
                    <a:lnTo>
                      <a:pt x="350" y="772"/>
                    </a:lnTo>
                    <a:lnTo>
                      <a:pt x="334" y="761"/>
                    </a:lnTo>
                    <a:lnTo>
                      <a:pt x="317" y="750"/>
                    </a:lnTo>
                    <a:lnTo>
                      <a:pt x="298" y="743"/>
                    </a:lnTo>
                    <a:lnTo>
                      <a:pt x="278" y="737"/>
                    </a:lnTo>
                    <a:lnTo>
                      <a:pt x="251" y="733"/>
                    </a:lnTo>
                    <a:lnTo>
                      <a:pt x="222" y="732"/>
                    </a:lnTo>
                    <a:lnTo>
                      <a:pt x="198" y="730"/>
                    </a:lnTo>
                    <a:lnTo>
                      <a:pt x="174" y="730"/>
                    </a:lnTo>
                    <a:lnTo>
                      <a:pt x="147" y="732"/>
                    </a:lnTo>
                    <a:lnTo>
                      <a:pt x="122" y="736"/>
                    </a:lnTo>
                    <a:lnTo>
                      <a:pt x="96" y="740"/>
                    </a:lnTo>
                    <a:lnTo>
                      <a:pt x="67" y="746"/>
                    </a:lnTo>
                    <a:lnTo>
                      <a:pt x="38" y="752"/>
                    </a:lnTo>
                    <a:lnTo>
                      <a:pt x="0" y="759"/>
                    </a:lnTo>
                    <a:close/>
                  </a:path>
                </a:pathLst>
              </a:custGeom>
              <a:solidFill>
                <a:srgbClr val="EFF4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" name="Freeform 116"/>
              <p:cNvSpPr>
                <a:spLocks/>
              </p:cNvSpPr>
              <p:nvPr/>
            </p:nvSpPr>
            <p:spPr bwMode="auto">
              <a:xfrm>
                <a:off x="2528" y="4639"/>
                <a:ext cx="729" cy="295"/>
              </a:xfrm>
              <a:custGeom>
                <a:avLst/>
                <a:gdLst>
                  <a:gd name="T0" fmla="*/ 1 w 1201"/>
                  <a:gd name="T1" fmla="*/ 0 h 887"/>
                  <a:gd name="T2" fmla="*/ 1 w 1201"/>
                  <a:gd name="T3" fmla="*/ 0 h 887"/>
                  <a:gd name="T4" fmla="*/ 1 w 1201"/>
                  <a:gd name="T5" fmla="*/ 0 h 887"/>
                  <a:gd name="T6" fmla="*/ 1 w 1201"/>
                  <a:gd name="T7" fmla="*/ 0 h 887"/>
                  <a:gd name="T8" fmla="*/ 1 w 1201"/>
                  <a:gd name="T9" fmla="*/ 0 h 887"/>
                  <a:gd name="T10" fmla="*/ 1 w 1201"/>
                  <a:gd name="T11" fmla="*/ 0 h 887"/>
                  <a:gd name="T12" fmla="*/ 1 w 1201"/>
                  <a:gd name="T13" fmla="*/ 0 h 887"/>
                  <a:gd name="T14" fmla="*/ 1 w 1201"/>
                  <a:gd name="T15" fmla="*/ 0 h 887"/>
                  <a:gd name="T16" fmla="*/ 1 w 1201"/>
                  <a:gd name="T17" fmla="*/ 0 h 887"/>
                  <a:gd name="T18" fmla="*/ 1 w 1201"/>
                  <a:gd name="T19" fmla="*/ 0 h 887"/>
                  <a:gd name="T20" fmla="*/ 1 w 1201"/>
                  <a:gd name="T21" fmla="*/ 0 h 887"/>
                  <a:gd name="T22" fmla="*/ 1 w 1201"/>
                  <a:gd name="T23" fmla="*/ 0 h 887"/>
                  <a:gd name="T24" fmla="*/ 1 w 1201"/>
                  <a:gd name="T25" fmla="*/ 0 h 887"/>
                  <a:gd name="T26" fmla="*/ 1 w 1201"/>
                  <a:gd name="T27" fmla="*/ 0 h 887"/>
                  <a:gd name="T28" fmla="*/ 1 w 1201"/>
                  <a:gd name="T29" fmla="*/ 0 h 887"/>
                  <a:gd name="T30" fmla="*/ 1 w 1201"/>
                  <a:gd name="T31" fmla="*/ 0 h 887"/>
                  <a:gd name="T32" fmla="*/ 1 w 1201"/>
                  <a:gd name="T33" fmla="*/ 0 h 887"/>
                  <a:gd name="T34" fmla="*/ 1 w 1201"/>
                  <a:gd name="T35" fmla="*/ 0 h 887"/>
                  <a:gd name="T36" fmla="*/ 1 w 1201"/>
                  <a:gd name="T37" fmla="*/ 0 h 887"/>
                  <a:gd name="T38" fmla="*/ 1 w 1201"/>
                  <a:gd name="T39" fmla="*/ 0 h 887"/>
                  <a:gd name="T40" fmla="*/ 1 w 1201"/>
                  <a:gd name="T41" fmla="*/ 0 h 887"/>
                  <a:gd name="T42" fmla="*/ 1 w 1201"/>
                  <a:gd name="T43" fmla="*/ 0 h 887"/>
                  <a:gd name="T44" fmla="*/ 1 w 1201"/>
                  <a:gd name="T45" fmla="*/ 0 h 887"/>
                  <a:gd name="T46" fmla="*/ 1 w 1201"/>
                  <a:gd name="T47" fmla="*/ 0 h 887"/>
                  <a:gd name="T48" fmla="*/ 1 w 1201"/>
                  <a:gd name="T49" fmla="*/ 0 h 887"/>
                  <a:gd name="T50" fmla="*/ 1 w 1201"/>
                  <a:gd name="T51" fmla="*/ 0 h 887"/>
                  <a:gd name="T52" fmla="*/ 1 w 1201"/>
                  <a:gd name="T53" fmla="*/ 0 h 887"/>
                  <a:gd name="T54" fmla="*/ 1 w 1201"/>
                  <a:gd name="T55" fmla="*/ 0 h 887"/>
                  <a:gd name="T56" fmla="*/ 1 w 1201"/>
                  <a:gd name="T57" fmla="*/ 0 h 887"/>
                  <a:gd name="T58" fmla="*/ 1 w 1201"/>
                  <a:gd name="T59" fmla="*/ 0 h 887"/>
                  <a:gd name="T60" fmla="*/ 1 w 1201"/>
                  <a:gd name="T61" fmla="*/ 0 h 887"/>
                  <a:gd name="T62" fmla="*/ 1 w 1201"/>
                  <a:gd name="T63" fmla="*/ 0 h 887"/>
                  <a:gd name="T64" fmla="*/ 1 w 1201"/>
                  <a:gd name="T65" fmla="*/ 0 h 887"/>
                  <a:gd name="T66" fmla="*/ 1 w 1201"/>
                  <a:gd name="T67" fmla="*/ 0 h 887"/>
                  <a:gd name="T68" fmla="*/ 1 w 1201"/>
                  <a:gd name="T69" fmla="*/ 0 h 887"/>
                  <a:gd name="T70" fmla="*/ 1 w 1201"/>
                  <a:gd name="T71" fmla="*/ 0 h 887"/>
                  <a:gd name="T72" fmla="*/ 1 w 1201"/>
                  <a:gd name="T73" fmla="*/ 0 h 887"/>
                  <a:gd name="T74" fmla="*/ 1 w 1201"/>
                  <a:gd name="T75" fmla="*/ 0 h 887"/>
                  <a:gd name="T76" fmla="*/ 1 w 1201"/>
                  <a:gd name="T77" fmla="*/ 0 h 887"/>
                  <a:gd name="T78" fmla="*/ 1 w 1201"/>
                  <a:gd name="T79" fmla="*/ 0 h 887"/>
                  <a:gd name="T80" fmla="*/ 1 w 1201"/>
                  <a:gd name="T81" fmla="*/ 0 h 887"/>
                  <a:gd name="T82" fmla="*/ 1 w 1201"/>
                  <a:gd name="T83" fmla="*/ 0 h 887"/>
                  <a:gd name="T84" fmla="*/ 1 w 1201"/>
                  <a:gd name="T85" fmla="*/ 0 h 887"/>
                  <a:gd name="T86" fmla="*/ 1 w 1201"/>
                  <a:gd name="T87" fmla="*/ 0 h 887"/>
                  <a:gd name="T88" fmla="*/ 1 w 1201"/>
                  <a:gd name="T89" fmla="*/ 0 h 887"/>
                  <a:gd name="T90" fmla="*/ 1 w 1201"/>
                  <a:gd name="T91" fmla="*/ 0 h 887"/>
                  <a:gd name="T92" fmla="*/ 1 w 1201"/>
                  <a:gd name="T93" fmla="*/ 0 h 887"/>
                  <a:gd name="T94" fmla="*/ 1 w 1201"/>
                  <a:gd name="T95" fmla="*/ 0 h 887"/>
                  <a:gd name="T96" fmla="*/ 1 w 1201"/>
                  <a:gd name="T97" fmla="*/ 0 h 887"/>
                  <a:gd name="T98" fmla="*/ 1 w 1201"/>
                  <a:gd name="T99" fmla="*/ 0 h 887"/>
                  <a:gd name="T100" fmla="*/ 1 w 1201"/>
                  <a:gd name="T101" fmla="*/ 0 h 887"/>
                  <a:gd name="T102" fmla="*/ 1 w 1201"/>
                  <a:gd name="T103" fmla="*/ 0 h 887"/>
                  <a:gd name="T104" fmla="*/ 1 w 1201"/>
                  <a:gd name="T105" fmla="*/ 0 h 887"/>
                  <a:gd name="T106" fmla="*/ 1 w 1201"/>
                  <a:gd name="T107" fmla="*/ 0 h 887"/>
                  <a:gd name="T108" fmla="*/ 1 w 1201"/>
                  <a:gd name="T109" fmla="*/ 0 h 887"/>
                  <a:gd name="T110" fmla="*/ 1 w 1201"/>
                  <a:gd name="T111" fmla="*/ 0 h 887"/>
                  <a:gd name="T112" fmla="*/ 1 w 1201"/>
                  <a:gd name="T113" fmla="*/ 0 h 887"/>
                  <a:gd name="T114" fmla="*/ 1 w 1201"/>
                  <a:gd name="T115" fmla="*/ 0 h 887"/>
                  <a:gd name="T116" fmla="*/ 0 w 1201"/>
                  <a:gd name="T117" fmla="*/ 0 h 887"/>
                  <a:gd name="T118" fmla="*/ 1 w 1201"/>
                  <a:gd name="T119" fmla="*/ 0 h 887"/>
                  <a:gd name="T120" fmla="*/ 1 w 1201"/>
                  <a:gd name="T121" fmla="*/ 0 h 887"/>
                  <a:gd name="T122" fmla="*/ 1 w 1201"/>
                  <a:gd name="T123" fmla="*/ 0 h 887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201"/>
                  <a:gd name="T187" fmla="*/ 0 h 887"/>
                  <a:gd name="T188" fmla="*/ 1201 w 1201"/>
                  <a:gd name="T189" fmla="*/ 887 h 887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201" h="887">
                    <a:moveTo>
                      <a:pt x="37" y="20"/>
                    </a:moveTo>
                    <a:lnTo>
                      <a:pt x="51" y="0"/>
                    </a:lnTo>
                    <a:lnTo>
                      <a:pt x="1002" y="0"/>
                    </a:lnTo>
                    <a:lnTo>
                      <a:pt x="1201" y="723"/>
                    </a:lnTo>
                    <a:lnTo>
                      <a:pt x="1176" y="710"/>
                    </a:lnTo>
                    <a:lnTo>
                      <a:pt x="1159" y="700"/>
                    </a:lnTo>
                    <a:lnTo>
                      <a:pt x="1139" y="691"/>
                    </a:lnTo>
                    <a:lnTo>
                      <a:pt x="1114" y="682"/>
                    </a:lnTo>
                    <a:lnTo>
                      <a:pt x="1088" y="676"/>
                    </a:lnTo>
                    <a:lnTo>
                      <a:pt x="1060" y="672"/>
                    </a:lnTo>
                    <a:lnTo>
                      <a:pt x="1027" y="668"/>
                    </a:lnTo>
                    <a:lnTo>
                      <a:pt x="996" y="666"/>
                    </a:lnTo>
                    <a:lnTo>
                      <a:pt x="966" y="665"/>
                    </a:lnTo>
                    <a:lnTo>
                      <a:pt x="931" y="665"/>
                    </a:lnTo>
                    <a:lnTo>
                      <a:pt x="890" y="665"/>
                    </a:lnTo>
                    <a:lnTo>
                      <a:pt x="858" y="668"/>
                    </a:lnTo>
                    <a:lnTo>
                      <a:pt x="826" y="670"/>
                    </a:lnTo>
                    <a:lnTo>
                      <a:pt x="798" y="673"/>
                    </a:lnTo>
                    <a:lnTo>
                      <a:pt x="772" y="679"/>
                    </a:lnTo>
                    <a:lnTo>
                      <a:pt x="752" y="685"/>
                    </a:lnTo>
                    <a:lnTo>
                      <a:pt x="734" y="692"/>
                    </a:lnTo>
                    <a:lnTo>
                      <a:pt x="720" y="701"/>
                    </a:lnTo>
                    <a:lnTo>
                      <a:pt x="710" y="710"/>
                    </a:lnTo>
                    <a:lnTo>
                      <a:pt x="704" y="723"/>
                    </a:lnTo>
                    <a:lnTo>
                      <a:pt x="704" y="736"/>
                    </a:lnTo>
                    <a:lnTo>
                      <a:pt x="711" y="749"/>
                    </a:lnTo>
                    <a:lnTo>
                      <a:pt x="720" y="761"/>
                    </a:lnTo>
                    <a:lnTo>
                      <a:pt x="726" y="772"/>
                    </a:lnTo>
                    <a:lnTo>
                      <a:pt x="726" y="790"/>
                    </a:lnTo>
                    <a:lnTo>
                      <a:pt x="717" y="804"/>
                    </a:lnTo>
                    <a:lnTo>
                      <a:pt x="705" y="819"/>
                    </a:lnTo>
                    <a:lnTo>
                      <a:pt x="688" y="833"/>
                    </a:lnTo>
                    <a:lnTo>
                      <a:pt x="670" y="846"/>
                    </a:lnTo>
                    <a:lnTo>
                      <a:pt x="653" y="855"/>
                    </a:lnTo>
                    <a:lnTo>
                      <a:pt x="636" y="862"/>
                    </a:lnTo>
                    <a:lnTo>
                      <a:pt x="617" y="871"/>
                    </a:lnTo>
                    <a:lnTo>
                      <a:pt x="596" y="877"/>
                    </a:lnTo>
                    <a:lnTo>
                      <a:pt x="576" y="881"/>
                    </a:lnTo>
                    <a:lnTo>
                      <a:pt x="556" y="884"/>
                    </a:lnTo>
                    <a:lnTo>
                      <a:pt x="538" y="887"/>
                    </a:lnTo>
                    <a:lnTo>
                      <a:pt x="515" y="887"/>
                    </a:lnTo>
                    <a:lnTo>
                      <a:pt x="495" y="884"/>
                    </a:lnTo>
                    <a:lnTo>
                      <a:pt x="476" y="881"/>
                    </a:lnTo>
                    <a:lnTo>
                      <a:pt x="458" y="875"/>
                    </a:lnTo>
                    <a:lnTo>
                      <a:pt x="439" y="868"/>
                    </a:lnTo>
                    <a:lnTo>
                      <a:pt x="423" y="859"/>
                    </a:lnTo>
                    <a:lnTo>
                      <a:pt x="413" y="849"/>
                    </a:lnTo>
                    <a:lnTo>
                      <a:pt x="409" y="839"/>
                    </a:lnTo>
                    <a:lnTo>
                      <a:pt x="407" y="829"/>
                    </a:lnTo>
                    <a:lnTo>
                      <a:pt x="409" y="814"/>
                    </a:lnTo>
                    <a:lnTo>
                      <a:pt x="413" y="800"/>
                    </a:lnTo>
                    <a:lnTo>
                      <a:pt x="423" y="782"/>
                    </a:lnTo>
                    <a:lnTo>
                      <a:pt x="436" y="766"/>
                    </a:lnTo>
                    <a:lnTo>
                      <a:pt x="447" y="753"/>
                    </a:lnTo>
                    <a:lnTo>
                      <a:pt x="454" y="743"/>
                    </a:lnTo>
                    <a:lnTo>
                      <a:pt x="460" y="727"/>
                    </a:lnTo>
                    <a:lnTo>
                      <a:pt x="464" y="711"/>
                    </a:lnTo>
                    <a:lnTo>
                      <a:pt x="460" y="698"/>
                    </a:lnTo>
                    <a:lnTo>
                      <a:pt x="451" y="686"/>
                    </a:lnTo>
                    <a:lnTo>
                      <a:pt x="435" y="676"/>
                    </a:lnTo>
                    <a:lnTo>
                      <a:pt x="418" y="672"/>
                    </a:lnTo>
                    <a:lnTo>
                      <a:pt x="400" y="668"/>
                    </a:lnTo>
                    <a:lnTo>
                      <a:pt x="375" y="665"/>
                    </a:lnTo>
                    <a:lnTo>
                      <a:pt x="326" y="665"/>
                    </a:lnTo>
                    <a:lnTo>
                      <a:pt x="290" y="668"/>
                    </a:lnTo>
                    <a:lnTo>
                      <a:pt x="256" y="672"/>
                    </a:lnTo>
                    <a:lnTo>
                      <a:pt x="213" y="678"/>
                    </a:lnTo>
                    <a:lnTo>
                      <a:pt x="173" y="685"/>
                    </a:lnTo>
                    <a:lnTo>
                      <a:pt x="130" y="692"/>
                    </a:lnTo>
                    <a:lnTo>
                      <a:pt x="98" y="698"/>
                    </a:lnTo>
                    <a:lnTo>
                      <a:pt x="76" y="702"/>
                    </a:lnTo>
                    <a:lnTo>
                      <a:pt x="63" y="710"/>
                    </a:lnTo>
                    <a:lnTo>
                      <a:pt x="54" y="694"/>
                    </a:lnTo>
                    <a:lnTo>
                      <a:pt x="45" y="676"/>
                    </a:lnTo>
                    <a:lnTo>
                      <a:pt x="37" y="657"/>
                    </a:lnTo>
                    <a:lnTo>
                      <a:pt x="29" y="638"/>
                    </a:lnTo>
                    <a:lnTo>
                      <a:pt x="24" y="615"/>
                    </a:lnTo>
                    <a:lnTo>
                      <a:pt x="19" y="589"/>
                    </a:lnTo>
                    <a:lnTo>
                      <a:pt x="21" y="564"/>
                    </a:lnTo>
                    <a:lnTo>
                      <a:pt x="25" y="540"/>
                    </a:lnTo>
                    <a:lnTo>
                      <a:pt x="35" y="513"/>
                    </a:lnTo>
                    <a:lnTo>
                      <a:pt x="50" y="487"/>
                    </a:lnTo>
                    <a:lnTo>
                      <a:pt x="66" y="464"/>
                    </a:lnTo>
                    <a:lnTo>
                      <a:pt x="86" y="445"/>
                    </a:lnTo>
                    <a:lnTo>
                      <a:pt x="108" y="430"/>
                    </a:lnTo>
                    <a:lnTo>
                      <a:pt x="131" y="419"/>
                    </a:lnTo>
                    <a:lnTo>
                      <a:pt x="154" y="407"/>
                    </a:lnTo>
                    <a:lnTo>
                      <a:pt x="178" y="398"/>
                    </a:lnTo>
                    <a:lnTo>
                      <a:pt x="201" y="388"/>
                    </a:lnTo>
                    <a:lnTo>
                      <a:pt x="230" y="374"/>
                    </a:lnTo>
                    <a:lnTo>
                      <a:pt x="249" y="365"/>
                    </a:lnTo>
                    <a:lnTo>
                      <a:pt x="266" y="352"/>
                    </a:lnTo>
                    <a:lnTo>
                      <a:pt x="282" y="337"/>
                    </a:lnTo>
                    <a:lnTo>
                      <a:pt x="297" y="321"/>
                    </a:lnTo>
                    <a:lnTo>
                      <a:pt x="307" y="302"/>
                    </a:lnTo>
                    <a:lnTo>
                      <a:pt x="314" y="282"/>
                    </a:lnTo>
                    <a:lnTo>
                      <a:pt x="317" y="259"/>
                    </a:lnTo>
                    <a:lnTo>
                      <a:pt x="313" y="237"/>
                    </a:lnTo>
                    <a:lnTo>
                      <a:pt x="303" y="214"/>
                    </a:lnTo>
                    <a:lnTo>
                      <a:pt x="288" y="196"/>
                    </a:lnTo>
                    <a:lnTo>
                      <a:pt x="269" y="183"/>
                    </a:lnTo>
                    <a:lnTo>
                      <a:pt x="247" y="176"/>
                    </a:lnTo>
                    <a:lnTo>
                      <a:pt x="227" y="176"/>
                    </a:lnTo>
                    <a:lnTo>
                      <a:pt x="207" y="183"/>
                    </a:lnTo>
                    <a:lnTo>
                      <a:pt x="186" y="196"/>
                    </a:lnTo>
                    <a:lnTo>
                      <a:pt x="172" y="212"/>
                    </a:lnTo>
                    <a:lnTo>
                      <a:pt x="156" y="230"/>
                    </a:lnTo>
                    <a:lnTo>
                      <a:pt x="141" y="246"/>
                    </a:lnTo>
                    <a:lnTo>
                      <a:pt x="125" y="256"/>
                    </a:lnTo>
                    <a:lnTo>
                      <a:pt x="105" y="260"/>
                    </a:lnTo>
                    <a:lnTo>
                      <a:pt x="79" y="260"/>
                    </a:lnTo>
                    <a:lnTo>
                      <a:pt x="57" y="256"/>
                    </a:lnTo>
                    <a:lnTo>
                      <a:pt x="41" y="243"/>
                    </a:lnTo>
                    <a:lnTo>
                      <a:pt x="26" y="230"/>
                    </a:lnTo>
                    <a:lnTo>
                      <a:pt x="15" y="214"/>
                    </a:lnTo>
                    <a:lnTo>
                      <a:pt x="6" y="193"/>
                    </a:lnTo>
                    <a:lnTo>
                      <a:pt x="2" y="175"/>
                    </a:lnTo>
                    <a:lnTo>
                      <a:pt x="0" y="153"/>
                    </a:lnTo>
                    <a:lnTo>
                      <a:pt x="2" y="129"/>
                    </a:lnTo>
                    <a:lnTo>
                      <a:pt x="6" y="108"/>
                    </a:lnTo>
                    <a:lnTo>
                      <a:pt x="13" y="79"/>
                    </a:lnTo>
                    <a:lnTo>
                      <a:pt x="22" y="54"/>
                    </a:lnTo>
                    <a:lnTo>
                      <a:pt x="28" y="38"/>
                    </a:lnTo>
                    <a:lnTo>
                      <a:pt x="37" y="20"/>
                    </a:lnTo>
                    <a:close/>
                  </a:path>
                </a:pathLst>
              </a:custGeom>
              <a:solidFill>
                <a:srgbClr val="EFF4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Freeform 117"/>
              <p:cNvSpPr>
                <a:spLocks/>
              </p:cNvSpPr>
              <p:nvPr/>
            </p:nvSpPr>
            <p:spPr bwMode="auto">
              <a:xfrm>
                <a:off x="1056" y="4853"/>
                <a:ext cx="964" cy="334"/>
              </a:xfrm>
              <a:custGeom>
                <a:avLst/>
                <a:gdLst>
                  <a:gd name="T0" fmla="*/ 1 w 1488"/>
                  <a:gd name="T1" fmla="*/ 0 h 1007"/>
                  <a:gd name="T2" fmla="*/ 1 w 1488"/>
                  <a:gd name="T3" fmla="*/ 0 h 1007"/>
                  <a:gd name="T4" fmla="*/ 1 w 1488"/>
                  <a:gd name="T5" fmla="*/ 0 h 1007"/>
                  <a:gd name="T6" fmla="*/ 1 w 1488"/>
                  <a:gd name="T7" fmla="*/ 0 h 1007"/>
                  <a:gd name="T8" fmla="*/ 1 w 1488"/>
                  <a:gd name="T9" fmla="*/ 0 h 1007"/>
                  <a:gd name="T10" fmla="*/ 1 w 1488"/>
                  <a:gd name="T11" fmla="*/ 0 h 1007"/>
                  <a:gd name="T12" fmla="*/ 1 w 1488"/>
                  <a:gd name="T13" fmla="*/ 0 h 1007"/>
                  <a:gd name="T14" fmla="*/ 1 w 1488"/>
                  <a:gd name="T15" fmla="*/ 0 h 1007"/>
                  <a:gd name="T16" fmla="*/ 1 w 1488"/>
                  <a:gd name="T17" fmla="*/ 0 h 1007"/>
                  <a:gd name="T18" fmla="*/ 1 w 1488"/>
                  <a:gd name="T19" fmla="*/ 0 h 1007"/>
                  <a:gd name="T20" fmla="*/ 1 w 1488"/>
                  <a:gd name="T21" fmla="*/ 0 h 1007"/>
                  <a:gd name="T22" fmla="*/ 1 w 1488"/>
                  <a:gd name="T23" fmla="*/ 0 h 1007"/>
                  <a:gd name="T24" fmla="*/ 1 w 1488"/>
                  <a:gd name="T25" fmla="*/ 0 h 1007"/>
                  <a:gd name="T26" fmla="*/ 1 w 1488"/>
                  <a:gd name="T27" fmla="*/ 0 h 1007"/>
                  <a:gd name="T28" fmla="*/ 1 w 1488"/>
                  <a:gd name="T29" fmla="*/ 0 h 1007"/>
                  <a:gd name="T30" fmla="*/ 1 w 1488"/>
                  <a:gd name="T31" fmla="*/ 0 h 1007"/>
                  <a:gd name="T32" fmla="*/ 1 w 1488"/>
                  <a:gd name="T33" fmla="*/ 0 h 1007"/>
                  <a:gd name="T34" fmla="*/ 1 w 1488"/>
                  <a:gd name="T35" fmla="*/ 0 h 1007"/>
                  <a:gd name="T36" fmla="*/ 1 w 1488"/>
                  <a:gd name="T37" fmla="*/ 0 h 1007"/>
                  <a:gd name="T38" fmla="*/ 1 w 1488"/>
                  <a:gd name="T39" fmla="*/ 0 h 1007"/>
                  <a:gd name="T40" fmla="*/ 1 w 1488"/>
                  <a:gd name="T41" fmla="*/ 0 h 1007"/>
                  <a:gd name="T42" fmla="*/ 1 w 1488"/>
                  <a:gd name="T43" fmla="*/ 0 h 1007"/>
                  <a:gd name="T44" fmla="*/ 1 w 1488"/>
                  <a:gd name="T45" fmla="*/ 0 h 1007"/>
                  <a:gd name="T46" fmla="*/ 1 w 1488"/>
                  <a:gd name="T47" fmla="*/ 0 h 1007"/>
                  <a:gd name="T48" fmla="*/ 1 w 1488"/>
                  <a:gd name="T49" fmla="*/ 0 h 1007"/>
                  <a:gd name="T50" fmla="*/ 1 w 1488"/>
                  <a:gd name="T51" fmla="*/ 0 h 1007"/>
                  <a:gd name="T52" fmla="*/ 1 w 1488"/>
                  <a:gd name="T53" fmla="*/ 0 h 1007"/>
                  <a:gd name="T54" fmla="*/ 1 w 1488"/>
                  <a:gd name="T55" fmla="*/ 0 h 1007"/>
                  <a:gd name="T56" fmla="*/ 1 w 1488"/>
                  <a:gd name="T57" fmla="*/ 0 h 1007"/>
                  <a:gd name="T58" fmla="*/ 1 w 1488"/>
                  <a:gd name="T59" fmla="*/ 0 h 1007"/>
                  <a:gd name="T60" fmla="*/ 1 w 1488"/>
                  <a:gd name="T61" fmla="*/ 0 h 1007"/>
                  <a:gd name="T62" fmla="*/ 1 w 1488"/>
                  <a:gd name="T63" fmla="*/ 0 h 1007"/>
                  <a:gd name="T64" fmla="*/ 1 w 1488"/>
                  <a:gd name="T65" fmla="*/ 0 h 1007"/>
                  <a:gd name="T66" fmla="*/ 1 w 1488"/>
                  <a:gd name="T67" fmla="*/ 0 h 1007"/>
                  <a:gd name="T68" fmla="*/ 1 w 1488"/>
                  <a:gd name="T69" fmla="*/ 0 h 1007"/>
                  <a:gd name="T70" fmla="*/ 1 w 1488"/>
                  <a:gd name="T71" fmla="*/ 0 h 1007"/>
                  <a:gd name="T72" fmla="*/ 1 w 1488"/>
                  <a:gd name="T73" fmla="*/ 0 h 1007"/>
                  <a:gd name="T74" fmla="*/ 1 w 1488"/>
                  <a:gd name="T75" fmla="*/ 0 h 1007"/>
                  <a:gd name="T76" fmla="*/ 1 w 1488"/>
                  <a:gd name="T77" fmla="*/ 0 h 1007"/>
                  <a:gd name="T78" fmla="*/ 1 w 1488"/>
                  <a:gd name="T79" fmla="*/ 0 h 1007"/>
                  <a:gd name="T80" fmla="*/ 1 w 1488"/>
                  <a:gd name="T81" fmla="*/ 0 h 1007"/>
                  <a:gd name="T82" fmla="*/ 1 w 1488"/>
                  <a:gd name="T83" fmla="*/ 0 h 1007"/>
                  <a:gd name="T84" fmla="*/ 1 w 1488"/>
                  <a:gd name="T85" fmla="*/ 0 h 1007"/>
                  <a:gd name="T86" fmla="*/ 1 w 1488"/>
                  <a:gd name="T87" fmla="*/ 0 h 1007"/>
                  <a:gd name="T88" fmla="*/ 1 w 1488"/>
                  <a:gd name="T89" fmla="*/ 0 h 1007"/>
                  <a:gd name="T90" fmla="*/ 1 w 1488"/>
                  <a:gd name="T91" fmla="*/ 0 h 1007"/>
                  <a:gd name="T92" fmla="*/ 1 w 1488"/>
                  <a:gd name="T93" fmla="*/ 0 h 1007"/>
                  <a:gd name="T94" fmla="*/ 1 w 1488"/>
                  <a:gd name="T95" fmla="*/ 0 h 1007"/>
                  <a:gd name="T96" fmla="*/ 1 w 1488"/>
                  <a:gd name="T97" fmla="*/ 0 h 1007"/>
                  <a:gd name="T98" fmla="*/ 1 w 1488"/>
                  <a:gd name="T99" fmla="*/ 0 h 1007"/>
                  <a:gd name="T100" fmla="*/ 1 w 1488"/>
                  <a:gd name="T101" fmla="*/ 0 h 1007"/>
                  <a:gd name="T102" fmla="*/ 1 w 1488"/>
                  <a:gd name="T103" fmla="*/ 0 h 1007"/>
                  <a:gd name="T104" fmla="*/ 1 w 1488"/>
                  <a:gd name="T105" fmla="*/ 0 h 1007"/>
                  <a:gd name="T106" fmla="*/ 1 w 1488"/>
                  <a:gd name="T107" fmla="*/ 0 h 1007"/>
                  <a:gd name="T108" fmla="*/ 1 w 1488"/>
                  <a:gd name="T109" fmla="*/ 0 h 1007"/>
                  <a:gd name="T110" fmla="*/ 1 w 1488"/>
                  <a:gd name="T111" fmla="*/ 0 h 1007"/>
                  <a:gd name="T112" fmla="*/ 1 w 1488"/>
                  <a:gd name="T113" fmla="*/ 0 h 1007"/>
                  <a:gd name="T114" fmla="*/ 1 w 1488"/>
                  <a:gd name="T115" fmla="*/ 0 h 1007"/>
                  <a:gd name="T116" fmla="*/ 1 w 1488"/>
                  <a:gd name="T117" fmla="*/ 0 h 1007"/>
                  <a:gd name="T118" fmla="*/ 1 w 1488"/>
                  <a:gd name="T119" fmla="*/ 0 h 1007"/>
                  <a:gd name="T120" fmla="*/ 1 w 1488"/>
                  <a:gd name="T121" fmla="*/ 0 h 10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488"/>
                  <a:gd name="T184" fmla="*/ 0 h 1007"/>
                  <a:gd name="T185" fmla="*/ 1488 w 1488"/>
                  <a:gd name="T186" fmla="*/ 1007 h 10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488" h="1007">
                    <a:moveTo>
                      <a:pt x="175" y="73"/>
                    </a:moveTo>
                    <a:lnTo>
                      <a:pt x="0" y="822"/>
                    </a:lnTo>
                    <a:lnTo>
                      <a:pt x="22" y="821"/>
                    </a:lnTo>
                    <a:lnTo>
                      <a:pt x="47" y="818"/>
                    </a:lnTo>
                    <a:lnTo>
                      <a:pt x="92" y="809"/>
                    </a:lnTo>
                    <a:lnTo>
                      <a:pt x="125" y="802"/>
                    </a:lnTo>
                    <a:lnTo>
                      <a:pt x="168" y="793"/>
                    </a:lnTo>
                    <a:lnTo>
                      <a:pt x="214" y="781"/>
                    </a:lnTo>
                    <a:lnTo>
                      <a:pt x="258" y="768"/>
                    </a:lnTo>
                    <a:lnTo>
                      <a:pt x="298" y="754"/>
                    </a:lnTo>
                    <a:lnTo>
                      <a:pt x="345" y="738"/>
                    </a:lnTo>
                    <a:lnTo>
                      <a:pt x="375" y="731"/>
                    </a:lnTo>
                    <a:lnTo>
                      <a:pt x="402" y="726"/>
                    </a:lnTo>
                    <a:lnTo>
                      <a:pt x="425" y="725"/>
                    </a:lnTo>
                    <a:lnTo>
                      <a:pt x="447" y="725"/>
                    </a:lnTo>
                    <a:lnTo>
                      <a:pt x="479" y="729"/>
                    </a:lnTo>
                    <a:lnTo>
                      <a:pt x="500" y="733"/>
                    </a:lnTo>
                    <a:lnTo>
                      <a:pt x="524" y="741"/>
                    </a:lnTo>
                    <a:lnTo>
                      <a:pt x="540" y="749"/>
                    </a:lnTo>
                    <a:lnTo>
                      <a:pt x="551" y="760"/>
                    </a:lnTo>
                    <a:lnTo>
                      <a:pt x="560" y="776"/>
                    </a:lnTo>
                    <a:lnTo>
                      <a:pt x="563" y="787"/>
                    </a:lnTo>
                    <a:lnTo>
                      <a:pt x="562" y="803"/>
                    </a:lnTo>
                    <a:lnTo>
                      <a:pt x="556" y="819"/>
                    </a:lnTo>
                    <a:lnTo>
                      <a:pt x="541" y="840"/>
                    </a:lnTo>
                    <a:lnTo>
                      <a:pt x="527" y="863"/>
                    </a:lnTo>
                    <a:lnTo>
                      <a:pt x="518" y="885"/>
                    </a:lnTo>
                    <a:lnTo>
                      <a:pt x="514" y="901"/>
                    </a:lnTo>
                    <a:lnTo>
                      <a:pt x="512" y="918"/>
                    </a:lnTo>
                    <a:lnTo>
                      <a:pt x="514" y="931"/>
                    </a:lnTo>
                    <a:lnTo>
                      <a:pt x="521" y="949"/>
                    </a:lnTo>
                    <a:lnTo>
                      <a:pt x="534" y="966"/>
                    </a:lnTo>
                    <a:lnTo>
                      <a:pt x="551" y="981"/>
                    </a:lnTo>
                    <a:lnTo>
                      <a:pt x="569" y="991"/>
                    </a:lnTo>
                    <a:lnTo>
                      <a:pt x="591" y="998"/>
                    </a:lnTo>
                    <a:lnTo>
                      <a:pt x="615" y="1004"/>
                    </a:lnTo>
                    <a:lnTo>
                      <a:pt x="634" y="1007"/>
                    </a:lnTo>
                    <a:lnTo>
                      <a:pt x="655" y="1004"/>
                    </a:lnTo>
                    <a:lnTo>
                      <a:pt x="676" y="1000"/>
                    </a:lnTo>
                    <a:lnTo>
                      <a:pt x="697" y="992"/>
                    </a:lnTo>
                    <a:lnTo>
                      <a:pt x="719" y="982"/>
                    </a:lnTo>
                    <a:lnTo>
                      <a:pt x="742" y="969"/>
                    </a:lnTo>
                    <a:lnTo>
                      <a:pt x="761" y="956"/>
                    </a:lnTo>
                    <a:lnTo>
                      <a:pt x="777" y="943"/>
                    </a:lnTo>
                    <a:lnTo>
                      <a:pt x="790" y="927"/>
                    </a:lnTo>
                    <a:lnTo>
                      <a:pt x="800" y="908"/>
                    </a:lnTo>
                    <a:lnTo>
                      <a:pt x="806" y="888"/>
                    </a:lnTo>
                    <a:lnTo>
                      <a:pt x="809" y="863"/>
                    </a:lnTo>
                    <a:lnTo>
                      <a:pt x="816" y="844"/>
                    </a:lnTo>
                    <a:lnTo>
                      <a:pt x="822" y="835"/>
                    </a:lnTo>
                    <a:lnTo>
                      <a:pt x="835" y="825"/>
                    </a:lnTo>
                    <a:lnTo>
                      <a:pt x="857" y="815"/>
                    </a:lnTo>
                    <a:lnTo>
                      <a:pt x="886" y="805"/>
                    </a:lnTo>
                    <a:lnTo>
                      <a:pt x="916" y="796"/>
                    </a:lnTo>
                    <a:lnTo>
                      <a:pt x="944" y="787"/>
                    </a:lnTo>
                    <a:lnTo>
                      <a:pt x="973" y="780"/>
                    </a:lnTo>
                    <a:lnTo>
                      <a:pt x="1015" y="773"/>
                    </a:lnTo>
                    <a:lnTo>
                      <a:pt x="1073" y="762"/>
                    </a:lnTo>
                    <a:lnTo>
                      <a:pt x="1139" y="757"/>
                    </a:lnTo>
                    <a:lnTo>
                      <a:pt x="1210" y="757"/>
                    </a:lnTo>
                    <a:lnTo>
                      <a:pt x="1280" y="757"/>
                    </a:lnTo>
                    <a:lnTo>
                      <a:pt x="1344" y="764"/>
                    </a:lnTo>
                    <a:lnTo>
                      <a:pt x="1352" y="751"/>
                    </a:lnTo>
                    <a:lnTo>
                      <a:pt x="1361" y="736"/>
                    </a:lnTo>
                    <a:lnTo>
                      <a:pt x="1373" y="723"/>
                    </a:lnTo>
                    <a:lnTo>
                      <a:pt x="1389" y="707"/>
                    </a:lnTo>
                    <a:lnTo>
                      <a:pt x="1400" y="696"/>
                    </a:lnTo>
                    <a:lnTo>
                      <a:pt x="1418" y="677"/>
                    </a:lnTo>
                    <a:lnTo>
                      <a:pt x="1432" y="661"/>
                    </a:lnTo>
                    <a:lnTo>
                      <a:pt x="1445" y="648"/>
                    </a:lnTo>
                    <a:lnTo>
                      <a:pt x="1459" y="632"/>
                    </a:lnTo>
                    <a:lnTo>
                      <a:pt x="1470" y="611"/>
                    </a:lnTo>
                    <a:lnTo>
                      <a:pt x="1475" y="598"/>
                    </a:lnTo>
                    <a:lnTo>
                      <a:pt x="1480" y="576"/>
                    </a:lnTo>
                    <a:lnTo>
                      <a:pt x="1486" y="559"/>
                    </a:lnTo>
                    <a:lnTo>
                      <a:pt x="1488" y="536"/>
                    </a:lnTo>
                    <a:lnTo>
                      <a:pt x="1482" y="517"/>
                    </a:lnTo>
                    <a:lnTo>
                      <a:pt x="1473" y="498"/>
                    </a:lnTo>
                    <a:lnTo>
                      <a:pt x="1463" y="486"/>
                    </a:lnTo>
                    <a:lnTo>
                      <a:pt x="1448" y="479"/>
                    </a:lnTo>
                    <a:lnTo>
                      <a:pt x="1434" y="473"/>
                    </a:lnTo>
                    <a:lnTo>
                      <a:pt x="1418" y="473"/>
                    </a:lnTo>
                    <a:lnTo>
                      <a:pt x="1402" y="473"/>
                    </a:lnTo>
                    <a:lnTo>
                      <a:pt x="1383" y="485"/>
                    </a:lnTo>
                    <a:lnTo>
                      <a:pt x="1368" y="501"/>
                    </a:lnTo>
                    <a:lnTo>
                      <a:pt x="1354" y="520"/>
                    </a:lnTo>
                    <a:lnTo>
                      <a:pt x="1338" y="543"/>
                    </a:lnTo>
                    <a:lnTo>
                      <a:pt x="1320" y="562"/>
                    </a:lnTo>
                    <a:lnTo>
                      <a:pt x="1303" y="576"/>
                    </a:lnTo>
                    <a:lnTo>
                      <a:pt x="1281" y="587"/>
                    </a:lnTo>
                    <a:lnTo>
                      <a:pt x="1256" y="594"/>
                    </a:lnTo>
                    <a:lnTo>
                      <a:pt x="1240" y="594"/>
                    </a:lnTo>
                    <a:lnTo>
                      <a:pt x="1222" y="589"/>
                    </a:lnTo>
                    <a:lnTo>
                      <a:pt x="1207" y="585"/>
                    </a:lnTo>
                    <a:lnTo>
                      <a:pt x="1192" y="579"/>
                    </a:lnTo>
                    <a:lnTo>
                      <a:pt x="1176" y="566"/>
                    </a:lnTo>
                    <a:lnTo>
                      <a:pt x="1166" y="555"/>
                    </a:lnTo>
                    <a:lnTo>
                      <a:pt x="1158" y="540"/>
                    </a:lnTo>
                    <a:lnTo>
                      <a:pt x="1153" y="525"/>
                    </a:lnTo>
                    <a:lnTo>
                      <a:pt x="1147" y="502"/>
                    </a:lnTo>
                    <a:lnTo>
                      <a:pt x="1146" y="482"/>
                    </a:lnTo>
                    <a:lnTo>
                      <a:pt x="1150" y="466"/>
                    </a:lnTo>
                    <a:lnTo>
                      <a:pt x="1160" y="448"/>
                    </a:lnTo>
                    <a:lnTo>
                      <a:pt x="1169" y="434"/>
                    </a:lnTo>
                    <a:lnTo>
                      <a:pt x="1185" y="416"/>
                    </a:lnTo>
                    <a:lnTo>
                      <a:pt x="1207" y="405"/>
                    </a:lnTo>
                    <a:lnTo>
                      <a:pt x="1223" y="396"/>
                    </a:lnTo>
                    <a:lnTo>
                      <a:pt x="1251" y="381"/>
                    </a:lnTo>
                    <a:lnTo>
                      <a:pt x="1277" y="367"/>
                    </a:lnTo>
                    <a:lnTo>
                      <a:pt x="1293" y="354"/>
                    </a:lnTo>
                    <a:lnTo>
                      <a:pt x="1307" y="342"/>
                    </a:lnTo>
                    <a:lnTo>
                      <a:pt x="1323" y="320"/>
                    </a:lnTo>
                    <a:lnTo>
                      <a:pt x="1329" y="297"/>
                    </a:lnTo>
                    <a:lnTo>
                      <a:pt x="1332" y="274"/>
                    </a:lnTo>
                    <a:lnTo>
                      <a:pt x="1333" y="255"/>
                    </a:lnTo>
                    <a:lnTo>
                      <a:pt x="1328" y="227"/>
                    </a:lnTo>
                    <a:lnTo>
                      <a:pt x="1320" y="207"/>
                    </a:lnTo>
                    <a:lnTo>
                      <a:pt x="1310" y="184"/>
                    </a:lnTo>
                    <a:lnTo>
                      <a:pt x="1300" y="162"/>
                    </a:lnTo>
                    <a:lnTo>
                      <a:pt x="1288" y="134"/>
                    </a:lnTo>
                    <a:lnTo>
                      <a:pt x="1278" y="111"/>
                    </a:lnTo>
                    <a:lnTo>
                      <a:pt x="1275" y="89"/>
                    </a:lnTo>
                    <a:lnTo>
                      <a:pt x="1274" y="67"/>
                    </a:lnTo>
                    <a:lnTo>
                      <a:pt x="1277" y="46"/>
                    </a:lnTo>
                    <a:lnTo>
                      <a:pt x="1277" y="22"/>
                    </a:lnTo>
                    <a:lnTo>
                      <a:pt x="1236" y="19"/>
                    </a:lnTo>
                    <a:lnTo>
                      <a:pt x="1181" y="19"/>
                    </a:lnTo>
                    <a:lnTo>
                      <a:pt x="1130" y="15"/>
                    </a:lnTo>
                    <a:lnTo>
                      <a:pt x="1091" y="12"/>
                    </a:lnTo>
                    <a:lnTo>
                      <a:pt x="1050" y="8"/>
                    </a:lnTo>
                    <a:lnTo>
                      <a:pt x="1002" y="3"/>
                    </a:lnTo>
                    <a:lnTo>
                      <a:pt x="964" y="0"/>
                    </a:lnTo>
                    <a:lnTo>
                      <a:pt x="937" y="2"/>
                    </a:lnTo>
                    <a:lnTo>
                      <a:pt x="910" y="6"/>
                    </a:lnTo>
                    <a:lnTo>
                      <a:pt x="894" y="12"/>
                    </a:lnTo>
                    <a:lnTo>
                      <a:pt x="881" y="21"/>
                    </a:lnTo>
                    <a:lnTo>
                      <a:pt x="871" y="32"/>
                    </a:lnTo>
                    <a:lnTo>
                      <a:pt x="867" y="46"/>
                    </a:lnTo>
                    <a:lnTo>
                      <a:pt x="870" y="59"/>
                    </a:lnTo>
                    <a:lnTo>
                      <a:pt x="876" y="73"/>
                    </a:lnTo>
                    <a:lnTo>
                      <a:pt x="886" y="91"/>
                    </a:lnTo>
                    <a:lnTo>
                      <a:pt x="894" y="107"/>
                    </a:lnTo>
                    <a:lnTo>
                      <a:pt x="899" y="124"/>
                    </a:lnTo>
                    <a:lnTo>
                      <a:pt x="899" y="142"/>
                    </a:lnTo>
                    <a:lnTo>
                      <a:pt x="894" y="159"/>
                    </a:lnTo>
                    <a:lnTo>
                      <a:pt x="884" y="175"/>
                    </a:lnTo>
                    <a:lnTo>
                      <a:pt x="873" y="189"/>
                    </a:lnTo>
                    <a:lnTo>
                      <a:pt x="857" y="203"/>
                    </a:lnTo>
                    <a:lnTo>
                      <a:pt x="838" y="214"/>
                    </a:lnTo>
                    <a:lnTo>
                      <a:pt x="817" y="223"/>
                    </a:lnTo>
                    <a:lnTo>
                      <a:pt x="796" y="229"/>
                    </a:lnTo>
                    <a:lnTo>
                      <a:pt x="775" y="233"/>
                    </a:lnTo>
                    <a:lnTo>
                      <a:pt x="753" y="236"/>
                    </a:lnTo>
                    <a:lnTo>
                      <a:pt x="733" y="239"/>
                    </a:lnTo>
                    <a:lnTo>
                      <a:pt x="714" y="239"/>
                    </a:lnTo>
                    <a:lnTo>
                      <a:pt x="695" y="236"/>
                    </a:lnTo>
                    <a:lnTo>
                      <a:pt x="678" y="233"/>
                    </a:lnTo>
                    <a:lnTo>
                      <a:pt x="662" y="229"/>
                    </a:lnTo>
                    <a:lnTo>
                      <a:pt x="649" y="224"/>
                    </a:lnTo>
                    <a:lnTo>
                      <a:pt x="634" y="216"/>
                    </a:lnTo>
                    <a:lnTo>
                      <a:pt x="623" y="207"/>
                    </a:lnTo>
                    <a:lnTo>
                      <a:pt x="612" y="194"/>
                    </a:lnTo>
                    <a:lnTo>
                      <a:pt x="599" y="179"/>
                    </a:lnTo>
                    <a:lnTo>
                      <a:pt x="589" y="165"/>
                    </a:lnTo>
                    <a:lnTo>
                      <a:pt x="579" y="152"/>
                    </a:lnTo>
                    <a:lnTo>
                      <a:pt x="567" y="134"/>
                    </a:lnTo>
                    <a:lnTo>
                      <a:pt x="556" y="118"/>
                    </a:lnTo>
                    <a:lnTo>
                      <a:pt x="541" y="102"/>
                    </a:lnTo>
                    <a:lnTo>
                      <a:pt x="525" y="86"/>
                    </a:lnTo>
                    <a:lnTo>
                      <a:pt x="509" y="75"/>
                    </a:lnTo>
                    <a:lnTo>
                      <a:pt x="492" y="64"/>
                    </a:lnTo>
                    <a:lnTo>
                      <a:pt x="473" y="57"/>
                    </a:lnTo>
                    <a:lnTo>
                      <a:pt x="453" y="51"/>
                    </a:lnTo>
                    <a:lnTo>
                      <a:pt x="426" y="47"/>
                    </a:lnTo>
                    <a:lnTo>
                      <a:pt x="397" y="46"/>
                    </a:lnTo>
                    <a:lnTo>
                      <a:pt x="373" y="44"/>
                    </a:lnTo>
                    <a:lnTo>
                      <a:pt x="349" y="44"/>
                    </a:lnTo>
                    <a:lnTo>
                      <a:pt x="322" y="46"/>
                    </a:lnTo>
                    <a:lnTo>
                      <a:pt x="297" y="50"/>
                    </a:lnTo>
                    <a:lnTo>
                      <a:pt x="271" y="54"/>
                    </a:lnTo>
                    <a:lnTo>
                      <a:pt x="242" y="60"/>
                    </a:lnTo>
                    <a:lnTo>
                      <a:pt x="213" y="66"/>
                    </a:lnTo>
                    <a:lnTo>
                      <a:pt x="175" y="73"/>
                    </a:lnTo>
                    <a:close/>
                  </a:path>
                </a:pathLst>
              </a:custGeom>
              <a:solidFill>
                <a:srgbClr val="D7E4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18" name="Group 118"/>
              <p:cNvGrpSpPr>
                <a:grpSpLocks/>
              </p:cNvGrpSpPr>
              <p:nvPr/>
            </p:nvGrpSpPr>
            <p:grpSpPr bwMode="auto">
              <a:xfrm>
                <a:off x="1789" y="4971"/>
                <a:ext cx="804" cy="423"/>
                <a:chOff x="1920" y="4222"/>
                <a:chExt cx="664" cy="633"/>
              </a:xfrm>
            </p:grpSpPr>
            <p:sp>
              <p:nvSpPr>
                <p:cNvPr id="21" name="Rectangle 119"/>
                <p:cNvSpPr>
                  <a:spLocks noChangeArrowheads="1"/>
                </p:cNvSpPr>
                <p:nvPr/>
              </p:nvSpPr>
              <p:spPr bwMode="auto">
                <a:xfrm>
                  <a:off x="1961" y="4787"/>
                  <a:ext cx="585" cy="68"/>
                </a:xfrm>
                <a:prstGeom prst="rect">
                  <a:avLst/>
                </a:prstGeom>
                <a:solidFill>
                  <a:srgbClr val="D7E4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algn="ctr" eaLnBrk="1" latinLnBrk="1" hangingPunct="1"/>
                  <a:endParaRPr lang="ko-KR" altLang="en-US">
                    <a:latin typeface="HY신명조" panose="02030600000101010101" pitchFamily="18" charset="-127"/>
                    <a:ea typeface="HY신명조" panose="02030600000101010101" pitchFamily="18" charset="-127"/>
                  </a:endParaRPr>
                </a:p>
              </p:txBody>
            </p:sp>
            <p:sp>
              <p:nvSpPr>
                <p:cNvPr id="22" name="Freeform 120"/>
                <p:cNvSpPr>
                  <a:spLocks/>
                </p:cNvSpPr>
                <p:nvPr/>
              </p:nvSpPr>
              <p:spPr bwMode="auto">
                <a:xfrm>
                  <a:off x="1920" y="4222"/>
                  <a:ext cx="664" cy="604"/>
                </a:xfrm>
                <a:custGeom>
                  <a:avLst/>
                  <a:gdLst>
                    <a:gd name="T0" fmla="*/ 0 w 1430"/>
                    <a:gd name="T1" fmla="*/ 1 h 902"/>
                    <a:gd name="T2" fmla="*/ 0 w 1430"/>
                    <a:gd name="T3" fmla="*/ 1 h 902"/>
                    <a:gd name="T4" fmla="*/ 0 w 1430"/>
                    <a:gd name="T5" fmla="*/ 1 h 902"/>
                    <a:gd name="T6" fmla="*/ 0 w 1430"/>
                    <a:gd name="T7" fmla="*/ 1 h 902"/>
                    <a:gd name="T8" fmla="*/ 0 w 1430"/>
                    <a:gd name="T9" fmla="*/ 1 h 902"/>
                    <a:gd name="T10" fmla="*/ 0 w 1430"/>
                    <a:gd name="T11" fmla="*/ 1 h 902"/>
                    <a:gd name="T12" fmla="*/ 0 w 1430"/>
                    <a:gd name="T13" fmla="*/ 1 h 902"/>
                    <a:gd name="T14" fmla="*/ 0 w 1430"/>
                    <a:gd name="T15" fmla="*/ 1 h 902"/>
                    <a:gd name="T16" fmla="*/ 0 w 1430"/>
                    <a:gd name="T17" fmla="*/ 1 h 902"/>
                    <a:gd name="T18" fmla="*/ 0 w 1430"/>
                    <a:gd name="T19" fmla="*/ 1 h 902"/>
                    <a:gd name="T20" fmla="*/ 0 w 1430"/>
                    <a:gd name="T21" fmla="*/ 1 h 902"/>
                    <a:gd name="T22" fmla="*/ 0 w 1430"/>
                    <a:gd name="T23" fmla="*/ 1 h 902"/>
                    <a:gd name="T24" fmla="*/ 0 w 1430"/>
                    <a:gd name="T25" fmla="*/ 1 h 902"/>
                    <a:gd name="T26" fmla="*/ 0 w 1430"/>
                    <a:gd name="T27" fmla="*/ 1 h 902"/>
                    <a:gd name="T28" fmla="*/ 0 w 1430"/>
                    <a:gd name="T29" fmla="*/ 1 h 902"/>
                    <a:gd name="T30" fmla="*/ 0 w 1430"/>
                    <a:gd name="T31" fmla="*/ 1 h 902"/>
                    <a:gd name="T32" fmla="*/ 0 w 1430"/>
                    <a:gd name="T33" fmla="*/ 1 h 902"/>
                    <a:gd name="T34" fmla="*/ 0 w 1430"/>
                    <a:gd name="T35" fmla="*/ 1 h 902"/>
                    <a:gd name="T36" fmla="*/ 0 w 1430"/>
                    <a:gd name="T37" fmla="*/ 1 h 902"/>
                    <a:gd name="T38" fmla="*/ 0 w 1430"/>
                    <a:gd name="T39" fmla="*/ 1 h 902"/>
                    <a:gd name="T40" fmla="*/ 0 w 1430"/>
                    <a:gd name="T41" fmla="*/ 1 h 902"/>
                    <a:gd name="T42" fmla="*/ 0 w 1430"/>
                    <a:gd name="T43" fmla="*/ 1 h 902"/>
                    <a:gd name="T44" fmla="*/ 0 w 1430"/>
                    <a:gd name="T45" fmla="*/ 1 h 902"/>
                    <a:gd name="T46" fmla="*/ 0 w 1430"/>
                    <a:gd name="T47" fmla="*/ 1 h 902"/>
                    <a:gd name="T48" fmla="*/ 0 w 1430"/>
                    <a:gd name="T49" fmla="*/ 1 h 902"/>
                    <a:gd name="T50" fmla="*/ 0 w 1430"/>
                    <a:gd name="T51" fmla="*/ 1 h 902"/>
                    <a:gd name="T52" fmla="*/ 0 w 1430"/>
                    <a:gd name="T53" fmla="*/ 1 h 902"/>
                    <a:gd name="T54" fmla="*/ 0 w 1430"/>
                    <a:gd name="T55" fmla="*/ 1 h 902"/>
                    <a:gd name="T56" fmla="*/ 0 w 1430"/>
                    <a:gd name="T57" fmla="*/ 1 h 902"/>
                    <a:gd name="T58" fmla="*/ 0 w 1430"/>
                    <a:gd name="T59" fmla="*/ 1 h 902"/>
                    <a:gd name="T60" fmla="*/ 0 w 1430"/>
                    <a:gd name="T61" fmla="*/ 1 h 902"/>
                    <a:gd name="T62" fmla="*/ 0 w 1430"/>
                    <a:gd name="T63" fmla="*/ 1 h 902"/>
                    <a:gd name="T64" fmla="*/ 0 w 1430"/>
                    <a:gd name="T65" fmla="*/ 1 h 902"/>
                    <a:gd name="T66" fmla="*/ 0 w 1430"/>
                    <a:gd name="T67" fmla="*/ 1 h 902"/>
                    <a:gd name="T68" fmla="*/ 0 w 1430"/>
                    <a:gd name="T69" fmla="*/ 1 h 902"/>
                    <a:gd name="T70" fmla="*/ 0 w 1430"/>
                    <a:gd name="T71" fmla="*/ 1 h 902"/>
                    <a:gd name="T72" fmla="*/ 0 w 1430"/>
                    <a:gd name="T73" fmla="*/ 1 h 902"/>
                    <a:gd name="T74" fmla="*/ 0 w 1430"/>
                    <a:gd name="T75" fmla="*/ 1 h 902"/>
                    <a:gd name="T76" fmla="*/ 0 w 1430"/>
                    <a:gd name="T77" fmla="*/ 1 h 902"/>
                    <a:gd name="T78" fmla="*/ 0 w 1430"/>
                    <a:gd name="T79" fmla="*/ 1 h 902"/>
                    <a:gd name="T80" fmla="*/ 0 w 1430"/>
                    <a:gd name="T81" fmla="*/ 1 h 902"/>
                    <a:gd name="T82" fmla="*/ 0 w 1430"/>
                    <a:gd name="T83" fmla="*/ 1 h 902"/>
                    <a:gd name="T84" fmla="*/ 0 w 1430"/>
                    <a:gd name="T85" fmla="*/ 1 h 902"/>
                    <a:gd name="T86" fmla="*/ 0 w 1430"/>
                    <a:gd name="T87" fmla="*/ 1 h 902"/>
                    <a:gd name="T88" fmla="*/ 0 w 1430"/>
                    <a:gd name="T89" fmla="*/ 1 h 902"/>
                    <a:gd name="T90" fmla="*/ 0 w 1430"/>
                    <a:gd name="T91" fmla="*/ 1 h 902"/>
                    <a:gd name="T92" fmla="*/ 0 w 1430"/>
                    <a:gd name="T93" fmla="*/ 1 h 902"/>
                    <a:gd name="T94" fmla="*/ 0 w 1430"/>
                    <a:gd name="T95" fmla="*/ 1 h 902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430"/>
                    <a:gd name="T145" fmla="*/ 0 h 902"/>
                    <a:gd name="T146" fmla="*/ 1430 w 1430"/>
                    <a:gd name="T147" fmla="*/ 902 h 902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430" h="902">
                      <a:moveTo>
                        <a:pt x="1328" y="190"/>
                      </a:moveTo>
                      <a:lnTo>
                        <a:pt x="1317" y="185"/>
                      </a:lnTo>
                      <a:lnTo>
                        <a:pt x="1293" y="179"/>
                      </a:lnTo>
                      <a:lnTo>
                        <a:pt x="1272" y="176"/>
                      </a:lnTo>
                      <a:lnTo>
                        <a:pt x="1248" y="179"/>
                      </a:lnTo>
                      <a:lnTo>
                        <a:pt x="1219" y="183"/>
                      </a:lnTo>
                      <a:lnTo>
                        <a:pt x="1197" y="186"/>
                      </a:lnTo>
                      <a:lnTo>
                        <a:pt x="1170" y="193"/>
                      </a:lnTo>
                      <a:lnTo>
                        <a:pt x="1145" y="201"/>
                      </a:lnTo>
                      <a:lnTo>
                        <a:pt x="1113" y="211"/>
                      </a:lnTo>
                      <a:lnTo>
                        <a:pt x="1084" y="221"/>
                      </a:lnTo>
                      <a:lnTo>
                        <a:pt x="1056" y="234"/>
                      </a:lnTo>
                      <a:lnTo>
                        <a:pt x="1029" y="246"/>
                      </a:lnTo>
                      <a:lnTo>
                        <a:pt x="995" y="259"/>
                      </a:lnTo>
                      <a:lnTo>
                        <a:pt x="963" y="269"/>
                      </a:lnTo>
                      <a:lnTo>
                        <a:pt x="927" y="281"/>
                      </a:lnTo>
                      <a:lnTo>
                        <a:pt x="891" y="291"/>
                      </a:lnTo>
                      <a:lnTo>
                        <a:pt x="867" y="297"/>
                      </a:lnTo>
                      <a:lnTo>
                        <a:pt x="843" y="300"/>
                      </a:lnTo>
                      <a:lnTo>
                        <a:pt x="815" y="300"/>
                      </a:lnTo>
                      <a:lnTo>
                        <a:pt x="786" y="295"/>
                      </a:lnTo>
                      <a:lnTo>
                        <a:pt x="767" y="291"/>
                      </a:lnTo>
                      <a:lnTo>
                        <a:pt x="751" y="284"/>
                      </a:lnTo>
                      <a:lnTo>
                        <a:pt x="737" y="275"/>
                      </a:lnTo>
                      <a:lnTo>
                        <a:pt x="726" y="266"/>
                      </a:lnTo>
                      <a:lnTo>
                        <a:pt x="721" y="254"/>
                      </a:lnTo>
                      <a:lnTo>
                        <a:pt x="715" y="241"/>
                      </a:lnTo>
                      <a:lnTo>
                        <a:pt x="715" y="228"/>
                      </a:lnTo>
                      <a:lnTo>
                        <a:pt x="719" y="212"/>
                      </a:lnTo>
                      <a:lnTo>
                        <a:pt x="726" y="196"/>
                      </a:lnTo>
                      <a:lnTo>
                        <a:pt x="737" y="183"/>
                      </a:lnTo>
                      <a:lnTo>
                        <a:pt x="750" y="167"/>
                      </a:lnTo>
                      <a:lnTo>
                        <a:pt x="763" y="159"/>
                      </a:lnTo>
                      <a:lnTo>
                        <a:pt x="780" y="145"/>
                      </a:lnTo>
                      <a:lnTo>
                        <a:pt x="805" y="132"/>
                      </a:lnTo>
                      <a:lnTo>
                        <a:pt x="830" y="124"/>
                      </a:lnTo>
                      <a:lnTo>
                        <a:pt x="854" y="118"/>
                      </a:lnTo>
                      <a:lnTo>
                        <a:pt x="876" y="111"/>
                      </a:lnTo>
                      <a:lnTo>
                        <a:pt x="901" y="102"/>
                      </a:lnTo>
                      <a:lnTo>
                        <a:pt x="921" y="92"/>
                      </a:lnTo>
                      <a:lnTo>
                        <a:pt x="940" y="81"/>
                      </a:lnTo>
                      <a:lnTo>
                        <a:pt x="955" y="70"/>
                      </a:lnTo>
                      <a:lnTo>
                        <a:pt x="960" y="55"/>
                      </a:lnTo>
                      <a:lnTo>
                        <a:pt x="958" y="39"/>
                      </a:lnTo>
                      <a:lnTo>
                        <a:pt x="947" y="25"/>
                      </a:lnTo>
                      <a:lnTo>
                        <a:pt x="937" y="15"/>
                      </a:lnTo>
                      <a:lnTo>
                        <a:pt x="923" y="7"/>
                      </a:lnTo>
                      <a:lnTo>
                        <a:pt x="905" y="1"/>
                      </a:lnTo>
                      <a:lnTo>
                        <a:pt x="882" y="0"/>
                      </a:lnTo>
                      <a:lnTo>
                        <a:pt x="859" y="0"/>
                      </a:lnTo>
                      <a:lnTo>
                        <a:pt x="825" y="1"/>
                      </a:lnTo>
                      <a:lnTo>
                        <a:pt x="792" y="4"/>
                      </a:lnTo>
                      <a:lnTo>
                        <a:pt x="770" y="10"/>
                      </a:lnTo>
                      <a:lnTo>
                        <a:pt x="738" y="19"/>
                      </a:lnTo>
                      <a:lnTo>
                        <a:pt x="705" y="31"/>
                      </a:lnTo>
                      <a:lnTo>
                        <a:pt x="681" y="42"/>
                      </a:lnTo>
                      <a:lnTo>
                        <a:pt x="654" y="57"/>
                      </a:lnTo>
                      <a:lnTo>
                        <a:pt x="628" y="70"/>
                      </a:lnTo>
                      <a:lnTo>
                        <a:pt x="600" y="87"/>
                      </a:lnTo>
                      <a:lnTo>
                        <a:pt x="559" y="111"/>
                      </a:lnTo>
                      <a:lnTo>
                        <a:pt x="532" y="128"/>
                      </a:lnTo>
                      <a:lnTo>
                        <a:pt x="507" y="143"/>
                      </a:lnTo>
                      <a:lnTo>
                        <a:pt x="472" y="156"/>
                      </a:lnTo>
                      <a:lnTo>
                        <a:pt x="440" y="166"/>
                      </a:lnTo>
                      <a:lnTo>
                        <a:pt x="407" y="175"/>
                      </a:lnTo>
                      <a:lnTo>
                        <a:pt x="372" y="180"/>
                      </a:lnTo>
                      <a:lnTo>
                        <a:pt x="337" y="186"/>
                      </a:lnTo>
                      <a:lnTo>
                        <a:pt x="309" y="189"/>
                      </a:lnTo>
                      <a:lnTo>
                        <a:pt x="279" y="192"/>
                      </a:lnTo>
                      <a:lnTo>
                        <a:pt x="250" y="192"/>
                      </a:lnTo>
                      <a:lnTo>
                        <a:pt x="220" y="193"/>
                      </a:lnTo>
                      <a:lnTo>
                        <a:pt x="197" y="192"/>
                      </a:lnTo>
                      <a:lnTo>
                        <a:pt x="200" y="215"/>
                      </a:lnTo>
                      <a:lnTo>
                        <a:pt x="207" y="246"/>
                      </a:lnTo>
                      <a:lnTo>
                        <a:pt x="216" y="276"/>
                      </a:lnTo>
                      <a:lnTo>
                        <a:pt x="229" y="313"/>
                      </a:lnTo>
                      <a:lnTo>
                        <a:pt x="239" y="342"/>
                      </a:lnTo>
                      <a:lnTo>
                        <a:pt x="252" y="366"/>
                      </a:lnTo>
                      <a:lnTo>
                        <a:pt x="260" y="390"/>
                      </a:lnTo>
                      <a:lnTo>
                        <a:pt x="261" y="413"/>
                      </a:lnTo>
                      <a:lnTo>
                        <a:pt x="260" y="433"/>
                      </a:lnTo>
                      <a:lnTo>
                        <a:pt x="252" y="449"/>
                      </a:lnTo>
                      <a:lnTo>
                        <a:pt x="244" y="462"/>
                      </a:lnTo>
                      <a:lnTo>
                        <a:pt x="235" y="474"/>
                      </a:lnTo>
                      <a:lnTo>
                        <a:pt x="222" y="483"/>
                      </a:lnTo>
                      <a:lnTo>
                        <a:pt x="210" y="487"/>
                      </a:lnTo>
                      <a:lnTo>
                        <a:pt x="199" y="490"/>
                      </a:lnTo>
                      <a:lnTo>
                        <a:pt x="181" y="489"/>
                      </a:lnTo>
                      <a:lnTo>
                        <a:pt x="168" y="484"/>
                      </a:lnTo>
                      <a:lnTo>
                        <a:pt x="152" y="480"/>
                      </a:lnTo>
                      <a:lnTo>
                        <a:pt x="141" y="474"/>
                      </a:lnTo>
                      <a:lnTo>
                        <a:pt x="123" y="465"/>
                      </a:lnTo>
                      <a:lnTo>
                        <a:pt x="110" y="458"/>
                      </a:lnTo>
                      <a:lnTo>
                        <a:pt x="97" y="452"/>
                      </a:lnTo>
                      <a:lnTo>
                        <a:pt x="82" y="446"/>
                      </a:lnTo>
                      <a:lnTo>
                        <a:pt x="55" y="446"/>
                      </a:lnTo>
                      <a:lnTo>
                        <a:pt x="40" y="452"/>
                      </a:lnTo>
                      <a:lnTo>
                        <a:pt x="27" y="461"/>
                      </a:lnTo>
                      <a:lnTo>
                        <a:pt x="18" y="474"/>
                      </a:lnTo>
                      <a:lnTo>
                        <a:pt x="10" y="490"/>
                      </a:lnTo>
                      <a:lnTo>
                        <a:pt x="4" y="506"/>
                      </a:lnTo>
                      <a:lnTo>
                        <a:pt x="0" y="524"/>
                      </a:lnTo>
                      <a:lnTo>
                        <a:pt x="0" y="544"/>
                      </a:lnTo>
                      <a:lnTo>
                        <a:pt x="2" y="561"/>
                      </a:lnTo>
                      <a:lnTo>
                        <a:pt x="7" y="582"/>
                      </a:lnTo>
                      <a:lnTo>
                        <a:pt x="17" y="601"/>
                      </a:lnTo>
                      <a:lnTo>
                        <a:pt x="27" y="621"/>
                      </a:lnTo>
                      <a:lnTo>
                        <a:pt x="42" y="641"/>
                      </a:lnTo>
                      <a:lnTo>
                        <a:pt x="58" y="653"/>
                      </a:lnTo>
                      <a:lnTo>
                        <a:pt x="78" y="666"/>
                      </a:lnTo>
                      <a:lnTo>
                        <a:pt x="97" y="675"/>
                      </a:lnTo>
                      <a:lnTo>
                        <a:pt x="119" y="679"/>
                      </a:lnTo>
                      <a:lnTo>
                        <a:pt x="138" y="684"/>
                      </a:lnTo>
                      <a:lnTo>
                        <a:pt x="167" y="684"/>
                      </a:lnTo>
                      <a:lnTo>
                        <a:pt x="190" y="681"/>
                      </a:lnTo>
                      <a:lnTo>
                        <a:pt x="218" y="679"/>
                      </a:lnTo>
                      <a:lnTo>
                        <a:pt x="238" y="679"/>
                      </a:lnTo>
                      <a:lnTo>
                        <a:pt x="251" y="688"/>
                      </a:lnTo>
                      <a:lnTo>
                        <a:pt x="255" y="702"/>
                      </a:lnTo>
                      <a:lnTo>
                        <a:pt x="255" y="718"/>
                      </a:lnTo>
                      <a:lnTo>
                        <a:pt x="248" y="740"/>
                      </a:lnTo>
                      <a:lnTo>
                        <a:pt x="241" y="762"/>
                      </a:lnTo>
                      <a:lnTo>
                        <a:pt x="232" y="781"/>
                      </a:lnTo>
                      <a:lnTo>
                        <a:pt x="220" y="806"/>
                      </a:lnTo>
                      <a:lnTo>
                        <a:pt x="207" y="827"/>
                      </a:lnTo>
                      <a:lnTo>
                        <a:pt x="194" y="848"/>
                      </a:lnTo>
                      <a:lnTo>
                        <a:pt x="178" y="868"/>
                      </a:lnTo>
                      <a:lnTo>
                        <a:pt x="167" y="884"/>
                      </a:lnTo>
                      <a:lnTo>
                        <a:pt x="142" y="902"/>
                      </a:lnTo>
                      <a:lnTo>
                        <a:pt x="1321" y="900"/>
                      </a:lnTo>
                      <a:lnTo>
                        <a:pt x="1322" y="881"/>
                      </a:lnTo>
                      <a:lnTo>
                        <a:pt x="1327" y="864"/>
                      </a:lnTo>
                      <a:lnTo>
                        <a:pt x="1333" y="848"/>
                      </a:lnTo>
                      <a:lnTo>
                        <a:pt x="1338" y="835"/>
                      </a:lnTo>
                      <a:lnTo>
                        <a:pt x="1347" y="820"/>
                      </a:lnTo>
                      <a:lnTo>
                        <a:pt x="1359" y="804"/>
                      </a:lnTo>
                      <a:lnTo>
                        <a:pt x="1372" y="790"/>
                      </a:lnTo>
                      <a:lnTo>
                        <a:pt x="1384" y="778"/>
                      </a:lnTo>
                      <a:lnTo>
                        <a:pt x="1398" y="763"/>
                      </a:lnTo>
                      <a:lnTo>
                        <a:pt x="1410" y="752"/>
                      </a:lnTo>
                      <a:lnTo>
                        <a:pt x="1418" y="737"/>
                      </a:lnTo>
                      <a:lnTo>
                        <a:pt x="1426" y="723"/>
                      </a:lnTo>
                      <a:lnTo>
                        <a:pt x="1430" y="701"/>
                      </a:lnTo>
                      <a:lnTo>
                        <a:pt x="1429" y="681"/>
                      </a:lnTo>
                      <a:lnTo>
                        <a:pt x="1424" y="668"/>
                      </a:lnTo>
                      <a:lnTo>
                        <a:pt x="1417" y="654"/>
                      </a:lnTo>
                      <a:lnTo>
                        <a:pt x="1407" y="643"/>
                      </a:lnTo>
                      <a:lnTo>
                        <a:pt x="1394" y="633"/>
                      </a:lnTo>
                      <a:lnTo>
                        <a:pt x="1379" y="627"/>
                      </a:lnTo>
                      <a:lnTo>
                        <a:pt x="1360" y="622"/>
                      </a:lnTo>
                      <a:lnTo>
                        <a:pt x="1340" y="621"/>
                      </a:lnTo>
                      <a:lnTo>
                        <a:pt x="1318" y="622"/>
                      </a:lnTo>
                      <a:lnTo>
                        <a:pt x="1298" y="625"/>
                      </a:lnTo>
                      <a:lnTo>
                        <a:pt x="1277" y="630"/>
                      </a:lnTo>
                      <a:lnTo>
                        <a:pt x="1251" y="637"/>
                      </a:lnTo>
                      <a:lnTo>
                        <a:pt x="1229" y="643"/>
                      </a:lnTo>
                      <a:lnTo>
                        <a:pt x="1206" y="647"/>
                      </a:lnTo>
                      <a:lnTo>
                        <a:pt x="1179" y="650"/>
                      </a:lnTo>
                      <a:lnTo>
                        <a:pt x="1157" y="650"/>
                      </a:lnTo>
                      <a:lnTo>
                        <a:pt x="1138" y="646"/>
                      </a:lnTo>
                      <a:lnTo>
                        <a:pt x="1117" y="640"/>
                      </a:lnTo>
                      <a:lnTo>
                        <a:pt x="1101" y="631"/>
                      </a:lnTo>
                      <a:lnTo>
                        <a:pt x="1087" y="620"/>
                      </a:lnTo>
                      <a:lnTo>
                        <a:pt x="1077" y="602"/>
                      </a:lnTo>
                      <a:lnTo>
                        <a:pt x="1072" y="583"/>
                      </a:lnTo>
                      <a:lnTo>
                        <a:pt x="1075" y="564"/>
                      </a:lnTo>
                      <a:lnTo>
                        <a:pt x="1083" y="545"/>
                      </a:lnTo>
                      <a:lnTo>
                        <a:pt x="1090" y="531"/>
                      </a:lnTo>
                      <a:lnTo>
                        <a:pt x="1103" y="516"/>
                      </a:lnTo>
                      <a:lnTo>
                        <a:pt x="1117" y="503"/>
                      </a:lnTo>
                      <a:lnTo>
                        <a:pt x="1132" y="494"/>
                      </a:lnTo>
                      <a:lnTo>
                        <a:pt x="1149" y="484"/>
                      </a:lnTo>
                      <a:lnTo>
                        <a:pt x="1167" y="478"/>
                      </a:lnTo>
                      <a:lnTo>
                        <a:pt x="1186" y="474"/>
                      </a:lnTo>
                      <a:lnTo>
                        <a:pt x="1206" y="471"/>
                      </a:lnTo>
                      <a:lnTo>
                        <a:pt x="1231" y="467"/>
                      </a:lnTo>
                      <a:lnTo>
                        <a:pt x="1257" y="464"/>
                      </a:lnTo>
                      <a:lnTo>
                        <a:pt x="1279" y="460"/>
                      </a:lnTo>
                      <a:lnTo>
                        <a:pt x="1301" y="451"/>
                      </a:lnTo>
                      <a:lnTo>
                        <a:pt x="1315" y="441"/>
                      </a:lnTo>
                      <a:lnTo>
                        <a:pt x="1328" y="428"/>
                      </a:lnTo>
                      <a:lnTo>
                        <a:pt x="1338" y="413"/>
                      </a:lnTo>
                      <a:lnTo>
                        <a:pt x="1344" y="398"/>
                      </a:lnTo>
                      <a:lnTo>
                        <a:pt x="1349" y="380"/>
                      </a:lnTo>
                      <a:lnTo>
                        <a:pt x="1350" y="355"/>
                      </a:lnTo>
                      <a:lnTo>
                        <a:pt x="1347" y="336"/>
                      </a:lnTo>
                      <a:lnTo>
                        <a:pt x="1346" y="313"/>
                      </a:lnTo>
                      <a:lnTo>
                        <a:pt x="1344" y="285"/>
                      </a:lnTo>
                      <a:lnTo>
                        <a:pt x="1343" y="252"/>
                      </a:lnTo>
                      <a:lnTo>
                        <a:pt x="1343" y="220"/>
                      </a:lnTo>
                      <a:lnTo>
                        <a:pt x="1344" y="201"/>
                      </a:lnTo>
                      <a:lnTo>
                        <a:pt x="1328" y="190"/>
                      </a:lnTo>
                      <a:close/>
                    </a:path>
                  </a:pathLst>
                </a:custGeom>
                <a:solidFill>
                  <a:srgbClr val="D7E4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9" name="Freeform 121"/>
              <p:cNvSpPr>
                <a:spLocks/>
              </p:cNvSpPr>
              <p:nvPr/>
            </p:nvSpPr>
            <p:spPr bwMode="auto">
              <a:xfrm>
                <a:off x="977" y="5055"/>
                <a:ext cx="988" cy="302"/>
              </a:xfrm>
              <a:custGeom>
                <a:avLst/>
                <a:gdLst>
                  <a:gd name="T0" fmla="*/ 1 w 1547"/>
                  <a:gd name="T1" fmla="*/ 0 h 753"/>
                  <a:gd name="T2" fmla="*/ 1 w 1547"/>
                  <a:gd name="T3" fmla="*/ 0 h 753"/>
                  <a:gd name="T4" fmla="*/ 1 w 1547"/>
                  <a:gd name="T5" fmla="*/ 0 h 753"/>
                  <a:gd name="T6" fmla="*/ 1 w 1547"/>
                  <a:gd name="T7" fmla="*/ 0 h 753"/>
                  <a:gd name="T8" fmla="*/ 1 w 1547"/>
                  <a:gd name="T9" fmla="*/ 0 h 753"/>
                  <a:gd name="T10" fmla="*/ 1 w 1547"/>
                  <a:gd name="T11" fmla="*/ 0 h 753"/>
                  <a:gd name="T12" fmla="*/ 1 w 1547"/>
                  <a:gd name="T13" fmla="*/ 0 h 753"/>
                  <a:gd name="T14" fmla="*/ 1 w 1547"/>
                  <a:gd name="T15" fmla="*/ 0 h 753"/>
                  <a:gd name="T16" fmla="*/ 1 w 1547"/>
                  <a:gd name="T17" fmla="*/ 0 h 753"/>
                  <a:gd name="T18" fmla="*/ 1 w 1547"/>
                  <a:gd name="T19" fmla="*/ 0 h 753"/>
                  <a:gd name="T20" fmla="*/ 1 w 1547"/>
                  <a:gd name="T21" fmla="*/ 0 h 753"/>
                  <a:gd name="T22" fmla="*/ 1 w 1547"/>
                  <a:gd name="T23" fmla="*/ 0 h 753"/>
                  <a:gd name="T24" fmla="*/ 1 w 1547"/>
                  <a:gd name="T25" fmla="*/ 0 h 753"/>
                  <a:gd name="T26" fmla="*/ 1 w 1547"/>
                  <a:gd name="T27" fmla="*/ 0 h 753"/>
                  <a:gd name="T28" fmla="*/ 1 w 1547"/>
                  <a:gd name="T29" fmla="*/ 0 h 753"/>
                  <a:gd name="T30" fmla="*/ 1 w 1547"/>
                  <a:gd name="T31" fmla="*/ 0 h 753"/>
                  <a:gd name="T32" fmla="*/ 1 w 1547"/>
                  <a:gd name="T33" fmla="*/ 0 h 753"/>
                  <a:gd name="T34" fmla="*/ 1 w 1547"/>
                  <a:gd name="T35" fmla="*/ 0 h 753"/>
                  <a:gd name="T36" fmla="*/ 1 w 1547"/>
                  <a:gd name="T37" fmla="*/ 0 h 753"/>
                  <a:gd name="T38" fmla="*/ 1 w 1547"/>
                  <a:gd name="T39" fmla="*/ 0 h 753"/>
                  <a:gd name="T40" fmla="*/ 1 w 1547"/>
                  <a:gd name="T41" fmla="*/ 0 h 753"/>
                  <a:gd name="T42" fmla="*/ 1 w 1547"/>
                  <a:gd name="T43" fmla="*/ 0 h 753"/>
                  <a:gd name="T44" fmla="*/ 1 w 1547"/>
                  <a:gd name="T45" fmla="*/ 0 h 753"/>
                  <a:gd name="T46" fmla="*/ 1 w 1547"/>
                  <a:gd name="T47" fmla="*/ 0 h 753"/>
                  <a:gd name="T48" fmla="*/ 1 w 1547"/>
                  <a:gd name="T49" fmla="*/ 0 h 753"/>
                  <a:gd name="T50" fmla="*/ 1 w 1547"/>
                  <a:gd name="T51" fmla="*/ 0 h 753"/>
                  <a:gd name="T52" fmla="*/ 1 w 1547"/>
                  <a:gd name="T53" fmla="*/ 0 h 753"/>
                  <a:gd name="T54" fmla="*/ 1 w 1547"/>
                  <a:gd name="T55" fmla="*/ 0 h 753"/>
                  <a:gd name="T56" fmla="*/ 1 w 1547"/>
                  <a:gd name="T57" fmla="*/ 0 h 753"/>
                  <a:gd name="T58" fmla="*/ 1 w 1547"/>
                  <a:gd name="T59" fmla="*/ 0 h 753"/>
                  <a:gd name="T60" fmla="*/ 1 w 1547"/>
                  <a:gd name="T61" fmla="*/ 0 h 753"/>
                  <a:gd name="T62" fmla="*/ 1 w 1547"/>
                  <a:gd name="T63" fmla="*/ 0 h 753"/>
                  <a:gd name="T64" fmla="*/ 1 w 1547"/>
                  <a:gd name="T65" fmla="*/ 0 h 753"/>
                  <a:gd name="T66" fmla="*/ 1 w 1547"/>
                  <a:gd name="T67" fmla="*/ 0 h 753"/>
                  <a:gd name="T68" fmla="*/ 1 w 1547"/>
                  <a:gd name="T69" fmla="*/ 0 h 753"/>
                  <a:gd name="T70" fmla="*/ 1 w 1547"/>
                  <a:gd name="T71" fmla="*/ 0 h 753"/>
                  <a:gd name="T72" fmla="*/ 1 w 1547"/>
                  <a:gd name="T73" fmla="*/ 0 h 753"/>
                  <a:gd name="T74" fmla="*/ 1 w 1547"/>
                  <a:gd name="T75" fmla="*/ 0 h 753"/>
                  <a:gd name="T76" fmla="*/ 1 w 1547"/>
                  <a:gd name="T77" fmla="*/ 0 h 753"/>
                  <a:gd name="T78" fmla="*/ 1 w 1547"/>
                  <a:gd name="T79" fmla="*/ 0 h 753"/>
                  <a:gd name="T80" fmla="*/ 1 w 1547"/>
                  <a:gd name="T81" fmla="*/ 0 h 753"/>
                  <a:gd name="T82" fmla="*/ 1 w 1547"/>
                  <a:gd name="T83" fmla="*/ 0 h 753"/>
                  <a:gd name="T84" fmla="*/ 1 w 1547"/>
                  <a:gd name="T85" fmla="*/ 0 h 753"/>
                  <a:gd name="T86" fmla="*/ 1 w 1547"/>
                  <a:gd name="T87" fmla="*/ 0 h 753"/>
                  <a:gd name="T88" fmla="*/ 1 w 1547"/>
                  <a:gd name="T89" fmla="*/ 0 h 753"/>
                  <a:gd name="T90" fmla="*/ 1 w 1547"/>
                  <a:gd name="T91" fmla="*/ 0 h 753"/>
                  <a:gd name="T92" fmla="*/ 1 w 1547"/>
                  <a:gd name="T93" fmla="*/ 0 h 753"/>
                  <a:gd name="T94" fmla="*/ 1 w 1547"/>
                  <a:gd name="T95" fmla="*/ 0 h 753"/>
                  <a:gd name="T96" fmla="*/ 1 w 1547"/>
                  <a:gd name="T97" fmla="*/ 0 h 753"/>
                  <a:gd name="T98" fmla="*/ 1 w 1547"/>
                  <a:gd name="T99" fmla="*/ 0 h 753"/>
                  <a:gd name="T100" fmla="*/ 1 w 1547"/>
                  <a:gd name="T101" fmla="*/ 0 h 753"/>
                  <a:gd name="T102" fmla="*/ 1 w 1547"/>
                  <a:gd name="T103" fmla="*/ 0 h 753"/>
                  <a:gd name="T104" fmla="*/ 1 w 1547"/>
                  <a:gd name="T105" fmla="*/ 0 h 753"/>
                  <a:gd name="T106" fmla="*/ 1 w 1547"/>
                  <a:gd name="T107" fmla="*/ 0 h 753"/>
                  <a:gd name="T108" fmla="*/ 1 w 1547"/>
                  <a:gd name="T109" fmla="*/ 0 h 753"/>
                  <a:gd name="T110" fmla="*/ 1 w 1547"/>
                  <a:gd name="T111" fmla="*/ 0 h 753"/>
                  <a:gd name="T112" fmla="*/ 1 w 1547"/>
                  <a:gd name="T113" fmla="*/ 0 h 753"/>
                  <a:gd name="T114" fmla="*/ 1 w 1547"/>
                  <a:gd name="T115" fmla="*/ 0 h 753"/>
                  <a:gd name="T116" fmla="*/ 1 w 1547"/>
                  <a:gd name="T117" fmla="*/ 0 h 753"/>
                  <a:gd name="T118" fmla="*/ 0 w 1547"/>
                  <a:gd name="T119" fmla="*/ 0 h 753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1547"/>
                  <a:gd name="T181" fmla="*/ 0 h 753"/>
                  <a:gd name="T182" fmla="*/ 1547 w 1547"/>
                  <a:gd name="T183" fmla="*/ 753 h 753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1547" h="753">
                    <a:moveTo>
                      <a:pt x="0" y="752"/>
                    </a:moveTo>
                    <a:lnTo>
                      <a:pt x="140" y="97"/>
                    </a:lnTo>
                    <a:lnTo>
                      <a:pt x="161" y="96"/>
                    </a:lnTo>
                    <a:lnTo>
                      <a:pt x="186" y="93"/>
                    </a:lnTo>
                    <a:lnTo>
                      <a:pt x="231" y="84"/>
                    </a:lnTo>
                    <a:lnTo>
                      <a:pt x="265" y="77"/>
                    </a:lnTo>
                    <a:lnTo>
                      <a:pt x="307" y="68"/>
                    </a:lnTo>
                    <a:lnTo>
                      <a:pt x="353" y="56"/>
                    </a:lnTo>
                    <a:lnTo>
                      <a:pt x="398" y="43"/>
                    </a:lnTo>
                    <a:lnTo>
                      <a:pt x="439" y="29"/>
                    </a:lnTo>
                    <a:lnTo>
                      <a:pt x="486" y="13"/>
                    </a:lnTo>
                    <a:lnTo>
                      <a:pt x="516" y="6"/>
                    </a:lnTo>
                    <a:lnTo>
                      <a:pt x="542" y="1"/>
                    </a:lnTo>
                    <a:lnTo>
                      <a:pt x="566" y="0"/>
                    </a:lnTo>
                    <a:lnTo>
                      <a:pt x="587" y="0"/>
                    </a:lnTo>
                    <a:lnTo>
                      <a:pt x="619" y="4"/>
                    </a:lnTo>
                    <a:lnTo>
                      <a:pt x="641" y="8"/>
                    </a:lnTo>
                    <a:lnTo>
                      <a:pt x="664" y="16"/>
                    </a:lnTo>
                    <a:lnTo>
                      <a:pt x="680" y="24"/>
                    </a:lnTo>
                    <a:lnTo>
                      <a:pt x="692" y="35"/>
                    </a:lnTo>
                    <a:lnTo>
                      <a:pt x="701" y="51"/>
                    </a:lnTo>
                    <a:lnTo>
                      <a:pt x="704" y="62"/>
                    </a:lnTo>
                    <a:lnTo>
                      <a:pt x="702" y="78"/>
                    </a:lnTo>
                    <a:lnTo>
                      <a:pt x="696" y="94"/>
                    </a:lnTo>
                    <a:lnTo>
                      <a:pt x="682" y="115"/>
                    </a:lnTo>
                    <a:lnTo>
                      <a:pt x="667" y="139"/>
                    </a:lnTo>
                    <a:lnTo>
                      <a:pt x="659" y="161"/>
                    </a:lnTo>
                    <a:lnTo>
                      <a:pt x="654" y="177"/>
                    </a:lnTo>
                    <a:lnTo>
                      <a:pt x="653" y="195"/>
                    </a:lnTo>
                    <a:lnTo>
                      <a:pt x="654" y="208"/>
                    </a:lnTo>
                    <a:lnTo>
                      <a:pt x="661" y="225"/>
                    </a:lnTo>
                    <a:lnTo>
                      <a:pt x="675" y="243"/>
                    </a:lnTo>
                    <a:lnTo>
                      <a:pt x="692" y="259"/>
                    </a:lnTo>
                    <a:lnTo>
                      <a:pt x="709" y="269"/>
                    </a:lnTo>
                    <a:lnTo>
                      <a:pt x="731" y="276"/>
                    </a:lnTo>
                    <a:lnTo>
                      <a:pt x="756" y="282"/>
                    </a:lnTo>
                    <a:lnTo>
                      <a:pt x="775" y="285"/>
                    </a:lnTo>
                    <a:lnTo>
                      <a:pt x="797" y="282"/>
                    </a:lnTo>
                    <a:lnTo>
                      <a:pt x="818" y="277"/>
                    </a:lnTo>
                    <a:lnTo>
                      <a:pt x="839" y="270"/>
                    </a:lnTo>
                    <a:lnTo>
                      <a:pt x="861" y="260"/>
                    </a:lnTo>
                    <a:lnTo>
                      <a:pt x="884" y="245"/>
                    </a:lnTo>
                    <a:lnTo>
                      <a:pt x="903" y="232"/>
                    </a:lnTo>
                    <a:lnTo>
                      <a:pt x="919" y="219"/>
                    </a:lnTo>
                    <a:lnTo>
                      <a:pt x="932" y="203"/>
                    </a:lnTo>
                    <a:lnTo>
                      <a:pt x="942" y="184"/>
                    </a:lnTo>
                    <a:lnTo>
                      <a:pt x="948" y="164"/>
                    </a:lnTo>
                    <a:lnTo>
                      <a:pt x="951" y="139"/>
                    </a:lnTo>
                    <a:lnTo>
                      <a:pt x="958" y="119"/>
                    </a:lnTo>
                    <a:lnTo>
                      <a:pt x="964" y="110"/>
                    </a:lnTo>
                    <a:lnTo>
                      <a:pt x="977" y="100"/>
                    </a:lnTo>
                    <a:lnTo>
                      <a:pt x="999" y="90"/>
                    </a:lnTo>
                    <a:lnTo>
                      <a:pt x="1028" y="80"/>
                    </a:lnTo>
                    <a:lnTo>
                      <a:pt x="1058" y="71"/>
                    </a:lnTo>
                    <a:lnTo>
                      <a:pt x="1086" y="62"/>
                    </a:lnTo>
                    <a:lnTo>
                      <a:pt x="1115" y="55"/>
                    </a:lnTo>
                    <a:lnTo>
                      <a:pt x="1157" y="48"/>
                    </a:lnTo>
                    <a:lnTo>
                      <a:pt x="1217" y="37"/>
                    </a:lnTo>
                    <a:lnTo>
                      <a:pt x="1282" y="32"/>
                    </a:lnTo>
                    <a:lnTo>
                      <a:pt x="1353" y="32"/>
                    </a:lnTo>
                    <a:lnTo>
                      <a:pt x="1423" y="32"/>
                    </a:lnTo>
                    <a:lnTo>
                      <a:pt x="1487" y="39"/>
                    </a:lnTo>
                    <a:lnTo>
                      <a:pt x="1490" y="58"/>
                    </a:lnTo>
                    <a:lnTo>
                      <a:pt x="1494" y="81"/>
                    </a:lnTo>
                    <a:lnTo>
                      <a:pt x="1503" y="113"/>
                    </a:lnTo>
                    <a:lnTo>
                      <a:pt x="1516" y="149"/>
                    </a:lnTo>
                    <a:lnTo>
                      <a:pt x="1529" y="186"/>
                    </a:lnTo>
                    <a:lnTo>
                      <a:pt x="1538" y="212"/>
                    </a:lnTo>
                    <a:lnTo>
                      <a:pt x="1544" y="237"/>
                    </a:lnTo>
                    <a:lnTo>
                      <a:pt x="1547" y="259"/>
                    </a:lnTo>
                    <a:lnTo>
                      <a:pt x="1545" y="275"/>
                    </a:lnTo>
                    <a:lnTo>
                      <a:pt x="1540" y="292"/>
                    </a:lnTo>
                    <a:lnTo>
                      <a:pt x="1531" y="307"/>
                    </a:lnTo>
                    <a:lnTo>
                      <a:pt x="1524" y="315"/>
                    </a:lnTo>
                    <a:lnTo>
                      <a:pt x="1513" y="323"/>
                    </a:lnTo>
                    <a:lnTo>
                      <a:pt x="1499" y="330"/>
                    </a:lnTo>
                    <a:lnTo>
                      <a:pt x="1480" y="331"/>
                    </a:lnTo>
                    <a:lnTo>
                      <a:pt x="1461" y="327"/>
                    </a:lnTo>
                    <a:lnTo>
                      <a:pt x="1444" y="321"/>
                    </a:lnTo>
                    <a:lnTo>
                      <a:pt x="1423" y="312"/>
                    </a:lnTo>
                    <a:lnTo>
                      <a:pt x="1407" y="302"/>
                    </a:lnTo>
                    <a:lnTo>
                      <a:pt x="1393" y="296"/>
                    </a:lnTo>
                    <a:lnTo>
                      <a:pt x="1375" y="291"/>
                    </a:lnTo>
                    <a:lnTo>
                      <a:pt x="1356" y="288"/>
                    </a:lnTo>
                    <a:lnTo>
                      <a:pt x="1342" y="289"/>
                    </a:lnTo>
                    <a:lnTo>
                      <a:pt x="1326" y="296"/>
                    </a:lnTo>
                    <a:lnTo>
                      <a:pt x="1313" y="308"/>
                    </a:lnTo>
                    <a:lnTo>
                      <a:pt x="1303" y="323"/>
                    </a:lnTo>
                    <a:lnTo>
                      <a:pt x="1294" y="341"/>
                    </a:lnTo>
                    <a:lnTo>
                      <a:pt x="1290" y="356"/>
                    </a:lnTo>
                    <a:lnTo>
                      <a:pt x="1287" y="371"/>
                    </a:lnTo>
                    <a:lnTo>
                      <a:pt x="1285" y="391"/>
                    </a:lnTo>
                    <a:lnTo>
                      <a:pt x="1288" y="414"/>
                    </a:lnTo>
                    <a:lnTo>
                      <a:pt x="1295" y="437"/>
                    </a:lnTo>
                    <a:lnTo>
                      <a:pt x="1307" y="458"/>
                    </a:lnTo>
                    <a:lnTo>
                      <a:pt x="1320" y="477"/>
                    </a:lnTo>
                    <a:lnTo>
                      <a:pt x="1327" y="487"/>
                    </a:lnTo>
                    <a:lnTo>
                      <a:pt x="1343" y="501"/>
                    </a:lnTo>
                    <a:lnTo>
                      <a:pt x="1361" y="516"/>
                    </a:lnTo>
                    <a:lnTo>
                      <a:pt x="1383" y="526"/>
                    </a:lnTo>
                    <a:lnTo>
                      <a:pt x="1407" y="533"/>
                    </a:lnTo>
                    <a:lnTo>
                      <a:pt x="1429" y="536"/>
                    </a:lnTo>
                    <a:lnTo>
                      <a:pt x="1455" y="538"/>
                    </a:lnTo>
                    <a:lnTo>
                      <a:pt x="1481" y="535"/>
                    </a:lnTo>
                    <a:lnTo>
                      <a:pt x="1503" y="533"/>
                    </a:lnTo>
                    <a:lnTo>
                      <a:pt x="1524" y="532"/>
                    </a:lnTo>
                    <a:lnTo>
                      <a:pt x="1535" y="538"/>
                    </a:lnTo>
                    <a:lnTo>
                      <a:pt x="1540" y="548"/>
                    </a:lnTo>
                    <a:lnTo>
                      <a:pt x="1541" y="558"/>
                    </a:lnTo>
                    <a:lnTo>
                      <a:pt x="1540" y="568"/>
                    </a:lnTo>
                    <a:lnTo>
                      <a:pt x="1534" y="589"/>
                    </a:lnTo>
                    <a:lnTo>
                      <a:pt x="1526" y="606"/>
                    </a:lnTo>
                    <a:lnTo>
                      <a:pt x="1518" y="628"/>
                    </a:lnTo>
                    <a:lnTo>
                      <a:pt x="1505" y="653"/>
                    </a:lnTo>
                    <a:lnTo>
                      <a:pt x="1490" y="677"/>
                    </a:lnTo>
                    <a:lnTo>
                      <a:pt x="1476" y="699"/>
                    </a:lnTo>
                    <a:lnTo>
                      <a:pt x="1458" y="724"/>
                    </a:lnTo>
                    <a:lnTo>
                      <a:pt x="1444" y="741"/>
                    </a:lnTo>
                    <a:lnTo>
                      <a:pt x="1428" y="753"/>
                    </a:lnTo>
                    <a:lnTo>
                      <a:pt x="0" y="752"/>
                    </a:lnTo>
                    <a:close/>
                  </a:path>
                </a:pathLst>
              </a:custGeom>
              <a:solidFill>
                <a:srgbClr val="EFF4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Freeform 122"/>
              <p:cNvSpPr>
                <a:spLocks/>
              </p:cNvSpPr>
              <p:nvPr/>
            </p:nvSpPr>
            <p:spPr bwMode="auto">
              <a:xfrm>
                <a:off x="2393" y="5095"/>
                <a:ext cx="1098" cy="255"/>
              </a:xfrm>
              <a:custGeom>
                <a:avLst/>
                <a:gdLst>
                  <a:gd name="T0" fmla="*/ 1 w 1812"/>
                  <a:gd name="T1" fmla="*/ 0 h 769"/>
                  <a:gd name="T2" fmla="*/ 1 w 1812"/>
                  <a:gd name="T3" fmla="*/ 0 h 769"/>
                  <a:gd name="T4" fmla="*/ 1 w 1812"/>
                  <a:gd name="T5" fmla="*/ 0 h 769"/>
                  <a:gd name="T6" fmla="*/ 1 w 1812"/>
                  <a:gd name="T7" fmla="*/ 0 h 769"/>
                  <a:gd name="T8" fmla="*/ 1 w 1812"/>
                  <a:gd name="T9" fmla="*/ 0 h 769"/>
                  <a:gd name="T10" fmla="*/ 1 w 1812"/>
                  <a:gd name="T11" fmla="*/ 0 h 769"/>
                  <a:gd name="T12" fmla="*/ 1 w 1812"/>
                  <a:gd name="T13" fmla="*/ 0 h 769"/>
                  <a:gd name="T14" fmla="*/ 1 w 1812"/>
                  <a:gd name="T15" fmla="*/ 0 h 769"/>
                  <a:gd name="T16" fmla="*/ 1 w 1812"/>
                  <a:gd name="T17" fmla="*/ 0 h 769"/>
                  <a:gd name="T18" fmla="*/ 1 w 1812"/>
                  <a:gd name="T19" fmla="*/ 0 h 769"/>
                  <a:gd name="T20" fmla="*/ 1 w 1812"/>
                  <a:gd name="T21" fmla="*/ 0 h 769"/>
                  <a:gd name="T22" fmla="*/ 1 w 1812"/>
                  <a:gd name="T23" fmla="*/ 0 h 769"/>
                  <a:gd name="T24" fmla="*/ 1 w 1812"/>
                  <a:gd name="T25" fmla="*/ 0 h 769"/>
                  <a:gd name="T26" fmla="*/ 1 w 1812"/>
                  <a:gd name="T27" fmla="*/ 0 h 769"/>
                  <a:gd name="T28" fmla="*/ 1 w 1812"/>
                  <a:gd name="T29" fmla="*/ 0 h 769"/>
                  <a:gd name="T30" fmla="*/ 1 w 1812"/>
                  <a:gd name="T31" fmla="*/ 0 h 769"/>
                  <a:gd name="T32" fmla="*/ 1 w 1812"/>
                  <a:gd name="T33" fmla="*/ 0 h 769"/>
                  <a:gd name="T34" fmla="*/ 1 w 1812"/>
                  <a:gd name="T35" fmla="*/ 0 h 769"/>
                  <a:gd name="T36" fmla="*/ 1 w 1812"/>
                  <a:gd name="T37" fmla="*/ 0 h 769"/>
                  <a:gd name="T38" fmla="*/ 1 w 1812"/>
                  <a:gd name="T39" fmla="*/ 0 h 769"/>
                  <a:gd name="T40" fmla="*/ 1 w 1812"/>
                  <a:gd name="T41" fmla="*/ 0 h 769"/>
                  <a:gd name="T42" fmla="*/ 1 w 1812"/>
                  <a:gd name="T43" fmla="*/ 0 h 769"/>
                  <a:gd name="T44" fmla="*/ 1 w 1812"/>
                  <a:gd name="T45" fmla="*/ 0 h 769"/>
                  <a:gd name="T46" fmla="*/ 1 w 1812"/>
                  <a:gd name="T47" fmla="*/ 0 h 769"/>
                  <a:gd name="T48" fmla="*/ 1 w 1812"/>
                  <a:gd name="T49" fmla="*/ 0 h 769"/>
                  <a:gd name="T50" fmla="*/ 1 w 1812"/>
                  <a:gd name="T51" fmla="*/ 0 h 769"/>
                  <a:gd name="T52" fmla="*/ 1 w 1812"/>
                  <a:gd name="T53" fmla="*/ 0 h 769"/>
                  <a:gd name="T54" fmla="*/ 1 w 1812"/>
                  <a:gd name="T55" fmla="*/ 0 h 769"/>
                  <a:gd name="T56" fmla="*/ 1 w 1812"/>
                  <a:gd name="T57" fmla="*/ 0 h 769"/>
                  <a:gd name="T58" fmla="*/ 1 w 1812"/>
                  <a:gd name="T59" fmla="*/ 0 h 769"/>
                  <a:gd name="T60" fmla="*/ 1 w 1812"/>
                  <a:gd name="T61" fmla="*/ 0 h 769"/>
                  <a:gd name="T62" fmla="*/ 1 w 1812"/>
                  <a:gd name="T63" fmla="*/ 0 h 769"/>
                  <a:gd name="T64" fmla="*/ 1 w 1812"/>
                  <a:gd name="T65" fmla="*/ 0 h 769"/>
                  <a:gd name="T66" fmla="*/ 1 w 1812"/>
                  <a:gd name="T67" fmla="*/ 0 h 769"/>
                  <a:gd name="T68" fmla="*/ 1 w 1812"/>
                  <a:gd name="T69" fmla="*/ 0 h 769"/>
                  <a:gd name="T70" fmla="*/ 1 w 1812"/>
                  <a:gd name="T71" fmla="*/ 0 h 769"/>
                  <a:gd name="T72" fmla="*/ 1 w 1812"/>
                  <a:gd name="T73" fmla="*/ 0 h 769"/>
                  <a:gd name="T74" fmla="*/ 1 w 1812"/>
                  <a:gd name="T75" fmla="*/ 0 h 769"/>
                  <a:gd name="T76" fmla="*/ 1 w 1812"/>
                  <a:gd name="T77" fmla="*/ 0 h 769"/>
                  <a:gd name="T78" fmla="*/ 1 w 1812"/>
                  <a:gd name="T79" fmla="*/ 0 h 769"/>
                  <a:gd name="T80" fmla="*/ 1 w 1812"/>
                  <a:gd name="T81" fmla="*/ 0 h 769"/>
                  <a:gd name="T82" fmla="*/ 1 w 1812"/>
                  <a:gd name="T83" fmla="*/ 0 h 769"/>
                  <a:gd name="T84" fmla="*/ 1 w 1812"/>
                  <a:gd name="T85" fmla="*/ 0 h 76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812"/>
                  <a:gd name="T130" fmla="*/ 0 h 769"/>
                  <a:gd name="T131" fmla="*/ 1812 w 1812"/>
                  <a:gd name="T132" fmla="*/ 769 h 769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812" h="769">
                    <a:moveTo>
                      <a:pt x="275" y="71"/>
                    </a:moveTo>
                    <a:lnTo>
                      <a:pt x="293" y="67"/>
                    </a:lnTo>
                    <a:lnTo>
                      <a:pt x="316" y="62"/>
                    </a:lnTo>
                    <a:lnTo>
                      <a:pt x="336" y="64"/>
                    </a:lnTo>
                    <a:lnTo>
                      <a:pt x="355" y="68"/>
                    </a:lnTo>
                    <a:lnTo>
                      <a:pt x="374" y="72"/>
                    </a:lnTo>
                    <a:lnTo>
                      <a:pt x="394" y="77"/>
                    </a:lnTo>
                    <a:lnTo>
                      <a:pt x="418" y="81"/>
                    </a:lnTo>
                    <a:lnTo>
                      <a:pt x="435" y="84"/>
                    </a:lnTo>
                    <a:lnTo>
                      <a:pt x="458" y="86"/>
                    </a:lnTo>
                    <a:lnTo>
                      <a:pt x="480" y="84"/>
                    </a:lnTo>
                    <a:lnTo>
                      <a:pt x="499" y="80"/>
                    </a:lnTo>
                    <a:lnTo>
                      <a:pt x="521" y="74"/>
                    </a:lnTo>
                    <a:lnTo>
                      <a:pt x="541" y="67"/>
                    </a:lnTo>
                    <a:lnTo>
                      <a:pt x="560" y="58"/>
                    </a:lnTo>
                    <a:lnTo>
                      <a:pt x="580" y="49"/>
                    </a:lnTo>
                    <a:lnTo>
                      <a:pt x="599" y="41"/>
                    </a:lnTo>
                    <a:lnTo>
                      <a:pt x="623" y="33"/>
                    </a:lnTo>
                    <a:lnTo>
                      <a:pt x="642" y="29"/>
                    </a:lnTo>
                    <a:lnTo>
                      <a:pt x="663" y="27"/>
                    </a:lnTo>
                    <a:lnTo>
                      <a:pt x="684" y="30"/>
                    </a:lnTo>
                    <a:lnTo>
                      <a:pt x="703" y="36"/>
                    </a:lnTo>
                    <a:lnTo>
                      <a:pt x="721" y="48"/>
                    </a:lnTo>
                    <a:lnTo>
                      <a:pt x="733" y="58"/>
                    </a:lnTo>
                    <a:lnTo>
                      <a:pt x="739" y="77"/>
                    </a:lnTo>
                    <a:lnTo>
                      <a:pt x="736" y="97"/>
                    </a:lnTo>
                    <a:lnTo>
                      <a:pt x="730" y="120"/>
                    </a:lnTo>
                    <a:lnTo>
                      <a:pt x="721" y="145"/>
                    </a:lnTo>
                    <a:lnTo>
                      <a:pt x="714" y="166"/>
                    </a:lnTo>
                    <a:lnTo>
                      <a:pt x="716" y="186"/>
                    </a:lnTo>
                    <a:lnTo>
                      <a:pt x="724" y="206"/>
                    </a:lnTo>
                    <a:lnTo>
                      <a:pt x="739" y="222"/>
                    </a:lnTo>
                    <a:lnTo>
                      <a:pt x="753" y="232"/>
                    </a:lnTo>
                    <a:lnTo>
                      <a:pt x="774" y="238"/>
                    </a:lnTo>
                    <a:lnTo>
                      <a:pt x="796" y="244"/>
                    </a:lnTo>
                    <a:lnTo>
                      <a:pt x="826" y="248"/>
                    </a:lnTo>
                    <a:lnTo>
                      <a:pt x="852" y="251"/>
                    </a:lnTo>
                    <a:lnTo>
                      <a:pt x="884" y="253"/>
                    </a:lnTo>
                    <a:lnTo>
                      <a:pt x="913" y="250"/>
                    </a:lnTo>
                    <a:lnTo>
                      <a:pt x="940" y="246"/>
                    </a:lnTo>
                    <a:lnTo>
                      <a:pt x="967" y="238"/>
                    </a:lnTo>
                    <a:lnTo>
                      <a:pt x="992" y="230"/>
                    </a:lnTo>
                    <a:lnTo>
                      <a:pt x="1011" y="219"/>
                    </a:lnTo>
                    <a:lnTo>
                      <a:pt x="1030" y="208"/>
                    </a:lnTo>
                    <a:lnTo>
                      <a:pt x="1044" y="195"/>
                    </a:lnTo>
                    <a:lnTo>
                      <a:pt x="1057" y="179"/>
                    </a:lnTo>
                    <a:lnTo>
                      <a:pt x="1065" y="158"/>
                    </a:lnTo>
                    <a:lnTo>
                      <a:pt x="1066" y="126"/>
                    </a:lnTo>
                    <a:lnTo>
                      <a:pt x="1066" y="102"/>
                    </a:lnTo>
                    <a:lnTo>
                      <a:pt x="1070" y="80"/>
                    </a:lnTo>
                    <a:lnTo>
                      <a:pt x="1079" y="64"/>
                    </a:lnTo>
                    <a:lnTo>
                      <a:pt x="1092" y="49"/>
                    </a:lnTo>
                    <a:lnTo>
                      <a:pt x="1107" y="36"/>
                    </a:lnTo>
                    <a:lnTo>
                      <a:pt x="1126" y="25"/>
                    </a:lnTo>
                    <a:lnTo>
                      <a:pt x="1145" y="16"/>
                    </a:lnTo>
                    <a:lnTo>
                      <a:pt x="1171" y="9"/>
                    </a:lnTo>
                    <a:lnTo>
                      <a:pt x="1195" y="6"/>
                    </a:lnTo>
                    <a:lnTo>
                      <a:pt x="1222" y="3"/>
                    </a:lnTo>
                    <a:lnTo>
                      <a:pt x="1249" y="1"/>
                    </a:lnTo>
                    <a:lnTo>
                      <a:pt x="1278" y="0"/>
                    </a:lnTo>
                    <a:lnTo>
                      <a:pt x="1310" y="1"/>
                    </a:lnTo>
                    <a:lnTo>
                      <a:pt x="1335" y="3"/>
                    </a:lnTo>
                    <a:lnTo>
                      <a:pt x="1357" y="6"/>
                    </a:lnTo>
                    <a:lnTo>
                      <a:pt x="1380" y="9"/>
                    </a:lnTo>
                    <a:lnTo>
                      <a:pt x="1402" y="11"/>
                    </a:lnTo>
                    <a:lnTo>
                      <a:pt x="1425" y="13"/>
                    </a:lnTo>
                    <a:lnTo>
                      <a:pt x="1602" y="17"/>
                    </a:lnTo>
                    <a:lnTo>
                      <a:pt x="1812" y="769"/>
                    </a:lnTo>
                    <a:lnTo>
                      <a:pt x="249" y="768"/>
                    </a:lnTo>
                    <a:lnTo>
                      <a:pt x="250" y="747"/>
                    </a:lnTo>
                    <a:lnTo>
                      <a:pt x="255" y="730"/>
                    </a:lnTo>
                    <a:lnTo>
                      <a:pt x="261" y="714"/>
                    </a:lnTo>
                    <a:lnTo>
                      <a:pt x="266" y="701"/>
                    </a:lnTo>
                    <a:lnTo>
                      <a:pt x="275" y="686"/>
                    </a:lnTo>
                    <a:lnTo>
                      <a:pt x="287" y="670"/>
                    </a:lnTo>
                    <a:lnTo>
                      <a:pt x="300" y="656"/>
                    </a:lnTo>
                    <a:lnTo>
                      <a:pt x="312" y="644"/>
                    </a:lnTo>
                    <a:lnTo>
                      <a:pt x="326" y="629"/>
                    </a:lnTo>
                    <a:lnTo>
                      <a:pt x="338" y="618"/>
                    </a:lnTo>
                    <a:lnTo>
                      <a:pt x="346" y="603"/>
                    </a:lnTo>
                    <a:lnTo>
                      <a:pt x="354" y="589"/>
                    </a:lnTo>
                    <a:lnTo>
                      <a:pt x="358" y="567"/>
                    </a:lnTo>
                    <a:lnTo>
                      <a:pt x="357" y="547"/>
                    </a:lnTo>
                    <a:lnTo>
                      <a:pt x="352" y="534"/>
                    </a:lnTo>
                    <a:lnTo>
                      <a:pt x="345" y="520"/>
                    </a:lnTo>
                    <a:lnTo>
                      <a:pt x="335" y="509"/>
                    </a:lnTo>
                    <a:lnTo>
                      <a:pt x="322" y="499"/>
                    </a:lnTo>
                    <a:lnTo>
                      <a:pt x="307" y="493"/>
                    </a:lnTo>
                    <a:lnTo>
                      <a:pt x="288" y="488"/>
                    </a:lnTo>
                    <a:lnTo>
                      <a:pt x="268" y="487"/>
                    </a:lnTo>
                    <a:lnTo>
                      <a:pt x="246" y="488"/>
                    </a:lnTo>
                    <a:lnTo>
                      <a:pt x="226" y="491"/>
                    </a:lnTo>
                    <a:lnTo>
                      <a:pt x="205" y="496"/>
                    </a:lnTo>
                    <a:lnTo>
                      <a:pt x="179" y="503"/>
                    </a:lnTo>
                    <a:lnTo>
                      <a:pt x="157" y="509"/>
                    </a:lnTo>
                    <a:lnTo>
                      <a:pt x="134" y="513"/>
                    </a:lnTo>
                    <a:lnTo>
                      <a:pt x="107" y="516"/>
                    </a:lnTo>
                    <a:lnTo>
                      <a:pt x="85" y="516"/>
                    </a:lnTo>
                    <a:lnTo>
                      <a:pt x="66" y="512"/>
                    </a:lnTo>
                    <a:lnTo>
                      <a:pt x="45" y="506"/>
                    </a:lnTo>
                    <a:lnTo>
                      <a:pt x="29" y="497"/>
                    </a:lnTo>
                    <a:lnTo>
                      <a:pt x="15" y="486"/>
                    </a:lnTo>
                    <a:lnTo>
                      <a:pt x="5" y="468"/>
                    </a:lnTo>
                    <a:lnTo>
                      <a:pt x="0" y="449"/>
                    </a:lnTo>
                    <a:lnTo>
                      <a:pt x="3" y="430"/>
                    </a:lnTo>
                    <a:lnTo>
                      <a:pt x="11" y="411"/>
                    </a:lnTo>
                    <a:lnTo>
                      <a:pt x="18" y="397"/>
                    </a:lnTo>
                    <a:lnTo>
                      <a:pt x="31" y="382"/>
                    </a:lnTo>
                    <a:lnTo>
                      <a:pt x="45" y="369"/>
                    </a:lnTo>
                    <a:lnTo>
                      <a:pt x="60" y="360"/>
                    </a:lnTo>
                    <a:lnTo>
                      <a:pt x="77" y="350"/>
                    </a:lnTo>
                    <a:lnTo>
                      <a:pt x="95" y="344"/>
                    </a:lnTo>
                    <a:lnTo>
                      <a:pt x="114" y="340"/>
                    </a:lnTo>
                    <a:lnTo>
                      <a:pt x="134" y="337"/>
                    </a:lnTo>
                    <a:lnTo>
                      <a:pt x="159" y="333"/>
                    </a:lnTo>
                    <a:lnTo>
                      <a:pt x="185" y="330"/>
                    </a:lnTo>
                    <a:lnTo>
                      <a:pt x="207" y="326"/>
                    </a:lnTo>
                    <a:lnTo>
                      <a:pt x="229" y="317"/>
                    </a:lnTo>
                    <a:lnTo>
                      <a:pt x="243" y="307"/>
                    </a:lnTo>
                    <a:lnTo>
                      <a:pt x="256" y="294"/>
                    </a:lnTo>
                    <a:lnTo>
                      <a:pt x="266" y="279"/>
                    </a:lnTo>
                    <a:lnTo>
                      <a:pt x="272" y="264"/>
                    </a:lnTo>
                    <a:lnTo>
                      <a:pt x="277" y="246"/>
                    </a:lnTo>
                    <a:lnTo>
                      <a:pt x="278" y="221"/>
                    </a:lnTo>
                    <a:lnTo>
                      <a:pt x="277" y="199"/>
                    </a:lnTo>
                    <a:lnTo>
                      <a:pt x="275" y="176"/>
                    </a:lnTo>
                    <a:lnTo>
                      <a:pt x="274" y="151"/>
                    </a:lnTo>
                    <a:lnTo>
                      <a:pt x="272" y="122"/>
                    </a:lnTo>
                    <a:lnTo>
                      <a:pt x="271" y="97"/>
                    </a:lnTo>
                    <a:lnTo>
                      <a:pt x="272" y="81"/>
                    </a:lnTo>
                    <a:lnTo>
                      <a:pt x="275" y="71"/>
                    </a:lnTo>
                    <a:close/>
                  </a:path>
                </a:pathLst>
              </a:custGeom>
              <a:solidFill>
                <a:srgbClr val="EFF4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7" name="Rectangle 123"/>
            <p:cNvSpPr>
              <a:spLocks noChangeArrowheads="1"/>
            </p:cNvSpPr>
            <p:nvPr/>
          </p:nvSpPr>
          <p:spPr bwMode="auto">
            <a:xfrm>
              <a:off x="1664" y="5696"/>
              <a:ext cx="1221" cy="64"/>
            </a:xfrm>
            <a:prstGeom prst="rect">
              <a:avLst/>
            </a:prstGeom>
            <a:solidFill>
              <a:srgbClr val="ACB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" name="Rectangle 124"/>
            <p:cNvSpPr>
              <a:spLocks noChangeArrowheads="1"/>
            </p:cNvSpPr>
            <p:nvPr/>
          </p:nvSpPr>
          <p:spPr bwMode="auto">
            <a:xfrm>
              <a:off x="624" y="5696"/>
              <a:ext cx="1220" cy="64"/>
            </a:xfrm>
            <a:prstGeom prst="rect">
              <a:avLst/>
            </a:prstGeom>
            <a:solidFill>
              <a:srgbClr val="ACB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9" name="Rectangle 125"/>
            <p:cNvSpPr>
              <a:spLocks noChangeArrowheads="1"/>
            </p:cNvSpPr>
            <p:nvPr/>
          </p:nvSpPr>
          <p:spPr bwMode="auto">
            <a:xfrm>
              <a:off x="2572" y="5696"/>
              <a:ext cx="1220" cy="64"/>
            </a:xfrm>
            <a:prstGeom prst="rect">
              <a:avLst/>
            </a:prstGeom>
            <a:solidFill>
              <a:srgbClr val="ACB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0" name="Freeform 126"/>
            <p:cNvSpPr>
              <a:spLocks/>
            </p:cNvSpPr>
            <p:nvPr/>
          </p:nvSpPr>
          <p:spPr bwMode="auto">
            <a:xfrm>
              <a:off x="1375" y="4785"/>
              <a:ext cx="1565" cy="344"/>
            </a:xfrm>
            <a:custGeom>
              <a:avLst/>
              <a:gdLst>
                <a:gd name="T0" fmla="*/ 2 w 1728"/>
                <a:gd name="T1" fmla="*/ 0 h 766"/>
                <a:gd name="T2" fmla="*/ 2 w 1728"/>
                <a:gd name="T3" fmla="*/ 0 h 766"/>
                <a:gd name="T4" fmla="*/ 2 w 1728"/>
                <a:gd name="T5" fmla="*/ 0 h 766"/>
                <a:gd name="T6" fmla="*/ 2 w 1728"/>
                <a:gd name="T7" fmla="*/ 0 h 766"/>
                <a:gd name="T8" fmla="*/ 2 w 1728"/>
                <a:gd name="T9" fmla="*/ 0 h 766"/>
                <a:gd name="T10" fmla="*/ 2 w 1728"/>
                <a:gd name="T11" fmla="*/ 0 h 766"/>
                <a:gd name="T12" fmla="*/ 2 w 1728"/>
                <a:gd name="T13" fmla="*/ 0 h 766"/>
                <a:gd name="T14" fmla="*/ 2 w 1728"/>
                <a:gd name="T15" fmla="*/ 0 h 766"/>
                <a:gd name="T16" fmla="*/ 2 w 1728"/>
                <a:gd name="T17" fmla="*/ 0 h 766"/>
                <a:gd name="T18" fmla="*/ 2 w 1728"/>
                <a:gd name="T19" fmla="*/ 0 h 766"/>
                <a:gd name="T20" fmla="*/ 2 w 1728"/>
                <a:gd name="T21" fmla="*/ 0 h 766"/>
                <a:gd name="T22" fmla="*/ 2 w 1728"/>
                <a:gd name="T23" fmla="*/ 0 h 766"/>
                <a:gd name="T24" fmla="*/ 2 w 1728"/>
                <a:gd name="T25" fmla="*/ 0 h 766"/>
                <a:gd name="T26" fmla="*/ 2 w 1728"/>
                <a:gd name="T27" fmla="*/ 0 h 766"/>
                <a:gd name="T28" fmla="*/ 1 w 1728"/>
                <a:gd name="T29" fmla="*/ 0 h 766"/>
                <a:gd name="T30" fmla="*/ 2 w 1728"/>
                <a:gd name="T31" fmla="*/ 0 h 766"/>
                <a:gd name="T32" fmla="*/ 2 w 1728"/>
                <a:gd name="T33" fmla="*/ 0 h 766"/>
                <a:gd name="T34" fmla="*/ 2 w 1728"/>
                <a:gd name="T35" fmla="*/ 0 h 766"/>
                <a:gd name="T36" fmla="*/ 2 w 1728"/>
                <a:gd name="T37" fmla="*/ 0 h 766"/>
                <a:gd name="T38" fmla="*/ 2 w 1728"/>
                <a:gd name="T39" fmla="*/ 0 h 766"/>
                <a:gd name="T40" fmla="*/ 2 w 1728"/>
                <a:gd name="T41" fmla="*/ 0 h 766"/>
                <a:gd name="T42" fmla="*/ 2 w 1728"/>
                <a:gd name="T43" fmla="*/ 0 h 766"/>
                <a:gd name="T44" fmla="*/ 2 w 1728"/>
                <a:gd name="T45" fmla="*/ 0 h 766"/>
                <a:gd name="T46" fmla="*/ 2 w 1728"/>
                <a:gd name="T47" fmla="*/ 0 h 766"/>
                <a:gd name="T48" fmla="*/ 2 w 1728"/>
                <a:gd name="T49" fmla="*/ 0 h 766"/>
                <a:gd name="T50" fmla="*/ 2 w 1728"/>
                <a:gd name="T51" fmla="*/ 0 h 766"/>
                <a:gd name="T52" fmla="*/ 2 w 1728"/>
                <a:gd name="T53" fmla="*/ 0 h 766"/>
                <a:gd name="T54" fmla="*/ 2 w 1728"/>
                <a:gd name="T55" fmla="*/ 0 h 766"/>
                <a:gd name="T56" fmla="*/ 2 w 1728"/>
                <a:gd name="T57" fmla="*/ 0 h 766"/>
                <a:gd name="T58" fmla="*/ 2 w 1728"/>
                <a:gd name="T59" fmla="*/ 0 h 766"/>
                <a:gd name="T60" fmla="*/ 2 w 1728"/>
                <a:gd name="T61" fmla="*/ 0 h 766"/>
                <a:gd name="T62" fmla="*/ 2 w 1728"/>
                <a:gd name="T63" fmla="*/ 0 h 766"/>
                <a:gd name="T64" fmla="*/ 2 w 1728"/>
                <a:gd name="T65" fmla="*/ 0 h 766"/>
                <a:gd name="T66" fmla="*/ 2 w 1728"/>
                <a:gd name="T67" fmla="*/ 0 h 766"/>
                <a:gd name="T68" fmla="*/ 2 w 1728"/>
                <a:gd name="T69" fmla="*/ 0 h 766"/>
                <a:gd name="T70" fmla="*/ 2 w 1728"/>
                <a:gd name="T71" fmla="*/ 0 h 766"/>
                <a:gd name="T72" fmla="*/ 2 w 1728"/>
                <a:gd name="T73" fmla="*/ 0 h 766"/>
                <a:gd name="T74" fmla="*/ 2 w 1728"/>
                <a:gd name="T75" fmla="*/ 0 h 766"/>
                <a:gd name="T76" fmla="*/ 2 w 1728"/>
                <a:gd name="T77" fmla="*/ 0 h 766"/>
                <a:gd name="T78" fmla="*/ 2 w 1728"/>
                <a:gd name="T79" fmla="*/ 0 h 766"/>
                <a:gd name="T80" fmla="*/ 2 w 1728"/>
                <a:gd name="T81" fmla="*/ 0 h 766"/>
                <a:gd name="T82" fmla="*/ 2 w 1728"/>
                <a:gd name="T83" fmla="*/ 0 h 766"/>
                <a:gd name="T84" fmla="*/ 2 w 1728"/>
                <a:gd name="T85" fmla="*/ 0 h 766"/>
                <a:gd name="T86" fmla="*/ 2 w 1728"/>
                <a:gd name="T87" fmla="*/ 0 h 766"/>
                <a:gd name="T88" fmla="*/ 2 w 1728"/>
                <a:gd name="T89" fmla="*/ 0 h 766"/>
                <a:gd name="T90" fmla="*/ 2 w 1728"/>
                <a:gd name="T91" fmla="*/ 0 h 766"/>
                <a:gd name="T92" fmla="*/ 2 w 1728"/>
                <a:gd name="T93" fmla="*/ 0 h 766"/>
                <a:gd name="T94" fmla="*/ 2 w 1728"/>
                <a:gd name="T95" fmla="*/ 0 h 766"/>
                <a:gd name="T96" fmla="*/ 2 w 1728"/>
                <a:gd name="T97" fmla="*/ 0 h 766"/>
                <a:gd name="T98" fmla="*/ 2 w 1728"/>
                <a:gd name="T99" fmla="*/ 0 h 766"/>
                <a:gd name="T100" fmla="*/ 2 w 1728"/>
                <a:gd name="T101" fmla="*/ 0 h 766"/>
                <a:gd name="T102" fmla="*/ 2 w 1728"/>
                <a:gd name="T103" fmla="*/ 0 h 766"/>
                <a:gd name="T104" fmla="*/ 2 w 1728"/>
                <a:gd name="T105" fmla="*/ 0 h 766"/>
                <a:gd name="T106" fmla="*/ 2 w 1728"/>
                <a:gd name="T107" fmla="*/ 0 h 766"/>
                <a:gd name="T108" fmla="*/ 2 w 1728"/>
                <a:gd name="T109" fmla="*/ 0 h 766"/>
                <a:gd name="T110" fmla="*/ 2 w 1728"/>
                <a:gd name="T111" fmla="*/ 0 h 766"/>
                <a:gd name="T112" fmla="*/ 2 w 1728"/>
                <a:gd name="T113" fmla="*/ 0 h 766"/>
                <a:gd name="T114" fmla="*/ 2 w 1728"/>
                <a:gd name="T115" fmla="*/ 0 h 766"/>
                <a:gd name="T116" fmla="*/ 2 w 1728"/>
                <a:gd name="T117" fmla="*/ 0 h 766"/>
                <a:gd name="T118" fmla="*/ 2 w 1728"/>
                <a:gd name="T119" fmla="*/ 0 h 766"/>
                <a:gd name="T120" fmla="*/ 2 w 1728"/>
                <a:gd name="T121" fmla="*/ 0 h 76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728"/>
                <a:gd name="T184" fmla="*/ 0 h 766"/>
                <a:gd name="T185" fmla="*/ 1728 w 1728"/>
                <a:gd name="T186" fmla="*/ 766 h 76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728" h="766">
                  <a:moveTo>
                    <a:pt x="1448" y="20"/>
                  </a:moveTo>
                  <a:lnTo>
                    <a:pt x="1462" y="0"/>
                  </a:lnTo>
                  <a:lnTo>
                    <a:pt x="306" y="0"/>
                  </a:lnTo>
                  <a:lnTo>
                    <a:pt x="298" y="12"/>
                  </a:lnTo>
                  <a:lnTo>
                    <a:pt x="293" y="29"/>
                  </a:lnTo>
                  <a:lnTo>
                    <a:pt x="293" y="48"/>
                  </a:lnTo>
                  <a:lnTo>
                    <a:pt x="298" y="64"/>
                  </a:lnTo>
                  <a:lnTo>
                    <a:pt x="308" y="81"/>
                  </a:lnTo>
                  <a:lnTo>
                    <a:pt x="318" y="97"/>
                  </a:lnTo>
                  <a:lnTo>
                    <a:pt x="327" y="111"/>
                  </a:lnTo>
                  <a:lnTo>
                    <a:pt x="337" y="125"/>
                  </a:lnTo>
                  <a:lnTo>
                    <a:pt x="344" y="140"/>
                  </a:lnTo>
                  <a:lnTo>
                    <a:pt x="353" y="157"/>
                  </a:lnTo>
                  <a:lnTo>
                    <a:pt x="357" y="173"/>
                  </a:lnTo>
                  <a:lnTo>
                    <a:pt x="360" y="189"/>
                  </a:lnTo>
                  <a:lnTo>
                    <a:pt x="360" y="204"/>
                  </a:lnTo>
                  <a:lnTo>
                    <a:pt x="359" y="220"/>
                  </a:lnTo>
                  <a:lnTo>
                    <a:pt x="356" y="230"/>
                  </a:lnTo>
                  <a:lnTo>
                    <a:pt x="351" y="246"/>
                  </a:lnTo>
                  <a:lnTo>
                    <a:pt x="346" y="259"/>
                  </a:lnTo>
                  <a:lnTo>
                    <a:pt x="337" y="269"/>
                  </a:lnTo>
                  <a:lnTo>
                    <a:pt x="327" y="279"/>
                  </a:lnTo>
                  <a:lnTo>
                    <a:pt x="314" y="286"/>
                  </a:lnTo>
                  <a:lnTo>
                    <a:pt x="292" y="291"/>
                  </a:lnTo>
                  <a:lnTo>
                    <a:pt x="274" y="289"/>
                  </a:lnTo>
                  <a:lnTo>
                    <a:pt x="257" y="284"/>
                  </a:lnTo>
                  <a:lnTo>
                    <a:pt x="237" y="275"/>
                  </a:lnTo>
                  <a:lnTo>
                    <a:pt x="215" y="265"/>
                  </a:lnTo>
                  <a:lnTo>
                    <a:pt x="200" y="255"/>
                  </a:lnTo>
                  <a:lnTo>
                    <a:pt x="184" y="244"/>
                  </a:lnTo>
                  <a:lnTo>
                    <a:pt x="170" y="236"/>
                  </a:lnTo>
                  <a:lnTo>
                    <a:pt x="157" y="227"/>
                  </a:lnTo>
                  <a:lnTo>
                    <a:pt x="142" y="220"/>
                  </a:lnTo>
                  <a:lnTo>
                    <a:pt x="126" y="215"/>
                  </a:lnTo>
                  <a:lnTo>
                    <a:pt x="109" y="214"/>
                  </a:lnTo>
                  <a:lnTo>
                    <a:pt x="93" y="217"/>
                  </a:lnTo>
                  <a:lnTo>
                    <a:pt x="75" y="223"/>
                  </a:lnTo>
                  <a:lnTo>
                    <a:pt x="62" y="231"/>
                  </a:lnTo>
                  <a:lnTo>
                    <a:pt x="48" y="241"/>
                  </a:lnTo>
                  <a:lnTo>
                    <a:pt x="33" y="256"/>
                  </a:lnTo>
                  <a:lnTo>
                    <a:pt x="21" y="272"/>
                  </a:lnTo>
                  <a:lnTo>
                    <a:pt x="10" y="294"/>
                  </a:lnTo>
                  <a:lnTo>
                    <a:pt x="4" y="313"/>
                  </a:lnTo>
                  <a:lnTo>
                    <a:pt x="0" y="332"/>
                  </a:lnTo>
                  <a:lnTo>
                    <a:pt x="1" y="353"/>
                  </a:lnTo>
                  <a:lnTo>
                    <a:pt x="3" y="372"/>
                  </a:lnTo>
                  <a:lnTo>
                    <a:pt x="8" y="394"/>
                  </a:lnTo>
                  <a:lnTo>
                    <a:pt x="16" y="412"/>
                  </a:lnTo>
                  <a:lnTo>
                    <a:pt x="26" y="430"/>
                  </a:lnTo>
                  <a:lnTo>
                    <a:pt x="37" y="445"/>
                  </a:lnTo>
                  <a:lnTo>
                    <a:pt x="52" y="458"/>
                  </a:lnTo>
                  <a:lnTo>
                    <a:pt x="68" y="471"/>
                  </a:lnTo>
                  <a:lnTo>
                    <a:pt x="91" y="483"/>
                  </a:lnTo>
                  <a:lnTo>
                    <a:pt x="115" y="492"/>
                  </a:lnTo>
                  <a:lnTo>
                    <a:pt x="141" y="497"/>
                  </a:lnTo>
                  <a:lnTo>
                    <a:pt x="170" y="500"/>
                  </a:lnTo>
                  <a:lnTo>
                    <a:pt x="205" y="499"/>
                  </a:lnTo>
                  <a:lnTo>
                    <a:pt x="229" y="497"/>
                  </a:lnTo>
                  <a:lnTo>
                    <a:pt x="254" y="496"/>
                  </a:lnTo>
                  <a:lnTo>
                    <a:pt x="277" y="500"/>
                  </a:lnTo>
                  <a:lnTo>
                    <a:pt x="293" y="509"/>
                  </a:lnTo>
                  <a:lnTo>
                    <a:pt x="308" y="525"/>
                  </a:lnTo>
                  <a:lnTo>
                    <a:pt x="317" y="544"/>
                  </a:lnTo>
                  <a:lnTo>
                    <a:pt x="318" y="563"/>
                  </a:lnTo>
                  <a:lnTo>
                    <a:pt x="317" y="579"/>
                  </a:lnTo>
                  <a:lnTo>
                    <a:pt x="311" y="598"/>
                  </a:lnTo>
                  <a:lnTo>
                    <a:pt x="301" y="621"/>
                  </a:lnTo>
                  <a:lnTo>
                    <a:pt x="292" y="640"/>
                  </a:lnTo>
                  <a:lnTo>
                    <a:pt x="280" y="662"/>
                  </a:lnTo>
                  <a:lnTo>
                    <a:pt x="269" y="684"/>
                  </a:lnTo>
                  <a:lnTo>
                    <a:pt x="253" y="713"/>
                  </a:lnTo>
                  <a:lnTo>
                    <a:pt x="270" y="716"/>
                  </a:lnTo>
                  <a:lnTo>
                    <a:pt x="295" y="718"/>
                  </a:lnTo>
                  <a:lnTo>
                    <a:pt x="321" y="721"/>
                  </a:lnTo>
                  <a:lnTo>
                    <a:pt x="350" y="726"/>
                  </a:lnTo>
                  <a:lnTo>
                    <a:pt x="379" y="729"/>
                  </a:lnTo>
                  <a:lnTo>
                    <a:pt x="411" y="733"/>
                  </a:lnTo>
                  <a:lnTo>
                    <a:pt x="445" y="736"/>
                  </a:lnTo>
                  <a:lnTo>
                    <a:pt x="481" y="737"/>
                  </a:lnTo>
                  <a:lnTo>
                    <a:pt x="552" y="737"/>
                  </a:lnTo>
                  <a:lnTo>
                    <a:pt x="577" y="736"/>
                  </a:lnTo>
                  <a:lnTo>
                    <a:pt x="602" y="734"/>
                  </a:lnTo>
                  <a:lnTo>
                    <a:pt x="629" y="730"/>
                  </a:lnTo>
                  <a:lnTo>
                    <a:pt x="652" y="723"/>
                  </a:lnTo>
                  <a:lnTo>
                    <a:pt x="670" y="714"/>
                  </a:lnTo>
                  <a:lnTo>
                    <a:pt x="684" y="704"/>
                  </a:lnTo>
                  <a:lnTo>
                    <a:pt x="695" y="694"/>
                  </a:lnTo>
                  <a:lnTo>
                    <a:pt x="699" y="682"/>
                  </a:lnTo>
                  <a:lnTo>
                    <a:pt x="699" y="665"/>
                  </a:lnTo>
                  <a:lnTo>
                    <a:pt x="695" y="644"/>
                  </a:lnTo>
                  <a:lnTo>
                    <a:pt x="687" y="624"/>
                  </a:lnTo>
                  <a:lnTo>
                    <a:pt x="680" y="605"/>
                  </a:lnTo>
                  <a:lnTo>
                    <a:pt x="680" y="588"/>
                  </a:lnTo>
                  <a:lnTo>
                    <a:pt x="689" y="572"/>
                  </a:lnTo>
                  <a:lnTo>
                    <a:pt x="702" y="557"/>
                  </a:lnTo>
                  <a:lnTo>
                    <a:pt x="721" y="545"/>
                  </a:lnTo>
                  <a:lnTo>
                    <a:pt x="743" y="537"/>
                  </a:lnTo>
                  <a:lnTo>
                    <a:pt x="767" y="529"/>
                  </a:lnTo>
                  <a:lnTo>
                    <a:pt x="792" y="525"/>
                  </a:lnTo>
                  <a:lnTo>
                    <a:pt x="823" y="521"/>
                  </a:lnTo>
                  <a:lnTo>
                    <a:pt x="847" y="518"/>
                  </a:lnTo>
                  <a:lnTo>
                    <a:pt x="875" y="518"/>
                  </a:lnTo>
                  <a:lnTo>
                    <a:pt x="898" y="519"/>
                  </a:lnTo>
                  <a:lnTo>
                    <a:pt x="923" y="525"/>
                  </a:lnTo>
                  <a:lnTo>
                    <a:pt x="946" y="532"/>
                  </a:lnTo>
                  <a:lnTo>
                    <a:pt x="968" y="542"/>
                  </a:lnTo>
                  <a:lnTo>
                    <a:pt x="985" y="554"/>
                  </a:lnTo>
                  <a:lnTo>
                    <a:pt x="1001" y="569"/>
                  </a:lnTo>
                  <a:lnTo>
                    <a:pt x="1009" y="583"/>
                  </a:lnTo>
                  <a:lnTo>
                    <a:pt x="1011" y="598"/>
                  </a:lnTo>
                  <a:lnTo>
                    <a:pt x="1007" y="615"/>
                  </a:lnTo>
                  <a:lnTo>
                    <a:pt x="1000" y="630"/>
                  </a:lnTo>
                  <a:lnTo>
                    <a:pt x="987" y="653"/>
                  </a:lnTo>
                  <a:lnTo>
                    <a:pt x="978" y="672"/>
                  </a:lnTo>
                  <a:lnTo>
                    <a:pt x="971" y="692"/>
                  </a:lnTo>
                  <a:lnTo>
                    <a:pt x="971" y="710"/>
                  </a:lnTo>
                  <a:lnTo>
                    <a:pt x="978" y="727"/>
                  </a:lnTo>
                  <a:lnTo>
                    <a:pt x="993" y="740"/>
                  </a:lnTo>
                  <a:lnTo>
                    <a:pt x="1006" y="748"/>
                  </a:lnTo>
                  <a:lnTo>
                    <a:pt x="1026" y="755"/>
                  </a:lnTo>
                  <a:lnTo>
                    <a:pt x="1051" y="761"/>
                  </a:lnTo>
                  <a:lnTo>
                    <a:pt x="1074" y="764"/>
                  </a:lnTo>
                  <a:lnTo>
                    <a:pt x="1105" y="766"/>
                  </a:lnTo>
                  <a:lnTo>
                    <a:pt x="1138" y="766"/>
                  </a:lnTo>
                  <a:lnTo>
                    <a:pt x="1166" y="762"/>
                  </a:lnTo>
                  <a:lnTo>
                    <a:pt x="1206" y="759"/>
                  </a:lnTo>
                  <a:lnTo>
                    <a:pt x="1247" y="753"/>
                  </a:lnTo>
                  <a:lnTo>
                    <a:pt x="1282" y="748"/>
                  </a:lnTo>
                  <a:lnTo>
                    <a:pt x="1317" y="742"/>
                  </a:lnTo>
                  <a:lnTo>
                    <a:pt x="1357" y="733"/>
                  </a:lnTo>
                  <a:lnTo>
                    <a:pt x="1405" y="723"/>
                  </a:lnTo>
                  <a:lnTo>
                    <a:pt x="1474" y="710"/>
                  </a:lnTo>
                  <a:lnTo>
                    <a:pt x="1465" y="694"/>
                  </a:lnTo>
                  <a:lnTo>
                    <a:pt x="1456" y="676"/>
                  </a:lnTo>
                  <a:lnTo>
                    <a:pt x="1448" y="657"/>
                  </a:lnTo>
                  <a:lnTo>
                    <a:pt x="1440" y="638"/>
                  </a:lnTo>
                  <a:lnTo>
                    <a:pt x="1435" y="615"/>
                  </a:lnTo>
                  <a:lnTo>
                    <a:pt x="1430" y="589"/>
                  </a:lnTo>
                  <a:lnTo>
                    <a:pt x="1432" y="564"/>
                  </a:lnTo>
                  <a:lnTo>
                    <a:pt x="1436" y="540"/>
                  </a:lnTo>
                  <a:lnTo>
                    <a:pt x="1446" y="513"/>
                  </a:lnTo>
                  <a:lnTo>
                    <a:pt x="1461" y="487"/>
                  </a:lnTo>
                  <a:lnTo>
                    <a:pt x="1477" y="464"/>
                  </a:lnTo>
                  <a:lnTo>
                    <a:pt x="1497" y="445"/>
                  </a:lnTo>
                  <a:lnTo>
                    <a:pt x="1519" y="430"/>
                  </a:lnTo>
                  <a:lnTo>
                    <a:pt x="1542" y="419"/>
                  </a:lnTo>
                  <a:lnTo>
                    <a:pt x="1565" y="407"/>
                  </a:lnTo>
                  <a:lnTo>
                    <a:pt x="1589" y="398"/>
                  </a:lnTo>
                  <a:lnTo>
                    <a:pt x="1612" y="388"/>
                  </a:lnTo>
                  <a:lnTo>
                    <a:pt x="1641" y="374"/>
                  </a:lnTo>
                  <a:lnTo>
                    <a:pt x="1660" y="365"/>
                  </a:lnTo>
                  <a:lnTo>
                    <a:pt x="1677" y="352"/>
                  </a:lnTo>
                  <a:lnTo>
                    <a:pt x="1693" y="337"/>
                  </a:lnTo>
                  <a:lnTo>
                    <a:pt x="1708" y="321"/>
                  </a:lnTo>
                  <a:lnTo>
                    <a:pt x="1718" y="302"/>
                  </a:lnTo>
                  <a:lnTo>
                    <a:pt x="1725" y="282"/>
                  </a:lnTo>
                  <a:lnTo>
                    <a:pt x="1728" y="259"/>
                  </a:lnTo>
                  <a:lnTo>
                    <a:pt x="1724" y="237"/>
                  </a:lnTo>
                  <a:lnTo>
                    <a:pt x="1714" y="214"/>
                  </a:lnTo>
                  <a:lnTo>
                    <a:pt x="1699" y="196"/>
                  </a:lnTo>
                  <a:lnTo>
                    <a:pt x="1680" y="183"/>
                  </a:lnTo>
                  <a:lnTo>
                    <a:pt x="1658" y="176"/>
                  </a:lnTo>
                  <a:lnTo>
                    <a:pt x="1638" y="176"/>
                  </a:lnTo>
                  <a:lnTo>
                    <a:pt x="1618" y="183"/>
                  </a:lnTo>
                  <a:lnTo>
                    <a:pt x="1597" y="196"/>
                  </a:lnTo>
                  <a:lnTo>
                    <a:pt x="1583" y="212"/>
                  </a:lnTo>
                  <a:lnTo>
                    <a:pt x="1567" y="230"/>
                  </a:lnTo>
                  <a:lnTo>
                    <a:pt x="1552" y="246"/>
                  </a:lnTo>
                  <a:lnTo>
                    <a:pt x="1536" y="256"/>
                  </a:lnTo>
                  <a:lnTo>
                    <a:pt x="1516" y="260"/>
                  </a:lnTo>
                  <a:lnTo>
                    <a:pt x="1490" y="260"/>
                  </a:lnTo>
                  <a:lnTo>
                    <a:pt x="1468" y="256"/>
                  </a:lnTo>
                  <a:lnTo>
                    <a:pt x="1452" y="243"/>
                  </a:lnTo>
                  <a:lnTo>
                    <a:pt x="1437" y="230"/>
                  </a:lnTo>
                  <a:lnTo>
                    <a:pt x="1426" y="214"/>
                  </a:lnTo>
                  <a:lnTo>
                    <a:pt x="1417" y="193"/>
                  </a:lnTo>
                  <a:lnTo>
                    <a:pt x="1413" y="175"/>
                  </a:lnTo>
                  <a:lnTo>
                    <a:pt x="1411" y="153"/>
                  </a:lnTo>
                  <a:lnTo>
                    <a:pt x="1413" y="129"/>
                  </a:lnTo>
                  <a:lnTo>
                    <a:pt x="1417" y="108"/>
                  </a:lnTo>
                  <a:lnTo>
                    <a:pt x="1424" y="79"/>
                  </a:lnTo>
                  <a:lnTo>
                    <a:pt x="1433" y="54"/>
                  </a:lnTo>
                  <a:lnTo>
                    <a:pt x="1439" y="38"/>
                  </a:lnTo>
                  <a:lnTo>
                    <a:pt x="1448" y="20"/>
                  </a:lnTo>
                  <a:close/>
                </a:path>
              </a:pathLst>
            </a:custGeom>
            <a:solidFill>
              <a:srgbClr val="CBE4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3" name="Text Box 63"/>
          <p:cNvSpPr txBox="1">
            <a:spLocks noChangeArrowheads="1"/>
          </p:cNvSpPr>
          <p:nvPr/>
        </p:nvSpPr>
        <p:spPr bwMode="auto">
          <a:xfrm>
            <a:off x="296863" y="793750"/>
            <a:ext cx="6242050" cy="21067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나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제안 목적</a:t>
            </a:r>
            <a:endParaRPr lang="ko-KR" altLang="en-US" sz="150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5000"/>
              </a:lnSpc>
              <a:defRPr/>
            </a:pPr>
            <a:r>
              <a:rPr lang="ko-KR" altLang="en-US" sz="1200" spc="1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</a:t>
            </a:r>
            <a:r>
              <a:rPr lang="ko-KR" altLang="ko-KR" sz="1200" spc="1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본 사업의 목적은 </a:t>
            </a:r>
            <a:r>
              <a:rPr lang="ko-KR" altLang="ko-KR" sz="1200" spc="1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전구급</a:t>
            </a:r>
            <a:r>
              <a:rPr lang="ko-KR" altLang="ko-KR" sz="1200" spc="1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ko-KR" sz="1200" spc="1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태극JOS모델의</a:t>
            </a:r>
            <a:r>
              <a:rPr lang="ko-KR" altLang="ko-KR" sz="1200" spc="1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모의 및 기술 운용상의 제한사항을 보완</a:t>
            </a:r>
            <a:r>
              <a:rPr lang="ko-KR" altLang="en-US" sz="1200" spc="1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및 </a:t>
            </a:r>
            <a:r>
              <a:rPr lang="ko-KR" altLang="ko-KR" sz="1200" spc="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개선하고 사용자 요구사항을 충실히 반영하여 각 단계별 프로그램의 정상적인 운용 유지를 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하는데 있습니다. </a:t>
            </a:r>
          </a:p>
          <a:p>
            <a:pPr algn="just" eaLnBrk="1" latinLnBrk="1" hangingPunct="1">
              <a:lnSpc>
                <a:spcPct val="125000"/>
              </a:lnSpc>
              <a:defRPr/>
            </a:pP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이에 따라 본 제안은 제안사의 합참 및 각군 </a:t>
            </a:r>
            <a:r>
              <a:rPr lang="ko-KR" altLang="ko-KR" sz="12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워게임모델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개발 및 유지보수 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수행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경험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으로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7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쌓은</a:t>
            </a:r>
            <a:r>
              <a:rPr lang="ko-KR" altLang="ko-KR" sz="1200" spc="7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ko-KR" sz="1200" spc="7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워게임모델</a:t>
            </a:r>
            <a:r>
              <a:rPr lang="ko-KR" altLang="ko-KR" sz="1200" spc="7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개발의 기술력과 효율적인 업무수행</a:t>
            </a:r>
            <a:r>
              <a:rPr lang="ko-KR" altLang="en-US" sz="1200" spc="7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및</a:t>
            </a:r>
            <a:r>
              <a:rPr lang="ko-KR" altLang="ko-KR" sz="1200" spc="7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사업관리 능력을 바탕으로 </a:t>
            </a:r>
            <a:r>
              <a:rPr lang="en-US" altLang="ko-KR" sz="1200" b="1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‘26</a:t>
            </a:r>
            <a:r>
              <a:rPr lang="ko-KR" altLang="en-US" sz="1200" b="1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년</a:t>
            </a:r>
            <a:r>
              <a:rPr lang="en-US" altLang="ko-KR" sz="1200" b="1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ko-KR" sz="1200" b="1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태극JOS모델</a:t>
            </a:r>
            <a:r>
              <a:rPr lang="en-US" altLang="ko-KR" sz="1200" b="1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b="1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유지보수</a:t>
            </a:r>
            <a:r>
              <a:rPr lang="ko-KR" altLang="ko-KR" sz="1200" b="1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의 최적화와 안정성 및 신뢰성 향상을 극대화하여 최상의 </a:t>
            </a:r>
            <a:r>
              <a:rPr lang="en-US" altLang="ko-KR" sz="1200" b="1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</a:t>
            </a:r>
            <a:r>
              <a:rPr lang="ko-KR" altLang="ko-KR" sz="1200" b="1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모델로 유지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하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는데  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그 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목적이 있습니다.</a:t>
            </a:r>
            <a:endParaRPr lang="en-US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24" name="Group 72"/>
          <p:cNvGrpSpPr>
            <a:grpSpLocks/>
          </p:cNvGrpSpPr>
          <p:nvPr/>
        </p:nvGrpSpPr>
        <p:grpSpPr bwMode="auto">
          <a:xfrm>
            <a:off x="374650" y="3176588"/>
            <a:ext cx="6116638" cy="357187"/>
            <a:chOff x="236" y="2167"/>
            <a:chExt cx="3853" cy="225"/>
          </a:xfrm>
        </p:grpSpPr>
        <p:grpSp>
          <p:nvGrpSpPr>
            <p:cNvPr id="25" name="Group 67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27" name="Picture 6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" name="Picture 69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" name="Text Box 70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제안 목적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29" name="Group 157"/>
          <p:cNvGrpSpPr>
            <a:grpSpLocks/>
          </p:cNvGrpSpPr>
          <p:nvPr/>
        </p:nvGrpSpPr>
        <p:grpSpPr bwMode="auto">
          <a:xfrm>
            <a:off x="676275" y="3598863"/>
            <a:ext cx="5508625" cy="1760537"/>
            <a:chOff x="5919" y="73"/>
            <a:chExt cx="3470" cy="1157"/>
          </a:xfrm>
        </p:grpSpPr>
        <p:sp>
          <p:nvSpPr>
            <p:cNvPr id="30" name="AutoShape 158"/>
            <p:cNvSpPr>
              <a:spLocks/>
            </p:cNvSpPr>
            <p:nvPr/>
          </p:nvSpPr>
          <p:spPr bwMode="auto">
            <a:xfrm rot="5400000" flipV="1">
              <a:off x="7075" y="-1083"/>
              <a:ext cx="1157" cy="3470"/>
            </a:xfrm>
            <a:prstGeom prst="leftBracket">
              <a:avLst>
                <a:gd name="adj" fmla="val 149957"/>
              </a:avLst>
            </a:prstGeom>
            <a:gradFill rotWithShape="1">
              <a:gsLst>
                <a:gs pos="0">
                  <a:srgbClr val="C1D5E7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/>
            </a:p>
          </p:txBody>
        </p:sp>
        <p:sp>
          <p:nvSpPr>
            <p:cNvPr id="31" name="AutoShape 159"/>
            <p:cNvSpPr>
              <a:spLocks/>
            </p:cNvSpPr>
            <p:nvPr/>
          </p:nvSpPr>
          <p:spPr bwMode="auto">
            <a:xfrm rot="5400000" flipV="1">
              <a:off x="7085" y="-1007"/>
              <a:ext cx="1138" cy="3334"/>
            </a:xfrm>
            <a:prstGeom prst="leftBracket">
              <a:avLst>
                <a:gd name="adj" fmla="val 146485"/>
              </a:avLst>
            </a:prstGeom>
            <a:gradFill rotWithShape="1">
              <a:gsLst>
                <a:gs pos="0">
                  <a:srgbClr val="87A8D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/>
            </a:p>
          </p:txBody>
        </p:sp>
        <p:sp>
          <p:nvSpPr>
            <p:cNvPr id="32" name="AutoShape 160"/>
            <p:cNvSpPr>
              <a:spLocks/>
            </p:cNvSpPr>
            <p:nvPr/>
          </p:nvSpPr>
          <p:spPr bwMode="auto">
            <a:xfrm rot="5400000" flipV="1">
              <a:off x="7100" y="-786"/>
              <a:ext cx="1107" cy="2880"/>
            </a:xfrm>
            <a:prstGeom prst="leftBracket">
              <a:avLst>
                <a:gd name="adj" fmla="val 130081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/>
            </a:p>
          </p:txBody>
        </p:sp>
        <p:sp>
          <p:nvSpPr>
            <p:cNvPr id="33" name="AutoShape 161"/>
            <p:cNvSpPr>
              <a:spLocks/>
            </p:cNvSpPr>
            <p:nvPr/>
          </p:nvSpPr>
          <p:spPr bwMode="auto">
            <a:xfrm rot="5400000" flipV="1">
              <a:off x="7098" y="-630"/>
              <a:ext cx="1112" cy="2608"/>
            </a:xfrm>
            <a:prstGeom prst="leftBracket">
              <a:avLst>
                <a:gd name="adj" fmla="val 107733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/>
            </a:p>
          </p:txBody>
        </p:sp>
      </p:grpSp>
      <p:grpSp>
        <p:nvGrpSpPr>
          <p:cNvPr id="34" name="Group 163"/>
          <p:cNvGrpSpPr>
            <a:grpSpLocks/>
          </p:cNvGrpSpPr>
          <p:nvPr/>
        </p:nvGrpSpPr>
        <p:grpSpPr bwMode="auto">
          <a:xfrm>
            <a:off x="1422400" y="4478338"/>
            <a:ext cx="3990975" cy="395287"/>
            <a:chOff x="757" y="2062"/>
            <a:chExt cx="3249" cy="215"/>
          </a:xfrm>
        </p:grpSpPr>
        <p:sp>
          <p:nvSpPr>
            <p:cNvPr id="35" name="Freeform 164"/>
            <p:cNvSpPr>
              <a:spLocks/>
            </p:cNvSpPr>
            <p:nvPr/>
          </p:nvSpPr>
          <p:spPr bwMode="auto">
            <a:xfrm>
              <a:off x="2837" y="2165"/>
              <a:ext cx="1169" cy="112"/>
            </a:xfrm>
            <a:custGeom>
              <a:avLst/>
              <a:gdLst>
                <a:gd name="T0" fmla="*/ 2147483646 w 932"/>
                <a:gd name="T1" fmla="*/ 1 h 212"/>
                <a:gd name="T2" fmla="*/ 0 w 932"/>
                <a:gd name="T3" fmla="*/ 0 h 212"/>
                <a:gd name="T4" fmla="*/ 2147483646 w 932"/>
                <a:gd name="T5" fmla="*/ 1 h 212"/>
                <a:gd name="T6" fmla="*/ 2147483646 w 932"/>
                <a:gd name="T7" fmla="*/ 1 h 2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2"/>
                <a:gd name="T13" fmla="*/ 0 h 212"/>
                <a:gd name="T14" fmla="*/ 932 w 932"/>
                <a:gd name="T15" fmla="*/ 212 h 2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2" h="212">
                  <a:moveTo>
                    <a:pt x="180" y="212"/>
                  </a:moveTo>
                  <a:lnTo>
                    <a:pt x="0" y="0"/>
                  </a:lnTo>
                  <a:lnTo>
                    <a:pt x="932" y="212"/>
                  </a:lnTo>
                  <a:lnTo>
                    <a:pt x="180" y="212"/>
                  </a:lnTo>
                  <a:close/>
                </a:path>
              </a:pathLst>
            </a:custGeom>
            <a:gradFill rotWithShape="0">
              <a:gsLst>
                <a:gs pos="0">
                  <a:srgbClr val="B6DDF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Freeform 165"/>
            <p:cNvSpPr>
              <a:spLocks/>
            </p:cNvSpPr>
            <p:nvPr/>
          </p:nvSpPr>
          <p:spPr bwMode="auto">
            <a:xfrm>
              <a:off x="1472" y="2062"/>
              <a:ext cx="1813" cy="215"/>
            </a:xfrm>
            <a:custGeom>
              <a:avLst/>
              <a:gdLst>
                <a:gd name="T0" fmla="*/ 2147483646 w 1445"/>
                <a:gd name="T1" fmla="*/ 1 h 408"/>
                <a:gd name="T2" fmla="*/ 2147483646 w 1445"/>
                <a:gd name="T3" fmla="*/ 1 h 408"/>
                <a:gd name="T4" fmla="*/ 0 w 1445"/>
                <a:gd name="T5" fmla="*/ 1 h 408"/>
                <a:gd name="T6" fmla="*/ 2147483646 w 1445"/>
                <a:gd name="T7" fmla="*/ 0 h 408"/>
                <a:gd name="T8" fmla="*/ 2147483646 w 1445"/>
                <a:gd name="T9" fmla="*/ 1 h 408"/>
                <a:gd name="T10" fmla="*/ 2147483646 w 1445"/>
                <a:gd name="T11" fmla="*/ 1 h 408"/>
                <a:gd name="T12" fmla="*/ 2147483646 w 1445"/>
                <a:gd name="T13" fmla="*/ 1 h 408"/>
                <a:gd name="T14" fmla="*/ 2147483646 w 1445"/>
                <a:gd name="T15" fmla="*/ 1 h 4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45" h="408">
                  <a:moveTo>
                    <a:pt x="211" y="408"/>
                  </a:moveTo>
                  <a:lnTo>
                    <a:pt x="388" y="184"/>
                  </a:lnTo>
                  <a:lnTo>
                    <a:pt x="0" y="264"/>
                  </a:lnTo>
                  <a:lnTo>
                    <a:pt x="725" y="0"/>
                  </a:lnTo>
                  <a:lnTo>
                    <a:pt x="1445" y="264"/>
                  </a:lnTo>
                  <a:lnTo>
                    <a:pt x="1061" y="182"/>
                  </a:lnTo>
                  <a:lnTo>
                    <a:pt x="1245" y="408"/>
                  </a:lnTo>
                  <a:lnTo>
                    <a:pt x="211" y="408"/>
                  </a:lnTo>
                  <a:close/>
                </a:path>
              </a:pathLst>
            </a:custGeom>
            <a:gradFill rotWithShape="0">
              <a:gsLst>
                <a:gs pos="0">
                  <a:srgbClr val="7CC1F4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>
              <a:outerShdw dist="25400" dir="16200000" algn="ctr" rotWithShape="0">
                <a:schemeClr val="bg1"/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Freeform 166"/>
            <p:cNvSpPr>
              <a:spLocks/>
            </p:cNvSpPr>
            <p:nvPr/>
          </p:nvSpPr>
          <p:spPr bwMode="auto">
            <a:xfrm flipH="1">
              <a:off x="757" y="2165"/>
              <a:ext cx="1169" cy="112"/>
            </a:xfrm>
            <a:custGeom>
              <a:avLst/>
              <a:gdLst>
                <a:gd name="T0" fmla="*/ 2147483646 w 932"/>
                <a:gd name="T1" fmla="*/ 1 h 212"/>
                <a:gd name="T2" fmla="*/ 0 w 932"/>
                <a:gd name="T3" fmla="*/ 0 h 212"/>
                <a:gd name="T4" fmla="*/ 2147483646 w 932"/>
                <a:gd name="T5" fmla="*/ 1 h 212"/>
                <a:gd name="T6" fmla="*/ 2147483646 w 932"/>
                <a:gd name="T7" fmla="*/ 1 h 2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2"/>
                <a:gd name="T13" fmla="*/ 0 h 212"/>
                <a:gd name="T14" fmla="*/ 932 w 932"/>
                <a:gd name="T15" fmla="*/ 212 h 2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2" h="212">
                  <a:moveTo>
                    <a:pt x="180" y="212"/>
                  </a:moveTo>
                  <a:lnTo>
                    <a:pt x="0" y="0"/>
                  </a:lnTo>
                  <a:lnTo>
                    <a:pt x="932" y="212"/>
                  </a:lnTo>
                  <a:lnTo>
                    <a:pt x="180" y="212"/>
                  </a:lnTo>
                  <a:close/>
                </a:path>
              </a:pathLst>
            </a:custGeom>
            <a:gradFill rotWithShape="0">
              <a:gsLst>
                <a:gs pos="0">
                  <a:srgbClr val="B6DDF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8" name="Rectangle 143"/>
          <p:cNvSpPr>
            <a:spLocks noChangeArrowheads="1"/>
          </p:cNvSpPr>
          <p:nvPr/>
        </p:nvSpPr>
        <p:spPr bwMode="auto">
          <a:xfrm>
            <a:off x="1365250" y="3970338"/>
            <a:ext cx="41052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80000"/>
            </a:pPr>
            <a:r>
              <a:rPr lang="ko-KR" altLang="en-US" sz="1600">
                <a:solidFill>
                  <a:srgbClr val="003366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전구급 태극</a:t>
            </a:r>
            <a:r>
              <a:rPr lang="en-US" altLang="ko-KR" sz="1600">
                <a:solidFill>
                  <a:srgbClr val="003366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JOS</a:t>
            </a:r>
            <a:r>
              <a:rPr lang="ko-KR" altLang="en-US" sz="1600">
                <a:solidFill>
                  <a:srgbClr val="003366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모델의 각 단계별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80000"/>
            </a:pPr>
            <a:r>
              <a:rPr lang="ko-KR" altLang="en-US" sz="1600">
                <a:solidFill>
                  <a:srgbClr val="003366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프로그램 최적화 및 안정화와 효율성 증진</a:t>
            </a:r>
          </a:p>
        </p:txBody>
      </p:sp>
      <p:sp>
        <p:nvSpPr>
          <p:cNvPr id="39" name="Text Box 144"/>
          <p:cNvSpPr txBox="1">
            <a:spLocks noChangeArrowheads="1"/>
          </p:cNvSpPr>
          <p:nvPr/>
        </p:nvSpPr>
        <p:spPr bwMode="auto">
          <a:xfrm>
            <a:off x="2125663" y="4835525"/>
            <a:ext cx="25844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Clr>
                <a:schemeClr val="tx1"/>
              </a:buClr>
              <a:buSzPct val="80000"/>
            </a:pPr>
            <a:r>
              <a:rPr lang="ko-KR" altLang="en-US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사용자 추가 요구사항 개선 </a:t>
            </a:r>
            <a:r>
              <a:rPr lang="en-US" altLang="ko-KR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보완</a:t>
            </a:r>
          </a:p>
        </p:txBody>
      </p:sp>
      <p:sp>
        <p:nvSpPr>
          <p:cNvPr id="40" name="직사각형 39"/>
          <p:cNvSpPr/>
          <p:nvPr/>
        </p:nvSpPr>
        <p:spPr bwMode="auto">
          <a:xfrm>
            <a:off x="633787" y="7689965"/>
            <a:ext cx="5595140" cy="1799635"/>
          </a:xfrm>
          <a:prstGeom prst="rect">
            <a:avLst/>
          </a:prstGeom>
          <a:gradFill>
            <a:gsLst>
              <a:gs pos="9000">
                <a:srgbClr val="9CB2CC"/>
              </a:gs>
              <a:gs pos="100000">
                <a:srgbClr val="A6BFDE"/>
              </a:gs>
            </a:gsLst>
            <a:lin ang="5400000" scaled="0"/>
          </a:gradFill>
          <a:ln w="6350">
            <a:solidFill>
              <a:schemeClr val="tx1">
                <a:lumMod val="75000"/>
                <a:lumOff val="25000"/>
              </a:schemeClr>
            </a:solidFill>
          </a:ln>
          <a:scene3d>
            <a:camera prst="perspectiveRelaxedModerately" fov="4800000">
              <a:rot lat="19788000" lon="0" rev="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10562" indent="-210562" defTabSz="646444">
              <a:lnSpc>
                <a:spcPct val="110000"/>
              </a:lnSpc>
              <a:buClr>
                <a:srgbClr val="3271AA"/>
              </a:buClr>
              <a:buSzPct val="140000"/>
              <a:tabLst>
                <a:tab pos="3500832" algn="l"/>
              </a:tabLst>
              <a:defRPr/>
            </a:pPr>
            <a:endParaRPr lang="ko-KR" altLang="en-US" sz="1100">
              <a:solidFill>
                <a:prstClr val="black">
                  <a:lumMod val="85000"/>
                  <a:lumOff val="15000"/>
                </a:prstClr>
              </a:solidFill>
              <a:latin typeface="산돌고딕 L" panose="02030504000101010101" pitchFamily="18" charset="-127"/>
              <a:ea typeface="산돌고딕 L" panose="02030504000101010101" pitchFamily="18" charset="-127"/>
            </a:endParaRPr>
          </a:p>
        </p:txBody>
      </p:sp>
      <p:sp>
        <p:nvSpPr>
          <p:cNvPr id="41" name="Freeform 152"/>
          <p:cNvSpPr>
            <a:spLocks/>
          </p:cNvSpPr>
          <p:nvPr/>
        </p:nvSpPr>
        <p:spPr bwMode="auto">
          <a:xfrm>
            <a:off x="1634710" y="7924849"/>
            <a:ext cx="4613275" cy="1413531"/>
          </a:xfrm>
          <a:custGeom>
            <a:avLst/>
            <a:gdLst>
              <a:gd name="T0" fmla="*/ 0 w 2665"/>
              <a:gd name="T1" fmla="*/ 2147483647 h 704"/>
              <a:gd name="T2" fmla="*/ 2147483647 w 2665"/>
              <a:gd name="T3" fmla="*/ 0 h 704"/>
              <a:gd name="T4" fmla="*/ 2147483647 w 2665"/>
              <a:gd name="T5" fmla="*/ 0 h 704"/>
              <a:gd name="T6" fmla="*/ 2147483647 w 2665"/>
              <a:gd name="T7" fmla="*/ 2147483647 h 704"/>
              <a:gd name="T8" fmla="*/ 0 w 2665"/>
              <a:gd name="T9" fmla="*/ 2147483647 h 7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65"/>
              <a:gd name="T16" fmla="*/ 0 h 704"/>
              <a:gd name="T17" fmla="*/ 2665 w 2665"/>
              <a:gd name="T18" fmla="*/ 704 h 7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65" h="704">
                <a:moveTo>
                  <a:pt x="0" y="704"/>
                </a:moveTo>
                <a:lnTo>
                  <a:pt x="87" y="0"/>
                </a:lnTo>
                <a:lnTo>
                  <a:pt x="2538" y="0"/>
                </a:lnTo>
                <a:lnTo>
                  <a:pt x="2665" y="704"/>
                </a:lnTo>
                <a:lnTo>
                  <a:pt x="0" y="704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  <a:scene3d>
            <a:camera prst="perspectiveRelaxedModerately">
              <a:rot lat="20690634" lon="0" rev="0"/>
            </a:camera>
            <a:lightRig rig="threePt" dir="t"/>
          </a:scene3d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2" name="Text Box 155"/>
          <p:cNvSpPr txBox="1">
            <a:spLocks noChangeArrowheads="1"/>
          </p:cNvSpPr>
          <p:nvPr/>
        </p:nvSpPr>
        <p:spPr bwMode="gray">
          <a:xfrm>
            <a:off x="1711325" y="8005763"/>
            <a:ext cx="4495800" cy="1322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5348" tIns="42798" rIns="85597" bIns="42798">
            <a:spAutoFit/>
          </a:bodyPr>
          <a:lstStyle>
            <a:lvl1pPr defTabSz="8556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8556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8556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8556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8556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8556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8556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8556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8556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kumimoji="0" lang="en-US" altLang="ko-KR" sz="110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kumimoji="0" lang="ko-KR" altLang="en-US" sz="1100" b="1" err="1">
                <a:latin typeface="굴림체" panose="020B0609000101010101" pitchFamily="49" charset="-127"/>
                <a:ea typeface="굴림체" panose="020B0609000101010101" pitchFamily="49" charset="-127"/>
              </a:rPr>
              <a:t>전구급</a:t>
            </a:r>
            <a:r>
              <a:rPr kumimoji="0" lang="ko-KR" altLang="en-US" sz="1100" b="1">
                <a:latin typeface="굴림체" panose="020B0609000101010101" pitchFamily="49" charset="-127"/>
                <a:ea typeface="굴림체" panose="020B0609000101010101" pitchFamily="49" charset="-127"/>
              </a:rPr>
              <a:t> 합동작전 연습 및 훈련 간 모의지원</a:t>
            </a:r>
            <a:endParaRPr kumimoji="0" lang="en-US" altLang="ko-KR" sz="1100" b="1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latinLnBrk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kumimoji="0" lang="ko-KR" altLang="en-US" sz="1100" b="1">
                <a:latin typeface="굴림체" panose="020B0609000101010101" pitchFamily="49" charset="-127"/>
                <a:ea typeface="굴림체" panose="020B0609000101010101" pitchFamily="49" charset="-127"/>
              </a:rPr>
              <a:t> 연습 시나리오</a:t>
            </a:r>
            <a:r>
              <a:rPr kumimoji="0" lang="en-US" altLang="ko-KR" sz="1100" b="1">
                <a:latin typeface="굴림체" panose="020B0609000101010101" pitchFamily="49" charset="-127"/>
                <a:ea typeface="굴림체" panose="020B0609000101010101" pitchFamily="49" charset="-127"/>
              </a:rPr>
              <a:t> DB </a:t>
            </a:r>
            <a:r>
              <a:rPr kumimoji="0" lang="ko-KR" altLang="en-US" sz="1100" b="1">
                <a:latin typeface="굴림체" panose="020B0609000101010101" pitchFamily="49" charset="-127"/>
                <a:ea typeface="굴림체" panose="020B0609000101010101" pitchFamily="49" charset="-127"/>
              </a:rPr>
              <a:t>구축을 통한 실전적 연습</a:t>
            </a:r>
          </a:p>
          <a:p>
            <a:pPr latinLnBrk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kumimoji="0" lang="ko-KR" altLang="en-US" sz="1100" b="1">
                <a:latin typeface="굴림체" panose="020B0609000101010101" pitchFamily="49" charset="-127"/>
                <a:ea typeface="굴림체" panose="020B0609000101010101" pitchFamily="49" charset="-127"/>
              </a:rPr>
              <a:t> 사후분석 프로그램지원을 통한 효율적인 연습효과 달성</a:t>
            </a:r>
            <a:endParaRPr kumimoji="0" lang="en-US" altLang="ko-KR" sz="1100" b="1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latinLnBrk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kumimoji="0" lang="ko-KR" altLang="en-US" sz="1100" b="1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kumimoji="0" lang="ko-KR" altLang="en-US" sz="1100" b="1" spc="80" err="1">
                <a:latin typeface="굴림체" panose="020B0609000101010101" pitchFamily="49" charset="-127"/>
                <a:ea typeface="굴림체" panose="020B0609000101010101" pitchFamily="49" charset="-127"/>
              </a:rPr>
              <a:t>실체계</a:t>
            </a:r>
            <a:r>
              <a:rPr kumimoji="0" lang="en-US" altLang="ko-KR" sz="1100" b="1" spc="80">
                <a:latin typeface="굴림체" panose="020B0609000101010101" pitchFamily="49" charset="-127"/>
                <a:ea typeface="굴림체" panose="020B0609000101010101" pitchFamily="49" charset="-127"/>
              </a:rPr>
              <a:t>(KJCCS, MIMS) </a:t>
            </a:r>
            <a:r>
              <a:rPr kumimoji="0" lang="ko-KR" altLang="en-US" sz="1100" b="1" spc="80">
                <a:latin typeface="굴림체" panose="020B0609000101010101" pitchFamily="49" charset="-127"/>
                <a:ea typeface="굴림체" panose="020B0609000101010101" pitchFamily="49" charset="-127"/>
              </a:rPr>
              <a:t>및 </a:t>
            </a:r>
            <a:r>
              <a:rPr kumimoji="0" lang="en-US" altLang="ko-KR" sz="1100" b="1" spc="80">
                <a:latin typeface="굴림체" panose="020B0609000101010101" pitchFamily="49" charset="-127"/>
                <a:ea typeface="굴림체" panose="020B0609000101010101" pitchFamily="49" charset="-127"/>
              </a:rPr>
              <a:t>4</a:t>
            </a:r>
            <a:r>
              <a:rPr kumimoji="0" lang="ko-KR" altLang="en-US" sz="1100" b="1" spc="80">
                <a:latin typeface="굴림체" panose="020B0609000101010101" pitchFamily="49" charset="-127"/>
                <a:ea typeface="굴림체" panose="020B0609000101010101" pitchFamily="49" charset="-127"/>
              </a:rPr>
              <a:t>개 </a:t>
            </a:r>
            <a:r>
              <a:rPr kumimoji="0" lang="ko-KR" altLang="en-US" sz="1100" b="1" spc="80" err="1">
                <a:latin typeface="굴림체" panose="020B0609000101010101" pitchFamily="49" charset="-127"/>
                <a:ea typeface="굴림체" panose="020B0609000101010101" pitchFamily="49" charset="-127"/>
              </a:rPr>
              <a:t>전구급</a:t>
            </a:r>
            <a:r>
              <a:rPr kumimoji="0" lang="ko-KR" altLang="en-US" sz="1100" b="1" spc="80">
                <a:latin typeface="굴림체" panose="020B0609000101010101" pitchFamily="49" charset="-127"/>
                <a:ea typeface="굴림체" panose="020B0609000101010101" pitchFamily="49" charset="-127"/>
              </a:rPr>
              <a:t> 기능 모델</a:t>
            </a:r>
            <a:r>
              <a:rPr kumimoji="0" lang="en-US" altLang="ko-KR" sz="1100" b="1" spc="80"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kumimoji="0" lang="ko-KR" altLang="en-US" sz="1100" b="1" spc="80" err="1">
                <a:latin typeface="굴림체" panose="020B0609000101010101" pitchFamily="49" charset="-127"/>
                <a:ea typeface="굴림체" panose="020B0609000101010101" pitchFamily="49" charset="-127"/>
              </a:rPr>
              <a:t>대화력전</a:t>
            </a:r>
            <a:r>
              <a:rPr kumimoji="0" lang="en-US" altLang="ko-KR" sz="1100" b="1" spc="80">
                <a:latin typeface="굴림체" panose="020B0609000101010101" pitchFamily="49" charset="-127"/>
                <a:ea typeface="굴림체" panose="020B0609000101010101" pitchFamily="49" charset="-127"/>
              </a:rPr>
              <a:t>,</a:t>
            </a:r>
            <a:r>
              <a:rPr kumimoji="0" lang="en-US" altLang="ko-KR" sz="1100" b="1">
                <a:latin typeface="굴림체" panose="020B0609000101010101" pitchFamily="49" charset="-127"/>
                <a:ea typeface="굴림체" panose="020B0609000101010101" pitchFamily="49" charset="-127"/>
              </a:rPr>
              <a:t>          </a:t>
            </a:r>
          </a:p>
          <a:p>
            <a:pPr algn="dist" latinLnBrk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</a:pPr>
            <a:r>
              <a:rPr kumimoji="0" lang="en-US" altLang="ko-KR" sz="1100" b="1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kumimoji="0" lang="ko-KR" altLang="en-US" sz="1100" b="1">
                <a:latin typeface="굴림체" panose="020B0609000101010101" pitchFamily="49" charset="-127"/>
                <a:ea typeface="굴림체" panose="020B0609000101010101" pitchFamily="49" charset="-127"/>
              </a:rPr>
              <a:t>합동지속지원</a:t>
            </a:r>
            <a:r>
              <a:rPr kumimoji="0" lang="en-US" altLang="ko-KR" sz="1100" b="1">
                <a:latin typeface="굴림체" panose="020B0609000101010101" pitchFamily="49" charset="-127"/>
                <a:ea typeface="굴림체" panose="020B0609000101010101" pitchFamily="49" charset="-127"/>
              </a:rPr>
              <a:t>,</a:t>
            </a:r>
            <a:r>
              <a:rPr kumimoji="0" lang="ko-KR" altLang="en-US" sz="1100" b="1">
                <a:latin typeface="굴림체" panose="020B0609000101010101" pitchFamily="49" charset="-127"/>
                <a:ea typeface="굴림체" panose="020B0609000101010101" pitchFamily="49" charset="-127"/>
              </a:rPr>
              <a:t>합동정보</a:t>
            </a:r>
            <a:r>
              <a:rPr kumimoji="0" lang="en-US" altLang="ko-KR" sz="1100" b="1">
                <a:latin typeface="굴림체" panose="020B0609000101010101" pitchFamily="49" charset="-127"/>
                <a:ea typeface="굴림체" panose="020B0609000101010101" pitchFamily="49" charset="-127"/>
              </a:rPr>
              <a:t>,</a:t>
            </a:r>
            <a:r>
              <a:rPr kumimoji="0" lang="ko-KR" altLang="en-US" sz="1100" b="1" err="1">
                <a:latin typeface="굴림체" panose="020B0609000101010101" pitchFamily="49" charset="-127"/>
                <a:ea typeface="굴림체" panose="020B0609000101010101" pitchFamily="49" charset="-127"/>
              </a:rPr>
              <a:t>민군작전</a:t>
            </a:r>
            <a:r>
              <a:rPr kumimoji="0" lang="en-US" altLang="ko-KR" sz="1100" b="1">
                <a:latin typeface="굴림체" panose="020B0609000101010101" pitchFamily="49" charset="-127"/>
                <a:ea typeface="굴림체" panose="020B0609000101010101" pitchFamily="49" charset="-127"/>
              </a:rPr>
              <a:t>)</a:t>
            </a:r>
            <a:r>
              <a:rPr kumimoji="0" lang="ko-KR" altLang="en-US" sz="1100" b="1">
                <a:latin typeface="굴림체" panose="020B0609000101010101" pitchFamily="49" charset="-127"/>
                <a:ea typeface="굴림체" panose="020B0609000101010101" pitchFamily="49" charset="-127"/>
              </a:rPr>
              <a:t>과의 연동을 통한 </a:t>
            </a:r>
            <a:endParaRPr kumimoji="0" lang="en-US" altLang="ko-KR" sz="1100" b="1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latinLnBrk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</a:pPr>
            <a:r>
              <a:rPr kumimoji="0" lang="ko-KR" altLang="en-US" sz="1100" b="1">
                <a:latin typeface="굴림체" panose="020B0609000101010101" pitchFamily="49" charset="-127"/>
                <a:ea typeface="굴림체" panose="020B0609000101010101" pitchFamily="49" charset="-127"/>
              </a:rPr>
              <a:t> 연습지원</a:t>
            </a:r>
          </a:p>
        </p:txBody>
      </p:sp>
      <p:grpSp>
        <p:nvGrpSpPr>
          <p:cNvPr id="43" name="그룹 11"/>
          <p:cNvGrpSpPr>
            <a:grpSpLocks/>
          </p:cNvGrpSpPr>
          <p:nvPr/>
        </p:nvGrpSpPr>
        <p:grpSpPr bwMode="auto">
          <a:xfrm>
            <a:off x="1489075" y="5070475"/>
            <a:ext cx="3857625" cy="2794000"/>
            <a:chOff x="1538750" y="5070125"/>
            <a:chExt cx="3856110" cy="2793860"/>
          </a:xfrm>
        </p:grpSpPr>
        <p:sp>
          <p:nvSpPr>
            <p:cNvPr id="44" name="타원 43"/>
            <p:cNvSpPr/>
            <p:nvPr/>
          </p:nvSpPr>
          <p:spPr>
            <a:xfrm>
              <a:off x="2790796" y="5565400"/>
              <a:ext cx="1439297" cy="1439791"/>
            </a:xfrm>
            <a:prstGeom prst="ellipse">
              <a:avLst/>
            </a:prstGeom>
            <a:gradFill>
              <a:gsLst>
                <a:gs pos="9000">
                  <a:schemeClr val="bg1">
                    <a:lumMod val="85000"/>
                    <a:alpha val="8000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endParaRPr lang="ko-KR" altLang="en-US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861937" y="7354424"/>
              <a:ext cx="669662" cy="449239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marL="0" algn="l" defTabSz="1475110" rtl="0" eaLnBrk="1" latinLnBrk="1" hangingPunct="1">
                <a:defRPr sz="2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37555" algn="l" defTabSz="1475110" rtl="0" eaLnBrk="1" latinLnBrk="1" hangingPunct="1">
                <a:defRPr sz="2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475110" algn="l" defTabSz="1475110" rtl="0" eaLnBrk="1" latinLnBrk="1" hangingPunct="1">
                <a:defRPr sz="2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2212665" algn="l" defTabSz="1475110" rtl="0" eaLnBrk="1" latinLnBrk="1" hangingPunct="1">
                <a:defRPr sz="2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950220" algn="l" defTabSz="1475110" rtl="0" eaLnBrk="1" latinLnBrk="1" hangingPunct="1">
                <a:defRPr sz="2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687775" algn="l" defTabSz="1475110" rtl="0" eaLnBrk="1" latinLnBrk="1" hangingPunct="1">
                <a:defRPr sz="2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4425330" algn="l" defTabSz="1475110" rtl="0" eaLnBrk="1" latinLnBrk="1" hangingPunct="1">
                <a:defRPr sz="2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5162885" algn="l" defTabSz="1475110" rtl="0" eaLnBrk="1" latinLnBrk="1" hangingPunct="1">
                <a:defRPr sz="2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5900440" algn="l" defTabSz="1475110" rtl="0" eaLnBrk="1" latinLnBrk="1" hangingPunct="1">
                <a:defRPr sz="2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1050">
                <a:latin typeface="Rix모던고딕 L" pitchFamily="18" charset="-127"/>
                <a:ea typeface="Rix모던고딕 L" pitchFamily="18" charset="-127"/>
              </a:endParaRPr>
            </a:p>
          </p:txBody>
        </p:sp>
        <p:sp>
          <p:nvSpPr>
            <p:cNvPr id="46" name="도넛 45"/>
            <p:cNvSpPr/>
            <p:nvPr/>
          </p:nvSpPr>
          <p:spPr>
            <a:xfrm>
              <a:off x="2484528" y="5260615"/>
              <a:ext cx="2051832" cy="2050947"/>
            </a:xfrm>
            <a:prstGeom prst="donut">
              <a:avLst>
                <a:gd name="adj" fmla="val 5777"/>
              </a:avLst>
            </a:prstGeom>
            <a:solidFill>
              <a:srgbClr val="BACBEC"/>
            </a:solidFill>
            <a:ln>
              <a:noFill/>
            </a:ln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grpSp>
          <p:nvGrpSpPr>
            <p:cNvPr id="47" name="그룹 71"/>
            <p:cNvGrpSpPr>
              <a:grpSpLocks/>
            </p:cNvGrpSpPr>
            <p:nvPr/>
          </p:nvGrpSpPr>
          <p:grpSpPr bwMode="auto">
            <a:xfrm>
              <a:off x="2248011" y="5070125"/>
              <a:ext cx="828000" cy="828000"/>
              <a:chOff x="3064566" y="4910780"/>
              <a:chExt cx="1053993" cy="1053994"/>
            </a:xfrm>
          </p:grpSpPr>
          <p:sp>
            <p:nvSpPr>
              <p:cNvPr id="82" name="Oval 47" descr="현대중공업_템플릿-42"/>
              <p:cNvSpPr>
                <a:spLocks noChangeArrowheads="1"/>
              </p:cNvSpPr>
              <p:nvPr/>
            </p:nvSpPr>
            <p:spPr bwMode="gray">
              <a:xfrm>
                <a:off x="3064566" y="4910780"/>
                <a:ext cx="1053993" cy="1053994"/>
              </a:xfrm>
              <a:prstGeom prst="ellipse">
                <a:avLst/>
              </a:prstGeom>
              <a:blipFill dpi="0" rotWithShape="1">
                <a:blip r:embed="rId4" cstate="print"/>
                <a:srcRect/>
                <a:stretch>
                  <a:fillRect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>
                  <a:latin typeface="Yoon 윤명조 520_TT" pitchFamily="18" charset="-127"/>
                  <a:ea typeface="Yoon 윤명조 520_TT" pitchFamily="18" charset="-127"/>
                </a:endParaRPr>
              </a:p>
            </p:txBody>
          </p:sp>
          <p:sp>
            <p:nvSpPr>
              <p:cNvPr id="83" name="AutoShape 382" descr="2-1"/>
              <p:cNvSpPr>
                <a:spLocks noChangeArrowheads="1"/>
              </p:cNvSpPr>
              <p:nvPr/>
            </p:nvSpPr>
            <p:spPr bwMode="auto">
              <a:xfrm>
                <a:off x="3185859" y="5256319"/>
                <a:ext cx="812039" cy="363724"/>
              </a:xfrm>
              <a:prstGeom prst="roundRect">
                <a:avLst>
                  <a:gd name="adj" fmla="val 1968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36625" latinLnBrk="0">
                  <a:defRPr/>
                </a:pPr>
                <a:r>
                  <a:rPr lang="ko-KR" altLang="en-US" sz="1000">
                    <a:solidFill>
                      <a:schemeClr val="tx1"/>
                    </a:solidFill>
                    <a:latin typeface="Rix모던고딕 B" pitchFamily="18" charset="-127"/>
                    <a:ea typeface="Rix모던고딕 B" pitchFamily="18" charset="-127"/>
                    <a:cs typeface="굴림" pitchFamily="50" charset="-127"/>
                  </a:rPr>
                  <a:t>사용자</a:t>
                </a:r>
                <a:endParaRPr lang="en-US" altLang="ko-KR" sz="1000">
                  <a:solidFill>
                    <a:schemeClr val="tx1"/>
                  </a:solidFill>
                  <a:latin typeface="Rix모던고딕 B" pitchFamily="18" charset="-127"/>
                  <a:ea typeface="Rix모던고딕 B" pitchFamily="18" charset="-127"/>
                  <a:cs typeface="굴림" pitchFamily="50" charset="-127"/>
                </a:endParaRPr>
              </a:p>
              <a:p>
                <a:pPr algn="ctr" defTabSz="936625" latinLnBrk="0">
                  <a:defRPr/>
                </a:pPr>
                <a:r>
                  <a:rPr lang="ko-KR" altLang="en-US" sz="1000">
                    <a:solidFill>
                      <a:schemeClr val="tx1"/>
                    </a:solidFill>
                    <a:latin typeface="Rix모던고딕 B" pitchFamily="18" charset="-127"/>
                    <a:ea typeface="Rix모던고딕 B" pitchFamily="18" charset="-127"/>
                    <a:cs typeface="굴림" pitchFamily="50" charset="-127"/>
                  </a:rPr>
                  <a:t>편집기능</a:t>
                </a:r>
                <a:endParaRPr lang="en-US" altLang="ko-KR" sz="1000">
                  <a:solidFill>
                    <a:schemeClr val="tx1"/>
                  </a:solidFill>
                  <a:latin typeface="Rix모던고딕 B" pitchFamily="18" charset="-127"/>
                  <a:ea typeface="Rix모던고딕 B" pitchFamily="18" charset="-127"/>
                  <a:cs typeface="굴림" pitchFamily="50" charset="-127"/>
                </a:endParaRPr>
              </a:p>
              <a:p>
                <a:pPr algn="ctr" defTabSz="936625" latinLnBrk="0">
                  <a:defRPr/>
                </a:pPr>
                <a:r>
                  <a:rPr lang="ko-KR" altLang="en-US" sz="1000">
                    <a:solidFill>
                      <a:schemeClr val="tx1"/>
                    </a:solidFill>
                    <a:latin typeface="Rix모던고딕 B" pitchFamily="18" charset="-127"/>
                    <a:ea typeface="Rix모던고딕 B" pitchFamily="18" charset="-127"/>
                    <a:cs typeface="굴림" pitchFamily="50" charset="-127"/>
                  </a:rPr>
                  <a:t>보완</a:t>
                </a:r>
                <a:endParaRPr lang="en-US" altLang="ko-KR" sz="1000">
                  <a:solidFill>
                    <a:schemeClr val="tx1"/>
                  </a:solidFill>
                  <a:latin typeface="Rix모던고딕 B" pitchFamily="18" charset="-127"/>
                  <a:ea typeface="Rix모던고딕 B" pitchFamily="18" charset="-127"/>
                  <a:cs typeface="굴림" pitchFamily="50" charset="-127"/>
                </a:endParaRPr>
              </a:p>
            </p:txBody>
          </p:sp>
        </p:grpSp>
        <p:grpSp>
          <p:nvGrpSpPr>
            <p:cNvPr id="48" name="그룹 72"/>
            <p:cNvGrpSpPr>
              <a:grpSpLocks/>
            </p:cNvGrpSpPr>
            <p:nvPr/>
          </p:nvGrpSpPr>
          <p:grpSpPr bwMode="auto">
            <a:xfrm>
              <a:off x="3988366" y="5070125"/>
              <a:ext cx="828000" cy="828000"/>
              <a:chOff x="3083826" y="4923895"/>
              <a:chExt cx="1053994" cy="1053994"/>
            </a:xfrm>
          </p:grpSpPr>
          <p:sp>
            <p:nvSpPr>
              <p:cNvPr id="80" name="Oval 47" descr="현대중공업_템플릿-42"/>
              <p:cNvSpPr>
                <a:spLocks noChangeArrowheads="1"/>
              </p:cNvSpPr>
              <p:nvPr/>
            </p:nvSpPr>
            <p:spPr bwMode="gray">
              <a:xfrm>
                <a:off x="3083826" y="4923895"/>
                <a:ext cx="1053994" cy="1053994"/>
              </a:xfrm>
              <a:prstGeom prst="ellipse">
                <a:avLst/>
              </a:prstGeom>
              <a:blipFill dpi="0" rotWithShape="1">
                <a:blip r:embed="rId4" cstate="print"/>
                <a:srcRect/>
                <a:stretch>
                  <a:fillRect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>
                  <a:latin typeface="Yoon 윤명조 520_TT" pitchFamily="18" charset="-127"/>
                  <a:ea typeface="Yoon 윤명조 520_TT" pitchFamily="18" charset="-127"/>
                </a:endParaRPr>
              </a:p>
            </p:txBody>
          </p:sp>
          <p:sp>
            <p:nvSpPr>
              <p:cNvPr id="81" name="AutoShape 382" descr="2-1"/>
              <p:cNvSpPr>
                <a:spLocks noChangeArrowheads="1"/>
              </p:cNvSpPr>
              <p:nvPr/>
            </p:nvSpPr>
            <p:spPr bwMode="auto">
              <a:xfrm>
                <a:off x="3205690" y="5269434"/>
                <a:ext cx="810020" cy="363724"/>
              </a:xfrm>
              <a:prstGeom prst="roundRect">
                <a:avLst>
                  <a:gd name="adj" fmla="val 1968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36625" latinLnBrk="0">
                  <a:defRPr/>
                </a:pPr>
                <a:r>
                  <a:rPr lang="ko-KR" altLang="en-US" sz="1000">
                    <a:solidFill>
                      <a:schemeClr val="tx1"/>
                    </a:solidFill>
                    <a:latin typeface="Rix모던고딕 B" pitchFamily="18" charset="-127"/>
                    <a:ea typeface="Rix모던고딕 B" pitchFamily="18" charset="-127"/>
                    <a:cs typeface="굴림" pitchFamily="50" charset="-127"/>
                  </a:rPr>
                  <a:t>시스템</a:t>
                </a:r>
                <a:endParaRPr lang="en-US" altLang="ko-KR" sz="1000">
                  <a:solidFill>
                    <a:schemeClr val="tx1"/>
                  </a:solidFill>
                  <a:latin typeface="Rix모던고딕 B" pitchFamily="18" charset="-127"/>
                  <a:ea typeface="Rix모던고딕 B" pitchFamily="18" charset="-127"/>
                  <a:cs typeface="굴림" pitchFamily="50" charset="-127"/>
                </a:endParaRPr>
              </a:p>
              <a:p>
                <a:pPr algn="ctr" defTabSz="936625" latinLnBrk="0">
                  <a:defRPr/>
                </a:pPr>
                <a:r>
                  <a:rPr lang="ko-KR" altLang="en-US" sz="1000">
                    <a:solidFill>
                      <a:schemeClr val="tx1"/>
                    </a:solidFill>
                    <a:latin typeface="Rix모던고딕 B" pitchFamily="18" charset="-127"/>
                    <a:ea typeface="Rix모던고딕 B" pitchFamily="18" charset="-127"/>
                    <a:cs typeface="굴림" pitchFamily="50" charset="-127"/>
                  </a:rPr>
                  <a:t>최적화</a:t>
                </a:r>
              </a:p>
            </p:txBody>
          </p:sp>
        </p:grpSp>
        <p:grpSp>
          <p:nvGrpSpPr>
            <p:cNvPr id="49" name="그룹 73"/>
            <p:cNvGrpSpPr>
              <a:grpSpLocks/>
            </p:cNvGrpSpPr>
            <p:nvPr/>
          </p:nvGrpSpPr>
          <p:grpSpPr bwMode="auto">
            <a:xfrm>
              <a:off x="1996120" y="6326474"/>
              <a:ext cx="828000" cy="828000"/>
              <a:chOff x="3023724" y="4805126"/>
              <a:chExt cx="1053994" cy="1053994"/>
            </a:xfrm>
          </p:grpSpPr>
          <p:sp>
            <p:nvSpPr>
              <p:cNvPr id="78" name="Oval 47" descr="현대중공업_템플릿-42"/>
              <p:cNvSpPr>
                <a:spLocks noChangeArrowheads="1"/>
              </p:cNvSpPr>
              <p:nvPr/>
            </p:nvSpPr>
            <p:spPr bwMode="gray">
              <a:xfrm>
                <a:off x="3023724" y="4805126"/>
                <a:ext cx="1053994" cy="1053994"/>
              </a:xfrm>
              <a:prstGeom prst="ellipse">
                <a:avLst/>
              </a:prstGeom>
              <a:blipFill dpi="0" rotWithShape="1">
                <a:blip r:embed="rId4" cstate="print"/>
                <a:srcRect/>
                <a:stretch>
                  <a:fillRect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>
                  <a:latin typeface="Yoon 윤명조 520_TT" pitchFamily="18" charset="-127"/>
                  <a:ea typeface="Yoon 윤명조 520_TT" pitchFamily="18" charset="-127"/>
                </a:endParaRPr>
              </a:p>
            </p:txBody>
          </p:sp>
          <p:sp>
            <p:nvSpPr>
              <p:cNvPr id="79" name="AutoShape 382" descr="2-1"/>
              <p:cNvSpPr>
                <a:spLocks noChangeArrowheads="1"/>
              </p:cNvSpPr>
              <p:nvPr/>
            </p:nvSpPr>
            <p:spPr bwMode="auto">
              <a:xfrm>
                <a:off x="3144479" y="5149774"/>
                <a:ext cx="812040" cy="363724"/>
              </a:xfrm>
              <a:prstGeom prst="roundRect">
                <a:avLst>
                  <a:gd name="adj" fmla="val 1968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36625" latinLnBrk="0">
                  <a:defRPr/>
                </a:pPr>
                <a:r>
                  <a:rPr lang="ko-KR" altLang="en-US" sz="1000">
                    <a:solidFill>
                      <a:schemeClr val="tx1"/>
                    </a:solidFill>
                    <a:latin typeface="Rix모던고딕 B" pitchFamily="18" charset="-127"/>
                    <a:ea typeface="Rix모던고딕 B" pitchFamily="18" charset="-127"/>
                    <a:cs typeface="굴림" pitchFamily="50" charset="-127"/>
                  </a:rPr>
                  <a:t>전문인력</a:t>
                </a:r>
                <a:endParaRPr lang="en-US" altLang="ko-KR" sz="1000">
                  <a:solidFill>
                    <a:schemeClr val="tx1"/>
                  </a:solidFill>
                  <a:latin typeface="Rix모던고딕 B" pitchFamily="18" charset="-127"/>
                  <a:ea typeface="Rix모던고딕 B" pitchFamily="18" charset="-127"/>
                  <a:cs typeface="굴림" pitchFamily="50" charset="-127"/>
                </a:endParaRPr>
              </a:p>
              <a:p>
                <a:pPr algn="ctr" defTabSz="936625" latinLnBrk="0">
                  <a:defRPr/>
                </a:pPr>
                <a:r>
                  <a:rPr lang="ko-KR" altLang="en-US" sz="1000">
                    <a:solidFill>
                      <a:schemeClr val="tx1"/>
                    </a:solidFill>
                    <a:latin typeface="Rix모던고딕 B" pitchFamily="18" charset="-127"/>
                    <a:ea typeface="Rix모던고딕 B" pitchFamily="18" charset="-127"/>
                    <a:cs typeface="굴림" pitchFamily="50" charset="-127"/>
                  </a:rPr>
                  <a:t>투입</a:t>
                </a:r>
              </a:p>
            </p:txBody>
          </p:sp>
        </p:grpSp>
        <p:grpSp>
          <p:nvGrpSpPr>
            <p:cNvPr id="50" name="그룹 74"/>
            <p:cNvGrpSpPr>
              <a:grpSpLocks/>
            </p:cNvGrpSpPr>
            <p:nvPr/>
          </p:nvGrpSpPr>
          <p:grpSpPr bwMode="auto">
            <a:xfrm>
              <a:off x="4185100" y="6342979"/>
              <a:ext cx="828000" cy="828000"/>
              <a:chOff x="3003273" y="4837588"/>
              <a:chExt cx="1053994" cy="1053994"/>
            </a:xfrm>
          </p:grpSpPr>
          <p:sp>
            <p:nvSpPr>
              <p:cNvPr id="76" name="Oval 47" descr="현대중공업_템플릿-42"/>
              <p:cNvSpPr>
                <a:spLocks noChangeArrowheads="1"/>
              </p:cNvSpPr>
              <p:nvPr/>
            </p:nvSpPr>
            <p:spPr bwMode="gray">
              <a:xfrm>
                <a:off x="3003273" y="4837588"/>
                <a:ext cx="1053994" cy="1053994"/>
              </a:xfrm>
              <a:prstGeom prst="ellipse">
                <a:avLst/>
              </a:prstGeom>
              <a:blipFill dpi="0" rotWithShape="1">
                <a:blip r:embed="rId4" cstate="print"/>
                <a:srcRect/>
                <a:stretch>
                  <a:fillRect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>
                  <a:latin typeface="Yoon 윤명조 520_TT" pitchFamily="18" charset="-127"/>
                  <a:ea typeface="Yoon 윤명조 520_TT" pitchFamily="18" charset="-127"/>
                </a:endParaRPr>
              </a:p>
            </p:txBody>
          </p:sp>
          <p:sp>
            <p:nvSpPr>
              <p:cNvPr id="77" name="AutoShape 382" descr="2-1"/>
              <p:cNvSpPr>
                <a:spLocks noChangeArrowheads="1"/>
              </p:cNvSpPr>
              <p:nvPr/>
            </p:nvSpPr>
            <p:spPr bwMode="auto">
              <a:xfrm>
                <a:off x="3125185" y="5183454"/>
                <a:ext cx="810020" cy="361703"/>
              </a:xfrm>
              <a:prstGeom prst="roundRect">
                <a:avLst>
                  <a:gd name="adj" fmla="val 1968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36625" latinLnBrk="0">
                  <a:defRPr/>
                </a:pPr>
                <a:r>
                  <a:rPr lang="ko-KR" altLang="en-US" sz="1000">
                    <a:solidFill>
                      <a:schemeClr val="tx1"/>
                    </a:solidFill>
                    <a:latin typeface="Rix모던고딕 B" pitchFamily="18" charset="-127"/>
                    <a:ea typeface="Rix모던고딕 B" pitchFamily="18" charset="-127"/>
                    <a:cs typeface="굴림" pitchFamily="50" charset="-127"/>
                  </a:rPr>
                  <a:t>서버간</a:t>
                </a:r>
                <a:endParaRPr lang="en-US" altLang="ko-KR" sz="1000">
                  <a:solidFill>
                    <a:schemeClr val="tx1"/>
                  </a:solidFill>
                  <a:latin typeface="Rix모던고딕 B" pitchFamily="18" charset="-127"/>
                  <a:ea typeface="Rix모던고딕 B" pitchFamily="18" charset="-127"/>
                  <a:cs typeface="굴림" pitchFamily="50" charset="-127"/>
                </a:endParaRPr>
              </a:p>
              <a:p>
                <a:pPr algn="ctr" defTabSz="936625" latinLnBrk="0">
                  <a:defRPr/>
                </a:pPr>
                <a:r>
                  <a:rPr lang="ko-KR" altLang="en-US" sz="1000">
                    <a:solidFill>
                      <a:schemeClr val="tx1"/>
                    </a:solidFill>
                    <a:latin typeface="Rix모던고딕 B" pitchFamily="18" charset="-127"/>
                    <a:ea typeface="Rix모던고딕 B" pitchFamily="18" charset="-127"/>
                    <a:cs typeface="굴림" pitchFamily="50" charset="-127"/>
                  </a:rPr>
                  <a:t>동기화</a:t>
                </a:r>
                <a:endParaRPr lang="en-US" altLang="ko-KR" sz="1000">
                  <a:solidFill>
                    <a:schemeClr val="tx1"/>
                  </a:solidFill>
                  <a:latin typeface="Rix모던고딕 B" pitchFamily="18" charset="-127"/>
                  <a:ea typeface="Rix모던고딕 B" pitchFamily="18" charset="-127"/>
                  <a:cs typeface="굴림" pitchFamily="50" charset="-127"/>
                </a:endParaRPr>
              </a:p>
              <a:p>
                <a:pPr algn="ctr" defTabSz="936625" latinLnBrk="0">
                  <a:defRPr/>
                </a:pPr>
                <a:r>
                  <a:rPr lang="ko-KR" altLang="en-US" sz="1000">
                    <a:solidFill>
                      <a:schemeClr val="tx1"/>
                    </a:solidFill>
                    <a:latin typeface="Rix모던고딕 B" pitchFamily="18" charset="-127"/>
                    <a:ea typeface="Rix모던고딕 B" pitchFamily="18" charset="-127"/>
                    <a:cs typeface="굴림" pitchFamily="50" charset="-127"/>
                  </a:rPr>
                  <a:t>현상유지</a:t>
                </a:r>
              </a:p>
            </p:txBody>
          </p:sp>
        </p:grpSp>
        <p:grpSp>
          <p:nvGrpSpPr>
            <p:cNvPr id="51" name="그룹 75"/>
            <p:cNvGrpSpPr>
              <a:grpSpLocks/>
            </p:cNvGrpSpPr>
            <p:nvPr/>
          </p:nvGrpSpPr>
          <p:grpSpPr bwMode="auto">
            <a:xfrm>
              <a:off x="3108975" y="7035985"/>
              <a:ext cx="828000" cy="828000"/>
              <a:chOff x="3025453" y="4943795"/>
              <a:chExt cx="1053994" cy="1053994"/>
            </a:xfrm>
          </p:grpSpPr>
          <p:sp>
            <p:nvSpPr>
              <p:cNvPr id="74" name="Oval 47" descr="현대중공업_템플릿-42"/>
              <p:cNvSpPr>
                <a:spLocks noChangeArrowheads="1"/>
              </p:cNvSpPr>
              <p:nvPr/>
            </p:nvSpPr>
            <p:spPr bwMode="gray">
              <a:xfrm>
                <a:off x="3025453" y="4943795"/>
                <a:ext cx="1053994" cy="1053994"/>
              </a:xfrm>
              <a:prstGeom prst="ellipse">
                <a:avLst/>
              </a:prstGeom>
              <a:blipFill dpi="0" rotWithShape="1">
                <a:blip r:embed="rId4" cstate="print"/>
                <a:srcRect/>
                <a:stretch>
                  <a:fillRect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>
                  <a:latin typeface="Yoon 윤명조 520_TT" pitchFamily="18" charset="-127"/>
                  <a:ea typeface="Yoon 윤명조 520_TT" pitchFamily="18" charset="-127"/>
                </a:endParaRPr>
              </a:p>
            </p:txBody>
          </p:sp>
          <p:sp>
            <p:nvSpPr>
              <p:cNvPr id="75" name="AutoShape 382" descr="2-1"/>
              <p:cNvSpPr>
                <a:spLocks noChangeArrowheads="1"/>
              </p:cNvSpPr>
              <p:nvPr/>
            </p:nvSpPr>
            <p:spPr bwMode="auto">
              <a:xfrm>
                <a:off x="3147649" y="5288527"/>
                <a:ext cx="810020" cy="363724"/>
              </a:xfrm>
              <a:prstGeom prst="roundRect">
                <a:avLst>
                  <a:gd name="adj" fmla="val 1968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36625" latinLnBrk="0">
                  <a:defRPr/>
                </a:pPr>
                <a:r>
                  <a:rPr lang="ko-KR" altLang="en-US" sz="1000">
                    <a:solidFill>
                      <a:schemeClr val="tx1"/>
                    </a:solidFill>
                    <a:latin typeface="Rix모던고딕 B" pitchFamily="18" charset="-127"/>
                    <a:ea typeface="Rix모던고딕 B" pitchFamily="18" charset="-127"/>
                    <a:cs typeface="굴림" pitchFamily="50" charset="-127"/>
                  </a:rPr>
                  <a:t>안정화 및</a:t>
                </a:r>
                <a:endParaRPr lang="en-US" altLang="ko-KR" sz="1000">
                  <a:solidFill>
                    <a:schemeClr val="tx1"/>
                  </a:solidFill>
                  <a:latin typeface="Rix모던고딕 B" pitchFamily="18" charset="-127"/>
                  <a:ea typeface="Rix모던고딕 B" pitchFamily="18" charset="-127"/>
                  <a:cs typeface="굴림" pitchFamily="50" charset="-127"/>
                </a:endParaRPr>
              </a:p>
              <a:p>
                <a:pPr algn="ctr" defTabSz="936625" latinLnBrk="0">
                  <a:defRPr/>
                </a:pPr>
                <a:r>
                  <a:rPr lang="ko-KR" altLang="en-US" sz="1000">
                    <a:solidFill>
                      <a:schemeClr val="tx1"/>
                    </a:solidFill>
                    <a:latin typeface="Rix모던고딕 B" pitchFamily="18" charset="-127"/>
                    <a:ea typeface="Rix모던고딕 B" pitchFamily="18" charset="-127"/>
                    <a:cs typeface="굴림" pitchFamily="50" charset="-127"/>
                  </a:rPr>
                  <a:t>오류개선</a:t>
                </a:r>
              </a:p>
            </p:txBody>
          </p:sp>
        </p:grpSp>
        <p:sp>
          <p:nvSpPr>
            <p:cNvPr id="52" name="AutoShape 382" descr="2-1"/>
            <p:cNvSpPr>
              <a:spLocks noChangeArrowheads="1"/>
            </p:cNvSpPr>
            <p:nvPr/>
          </p:nvSpPr>
          <p:spPr bwMode="auto">
            <a:xfrm>
              <a:off x="2557525" y="5771765"/>
              <a:ext cx="1905839" cy="844508"/>
            </a:xfrm>
            <a:prstGeom prst="roundRect">
              <a:avLst>
                <a:gd name="adj" fmla="val 1968"/>
              </a:avLst>
            </a:prstGeom>
            <a:noFill/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01908">
                <a:lnSpc>
                  <a:spcPct val="110000"/>
                </a:lnSpc>
                <a:buClr>
                  <a:schemeClr val="tx1"/>
                </a:buClr>
                <a:buSzPct val="80000"/>
                <a:defRPr/>
              </a:pPr>
              <a:r>
                <a:rPr lang="ko-KR" altLang="en-US" sz="1100" b="1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</a:rPr>
                <a:t>사용자 편리성 제공</a:t>
              </a:r>
              <a:endParaRPr lang="en-US" altLang="ko-KR" sz="1100" b="1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endParaRPr>
            </a:p>
            <a:p>
              <a:pPr algn="ctr" defTabSz="1001908">
                <a:lnSpc>
                  <a:spcPct val="110000"/>
                </a:lnSpc>
                <a:buClr>
                  <a:schemeClr val="tx1"/>
                </a:buClr>
                <a:buSzPct val="80000"/>
                <a:defRPr/>
              </a:pPr>
              <a:r>
                <a:rPr lang="ko-KR" altLang="en-US" sz="1100" b="1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</a:rPr>
                <a:t>및</a:t>
              </a:r>
              <a:endParaRPr lang="en-US" altLang="ko-KR" sz="1100" b="1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endParaRPr>
            </a:p>
            <a:p>
              <a:pPr algn="ctr" defTabSz="1001908">
                <a:lnSpc>
                  <a:spcPct val="110000"/>
                </a:lnSpc>
                <a:buClr>
                  <a:schemeClr val="tx1"/>
                </a:buClr>
                <a:buSzPct val="80000"/>
                <a:defRPr/>
              </a:pPr>
              <a:r>
                <a:rPr lang="ko-KR" altLang="en-US" sz="1100" b="1">
                  <a:solidFill>
                    <a:srgbClr val="000000"/>
                  </a:solidFill>
                  <a:latin typeface="가는각진제목체" pitchFamily="18" charset="-127"/>
                  <a:ea typeface="가는각진제목체" pitchFamily="18" charset="-127"/>
                </a:rPr>
                <a:t>정상적인 운용유지</a:t>
              </a:r>
              <a:endParaRPr lang="en-US" altLang="ko-KR" sz="1100" b="1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endParaRPr>
            </a:p>
          </p:txBody>
        </p:sp>
        <p:grpSp>
          <p:nvGrpSpPr>
            <p:cNvPr id="53" name="그룹 2"/>
            <p:cNvGrpSpPr>
              <a:grpSpLocks/>
            </p:cNvGrpSpPr>
            <p:nvPr/>
          </p:nvGrpSpPr>
          <p:grpSpPr bwMode="auto">
            <a:xfrm>
              <a:off x="3111566" y="6465200"/>
              <a:ext cx="797899" cy="581813"/>
              <a:chOff x="10024555" y="7060806"/>
              <a:chExt cx="894098" cy="651959"/>
            </a:xfrm>
          </p:grpSpPr>
          <p:pic>
            <p:nvPicPr>
              <p:cNvPr id="71" name="Picture 2" descr="business icon_3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4134" r="74155" b="23077"/>
              <a:stretch>
                <a:fillRect/>
              </a:stretch>
            </p:blipFill>
            <p:spPr bwMode="auto">
              <a:xfrm>
                <a:off x="10158290" y="7060806"/>
                <a:ext cx="632638" cy="6519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2" name="Picture 2" descr="business icon_32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4134" r="74155" b="23077"/>
              <a:stretch>
                <a:fillRect/>
              </a:stretch>
            </p:blipFill>
            <p:spPr bwMode="auto">
              <a:xfrm>
                <a:off x="10024555" y="7068131"/>
                <a:ext cx="401276" cy="413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" name="Picture 5" descr="G:\▷▶DIGNES\▶ 아이콘\♣ETC\캐릭터\15-10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60730" y="7147914"/>
                <a:ext cx="457923" cy="442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4" name="그룹 3"/>
            <p:cNvGrpSpPr>
              <a:grpSpLocks/>
            </p:cNvGrpSpPr>
            <p:nvPr/>
          </p:nvGrpSpPr>
          <p:grpSpPr bwMode="auto">
            <a:xfrm>
              <a:off x="4668856" y="5179830"/>
              <a:ext cx="688199" cy="580565"/>
              <a:chOff x="12037315" y="4962621"/>
              <a:chExt cx="920516" cy="776549"/>
            </a:xfrm>
          </p:grpSpPr>
          <p:pic>
            <p:nvPicPr>
              <p:cNvPr id="69" name="Picture 12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12036264" y="4962391"/>
                <a:ext cx="730162" cy="503220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</p:pic>
          <p:pic>
            <p:nvPicPr>
              <p:cNvPr id="70" name="Picture 13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12208192" y="5259652"/>
                <a:ext cx="749264" cy="479864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</p:pic>
        </p:grpSp>
        <p:grpSp>
          <p:nvGrpSpPr>
            <p:cNvPr id="55" name="그룹 8"/>
            <p:cNvGrpSpPr>
              <a:grpSpLocks/>
            </p:cNvGrpSpPr>
            <p:nvPr/>
          </p:nvGrpSpPr>
          <p:grpSpPr bwMode="auto">
            <a:xfrm>
              <a:off x="1689970" y="6087150"/>
              <a:ext cx="497584" cy="563902"/>
              <a:chOff x="8744602" y="5520075"/>
              <a:chExt cx="497584" cy="563902"/>
            </a:xfrm>
          </p:grpSpPr>
          <p:pic>
            <p:nvPicPr>
              <p:cNvPr id="66" name="Picture 50" descr="D:\모스트비주얼\아이콘 작업\왜가리\2.png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9009237" y="5520075"/>
                <a:ext cx="218473" cy="4188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7" name="Picture 26" descr="\\10.250.177.65\###   개별 제안팀   ###\### Design Library ###\900. 개인폴더\929.이미애\JFOS_K\rnrghldmlsdnjsd1.png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8749162" y="5536851"/>
                <a:ext cx="222270" cy="4188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" name="그림 109" descr="아이콘7.png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71"/>
              <a:stretch>
                <a:fillRect/>
              </a:stretch>
            </p:blipFill>
            <p:spPr bwMode="auto">
              <a:xfrm>
                <a:off x="8744602" y="5735992"/>
                <a:ext cx="497584" cy="3479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6" name="그룹 5"/>
            <p:cNvGrpSpPr>
              <a:grpSpLocks/>
            </p:cNvGrpSpPr>
            <p:nvPr/>
          </p:nvGrpSpPr>
          <p:grpSpPr bwMode="auto">
            <a:xfrm>
              <a:off x="4841464" y="6238370"/>
              <a:ext cx="553396" cy="442246"/>
              <a:chOff x="11649081" y="8026619"/>
              <a:chExt cx="553396" cy="442246"/>
            </a:xfrm>
          </p:grpSpPr>
          <p:pic>
            <p:nvPicPr>
              <p:cNvPr id="61" name="Picture 12" descr="C:\Users\wslee\Desktop\29.png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08063" y="8026619"/>
                <a:ext cx="258982" cy="414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" name="Picture 581" descr="db_1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867" b="8867"/>
              <a:stretch>
                <a:fillRect/>
              </a:stretch>
            </p:blipFill>
            <p:spPr bwMode="auto">
              <a:xfrm>
                <a:off x="11972930" y="8239789"/>
                <a:ext cx="228208" cy="229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" name="TextBox 62"/>
              <p:cNvSpPr txBox="1"/>
              <p:nvPr/>
            </p:nvSpPr>
            <p:spPr>
              <a:xfrm>
                <a:off x="11991423" y="8344199"/>
                <a:ext cx="211054" cy="8413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spAutoFit/>
              </a:bodyPr>
              <a:lstStyle/>
              <a:p>
                <a:pPr algn="ctr" defTabSz="995363">
                  <a:lnSpc>
                    <a:spcPct val="90000"/>
                  </a:lnSpc>
                  <a:buClr>
                    <a:srgbClr val="0000FF"/>
                  </a:buClr>
                  <a:buSzPct val="90000"/>
                  <a:defRPr/>
                </a:pPr>
                <a:r>
                  <a:rPr lang="en-US" altLang="ko-KR" sz="6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sym typeface="Monotype Sorts"/>
                  </a:rPr>
                  <a:t>Data</a:t>
                </a:r>
              </a:p>
            </p:txBody>
          </p:sp>
          <p:pic>
            <p:nvPicPr>
              <p:cNvPr id="64" name="Picture 12" descr="C:\Users\wslee\Desktop\29.png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649081" y="8026619"/>
                <a:ext cx="258982" cy="414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5" name="Picture 63" descr="064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678596" y="8117549"/>
                <a:ext cx="299424" cy="351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7" name="그룹 6"/>
            <p:cNvGrpSpPr>
              <a:grpSpLocks/>
            </p:cNvGrpSpPr>
            <p:nvPr/>
          </p:nvGrpSpPr>
          <p:grpSpPr bwMode="auto">
            <a:xfrm>
              <a:off x="1538750" y="5248626"/>
              <a:ext cx="730612" cy="485445"/>
              <a:chOff x="8551650" y="5220113"/>
              <a:chExt cx="849739" cy="564597"/>
            </a:xfrm>
          </p:grpSpPr>
          <p:pic>
            <p:nvPicPr>
              <p:cNvPr id="59" name="Picture 8"/>
              <p:cNvPicPr>
                <a:picLocks noChangeAspect="1" noChangeArrowheads="1"/>
              </p:cNvPicPr>
              <p:nvPr/>
            </p:nvPicPr>
            <p:blipFill rotWithShape="1">
              <a:blip r:embed="rId16" cstate="print"/>
              <a:srcRect b="11109"/>
              <a:stretch/>
            </p:blipFill>
            <p:spPr bwMode="auto">
              <a:xfrm>
                <a:off x="8551650" y="5219287"/>
                <a:ext cx="804690" cy="500335"/>
              </a:xfrm>
              <a:prstGeom prst="rect">
                <a:avLst/>
              </a:prstGeom>
              <a:no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  <a:effectLst/>
            </p:spPr>
          </p:pic>
          <p:pic>
            <p:nvPicPr>
              <p:cNvPr id="60" name="Picture 11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83895" y="5444155"/>
                <a:ext cx="717494" cy="3405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58" name="Picture 16"/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3900022" y="7375060"/>
              <a:ext cx="612534" cy="388919"/>
            </a:xfrm>
            <a:prstGeom prst="rect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  <a:effectLst/>
          </p:spPr>
        </p:pic>
      </p:grpSp>
      <p:sp>
        <p:nvSpPr>
          <p:cNvPr id="84" name="Freeform 153"/>
          <p:cNvSpPr>
            <a:spLocks/>
          </p:cNvSpPr>
          <p:nvPr/>
        </p:nvSpPr>
        <p:spPr bwMode="auto">
          <a:xfrm>
            <a:off x="647940" y="7936515"/>
            <a:ext cx="1031875" cy="1425575"/>
          </a:xfrm>
          <a:custGeom>
            <a:avLst/>
            <a:gdLst>
              <a:gd name="T0" fmla="*/ 0 w 576"/>
              <a:gd name="T1" fmla="*/ 2147483647 h 1131"/>
              <a:gd name="T2" fmla="*/ 2147483647 w 576"/>
              <a:gd name="T3" fmla="*/ 0 h 1131"/>
              <a:gd name="T4" fmla="*/ 2147483647 w 576"/>
              <a:gd name="T5" fmla="*/ 2147483647 h 1131"/>
              <a:gd name="T6" fmla="*/ 2147483647 w 576"/>
              <a:gd name="T7" fmla="*/ 2147483647 h 1131"/>
              <a:gd name="T8" fmla="*/ 0 w 576"/>
              <a:gd name="T9" fmla="*/ 2147483647 h 11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1131"/>
              <a:gd name="T17" fmla="*/ 576 w 576"/>
              <a:gd name="T18" fmla="*/ 1131 h 11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1131">
                <a:moveTo>
                  <a:pt x="0" y="1125"/>
                </a:moveTo>
                <a:lnTo>
                  <a:pt x="134" y="0"/>
                </a:lnTo>
                <a:lnTo>
                  <a:pt x="576" y="7"/>
                </a:lnTo>
                <a:lnTo>
                  <a:pt x="492" y="1131"/>
                </a:lnTo>
                <a:lnTo>
                  <a:pt x="0" y="1125"/>
                </a:lnTo>
                <a:close/>
              </a:path>
            </a:pathLst>
          </a:custGeom>
          <a:gradFill>
            <a:gsLst>
              <a:gs pos="50000">
                <a:srgbClr val="9CB2CC">
                  <a:lumMod val="90000"/>
                  <a:lumOff val="10000"/>
                </a:srgbClr>
              </a:gs>
              <a:gs pos="100000">
                <a:srgbClr val="A6BFDE">
                  <a:lumMod val="80000"/>
                  <a:lumOff val="20000"/>
                </a:srgbClr>
              </a:gs>
            </a:gsLst>
            <a:lin ang="5400000" scaled="0"/>
          </a:gradFill>
          <a:ln>
            <a:solidFill>
              <a:schemeClr val="tx1">
                <a:lumMod val="75000"/>
                <a:lumOff val="25000"/>
              </a:schemeClr>
            </a:solidFill>
          </a:ln>
          <a:scene3d>
            <a:camera prst="orthographicFront">
              <a:rot lat="1195245" lon="21239994" rev="21490937"/>
            </a:camera>
            <a:lightRig rig="threePt" dir="t"/>
          </a:scene3d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85" name="Rectangle 154"/>
          <p:cNvSpPr>
            <a:spLocks noChangeArrowheads="1"/>
          </p:cNvSpPr>
          <p:nvPr/>
        </p:nvSpPr>
        <p:spPr bwMode="auto">
          <a:xfrm>
            <a:off x="431800" y="8316913"/>
            <a:ext cx="1514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ko-KR" altLang="en-US" sz="1400" b="1">
                <a:latin typeface="가는각진제목체" pitchFamily="18" charset="-127"/>
                <a:ea typeface="가는각진제목체" pitchFamily="18" charset="-127"/>
              </a:rPr>
              <a:t>체계</a:t>
            </a:r>
            <a:endParaRPr lang="en-US" altLang="ko-KR" sz="1400" b="1">
              <a:latin typeface="가는각진제목체" pitchFamily="18" charset="-127"/>
              <a:ea typeface="가는각진제목체" pitchFamily="18" charset="-127"/>
            </a:endParaRPr>
          </a:p>
          <a:p>
            <a:pPr algn="ctr" eaLnBrk="1" latinLnBrk="1" hangingPunct="1"/>
            <a:r>
              <a:rPr lang="ko-KR" altLang="en-US" sz="1400" b="1">
                <a:latin typeface="가는각진제목체" pitchFamily="18" charset="-127"/>
                <a:ea typeface="가는각진제목체" pitchFamily="18" charset="-127"/>
              </a:rPr>
              <a:t>활용분야</a:t>
            </a:r>
          </a:p>
        </p:txBody>
      </p:sp>
      <p:grpSp>
        <p:nvGrpSpPr>
          <p:cNvPr id="86" name="Group 140"/>
          <p:cNvGrpSpPr>
            <a:grpSpLocks/>
          </p:cNvGrpSpPr>
          <p:nvPr/>
        </p:nvGrpSpPr>
        <p:grpSpPr bwMode="auto">
          <a:xfrm>
            <a:off x="1236663" y="4918075"/>
            <a:ext cx="4356100" cy="128588"/>
            <a:chOff x="359" y="3373"/>
            <a:chExt cx="3780" cy="72"/>
          </a:xfrm>
        </p:grpSpPr>
        <p:pic>
          <p:nvPicPr>
            <p:cNvPr id="87" name="Picture 133" descr="내부타이틀바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" y="3373"/>
              <a:ext cx="854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" name="Picture 134" descr="내부타이틀바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85" y="3373"/>
              <a:ext cx="854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08288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사업 이해도</a:t>
            </a:r>
          </a:p>
        </p:txBody>
      </p:sp>
      <p:sp>
        <p:nvSpPr>
          <p:cNvPr id="23" name="Text Box 63"/>
          <p:cNvSpPr txBox="1">
            <a:spLocks noChangeArrowheads="1"/>
          </p:cNvSpPr>
          <p:nvPr/>
        </p:nvSpPr>
        <p:spPr bwMode="auto">
          <a:xfrm>
            <a:off x="296863" y="793750"/>
            <a:ext cx="6242050" cy="164506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다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제안 범위</a:t>
            </a:r>
            <a:endParaRPr lang="ko-KR" altLang="en-US" sz="15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5000"/>
              </a:lnSpc>
              <a:defRPr/>
            </a:pPr>
            <a:r>
              <a:rPr lang="ko-KR" altLang="en-US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본 사업은 사용자가 추가 요구 기능 및 기술운용상의 문제점을 개선하여 태극</a:t>
            </a:r>
            <a:r>
              <a:rPr lang="en-US" altLang="ko-KR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모델을 통한 태극연습</a:t>
            </a:r>
            <a:r>
              <a:rPr lang="en-US" altLang="ko-KR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1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합동군사대</a:t>
            </a:r>
            <a:r>
              <a:rPr lang="ko-KR" altLang="en-US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전쟁실습</a:t>
            </a:r>
            <a:r>
              <a:rPr lang="en-US" altLang="ko-KR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기본과정</a:t>
            </a:r>
            <a:r>
              <a:rPr lang="en-US" altLang="ko-KR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고급과정</a:t>
            </a:r>
            <a:r>
              <a:rPr lang="en-US" altLang="ko-KR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원활히 지원하는 것입니다</a:t>
            </a:r>
            <a:r>
              <a:rPr lang="en-US" altLang="ko-KR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또한 궁극적으로는 전장관리 및 자원관리 정보체계에 대한 통합유지보수 체계 구축이 달성되기 위한 사업으로 사업범위 내에 업무와 요구사항에 대해 사업 종료 시까지 이행하도록 하겠습니다</a:t>
            </a:r>
            <a:r>
              <a:rPr lang="en-US" altLang="ko-KR" sz="1200" spc="1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24" name="Group 72"/>
          <p:cNvGrpSpPr>
            <a:grpSpLocks/>
          </p:cNvGrpSpPr>
          <p:nvPr/>
        </p:nvGrpSpPr>
        <p:grpSpPr bwMode="auto">
          <a:xfrm>
            <a:off x="366713" y="2533480"/>
            <a:ext cx="6116638" cy="357187"/>
            <a:chOff x="236" y="2167"/>
            <a:chExt cx="3853" cy="225"/>
          </a:xfrm>
        </p:grpSpPr>
        <p:grpSp>
          <p:nvGrpSpPr>
            <p:cNvPr id="25" name="Group 67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27" name="Picture 6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" name="Picture 69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" name="Text Box 70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사업범위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21" name="Group 84"/>
          <p:cNvGrpSpPr>
            <a:grpSpLocks/>
          </p:cNvGrpSpPr>
          <p:nvPr/>
        </p:nvGrpSpPr>
        <p:grpSpPr bwMode="auto">
          <a:xfrm>
            <a:off x="366713" y="5255665"/>
            <a:ext cx="6116637" cy="377825"/>
            <a:chOff x="236" y="2167"/>
            <a:chExt cx="3853" cy="225"/>
          </a:xfrm>
        </p:grpSpPr>
        <p:grpSp>
          <p:nvGrpSpPr>
            <p:cNvPr id="22" name="Group 85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30" name="Picture 86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" name="Picture 8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9" name="Text Box 88"/>
            <p:cNvSpPr txBox="1">
              <a:spLocks noChangeArrowheads="1"/>
            </p:cNvSpPr>
            <p:nvPr/>
          </p:nvSpPr>
          <p:spPr bwMode="auto">
            <a:xfrm>
              <a:off x="517" y="2222"/>
              <a:ext cx="26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요구사항 </a:t>
              </a:r>
              <a:r>
                <a:rPr lang="en-US" altLang="ko-KR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( 37</a:t>
              </a:r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건 </a:t>
              </a:r>
              <a:r>
                <a:rPr lang="en-US" altLang="ko-KR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</a:p>
          </p:txBody>
        </p:sp>
      </p:grpSp>
      <p:sp>
        <p:nvSpPr>
          <p:cNvPr id="17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Ⅱ - 3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04854"/>
              </p:ext>
            </p:extLst>
          </p:nvPr>
        </p:nvGraphicFramePr>
        <p:xfrm>
          <a:off x="481013" y="3062750"/>
          <a:ext cx="5859462" cy="1908062"/>
        </p:xfrm>
        <a:graphic>
          <a:graphicData uri="http://schemas.openxmlformats.org/drawingml/2006/table">
            <a:tbl>
              <a:tblPr/>
              <a:tblGrid>
                <a:gridCol w="1057737">
                  <a:extLst>
                    <a:ext uri="{9D8B030D-6E8A-4147-A177-3AD203B41FA5}">
                      <a16:colId xmlns:a16="http://schemas.microsoft.com/office/drawing/2014/main" val="3016819459"/>
                    </a:ext>
                  </a:extLst>
                </a:gridCol>
                <a:gridCol w="4801725">
                  <a:extLst>
                    <a:ext uri="{9D8B030D-6E8A-4147-A177-3AD203B41FA5}">
                      <a16:colId xmlns:a16="http://schemas.microsoft.com/office/drawing/2014/main" val="695489119"/>
                    </a:ext>
                  </a:extLst>
                </a:gridCol>
              </a:tblGrid>
              <a:tr h="365750"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구 분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 업 범 위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475021"/>
                  </a:ext>
                </a:extLst>
              </a:tr>
              <a:tr h="469800"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태극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JOS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모델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유지관리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indent="192088"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171450" marR="0" lvl="0" indent="-171450" algn="l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계획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/ 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일반유지관리로 식별되는 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SW 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기능개선 요구사항 조치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864406"/>
                  </a:ext>
                </a:extLst>
              </a:tr>
              <a:tr h="602712"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연습지원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indent="192088"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171450" marR="0" lvl="0" indent="-171450" algn="l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태극연습 및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합동대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고급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기본과정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지원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별도의 계획에 의해 태극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JOS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모델을 활용하는 연습 지원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585155"/>
                  </a:ext>
                </a:extLst>
              </a:tr>
              <a:tr h="469800"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산출물 관리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indent="192088"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171450" marR="0" lvl="0" indent="-171450" algn="l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유지보수 산출물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CBD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산출물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FEDEP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산출물 생산 및 최신화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595829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814317"/>
              </p:ext>
            </p:extLst>
          </p:nvPr>
        </p:nvGraphicFramePr>
        <p:xfrm>
          <a:off x="471487" y="5842283"/>
          <a:ext cx="5868987" cy="3269966"/>
        </p:xfrm>
        <a:graphic>
          <a:graphicData uri="http://schemas.openxmlformats.org/drawingml/2006/table">
            <a:tbl>
              <a:tblPr/>
              <a:tblGrid>
                <a:gridCol w="5074593">
                  <a:extLst>
                    <a:ext uri="{9D8B030D-6E8A-4147-A177-3AD203B41FA5}">
                      <a16:colId xmlns:a16="http://schemas.microsoft.com/office/drawing/2014/main" val="2196214735"/>
                    </a:ext>
                  </a:extLst>
                </a:gridCol>
                <a:gridCol w="794394">
                  <a:extLst>
                    <a:ext uri="{9D8B030D-6E8A-4147-A177-3AD203B41FA5}">
                      <a16:colId xmlns:a16="http://schemas.microsoft.com/office/drawing/2014/main" val="198532179"/>
                    </a:ext>
                  </a:extLst>
                </a:gridCol>
              </a:tblGrid>
              <a:tr h="331009"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구분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건 수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541726"/>
                  </a:ext>
                </a:extLst>
              </a:tr>
              <a:tr h="4198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유지관리 수행 요구사항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(MPR, Maintenance Project Requirement)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9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902123"/>
                  </a:ext>
                </a:extLst>
              </a:tr>
              <a:tr h="4198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기능 요구사항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(SFR, System Function Requirement)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4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574432"/>
                  </a:ext>
                </a:extLst>
              </a:tr>
              <a:tr h="4198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유지관리 인력 요구사항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(MHR, Maintenance Human Requirement)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3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769900"/>
                  </a:ext>
                </a:extLst>
              </a:tr>
              <a:tr h="4198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제약사항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(COR, Constraints Requirement)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5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246056"/>
                  </a:ext>
                </a:extLst>
              </a:tr>
              <a:tr h="4198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프로젝트 관리 요구사항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(PMR, Project Support Requirement)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6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735362"/>
                  </a:ext>
                </a:extLst>
              </a:tr>
              <a:tr h="4198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프로젝트 지원 요구사항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(PSR, Project Support Requirement)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2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160306"/>
                  </a:ext>
                </a:extLst>
              </a:tr>
              <a:tr h="4198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보안 요구사항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(SER, Security Requirement)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8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439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547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사업 이해도</a:t>
            </a:r>
          </a:p>
        </p:txBody>
      </p:sp>
      <p:sp>
        <p:nvSpPr>
          <p:cNvPr id="23" name="Text Box 63"/>
          <p:cNvSpPr txBox="1">
            <a:spLocks noChangeArrowheads="1"/>
          </p:cNvSpPr>
          <p:nvPr/>
        </p:nvSpPr>
        <p:spPr bwMode="auto">
          <a:xfrm>
            <a:off x="296863" y="793750"/>
            <a:ext cx="6242050" cy="361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라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제안의 특징</a:t>
            </a:r>
            <a:endParaRPr lang="ko-KR" altLang="en-US" sz="15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Text Box 51"/>
          <p:cNvSpPr txBox="1">
            <a:spLocks noChangeArrowheads="1"/>
          </p:cNvSpPr>
          <p:nvPr/>
        </p:nvSpPr>
        <p:spPr bwMode="auto">
          <a:xfrm>
            <a:off x="296863" y="1195365"/>
            <a:ext cx="6242050" cy="10156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유지보수 사업에 대한 모델 운용상 문제점 개선 및 사용자의 추가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요구사항 해결을 위해서 </a:t>
            </a:r>
            <a:r>
              <a:rPr lang="ko-KR" altLang="en-US" sz="12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두 가지 기존 체계의 사업수행 및 개발경험을 바탕으로 </a:t>
            </a:r>
            <a:r>
              <a:rPr lang="ko-KR" altLang="en-US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충분한 이해</a:t>
            </a:r>
            <a:r>
              <a:rPr lang="en-US" altLang="ko-KR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모의논리 분석</a:t>
            </a:r>
            <a:r>
              <a:rPr lang="en-US" altLang="ko-KR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전장상황처리 능력</a:t>
            </a:r>
            <a:r>
              <a:rPr lang="en-US" altLang="ko-KR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차별화된 조직</a:t>
            </a:r>
            <a:r>
              <a:rPr lang="en-US" altLang="ko-KR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및 인력구성</a:t>
            </a:r>
            <a:r>
              <a:rPr lang="en-US" altLang="ko-KR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확보된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핵심 기술의 적용 능력을 가지고 있습니다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</p:txBody>
      </p:sp>
      <p:pic>
        <p:nvPicPr>
          <p:cNvPr id="85" name="Picture 7" descr="Untitled-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4" r="6244" b="24274"/>
          <a:stretch>
            <a:fillRect/>
          </a:stretch>
        </p:blipFill>
        <p:spPr bwMode="auto">
          <a:xfrm>
            <a:off x="685800" y="5999765"/>
            <a:ext cx="5414963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Picture 119" descr="41313000207"/>
          <p:cNvPicPr>
            <a:picLocks noChangeAspect="1" noChangeArrowheads="1"/>
          </p:cNvPicPr>
          <p:nvPr/>
        </p:nvPicPr>
        <p:blipFill>
          <a:blip r:embed="rId4" cstate="print">
            <a:lum bright="22000" contrast="-24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975" y="6047390"/>
            <a:ext cx="1258888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Rectangle 121"/>
          <p:cNvSpPr>
            <a:spLocks noChangeArrowheads="1"/>
          </p:cNvSpPr>
          <p:nvPr/>
        </p:nvSpPr>
        <p:spPr bwMode="auto">
          <a:xfrm>
            <a:off x="2592625" y="6275989"/>
            <a:ext cx="172355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perspectiveRelaxedModerately" fov="6000000">
              <a:rot lat="19499990" lon="0" rev="0"/>
            </a:camera>
            <a:lightRig rig="threePt" dir="t"/>
          </a:scene3d>
          <a:sp3d/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50000"/>
              </a:lnSpc>
              <a:spcBef>
                <a:spcPct val="50000"/>
              </a:spcBef>
              <a:defRPr/>
            </a:pPr>
            <a:r>
              <a:rPr lang="ko-KR" altLang="en-US" sz="1800">
                <a:latin typeface="HY헤드라인M" pitchFamily="18" charset="-127"/>
                <a:ea typeface="HY헤드라인M" pitchFamily="18" charset="-127"/>
              </a:rPr>
              <a:t>주요 핵심 요소</a:t>
            </a:r>
          </a:p>
        </p:txBody>
      </p:sp>
      <p:grpSp>
        <p:nvGrpSpPr>
          <p:cNvPr id="88" name="Group 44"/>
          <p:cNvGrpSpPr>
            <a:grpSpLocks/>
          </p:cNvGrpSpPr>
          <p:nvPr/>
        </p:nvGrpSpPr>
        <p:grpSpPr bwMode="auto">
          <a:xfrm>
            <a:off x="374650" y="2231040"/>
            <a:ext cx="6116638" cy="357188"/>
            <a:chOff x="236" y="2167"/>
            <a:chExt cx="3853" cy="225"/>
          </a:xfrm>
        </p:grpSpPr>
        <p:grpSp>
          <p:nvGrpSpPr>
            <p:cNvPr id="89" name="Group 45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91" name="Picture 46" descr="Magazine temp08_A4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47" descr="Magazine temp08_A4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0" name="Text Box 48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제안 특징</a:t>
              </a:r>
              <a:endParaRPr lang="en-US" altLang="ko-KR" sz="1200">
                <a:solidFill>
                  <a:srgbClr val="333333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sp>
        <p:nvSpPr>
          <p:cNvPr id="93" name="Freeform 28"/>
          <p:cNvSpPr>
            <a:spLocks/>
          </p:cNvSpPr>
          <p:nvPr/>
        </p:nvSpPr>
        <p:spPr bwMode="auto">
          <a:xfrm flipH="1">
            <a:off x="3697288" y="4250340"/>
            <a:ext cx="2616200" cy="2087563"/>
          </a:xfrm>
          <a:custGeom>
            <a:avLst/>
            <a:gdLst>
              <a:gd name="T0" fmla="*/ 0 w 1152"/>
              <a:gd name="T1" fmla="*/ 0 h 816"/>
              <a:gd name="T2" fmla="*/ 2147483647 w 1152"/>
              <a:gd name="T3" fmla="*/ 0 h 816"/>
              <a:gd name="T4" fmla="*/ 2147483647 w 1152"/>
              <a:gd name="T5" fmla="*/ 2147483647 h 816"/>
              <a:gd name="T6" fmla="*/ 0 w 1152"/>
              <a:gd name="T7" fmla="*/ 2147483647 h 816"/>
              <a:gd name="T8" fmla="*/ 0 60000 65536"/>
              <a:gd name="T9" fmla="*/ 0 60000 65536"/>
              <a:gd name="T10" fmla="*/ 0 60000 65536"/>
              <a:gd name="T11" fmla="*/ 0 60000 65536"/>
              <a:gd name="T12" fmla="*/ 0 w 1152"/>
              <a:gd name="T13" fmla="*/ 0 h 816"/>
              <a:gd name="T14" fmla="*/ 1152 w 1152"/>
              <a:gd name="T15" fmla="*/ 816 h 8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52" h="816">
                <a:moveTo>
                  <a:pt x="0" y="0"/>
                </a:moveTo>
                <a:lnTo>
                  <a:pt x="1152" y="0"/>
                </a:lnTo>
                <a:lnTo>
                  <a:pt x="1152" y="816"/>
                </a:lnTo>
                <a:lnTo>
                  <a:pt x="0" y="816"/>
                </a:lnTo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EBF0FB">
                  <a:alpha val="50000"/>
                </a:srgbClr>
              </a:gs>
            </a:gsLst>
            <a:lin ang="0" scaled="1"/>
          </a:gradFill>
          <a:ln w="9525">
            <a:solidFill>
              <a:srgbClr val="A5BCE9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/>
          </a:p>
        </p:txBody>
      </p:sp>
      <p:sp>
        <p:nvSpPr>
          <p:cNvPr id="94" name="Freeform 32"/>
          <p:cNvSpPr>
            <a:spLocks/>
          </p:cNvSpPr>
          <p:nvPr/>
        </p:nvSpPr>
        <p:spPr bwMode="auto">
          <a:xfrm flipH="1">
            <a:off x="3697288" y="6822090"/>
            <a:ext cx="2616200" cy="1879600"/>
          </a:xfrm>
          <a:custGeom>
            <a:avLst/>
            <a:gdLst>
              <a:gd name="T0" fmla="*/ 0 w 1152"/>
              <a:gd name="T1" fmla="*/ 0 h 816"/>
              <a:gd name="T2" fmla="*/ 2147483647 w 1152"/>
              <a:gd name="T3" fmla="*/ 0 h 816"/>
              <a:gd name="T4" fmla="*/ 2147483647 w 1152"/>
              <a:gd name="T5" fmla="*/ 2147483647 h 816"/>
              <a:gd name="T6" fmla="*/ 0 w 1152"/>
              <a:gd name="T7" fmla="*/ 2147483647 h 816"/>
              <a:gd name="T8" fmla="*/ 0 60000 65536"/>
              <a:gd name="T9" fmla="*/ 0 60000 65536"/>
              <a:gd name="T10" fmla="*/ 0 60000 65536"/>
              <a:gd name="T11" fmla="*/ 0 60000 65536"/>
              <a:gd name="T12" fmla="*/ 0 w 1152"/>
              <a:gd name="T13" fmla="*/ 0 h 816"/>
              <a:gd name="T14" fmla="*/ 1152 w 1152"/>
              <a:gd name="T15" fmla="*/ 816 h 8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52" h="816">
                <a:moveTo>
                  <a:pt x="0" y="0"/>
                </a:moveTo>
                <a:lnTo>
                  <a:pt x="1152" y="0"/>
                </a:lnTo>
                <a:lnTo>
                  <a:pt x="1152" y="816"/>
                </a:lnTo>
                <a:lnTo>
                  <a:pt x="0" y="816"/>
                </a:lnTo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EBF0FB">
                  <a:alpha val="50000"/>
                </a:srgbClr>
              </a:gs>
            </a:gsLst>
            <a:lin ang="0" scaled="1"/>
          </a:gradFill>
          <a:ln w="9525">
            <a:solidFill>
              <a:srgbClr val="A5BCE9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/>
          </a:p>
        </p:txBody>
      </p:sp>
      <p:sp>
        <p:nvSpPr>
          <p:cNvPr id="95" name="Freeform 36"/>
          <p:cNvSpPr>
            <a:spLocks/>
          </p:cNvSpPr>
          <p:nvPr/>
        </p:nvSpPr>
        <p:spPr bwMode="auto">
          <a:xfrm>
            <a:off x="739775" y="4240815"/>
            <a:ext cx="2616200" cy="2087563"/>
          </a:xfrm>
          <a:custGeom>
            <a:avLst/>
            <a:gdLst>
              <a:gd name="T0" fmla="*/ 0 w 1152"/>
              <a:gd name="T1" fmla="*/ 0 h 816"/>
              <a:gd name="T2" fmla="*/ 2147483647 w 1152"/>
              <a:gd name="T3" fmla="*/ 0 h 816"/>
              <a:gd name="T4" fmla="*/ 2147483647 w 1152"/>
              <a:gd name="T5" fmla="*/ 2147483647 h 816"/>
              <a:gd name="T6" fmla="*/ 0 w 1152"/>
              <a:gd name="T7" fmla="*/ 2147483647 h 816"/>
              <a:gd name="T8" fmla="*/ 0 60000 65536"/>
              <a:gd name="T9" fmla="*/ 0 60000 65536"/>
              <a:gd name="T10" fmla="*/ 0 60000 65536"/>
              <a:gd name="T11" fmla="*/ 0 60000 65536"/>
              <a:gd name="T12" fmla="*/ 0 w 1152"/>
              <a:gd name="T13" fmla="*/ 0 h 816"/>
              <a:gd name="T14" fmla="*/ 1152 w 1152"/>
              <a:gd name="T15" fmla="*/ 816 h 8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52" h="816">
                <a:moveTo>
                  <a:pt x="0" y="0"/>
                </a:moveTo>
                <a:lnTo>
                  <a:pt x="1152" y="0"/>
                </a:lnTo>
                <a:lnTo>
                  <a:pt x="1152" y="816"/>
                </a:lnTo>
                <a:lnTo>
                  <a:pt x="0" y="816"/>
                </a:lnTo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EBF0FB">
                  <a:alpha val="50000"/>
                </a:srgbClr>
              </a:gs>
            </a:gsLst>
            <a:lin ang="0" scaled="1"/>
          </a:gradFill>
          <a:ln w="9525">
            <a:solidFill>
              <a:srgbClr val="A5BCE9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/>
          </a:p>
        </p:txBody>
      </p:sp>
      <p:sp>
        <p:nvSpPr>
          <p:cNvPr id="96" name="Rectangle 37"/>
          <p:cNvSpPr>
            <a:spLocks noChangeArrowheads="1"/>
          </p:cNvSpPr>
          <p:nvPr/>
        </p:nvSpPr>
        <p:spPr bwMode="auto">
          <a:xfrm>
            <a:off x="755650" y="4723415"/>
            <a:ext cx="2600232" cy="16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/>
          <a:p>
            <a:pPr marL="88900" indent="-88900" ea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17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년간 태극</a:t>
            </a:r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모델 유지보수 수행 경험 </a:t>
            </a:r>
          </a:p>
          <a:p>
            <a:pPr marL="88900" indent="-88900" ea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성능개량모델</a:t>
            </a:r>
            <a:r>
              <a:rPr lang="en-US" altLang="ko-KR" sz="1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(AJOS)</a:t>
            </a:r>
            <a:r>
              <a:rPr lang="ko-KR" altLang="en-US" sz="1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개발 및 유지보수</a:t>
            </a:r>
            <a:endParaRPr lang="ko-KR" altLang="en-US" sz="11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88900" indent="-88900" ea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사용자 요구분석 및 개선안 제시</a:t>
            </a:r>
          </a:p>
          <a:p>
            <a:pPr marL="88900" indent="-88900" ea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유사분야 시스템 안정화 및 유지보수</a:t>
            </a:r>
          </a:p>
          <a:p>
            <a:pPr marL="88900" indent="-88900" ea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훈련 간 운용 및 기술지원 실시</a:t>
            </a:r>
          </a:p>
        </p:txBody>
      </p:sp>
      <p:sp>
        <p:nvSpPr>
          <p:cNvPr id="97" name="Freeform 40"/>
          <p:cNvSpPr>
            <a:spLocks/>
          </p:cNvSpPr>
          <p:nvPr/>
        </p:nvSpPr>
        <p:spPr bwMode="auto">
          <a:xfrm>
            <a:off x="739775" y="6810978"/>
            <a:ext cx="2616200" cy="1890712"/>
          </a:xfrm>
          <a:custGeom>
            <a:avLst/>
            <a:gdLst>
              <a:gd name="T0" fmla="*/ 0 w 1152"/>
              <a:gd name="T1" fmla="*/ 0 h 816"/>
              <a:gd name="T2" fmla="*/ 2147483647 w 1152"/>
              <a:gd name="T3" fmla="*/ 0 h 816"/>
              <a:gd name="T4" fmla="*/ 2147483647 w 1152"/>
              <a:gd name="T5" fmla="*/ 2147483647 h 816"/>
              <a:gd name="T6" fmla="*/ 0 w 1152"/>
              <a:gd name="T7" fmla="*/ 2147483647 h 816"/>
              <a:gd name="T8" fmla="*/ 0 60000 65536"/>
              <a:gd name="T9" fmla="*/ 0 60000 65536"/>
              <a:gd name="T10" fmla="*/ 0 60000 65536"/>
              <a:gd name="T11" fmla="*/ 0 60000 65536"/>
              <a:gd name="T12" fmla="*/ 0 w 1152"/>
              <a:gd name="T13" fmla="*/ 0 h 816"/>
              <a:gd name="T14" fmla="*/ 1152 w 1152"/>
              <a:gd name="T15" fmla="*/ 816 h 8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52" h="816">
                <a:moveTo>
                  <a:pt x="0" y="0"/>
                </a:moveTo>
                <a:lnTo>
                  <a:pt x="1152" y="0"/>
                </a:lnTo>
                <a:lnTo>
                  <a:pt x="1152" y="816"/>
                </a:lnTo>
                <a:lnTo>
                  <a:pt x="0" y="816"/>
                </a:lnTo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EBF0FB">
                  <a:alpha val="50000"/>
                </a:srgbClr>
              </a:gs>
            </a:gsLst>
            <a:lin ang="0" scaled="1"/>
          </a:gradFill>
          <a:ln w="9525">
            <a:solidFill>
              <a:srgbClr val="A5BCE9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/>
          </a:p>
        </p:txBody>
      </p:sp>
      <p:sp>
        <p:nvSpPr>
          <p:cNvPr id="98" name="Rectangle 45"/>
          <p:cNvSpPr>
            <a:spLocks noChangeArrowheads="1"/>
          </p:cNvSpPr>
          <p:nvPr/>
        </p:nvSpPr>
        <p:spPr bwMode="auto">
          <a:xfrm>
            <a:off x="752475" y="7259105"/>
            <a:ext cx="2603407" cy="1446550"/>
          </a:xfrm>
          <a:prstGeom prst="rect">
            <a:avLst/>
          </a:prstGeom>
          <a:noFill/>
          <a:ln>
            <a:noFill/>
          </a:ln>
        </p:spPr>
        <p:txBody>
          <a:bodyPr wrap="square" lIns="0" rIns="0">
            <a:spAutoFit/>
          </a:bodyPr>
          <a:lstStyle>
            <a:lvl1pPr marL="88900" indent="-889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모델 유지보수 경험자 </a:t>
            </a: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</a:rPr>
              <a:t>재투입</a:t>
            </a:r>
            <a:endParaRPr lang="ko-KR" altLang="en-US" sz="11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</a:rPr>
              <a:t>민군작전모의모델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 개발인력 </a:t>
            </a: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</a:rPr>
              <a:t>지원투입</a:t>
            </a:r>
            <a:endParaRPr lang="ko-KR" altLang="en-US" sz="11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spc="-50" err="1">
                <a:latin typeface="HY신명조" panose="02030600000101010101" pitchFamily="18" charset="-127"/>
                <a:ea typeface="HY신명조" panose="02030600000101010101" pitchFamily="18" charset="-127"/>
              </a:rPr>
              <a:t>합동지속지원모의모델</a:t>
            </a:r>
            <a:r>
              <a:rPr lang="ko-KR" altLang="en-US" sz="1100" spc="-50">
                <a:latin typeface="HY신명조" panose="02030600000101010101" pitchFamily="18" charset="-127"/>
                <a:ea typeface="HY신명조" panose="02030600000101010101" pitchFamily="18" charset="-127"/>
              </a:rPr>
              <a:t> 개발인력 </a:t>
            </a:r>
            <a:r>
              <a:rPr lang="ko-KR" altLang="en-US" sz="1100" spc="-50" err="1">
                <a:latin typeface="HY신명조" panose="02030600000101010101" pitchFamily="18" charset="-127"/>
                <a:ea typeface="HY신명조" panose="02030600000101010101" pitchFamily="18" charset="-127"/>
              </a:rPr>
              <a:t>지원투입</a:t>
            </a:r>
            <a:endParaRPr lang="ko-KR" altLang="en-US" sz="1100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  <a:sym typeface="Wingdings" panose="05000000000000000000" pitchFamily="2" charset="2"/>
            </a:endParaRP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</a:rPr>
              <a:t>군사업무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 전문가 다수 확보 및 지원</a:t>
            </a:r>
          </a:p>
        </p:txBody>
      </p:sp>
      <p:sp>
        <p:nvSpPr>
          <p:cNvPr id="99" name="Rectangle 46"/>
          <p:cNvSpPr>
            <a:spLocks noChangeArrowheads="1"/>
          </p:cNvSpPr>
          <p:nvPr/>
        </p:nvSpPr>
        <p:spPr bwMode="auto">
          <a:xfrm>
            <a:off x="3765550" y="7259105"/>
            <a:ext cx="2539122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/>
          <a:p>
            <a:pPr marL="88900" indent="-88900" eaLnBrk="1" hangingPunct="1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시나리오 </a:t>
            </a:r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생성 및 관리 </a:t>
            </a:r>
          </a:p>
          <a:p>
            <a:pPr marL="88900" indent="-88900" eaLnBrk="1" hangingPunct="1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모델 자료구조 관리 </a:t>
            </a:r>
          </a:p>
          <a:p>
            <a:pPr marL="88900" indent="-88900" eaLnBrk="1" hangingPunct="1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프로세스 이벤트 관리</a:t>
            </a:r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네트워크 통제</a:t>
            </a:r>
          </a:p>
          <a:p>
            <a:pPr marL="88900" indent="-88900" eaLnBrk="1" hangingPunct="1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상황도 관리 및 변경</a:t>
            </a:r>
          </a:p>
        </p:txBody>
      </p:sp>
      <p:sp>
        <p:nvSpPr>
          <p:cNvPr id="100" name="Rectangle 47"/>
          <p:cNvSpPr>
            <a:spLocks noChangeArrowheads="1"/>
          </p:cNvSpPr>
          <p:nvPr/>
        </p:nvSpPr>
        <p:spPr bwMode="auto">
          <a:xfrm>
            <a:off x="3781425" y="4801780"/>
            <a:ext cx="2530934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/>
          <a:p>
            <a:pPr marL="88900" indent="-88900" eaLnBrk="1" hangingPunct="1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시뮬레이션 모델링 능력 </a:t>
            </a:r>
          </a:p>
          <a:p>
            <a:pPr marL="88900" indent="-88900" eaLnBrk="1" hangingPunct="1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지상</a:t>
            </a:r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해상</a:t>
            </a:r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공중전 작전논리 파악 </a:t>
            </a:r>
          </a:p>
          <a:p>
            <a:pPr marL="88900" indent="-88900" eaLnBrk="1" hangingPunct="1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기존 논리 변경 및 새로운 논리 적용 </a:t>
            </a:r>
          </a:p>
          <a:p>
            <a:pPr marL="88900" indent="-88900" eaLnBrk="1" hangingPunct="1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개선논리에 대한 안정화 및 최적화</a:t>
            </a:r>
          </a:p>
        </p:txBody>
      </p:sp>
      <p:sp>
        <p:nvSpPr>
          <p:cNvPr id="101" name="AutoShape 42"/>
          <p:cNvSpPr>
            <a:spLocks noChangeArrowheads="1"/>
          </p:cNvSpPr>
          <p:nvPr/>
        </p:nvSpPr>
        <p:spPr bwMode="auto">
          <a:xfrm flipH="1">
            <a:off x="739682" y="4233517"/>
            <a:ext cx="2616200" cy="530386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000">
                <a:srgbClr val="CAD9EC"/>
              </a:gs>
              <a:gs pos="93000">
                <a:srgbClr val="A6BFDE"/>
              </a:gs>
            </a:gsLst>
            <a:lin ang="5400000" scaled="1"/>
            <a:tileRect/>
          </a:gradFill>
          <a:ln w="635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>
                    <a:lumMod val="40000"/>
                    <a:lumOff val="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10562" indent="-210562" defTabSz="646444">
              <a:lnSpc>
                <a:spcPct val="110000"/>
              </a:lnSpc>
              <a:buClr>
                <a:srgbClr val="3271AA"/>
              </a:buClr>
              <a:buSzPct val="140000"/>
              <a:tabLst>
                <a:tab pos="3500832" algn="l"/>
              </a:tabLst>
              <a:defRPr/>
            </a:pPr>
            <a:endParaRPr lang="ko-KR" altLang="en-US" sz="1100">
              <a:solidFill>
                <a:prstClr val="black">
                  <a:lumMod val="85000"/>
                  <a:lumOff val="15000"/>
                </a:prstClr>
              </a:solidFill>
              <a:latin typeface="산돌고딕 L" panose="02030504000101010101" pitchFamily="18" charset="-127"/>
              <a:ea typeface="산돌고딕 L" panose="02030504000101010101" pitchFamily="18" charset="-127"/>
            </a:endParaRPr>
          </a:p>
        </p:txBody>
      </p:sp>
      <p:sp>
        <p:nvSpPr>
          <p:cNvPr id="102" name="Text Box 39"/>
          <p:cNvSpPr txBox="1">
            <a:spLocks noChangeArrowheads="1"/>
          </p:cNvSpPr>
          <p:nvPr/>
        </p:nvSpPr>
        <p:spPr bwMode="auto">
          <a:xfrm>
            <a:off x="760413" y="4307490"/>
            <a:ext cx="26162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0" rIns="90000" bIns="0" anchor="ctr">
            <a:spAutoFit/>
          </a:bodyPr>
          <a:lstStyle>
            <a:lvl1pPr marL="85725" indent="-8572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lnSpc>
                <a:spcPct val="120000"/>
              </a:lnSpc>
            </a:pPr>
            <a:r>
              <a:rPr kumimoji="0" lang="en-US" altLang="ko-KR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        </a:t>
            </a:r>
            <a:r>
              <a:rPr kumimoji="0" lang="ko-KR" altLang="en-US" sz="1100" b="1" err="1">
                <a:latin typeface="HY신명조" panose="02030600000101010101" pitchFamily="18" charset="-127"/>
                <a:ea typeface="HY신명조" panose="02030600000101010101" pitchFamily="18" charset="-127"/>
              </a:rPr>
              <a:t>기존체계의</a:t>
            </a:r>
            <a:r>
              <a:rPr kumimoji="0" lang="ko-KR" altLang="en-US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 사업수행 및 개발에 대한 충분한 이해</a:t>
            </a:r>
          </a:p>
        </p:txBody>
      </p:sp>
      <p:pic>
        <p:nvPicPr>
          <p:cNvPr id="103" name="Picture 2" descr="C:\Users\김지희\Documents\190510_공덕역\190510_이미지\190512_전략 아이콘 copy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21687" y="4216210"/>
            <a:ext cx="877887" cy="393700"/>
          </a:xfrm>
          <a:prstGeom prst="rect">
            <a:avLst/>
          </a:prstGeom>
          <a:noFill/>
        </p:spPr>
      </p:pic>
      <p:sp>
        <p:nvSpPr>
          <p:cNvPr id="104" name="TextBox 103"/>
          <p:cNvSpPr txBox="1"/>
          <p:nvPr/>
        </p:nvSpPr>
        <p:spPr>
          <a:xfrm flipH="1">
            <a:off x="712581" y="4218073"/>
            <a:ext cx="351042" cy="226591"/>
          </a:xfrm>
          <a:prstGeom prst="rect">
            <a:avLst/>
          </a:prstGeom>
          <a:noFill/>
        </p:spPr>
        <p:txBody>
          <a:bodyPr lIns="36000" tIns="36000" rIns="36000" bIns="36000">
            <a:spAutoFit/>
          </a:bodyPr>
          <a:lstStyle/>
          <a:p>
            <a:pPr defTabSz="81948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+mj-ea"/>
                <a:ea typeface="+mj-ea"/>
              </a:rPr>
              <a:t>특징</a:t>
            </a:r>
            <a:endParaRPr kumimoji="0" lang="ko-KR" altLang="en-US" sz="1200" ker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0" scaled="1"/>
              </a:gradFill>
              <a:latin typeface="+mj-ea"/>
              <a:ea typeface="+mj-ea"/>
            </a:endParaRPr>
          </a:p>
        </p:txBody>
      </p:sp>
      <p:sp>
        <p:nvSpPr>
          <p:cNvPr id="105" name="TextBox 104"/>
          <p:cNvSpPr txBox="1"/>
          <p:nvPr/>
        </p:nvSpPr>
        <p:spPr>
          <a:xfrm flipH="1">
            <a:off x="962506" y="4215725"/>
            <a:ext cx="288749" cy="226591"/>
          </a:xfrm>
          <a:prstGeom prst="rect">
            <a:avLst/>
          </a:prstGeom>
          <a:noFill/>
        </p:spPr>
        <p:txBody>
          <a:bodyPr lIns="36000" tIns="36000" rIns="36000" bIns="36000">
            <a:spAutoFit/>
          </a:bodyPr>
          <a:lstStyle/>
          <a:p>
            <a:pPr defTabSz="81948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+mj-ea"/>
                <a:ea typeface="+mj-ea"/>
              </a:rPr>
              <a:t> </a:t>
            </a:r>
            <a:r>
              <a:rPr kumimoji="0" lang="en-US" altLang="ko-KR" sz="1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+mj-ea"/>
                <a:ea typeface="+mj-ea"/>
              </a:rPr>
              <a:t>1</a:t>
            </a:r>
            <a:endParaRPr kumimoji="0" lang="ko-KR" altLang="en-US" sz="1000" ker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0" scaled="1"/>
              </a:gradFill>
              <a:latin typeface="+mj-ea"/>
              <a:ea typeface="+mj-ea"/>
            </a:endParaRPr>
          </a:p>
        </p:txBody>
      </p:sp>
      <p:sp>
        <p:nvSpPr>
          <p:cNvPr id="106" name="AutoShape 42"/>
          <p:cNvSpPr>
            <a:spLocks noChangeArrowheads="1"/>
          </p:cNvSpPr>
          <p:nvPr/>
        </p:nvSpPr>
        <p:spPr bwMode="auto">
          <a:xfrm flipH="1">
            <a:off x="3688472" y="4233516"/>
            <a:ext cx="2616200" cy="530387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000">
                <a:srgbClr val="CAD9EC"/>
              </a:gs>
              <a:gs pos="93000">
                <a:srgbClr val="A6BFDE"/>
              </a:gs>
            </a:gsLst>
            <a:lin ang="5400000" scaled="1"/>
            <a:tileRect/>
          </a:gradFill>
          <a:ln w="635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>
                    <a:lumMod val="40000"/>
                    <a:lumOff val="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10562" indent="-210562" defTabSz="646444">
              <a:lnSpc>
                <a:spcPct val="110000"/>
              </a:lnSpc>
              <a:buClr>
                <a:srgbClr val="3271AA"/>
              </a:buClr>
              <a:buSzPct val="140000"/>
              <a:tabLst>
                <a:tab pos="3500832" algn="l"/>
              </a:tabLst>
              <a:defRPr/>
            </a:pPr>
            <a:endParaRPr lang="ko-KR" altLang="en-US" sz="1100">
              <a:solidFill>
                <a:prstClr val="black">
                  <a:lumMod val="85000"/>
                  <a:lumOff val="15000"/>
                </a:prstClr>
              </a:solidFill>
              <a:latin typeface="산돌고딕 L" panose="02030504000101010101" pitchFamily="18" charset="-127"/>
              <a:ea typeface="산돌고딕 L" panose="02030504000101010101" pitchFamily="18" charset="-127"/>
            </a:endParaRPr>
          </a:p>
        </p:txBody>
      </p:sp>
      <p:pic>
        <p:nvPicPr>
          <p:cNvPr id="107" name="Picture 2" descr="C:\Users\김지희\Documents\190510_공덕역\190510_이미지\190512_전략 아이콘 copy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470477" y="4216210"/>
            <a:ext cx="877887" cy="393700"/>
          </a:xfrm>
          <a:prstGeom prst="rect">
            <a:avLst/>
          </a:prstGeom>
          <a:noFill/>
        </p:spPr>
      </p:pic>
      <p:sp>
        <p:nvSpPr>
          <p:cNvPr id="108" name="TextBox 107"/>
          <p:cNvSpPr txBox="1"/>
          <p:nvPr/>
        </p:nvSpPr>
        <p:spPr>
          <a:xfrm flipH="1">
            <a:off x="3661371" y="4218073"/>
            <a:ext cx="351042" cy="226591"/>
          </a:xfrm>
          <a:prstGeom prst="rect">
            <a:avLst/>
          </a:prstGeom>
          <a:noFill/>
        </p:spPr>
        <p:txBody>
          <a:bodyPr lIns="36000" tIns="36000" rIns="36000" bIns="36000">
            <a:spAutoFit/>
          </a:bodyPr>
          <a:lstStyle/>
          <a:p>
            <a:pPr defTabSz="81948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+mj-ea"/>
                <a:ea typeface="+mj-ea"/>
              </a:rPr>
              <a:t>특징</a:t>
            </a:r>
          </a:p>
        </p:txBody>
      </p:sp>
      <p:sp>
        <p:nvSpPr>
          <p:cNvPr id="109" name="TextBox 108"/>
          <p:cNvSpPr txBox="1"/>
          <p:nvPr/>
        </p:nvSpPr>
        <p:spPr>
          <a:xfrm flipH="1">
            <a:off x="3908543" y="4217488"/>
            <a:ext cx="288749" cy="226591"/>
          </a:xfrm>
          <a:prstGeom prst="rect">
            <a:avLst/>
          </a:prstGeom>
          <a:noFill/>
        </p:spPr>
        <p:txBody>
          <a:bodyPr lIns="36000" tIns="36000" rIns="36000" bIns="36000">
            <a:spAutoFit/>
          </a:bodyPr>
          <a:lstStyle/>
          <a:p>
            <a:pPr defTabSz="81948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+mj-ea"/>
                <a:ea typeface="+mj-ea"/>
              </a:rPr>
              <a:t> </a:t>
            </a:r>
            <a:r>
              <a:rPr kumimoji="0" lang="en-US" altLang="ko-KR" sz="1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+mj-ea"/>
                <a:ea typeface="+mj-ea"/>
              </a:rPr>
              <a:t>2</a:t>
            </a:r>
            <a:endParaRPr kumimoji="0" lang="ko-KR" altLang="en-US" sz="1000" ker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0" scaled="1"/>
              </a:gradFill>
              <a:latin typeface="+mj-ea"/>
              <a:ea typeface="+mj-ea"/>
            </a:endParaRPr>
          </a:p>
        </p:txBody>
      </p:sp>
      <p:sp>
        <p:nvSpPr>
          <p:cNvPr id="110" name="AutoShape 42"/>
          <p:cNvSpPr>
            <a:spLocks noChangeArrowheads="1"/>
          </p:cNvSpPr>
          <p:nvPr/>
        </p:nvSpPr>
        <p:spPr bwMode="auto">
          <a:xfrm flipH="1">
            <a:off x="739682" y="6774463"/>
            <a:ext cx="2616200" cy="529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000">
                <a:srgbClr val="CAD9EC"/>
              </a:gs>
              <a:gs pos="93000">
                <a:srgbClr val="A6BFDE"/>
              </a:gs>
            </a:gsLst>
            <a:lin ang="5400000" scaled="1"/>
            <a:tileRect/>
          </a:gradFill>
          <a:ln w="635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>
                    <a:lumMod val="40000"/>
                    <a:lumOff val="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10562" indent="-210562" defTabSz="646444">
              <a:lnSpc>
                <a:spcPct val="110000"/>
              </a:lnSpc>
              <a:buClr>
                <a:srgbClr val="3271AA"/>
              </a:buClr>
              <a:buSzPct val="140000"/>
              <a:tabLst>
                <a:tab pos="3500832" algn="l"/>
              </a:tabLst>
              <a:defRPr/>
            </a:pPr>
            <a:endParaRPr lang="ko-KR" altLang="en-US" sz="1100">
              <a:solidFill>
                <a:prstClr val="black">
                  <a:lumMod val="85000"/>
                  <a:lumOff val="15000"/>
                </a:prstClr>
              </a:solidFill>
              <a:latin typeface="산돌고딕 L" panose="02030504000101010101" pitchFamily="18" charset="-127"/>
              <a:ea typeface="산돌고딕 L" panose="02030504000101010101" pitchFamily="18" charset="-127"/>
            </a:endParaRPr>
          </a:p>
        </p:txBody>
      </p:sp>
      <p:sp>
        <p:nvSpPr>
          <p:cNvPr id="111" name="Text Box 39"/>
          <p:cNvSpPr txBox="1">
            <a:spLocks noChangeArrowheads="1"/>
          </p:cNvSpPr>
          <p:nvPr/>
        </p:nvSpPr>
        <p:spPr bwMode="auto">
          <a:xfrm>
            <a:off x="774700" y="6864953"/>
            <a:ext cx="26162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marL="85725" indent="-8572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lnSpc>
                <a:spcPct val="150000"/>
              </a:lnSpc>
            </a:pPr>
            <a:r>
              <a:rPr kumimoji="0" lang="en-US" altLang="ko-KR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        M&amp;S </a:t>
            </a:r>
            <a:r>
              <a:rPr kumimoji="0" lang="ko-KR" altLang="en-US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모델운용조직 및 인력구성</a:t>
            </a:r>
          </a:p>
        </p:txBody>
      </p:sp>
      <p:pic>
        <p:nvPicPr>
          <p:cNvPr id="112" name="Picture 2" descr="C:\Users\김지희\Documents\190510_공덕역\190510_이미지\190512_전략 아이콘 copy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21687" y="6757157"/>
            <a:ext cx="877887" cy="393700"/>
          </a:xfrm>
          <a:prstGeom prst="rect">
            <a:avLst/>
          </a:prstGeom>
          <a:noFill/>
        </p:spPr>
      </p:pic>
      <p:sp>
        <p:nvSpPr>
          <p:cNvPr id="113" name="TextBox 112"/>
          <p:cNvSpPr txBox="1"/>
          <p:nvPr/>
        </p:nvSpPr>
        <p:spPr>
          <a:xfrm flipH="1">
            <a:off x="712581" y="6759020"/>
            <a:ext cx="351042" cy="226591"/>
          </a:xfrm>
          <a:prstGeom prst="rect">
            <a:avLst/>
          </a:prstGeom>
          <a:noFill/>
        </p:spPr>
        <p:txBody>
          <a:bodyPr lIns="36000" tIns="36000" rIns="36000" bIns="36000">
            <a:spAutoFit/>
          </a:bodyPr>
          <a:lstStyle/>
          <a:p>
            <a:pPr defTabSz="81948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+mj-ea"/>
                <a:ea typeface="+mj-ea"/>
              </a:rPr>
              <a:t>특징</a:t>
            </a:r>
          </a:p>
        </p:txBody>
      </p:sp>
      <p:sp>
        <p:nvSpPr>
          <p:cNvPr id="114" name="TextBox 113"/>
          <p:cNvSpPr txBox="1"/>
          <p:nvPr/>
        </p:nvSpPr>
        <p:spPr>
          <a:xfrm flipH="1">
            <a:off x="957721" y="6756175"/>
            <a:ext cx="288749" cy="226591"/>
          </a:xfrm>
          <a:prstGeom prst="rect">
            <a:avLst/>
          </a:prstGeom>
          <a:noFill/>
        </p:spPr>
        <p:txBody>
          <a:bodyPr lIns="36000" tIns="36000" rIns="36000" bIns="36000">
            <a:spAutoFit/>
          </a:bodyPr>
          <a:lstStyle/>
          <a:p>
            <a:pPr defTabSz="81948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+mj-ea"/>
                <a:ea typeface="+mj-ea"/>
              </a:rPr>
              <a:t> </a:t>
            </a:r>
            <a:r>
              <a:rPr kumimoji="0" lang="en-US" altLang="ko-KR" sz="1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+mj-ea"/>
                <a:ea typeface="+mj-ea"/>
              </a:rPr>
              <a:t>3</a:t>
            </a:r>
            <a:endParaRPr kumimoji="0" lang="ko-KR" altLang="en-US" sz="1000" ker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0" scaled="1"/>
              </a:gradFill>
              <a:latin typeface="+mj-ea"/>
              <a:ea typeface="+mj-ea"/>
            </a:endParaRPr>
          </a:p>
        </p:txBody>
      </p:sp>
      <p:sp>
        <p:nvSpPr>
          <p:cNvPr id="115" name="AutoShape 42"/>
          <p:cNvSpPr>
            <a:spLocks noChangeArrowheads="1"/>
          </p:cNvSpPr>
          <p:nvPr/>
        </p:nvSpPr>
        <p:spPr bwMode="auto">
          <a:xfrm flipH="1">
            <a:off x="3696159" y="6774463"/>
            <a:ext cx="2616200" cy="529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000">
                <a:srgbClr val="CAD9EC"/>
              </a:gs>
              <a:gs pos="93000">
                <a:srgbClr val="A6BFDE"/>
              </a:gs>
            </a:gsLst>
            <a:lin ang="5400000" scaled="1"/>
            <a:tileRect/>
          </a:gradFill>
          <a:ln w="635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>
                    <a:lumMod val="40000"/>
                    <a:lumOff val="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10562" indent="-210562" defTabSz="646444">
              <a:lnSpc>
                <a:spcPct val="110000"/>
              </a:lnSpc>
              <a:buClr>
                <a:srgbClr val="3271AA"/>
              </a:buClr>
              <a:buSzPct val="140000"/>
              <a:tabLst>
                <a:tab pos="3500832" algn="l"/>
              </a:tabLst>
              <a:defRPr/>
            </a:pPr>
            <a:endParaRPr lang="ko-KR" altLang="en-US" sz="1100">
              <a:solidFill>
                <a:prstClr val="black">
                  <a:lumMod val="85000"/>
                  <a:lumOff val="15000"/>
                </a:prstClr>
              </a:solidFill>
              <a:latin typeface="산돌고딕 L" panose="02030504000101010101" pitchFamily="18" charset="-127"/>
              <a:ea typeface="산돌고딕 L" panose="02030504000101010101" pitchFamily="18" charset="-127"/>
            </a:endParaRPr>
          </a:p>
        </p:txBody>
      </p:sp>
      <p:sp>
        <p:nvSpPr>
          <p:cNvPr id="116" name="Text Box 39"/>
          <p:cNvSpPr txBox="1">
            <a:spLocks noChangeArrowheads="1"/>
          </p:cNvSpPr>
          <p:nvPr/>
        </p:nvSpPr>
        <p:spPr bwMode="auto">
          <a:xfrm>
            <a:off x="3762375" y="6864953"/>
            <a:ext cx="26162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marL="85725" indent="-8572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lnSpc>
                <a:spcPct val="150000"/>
              </a:lnSpc>
            </a:pPr>
            <a:r>
              <a:rPr kumimoji="0" lang="en-US" altLang="ko-KR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        </a:t>
            </a:r>
            <a:r>
              <a:rPr kumimoji="0" lang="ko-KR" altLang="en-US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확보된 핵심 기술 적용</a:t>
            </a:r>
          </a:p>
        </p:txBody>
      </p:sp>
      <p:pic>
        <p:nvPicPr>
          <p:cNvPr id="117" name="Picture 2" descr="C:\Users\김지희\Documents\190510_공덕역\190510_이미지\190512_전략 아이콘 copy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478164" y="6757157"/>
            <a:ext cx="877887" cy="393700"/>
          </a:xfrm>
          <a:prstGeom prst="rect">
            <a:avLst/>
          </a:prstGeom>
          <a:noFill/>
        </p:spPr>
      </p:pic>
      <p:sp>
        <p:nvSpPr>
          <p:cNvPr id="118" name="TextBox 117"/>
          <p:cNvSpPr txBox="1"/>
          <p:nvPr/>
        </p:nvSpPr>
        <p:spPr>
          <a:xfrm flipH="1">
            <a:off x="3669058" y="6759020"/>
            <a:ext cx="351042" cy="226591"/>
          </a:xfrm>
          <a:prstGeom prst="rect">
            <a:avLst/>
          </a:prstGeom>
          <a:noFill/>
        </p:spPr>
        <p:txBody>
          <a:bodyPr lIns="36000" tIns="36000" rIns="36000" bIns="36000">
            <a:spAutoFit/>
          </a:bodyPr>
          <a:lstStyle/>
          <a:p>
            <a:pPr defTabSz="81948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+mj-ea"/>
                <a:ea typeface="+mj-ea"/>
              </a:rPr>
              <a:t>특징</a:t>
            </a:r>
          </a:p>
        </p:txBody>
      </p:sp>
      <p:sp>
        <p:nvSpPr>
          <p:cNvPr id="119" name="TextBox 118"/>
          <p:cNvSpPr txBox="1"/>
          <p:nvPr/>
        </p:nvSpPr>
        <p:spPr>
          <a:xfrm flipH="1">
            <a:off x="3914369" y="6756175"/>
            <a:ext cx="288749" cy="226591"/>
          </a:xfrm>
          <a:prstGeom prst="rect">
            <a:avLst/>
          </a:prstGeom>
          <a:noFill/>
        </p:spPr>
        <p:txBody>
          <a:bodyPr lIns="36000" tIns="36000" rIns="36000" bIns="36000">
            <a:spAutoFit/>
          </a:bodyPr>
          <a:lstStyle/>
          <a:p>
            <a:pPr defTabSz="81948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+mj-ea"/>
                <a:ea typeface="+mj-ea"/>
              </a:rPr>
              <a:t> </a:t>
            </a:r>
            <a:r>
              <a:rPr kumimoji="0" lang="en-US" altLang="ko-KR" sz="1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+mj-ea"/>
                <a:ea typeface="+mj-ea"/>
              </a:rPr>
              <a:t>4</a:t>
            </a:r>
            <a:endParaRPr kumimoji="0" lang="ko-KR" altLang="en-US" sz="1000" ker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0" scaled="1"/>
              </a:gradFill>
              <a:latin typeface="+mj-ea"/>
              <a:ea typeface="+mj-ea"/>
            </a:endParaRPr>
          </a:p>
        </p:txBody>
      </p:sp>
      <p:sp>
        <p:nvSpPr>
          <p:cNvPr id="120" name="Text Box 39"/>
          <p:cNvSpPr txBox="1">
            <a:spLocks noChangeArrowheads="1"/>
          </p:cNvSpPr>
          <p:nvPr/>
        </p:nvSpPr>
        <p:spPr bwMode="auto">
          <a:xfrm>
            <a:off x="3732213" y="4295652"/>
            <a:ext cx="2616200" cy="406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0" rIns="90000" bIns="0" anchor="ctr">
            <a:spAutoFit/>
          </a:bodyPr>
          <a:lstStyle>
            <a:lvl1pPr marL="85725" indent="-8572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lnSpc>
                <a:spcPct val="120000"/>
              </a:lnSpc>
            </a:pPr>
            <a:r>
              <a:rPr kumimoji="0" lang="en-US" altLang="ko-KR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        </a:t>
            </a:r>
            <a:r>
              <a:rPr kumimoji="0" lang="ko-KR" altLang="en-US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모의 논리분석 및 전장상황처리 안정화 능력 보유</a:t>
            </a:r>
          </a:p>
        </p:txBody>
      </p:sp>
      <p:grpSp>
        <p:nvGrpSpPr>
          <p:cNvPr id="121" name="Group 136"/>
          <p:cNvGrpSpPr>
            <a:grpSpLocks/>
          </p:cNvGrpSpPr>
          <p:nvPr/>
        </p:nvGrpSpPr>
        <p:grpSpPr bwMode="auto">
          <a:xfrm>
            <a:off x="2125663" y="3396265"/>
            <a:ext cx="2614612" cy="411163"/>
            <a:chOff x="860" y="1182"/>
            <a:chExt cx="2600" cy="408"/>
          </a:xfrm>
        </p:grpSpPr>
        <p:sp>
          <p:nvSpPr>
            <p:cNvPr id="122" name="Freeform 137"/>
            <p:cNvSpPr>
              <a:spLocks/>
            </p:cNvSpPr>
            <p:nvPr/>
          </p:nvSpPr>
          <p:spPr bwMode="auto">
            <a:xfrm>
              <a:off x="860" y="1365"/>
              <a:ext cx="944" cy="208"/>
            </a:xfrm>
            <a:custGeom>
              <a:avLst/>
              <a:gdLst>
                <a:gd name="T0" fmla="*/ 764 w 944"/>
                <a:gd name="T1" fmla="*/ 208 h 208"/>
                <a:gd name="T2" fmla="*/ 944 w 944"/>
                <a:gd name="T3" fmla="*/ 0 h 208"/>
                <a:gd name="T4" fmla="*/ 0 w 944"/>
                <a:gd name="T5" fmla="*/ 208 h 208"/>
                <a:gd name="T6" fmla="*/ 764 w 944"/>
                <a:gd name="T7" fmla="*/ 208 h 2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4" h="208">
                  <a:moveTo>
                    <a:pt x="764" y="208"/>
                  </a:moveTo>
                  <a:lnTo>
                    <a:pt x="944" y="0"/>
                  </a:lnTo>
                  <a:lnTo>
                    <a:pt x="0" y="208"/>
                  </a:lnTo>
                  <a:lnTo>
                    <a:pt x="764" y="208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" name="Freeform 138"/>
            <p:cNvSpPr>
              <a:spLocks/>
            </p:cNvSpPr>
            <p:nvPr/>
          </p:nvSpPr>
          <p:spPr bwMode="auto">
            <a:xfrm>
              <a:off x="2528" y="1361"/>
              <a:ext cx="932" cy="212"/>
            </a:xfrm>
            <a:custGeom>
              <a:avLst/>
              <a:gdLst>
                <a:gd name="T0" fmla="*/ 180 w 932"/>
                <a:gd name="T1" fmla="*/ 212 h 212"/>
                <a:gd name="T2" fmla="*/ 0 w 932"/>
                <a:gd name="T3" fmla="*/ 0 h 212"/>
                <a:gd name="T4" fmla="*/ 932 w 932"/>
                <a:gd name="T5" fmla="*/ 212 h 212"/>
                <a:gd name="T6" fmla="*/ 180 w 932"/>
                <a:gd name="T7" fmla="*/ 212 h 2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2" h="212">
                  <a:moveTo>
                    <a:pt x="180" y="212"/>
                  </a:moveTo>
                  <a:lnTo>
                    <a:pt x="0" y="0"/>
                  </a:lnTo>
                  <a:lnTo>
                    <a:pt x="932" y="212"/>
                  </a:lnTo>
                  <a:lnTo>
                    <a:pt x="180" y="212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" name="Freeform 139"/>
            <p:cNvSpPr>
              <a:spLocks/>
            </p:cNvSpPr>
            <p:nvPr/>
          </p:nvSpPr>
          <p:spPr bwMode="auto">
            <a:xfrm>
              <a:off x="1440" y="1182"/>
              <a:ext cx="1445" cy="408"/>
            </a:xfrm>
            <a:custGeom>
              <a:avLst/>
              <a:gdLst>
                <a:gd name="T0" fmla="*/ 211 w 1445"/>
                <a:gd name="T1" fmla="*/ 408 h 408"/>
                <a:gd name="T2" fmla="*/ 388 w 1445"/>
                <a:gd name="T3" fmla="*/ 184 h 408"/>
                <a:gd name="T4" fmla="*/ 0 w 1445"/>
                <a:gd name="T5" fmla="*/ 264 h 408"/>
                <a:gd name="T6" fmla="*/ 725 w 1445"/>
                <a:gd name="T7" fmla="*/ 0 h 408"/>
                <a:gd name="T8" fmla="*/ 1445 w 1445"/>
                <a:gd name="T9" fmla="*/ 264 h 408"/>
                <a:gd name="T10" fmla="*/ 1061 w 1445"/>
                <a:gd name="T11" fmla="*/ 182 h 408"/>
                <a:gd name="T12" fmla="*/ 1245 w 1445"/>
                <a:gd name="T13" fmla="*/ 408 h 408"/>
                <a:gd name="T14" fmla="*/ 211 w 1445"/>
                <a:gd name="T15" fmla="*/ 408 h 4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45" h="408">
                  <a:moveTo>
                    <a:pt x="211" y="408"/>
                  </a:moveTo>
                  <a:lnTo>
                    <a:pt x="388" y="184"/>
                  </a:lnTo>
                  <a:lnTo>
                    <a:pt x="0" y="264"/>
                  </a:lnTo>
                  <a:lnTo>
                    <a:pt x="725" y="0"/>
                  </a:lnTo>
                  <a:lnTo>
                    <a:pt x="1445" y="264"/>
                  </a:lnTo>
                  <a:lnTo>
                    <a:pt x="1061" y="182"/>
                  </a:lnTo>
                  <a:lnTo>
                    <a:pt x="1245" y="408"/>
                  </a:lnTo>
                  <a:lnTo>
                    <a:pt x="211" y="408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>
              <a:outerShdw dist="25400" dir="16200000" algn="ctr" rotWithShape="0">
                <a:schemeClr val="bg1"/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5" name="AutoShape 146"/>
          <p:cNvSpPr>
            <a:spLocks noChangeArrowheads="1"/>
          </p:cNvSpPr>
          <p:nvPr/>
        </p:nvSpPr>
        <p:spPr bwMode="auto">
          <a:xfrm flipV="1">
            <a:off x="930275" y="3996340"/>
            <a:ext cx="5005388" cy="2159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79 w 21600"/>
              <a:gd name="T13" fmla="*/ 2779 h 21600"/>
              <a:gd name="T14" fmla="*/ 18821 w 21600"/>
              <a:gd name="T15" fmla="*/ 1882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958" y="21600"/>
                </a:lnTo>
                <a:lnTo>
                  <a:pt x="1964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endParaRPr lang="ko-KR" altLang="en-US"/>
          </a:p>
        </p:txBody>
      </p:sp>
      <p:grpSp>
        <p:nvGrpSpPr>
          <p:cNvPr id="126" name="Group 40"/>
          <p:cNvGrpSpPr>
            <a:grpSpLocks/>
          </p:cNvGrpSpPr>
          <p:nvPr/>
        </p:nvGrpSpPr>
        <p:grpSpPr bwMode="auto">
          <a:xfrm>
            <a:off x="896938" y="2710465"/>
            <a:ext cx="5072062" cy="682625"/>
            <a:chOff x="419" y="3297"/>
            <a:chExt cx="3819" cy="571"/>
          </a:xfrm>
        </p:grpSpPr>
        <p:sp>
          <p:nvSpPr>
            <p:cNvPr id="127" name="Arc 41"/>
            <p:cNvSpPr>
              <a:spLocks/>
            </p:cNvSpPr>
            <p:nvPr/>
          </p:nvSpPr>
          <p:spPr bwMode="auto">
            <a:xfrm flipV="1">
              <a:off x="419" y="3297"/>
              <a:ext cx="3819" cy="571"/>
            </a:xfrm>
            <a:custGeom>
              <a:avLst/>
              <a:gdLst>
                <a:gd name="T0" fmla="*/ 0 w 43047"/>
                <a:gd name="T1" fmla="*/ 0 h 21600"/>
                <a:gd name="T2" fmla="*/ 0 w 43047"/>
                <a:gd name="T3" fmla="*/ 0 h 21600"/>
                <a:gd name="T4" fmla="*/ 0 w 4304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047"/>
                <a:gd name="T10" fmla="*/ 0 h 21600"/>
                <a:gd name="T11" fmla="*/ 43047 w 4304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047" h="21600" fill="none" extrusionOk="0">
                  <a:moveTo>
                    <a:pt x="-1" y="19182"/>
                  </a:moveTo>
                  <a:cubicBezTo>
                    <a:pt x="1229" y="8257"/>
                    <a:pt x="10469" y="-1"/>
                    <a:pt x="21464" y="0"/>
                  </a:cubicBezTo>
                  <a:cubicBezTo>
                    <a:pt x="33059" y="0"/>
                    <a:pt x="42586" y="9155"/>
                    <a:pt x="43046" y="20742"/>
                  </a:cubicBezTo>
                </a:path>
                <a:path w="43047" h="21600" stroke="0" extrusionOk="0">
                  <a:moveTo>
                    <a:pt x="-1" y="19182"/>
                  </a:moveTo>
                  <a:cubicBezTo>
                    <a:pt x="1229" y="8257"/>
                    <a:pt x="10469" y="-1"/>
                    <a:pt x="21464" y="0"/>
                  </a:cubicBezTo>
                  <a:cubicBezTo>
                    <a:pt x="33059" y="0"/>
                    <a:pt x="42586" y="9155"/>
                    <a:pt x="43046" y="20742"/>
                  </a:cubicBezTo>
                  <a:lnTo>
                    <a:pt x="21464" y="21600"/>
                  </a:lnTo>
                  <a:lnTo>
                    <a:pt x="-1" y="19182"/>
                  </a:lnTo>
                  <a:close/>
                </a:path>
              </a:pathLst>
            </a:custGeom>
            <a:gradFill rotWithShape="1">
              <a:gsLst>
                <a:gs pos="0">
                  <a:srgbClr val="D1E8BA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45715" rIns="0" bIns="45715" anchor="ctr"/>
            <a:lstStyle/>
            <a:p>
              <a:endParaRPr lang="ko-KR" altLang="en-US"/>
            </a:p>
          </p:txBody>
        </p:sp>
        <p:sp>
          <p:nvSpPr>
            <p:cNvPr id="128" name="Arc 42"/>
            <p:cNvSpPr>
              <a:spLocks/>
            </p:cNvSpPr>
            <p:nvPr/>
          </p:nvSpPr>
          <p:spPr bwMode="auto">
            <a:xfrm flipV="1">
              <a:off x="870" y="3297"/>
              <a:ext cx="2916" cy="571"/>
            </a:xfrm>
            <a:custGeom>
              <a:avLst/>
              <a:gdLst>
                <a:gd name="T0" fmla="*/ 0 w 43047"/>
                <a:gd name="T1" fmla="*/ 0 h 21600"/>
                <a:gd name="T2" fmla="*/ 0 w 43047"/>
                <a:gd name="T3" fmla="*/ 0 h 21600"/>
                <a:gd name="T4" fmla="*/ 0 w 4304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047"/>
                <a:gd name="T10" fmla="*/ 0 h 21600"/>
                <a:gd name="T11" fmla="*/ 43047 w 4304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047" h="21600" fill="none" extrusionOk="0">
                  <a:moveTo>
                    <a:pt x="-1" y="19182"/>
                  </a:moveTo>
                  <a:cubicBezTo>
                    <a:pt x="1229" y="8257"/>
                    <a:pt x="10469" y="-1"/>
                    <a:pt x="21464" y="0"/>
                  </a:cubicBezTo>
                  <a:cubicBezTo>
                    <a:pt x="33059" y="0"/>
                    <a:pt x="42586" y="9155"/>
                    <a:pt x="43046" y="20742"/>
                  </a:cubicBezTo>
                </a:path>
                <a:path w="43047" h="21600" stroke="0" extrusionOk="0">
                  <a:moveTo>
                    <a:pt x="-1" y="19182"/>
                  </a:moveTo>
                  <a:cubicBezTo>
                    <a:pt x="1229" y="8257"/>
                    <a:pt x="10469" y="-1"/>
                    <a:pt x="21464" y="0"/>
                  </a:cubicBezTo>
                  <a:cubicBezTo>
                    <a:pt x="33059" y="0"/>
                    <a:pt x="42586" y="9155"/>
                    <a:pt x="43046" y="20742"/>
                  </a:cubicBezTo>
                  <a:lnTo>
                    <a:pt x="21464" y="21600"/>
                  </a:lnTo>
                  <a:lnTo>
                    <a:pt x="-1" y="19182"/>
                  </a:lnTo>
                  <a:close/>
                </a:path>
              </a:pathLst>
            </a:custGeom>
            <a:gradFill rotWithShape="1">
              <a:gsLst>
                <a:gs pos="0">
                  <a:srgbClr val="74BDE2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29" name="Arc 43"/>
            <p:cNvSpPr>
              <a:spLocks/>
            </p:cNvSpPr>
            <p:nvPr/>
          </p:nvSpPr>
          <p:spPr bwMode="auto">
            <a:xfrm flipV="1">
              <a:off x="1126" y="3297"/>
              <a:ext cx="2405" cy="571"/>
            </a:xfrm>
            <a:custGeom>
              <a:avLst/>
              <a:gdLst>
                <a:gd name="T0" fmla="*/ 0 w 43047"/>
                <a:gd name="T1" fmla="*/ 0 h 21600"/>
                <a:gd name="T2" fmla="*/ 0 w 43047"/>
                <a:gd name="T3" fmla="*/ 0 h 21600"/>
                <a:gd name="T4" fmla="*/ 0 w 4304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047"/>
                <a:gd name="T10" fmla="*/ 0 h 21600"/>
                <a:gd name="T11" fmla="*/ 43047 w 4304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047" h="21600" fill="none" extrusionOk="0">
                  <a:moveTo>
                    <a:pt x="-1" y="19182"/>
                  </a:moveTo>
                  <a:cubicBezTo>
                    <a:pt x="1229" y="8257"/>
                    <a:pt x="10469" y="-1"/>
                    <a:pt x="21464" y="0"/>
                  </a:cubicBezTo>
                  <a:cubicBezTo>
                    <a:pt x="33059" y="0"/>
                    <a:pt x="42586" y="9155"/>
                    <a:pt x="43046" y="20742"/>
                  </a:cubicBezTo>
                </a:path>
                <a:path w="43047" h="21600" stroke="0" extrusionOk="0">
                  <a:moveTo>
                    <a:pt x="-1" y="19182"/>
                  </a:moveTo>
                  <a:cubicBezTo>
                    <a:pt x="1229" y="8257"/>
                    <a:pt x="10469" y="-1"/>
                    <a:pt x="21464" y="0"/>
                  </a:cubicBezTo>
                  <a:cubicBezTo>
                    <a:pt x="33059" y="0"/>
                    <a:pt x="42586" y="9155"/>
                    <a:pt x="43046" y="20742"/>
                  </a:cubicBezTo>
                  <a:lnTo>
                    <a:pt x="21464" y="21600"/>
                  </a:lnTo>
                  <a:lnTo>
                    <a:pt x="-1" y="1918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30" name="Text Box 44"/>
          <p:cNvSpPr txBox="1">
            <a:spLocks noChangeArrowheads="1"/>
          </p:cNvSpPr>
          <p:nvPr/>
        </p:nvSpPr>
        <p:spPr bwMode="auto">
          <a:xfrm>
            <a:off x="1714500" y="2743803"/>
            <a:ext cx="34671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80000"/>
              <a:buFont typeface="Monotype Sorts" pitchFamily="2" charset="2"/>
              <a:buNone/>
            </a:pPr>
            <a:r>
              <a:rPr lang="en-US" altLang="ko-KR" sz="1600">
                <a:solidFill>
                  <a:srgbClr val="003366"/>
                </a:solidFill>
                <a:latin typeface="HY수평선B" pitchFamily="18" charset="-127"/>
                <a:ea typeface="HY수평선B" pitchFamily="18" charset="-127"/>
              </a:rPr>
              <a:t>17</a:t>
            </a:r>
            <a:r>
              <a:rPr lang="ko-KR" altLang="en-US" sz="1600">
                <a:solidFill>
                  <a:srgbClr val="003366"/>
                </a:solidFill>
                <a:latin typeface="HY수평선B" pitchFamily="18" charset="-127"/>
                <a:ea typeface="HY수평선B" pitchFamily="18" charset="-127"/>
              </a:rPr>
              <a:t>년간 태극</a:t>
            </a:r>
            <a:r>
              <a:rPr lang="en-US" altLang="ko-KR" sz="1600">
                <a:solidFill>
                  <a:srgbClr val="003366"/>
                </a:solidFill>
                <a:latin typeface="HY수평선B" pitchFamily="18" charset="-127"/>
                <a:ea typeface="HY수평선B" pitchFamily="18" charset="-127"/>
              </a:rPr>
              <a:t>JOS</a:t>
            </a:r>
            <a:r>
              <a:rPr lang="ko-KR" altLang="en-US" sz="1600">
                <a:solidFill>
                  <a:srgbClr val="003366"/>
                </a:solidFill>
                <a:latin typeface="HY수평선B" pitchFamily="18" charset="-127"/>
                <a:ea typeface="HY수평선B" pitchFamily="18" charset="-127"/>
              </a:rPr>
              <a:t>모델 유지보수</a:t>
            </a:r>
            <a:endParaRPr lang="en-US" altLang="ko-KR" sz="1600">
              <a:solidFill>
                <a:srgbClr val="003366"/>
              </a:solidFill>
              <a:latin typeface="HY수평선B" pitchFamily="18" charset="-127"/>
              <a:ea typeface="HY수평선B" pitchFamily="18" charset="-127"/>
            </a:endParaRP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80000"/>
              <a:buFont typeface="Monotype Sorts" pitchFamily="2" charset="2"/>
              <a:buNone/>
            </a:pPr>
            <a:r>
              <a:rPr lang="ko-KR" altLang="en-US" sz="1600">
                <a:solidFill>
                  <a:srgbClr val="003366"/>
                </a:solidFill>
                <a:latin typeface="HY수평선B" pitchFamily="18" charset="-127"/>
                <a:ea typeface="HY수평선B" pitchFamily="18" charset="-127"/>
              </a:rPr>
              <a:t>성공적 수행</a:t>
            </a:r>
          </a:p>
        </p:txBody>
      </p:sp>
      <p:grpSp>
        <p:nvGrpSpPr>
          <p:cNvPr id="131" name="Group 140"/>
          <p:cNvGrpSpPr>
            <a:grpSpLocks/>
          </p:cNvGrpSpPr>
          <p:nvPr/>
        </p:nvGrpSpPr>
        <p:grpSpPr bwMode="auto">
          <a:xfrm>
            <a:off x="866775" y="3872515"/>
            <a:ext cx="5275263" cy="130175"/>
            <a:chOff x="359" y="3373"/>
            <a:chExt cx="3780" cy="72"/>
          </a:xfrm>
        </p:grpSpPr>
        <p:pic>
          <p:nvPicPr>
            <p:cNvPr id="132" name="Picture 133" descr="내부타이틀바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" y="3373"/>
              <a:ext cx="854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" name="Picture 134" descr="내부타이틀바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85" y="3373"/>
              <a:ext cx="854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4" name="Rectangle 49"/>
          <p:cNvSpPr>
            <a:spLocks noChangeArrowheads="1"/>
          </p:cNvSpPr>
          <p:nvPr/>
        </p:nvSpPr>
        <p:spPr bwMode="auto">
          <a:xfrm>
            <a:off x="1895475" y="3742340"/>
            <a:ext cx="31496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  <a:buFont typeface="Monotype Sorts" pitchFamily="2" charset="2"/>
              <a:buNone/>
            </a:pPr>
            <a:r>
              <a:rPr lang="ko-KR" altLang="en-US" sz="1600" b="1">
                <a:latin typeface="가는각진제목체" pitchFamily="18" charset="-127"/>
                <a:ea typeface="가는각진제목체" pitchFamily="18" charset="-127"/>
              </a:rPr>
              <a:t>유지보수 추진의 효율성 증진</a:t>
            </a:r>
          </a:p>
        </p:txBody>
      </p:sp>
      <p:sp>
        <p:nvSpPr>
          <p:cNvPr id="56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Ⅱ - 4</a:t>
            </a:r>
          </a:p>
        </p:txBody>
      </p:sp>
    </p:spTree>
    <p:extLst>
      <p:ext uri="{BB962C8B-B14F-4D97-AF65-F5344CB8AC3E}">
        <p14:creationId xmlns:p14="http://schemas.microsoft.com/office/powerpoint/2010/main" val="59706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사업 이해도</a:t>
            </a:r>
          </a:p>
        </p:txBody>
      </p:sp>
      <p:sp>
        <p:nvSpPr>
          <p:cNvPr id="23" name="Text Box 63"/>
          <p:cNvSpPr txBox="1">
            <a:spLocks noChangeArrowheads="1"/>
          </p:cNvSpPr>
          <p:nvPr/>
        </p:nvSpPr>
        <p:spPr bwMode="auto">
          <a:xfrm>
            <a:off x="296863" y="793750"/>
            <a:ext cx="6242050" cy="361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마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제안의 장점</a:t>
            </a:r>
            <a:endParaRPr lang="ko-KR" altLang="en-US" sz="15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Text Box 51"/>
          <p:cNvSpPr txBox="1">
            <a:spLocks noChangeArrowheads="1"/>
          </p:cNvSpPr>
          <p:nvPr/>
        </p:nvSpPr>
        <p:spPr bwMode="auto">
          <a:xfrm>
            <a:off x="296863" y="1195365"/>
            <a:ext cx="6242050" cy="213827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ko-KR" sz="1200" spc="8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 국방 및 공공분야 정보화 사업(SI, M&amp;S, CBT, MIS, DB 등)과 첨단 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신기술체계 개발의 기술력 확보로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성능개량 및 연동체계 사업 개발 및 유지보수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AWAM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개발 및 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유지보수와 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C4ISR 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분석모델 체계개발 </a:t>
            </a:r>
            <a:r>
              <a:rPr lang="ko-KR" altLang="en-US" sz="1200" spc="8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및 유지보수</a:t>
            </a:r>
            <a:r>
              <a:rPr lang="en-US" altLang="ko-KR" sz="1200" spc="8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8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해군교전급</a:t>
            </a:r>
            <a:r>
              <a:rPr lang="ko-KR" altLang="en-US" sz="1200" spc="8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분석모델 </a:t>
            </a:r>
            <a:r>
              <a:rPr lang="ko-KR" altLang="en-US" sz="1200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체계개발</a:t>
            </a:r>
            <a:r>
              <a:rPr lang="en-US" altLang="ko-KR" sz="1200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z="1200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비전</a:t>
            </a:r>
            <a:r>
              <a:rPr lang="en-US" altLang="ko-KR" sz="1200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21</a:t>
            </a:r>
            <a:r>
              <a:rPr lang="ko-KR" altLang="en-US" sz="1200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성능개량 체계개발</a:t>
            </a:r>
            <a:r>
              <a:rPr lang="en-US" altLang="ko-KR" sz="1200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,CBM</a:t>
            </a:r>
            <a:r>
              <a:rPr lang="ko-KR" altLang="en-US" sz="1200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작전 모의모델 체계 개발 등을 수행하고 있으며 </a:t>
            </a:r>
            <a:r>
              <a:rPr lang="en-US" altLang="ko-KR" sz="1200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특히  </a:t>
            </a:r>
            <a:r>
              <a:rPr lang="ko-KR" altLang="en-US" sz="1200" b="1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1200" b="1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200" b="1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모델은  성능개량  및  연동체계 사업</a:t>
            </a:r>
            <a:r>
              <a:rPr lang="ko-KR" altLang="en-US" sz="1200" b="1" spc="8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b="1" spc="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개발과  </a:t>
            </a:r>
            <a:r>
              <a:rPr lang="en-US" altLang="ko-KR" sz="1200" b="1" spc="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18</a:t>
            </a:r>
            <a:r>
              <a:rPr lang="ko-KR" altLang="en-US" sz="1200" b="1" spc="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년 간의 유지보수 업무수행으로 </a:t>
            </a:r>
            <a:r>
              <a:rPr lang="ko-KR" altLang="en-US" sz="1200" spc="4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쌓은 노하우와 인적자원을 경험으로 축적된 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업무역량을 가지고 있습니다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ko-KR" sz="1200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또한, 합동 전략/전술제대에 다양한 시뮬레이터 </a:t>
            </a:r>
            <a:r>
              <a:rPr lang="ko-KR" altLang="ko-KR" sz="1200" spc="6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</a:t>
            </a:r>
            <a:r>
              <a:rPr lang="ko-KR" altLang="ko-KR" sz="1200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ko-KR" sz="1200" spc="6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W를</a:t>
            </a:r>
            <a:r>
              <a:rPr lang="ko-KR" altLang="ko-KR" sz="1200" spc="6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개발한 경험과 </a:t>
            </a:r>
            <a:r>
              <a:rPr lang="ko-KR" altLang="ko-KR" sz="1200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기술력을 바탕으로 유지보수 및 성능개선에 참여하고 있어 효과를 극대화할 수 있는 </a:t>
            </a:r>
            <a:r>
              <a:rPr lang="ko-KR" altLang="en-US" sz="1200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경험과 방법</a:t>
            </a:r>
            <a:r>
              <a:rPr lang="ko-KR" altLang="ko-KR" sz="1200" spc="-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가지고 있습니다.</a:t>
            </a:r>
            <a:endParaRPr lang="en-US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Rectangle 169"/>
          <p:cNvSpPr>
            <a:spLocks noChangeArrowheads="1"/>
          </p:cNvSpPr>
          <p:nvPr/>
        </p:nvSpPr>
        <p:spPr bwMode="auto">
          <a:xfrm>
            <a:off x="404813" y="3797988"/>
            <a:ext cx="6054725" cy="5443537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C0C0C0"/>
            </a:solidFill>
            <a:miter lim="800000"/>
            <a:headEnd/>
            <a:tailEnd/>
          </a:ln>
          <a:effectLst>
            <a:outerShdw dist="17961" dir="2700000" algn="ctr" rotWithShape="0">
              <a:srgbClr val="C9D2DD"/>
            </a:outerShdw>
          </a:effectLst>
        </p:spPr>
        <p:txBody>
          <a:bodyPr wrap="none" anchor="ctr"/>
          <a:lstStyle/>
          <a:p>
            <a:pPr algn="ctr" eaLnBrk="1" latinLnBrk="1" hangingPunct="1"/>
            <a:endParaRPr lang="ko-KR" altLang="en-US"/>
          </a:p>
        </p:txBody>
      </p:sp>
      <p:sp>
        <p:nvSpPr>
          <p:cNvPr id="19" name="Arc 183"/>
          <p:cNvSpPr>
            <a:spLocks/>
          </p:cNvSpPr>
          <p:nvPr/>
        </p:nvSpPr>
        <p:spPr bwMode="auto">
          <a:xfrm flipV="1">
            <a:off x="515938" y="3831325"/>
            <a:ext cx="5826125" cy="682625"/>
          </a:xfrm>
          <a:custGeom>
            <a:avLst/>
            <a:gdLst>
              <a:gd name="T0" fmla="*/ 0 w 43047"/>
              <a:gd name="T1" fmla="*/ 0 h 21600"/>
              <a:gd name="T2" fmla="*/ 0 w 43047"/>
              <a:gd name="T3" fmla="*/ 0 h 21600"/>
              <a:gd name="T4" fmla="*/ 0 w 43047"/>
              <a:gd name="T5" fmla="*/ 0 h 21600"/>
              <a:gd name="T6" fmla="*/ 0 60000 65536"/>
              <a:gd name="T7" fmla="*/ 0 60000 65536"/>
              <a:gd name="T8" fmla="*/ 0 60000 65536"/>
              <a:gd name="T9" fmla="*/ 0 w 43047"/>
              <a:gd name="T10" fmla="*/ 0 h 21600"/>
              <a:gd name="T11" fmla="*/ 43047 w 4304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047" h="21600" fill="none" extrusionOk="0">
                <a:moveTo>
                  <a:pt x="-1" y="19182"/>
                </a:moveTo>
                <a:cubicBezTo>
                  <a:pt x="1229" y="8257"/>
                  <a:pt x="10469" y="-1"/>
                  <a:pt x="21464" y="0"/>
                </a:cubicBezTo>
                <a:cubicBezTo>
                  <a:pt x="33059" y="0"/>
                  <a:pt x="42586" y="9155"/>
                  <a:pt x="43046" y="20742"/>
                </a:cubicBezTo>
              </a:path>
              <a:path w="43047" h="21600" stroke="0" extrusionOk="0">
                <a:moveTo>
                  <a:pt x="-1" y="19182"/>
                </a:moveTo>
                <a:cubicBezTo>
                  <a:pt x="1229" y="8257"/>
                  <a:pt x="10469" y="-1"/>
                  <a:pt x="21464" y="0"/>
                </a:cubicBezTo>
                <a:cubicBezTo>
                  <a:pt x="33059" y="0"/>
                  <a:pt x="42586" y="9155"/>
                  <a:pt x="43046" y="20742"/>
                </a:cubicBezTo>
                <a:lnTo>
                  <a:pt x="21464" y="21600"/>
                </a:lnTo>
                <a:lnTo>
                  <a:pt x="-1" y="19182"/>
                </a:lnTo>
                <a:close/>
              </a:path>
            </a:pathLst>
          </a:custGeom>
          <a:gradFill rotWithShape="1">
            <a:gsLst>
              <a:gs pos="0">
                <a:srgbClr val="D1E8B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10800000" wrap="none" lIns="0" tIns="45715" rIns="0" bIns="45715" anchor="ctr"/>
          <a:lstStyle/>
          <a:p>
            <a:endParaRPr lang="ko-KR" altLang="en-US"/>
          </a:p>
        </p:txBody>
      </p:sp>
      <p:sp>
        <p:nvSpPr>
          <p:cNvPr id="20" name="Arc 184"/>
          <p:cNvSpPr>
            <a:spLocks/>
          </p:cNvSpPr>
          <p:nvPr/>
        </p:nvSpPr>
        <p:spPr bwMode="auto">
          <a:xfrm flipV="1">
            <a:off x="1181100" y="3831325"/>
            <a:ext cx="4449763" cy="682625"/>
          </a:xfrm>
          <a:custGeom>
            <a:avLst/>
            <a:gdLst>
              <a:gd name="T0" fmla="*/ 0 w 43047"/>
              <a:gd name="T1" fmla="*/ 0 h 21600"/>
              <a:gd name="T2" fmla="*/ 0 w 43047"/>
              <a:gd name="T3" fmla="*/ 0 h 21600"/>
              <a:gd name="T4" fmla="*/ 0 w 43047"/>
              <a:gd name="T5" fmla="*/ 0 h 21600"/>
              <a:gd name="T6" fmla="*/ 0 60000 65536"/>
              <a:gd name="T7" fmla="*/ 0 60000 65536"/>
              <a:gd name="T8" fmla="*/ 0 60000 65536"/>
              <a:gd name="T9" fmla="*/ 0 w 43047"/>
              <a:gd name="T10" fmla="*/ 0 h 21600"/>
              <a:gd name="T11" fmla="*/ 43047 w 4304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047" h="21600" fill="none" extrusionOk="0">
                <a:moveTo>
                  <a:pt x="-1" y="19182"/>
                </a:moveTo>
                <a:cubicBezTo>
                  <a:pt x="1229" y="8257"/>
                  <a:pt x="10469" y="-1"/>
                  <a:pt x="21464" y="0"/>
                </a:cubicBezTo>
                <a:cubicBezTo>
                  <a:pt x="33059" y="0"/>
                  <a:pt x="42586" y="9155"/>
                  <a:pt x="43046" y="20742"/>
                </a:cubicBezTo>
              </a:path>
              <a:path w="43047" h="21600" stroke="0" extrusionOk="0">
                <a:moveTo>
                  <a:pt x="-1" y="19182"/>
                </a:moveTo>
                <a:cubicBezTo>
                  <a:pt x="1229" y="8257"/>
                  <a:pt x="10469" y="-1"/>
                  <a:pt x="21464" y="0"/>
                </a:cubicBezTo>
                <a:cubicBezTo>
                  <a:pt x="33059" y="0"/>
                  <a:pt x="42586" y="9155"/>
                  <a:pt x="43046" y="20742"/>
                </a:cubicBezTo>
                <a:lnTo>
                  <a:pt x="21464" y="21600"/>
                </a:lnTo>
                <a:lnTo>
                  <a:pt x="-1" y="19182"/>
                </a:lnTo>
                <a:close/>
              </a:path>
            </a:pathLst>
          </a:custGeom>
          <a:gradFill rotWithShape="1">
            <a:gsLst>
              <a:gs pos="0">
                <a:srgbClr val="74BDE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10800000" wrap="none" anchor="ctr"/>
          <a:lstStyle/>
          <a:p>
            <a:endParaRPr lang="ko-KR" altLang="en-US"/>
          </a:p>
        </p:txBody>
      </p:sp>
      <p:sp>
        <p:nvSpPr>
          <p:cNvPr id="21" name="Arc 185"/>
          <p:cNvSpPr>
            <a:spLocks/>
          </p:cNvSpPr>
          <p:nvPr/>
        </p:nvSpPr>
        <p:spPr bwMode="auto">
          <a:xfrm flipV="1">
            <a:off x="1571625" y="3831325"/>
            <a:ext cx="3670300" cy="682625"/>
          </a:xfrm>
          <a:custGeom>
            <a:avLst/>
            <a:gdLst>
              <a:gd name="T0" fmla="*/ 0 w 43047"/>
              <a:gd name="T1" fmla="*/ 0 h 21600"/>
              <a:gd name="T2" fmla="*/ 0 w 43047"/>
              <a:gd name="T3" fmla="*/ 0 h 21600"/>
              <a:gd name="T4" fmla="*/ 0 w 43047"/>
              <a:gd name="T5" fmla="*/ 0 h 21600"/>
              <a:gd name="T6" fmla="*/ 0 60000 65536"/>
              <a:gd name="T7" fmla="*/ 0 60000 65536"/>
              <a:gd name="T8" fmla="*/ 0 60000 65536"/>
              <a:gd name="T9" fmla="*/ 0 w 43047"/>
              <a:gd name="T10" fmla="*/ 0 h 21600"/>
              <a:gd name="T11" fmla="*/ 43047 w 4304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047" h="21600" fill="none" extrusionOk="0">
                <a:moveTo>
                  <a:pt x="-1" y="19182"/>
                </a:moveTo>
                <a:cubicBezTo>
                  <a:pt x="1229" y="8257"/>
                  <a:pt x="10469" y="-1"/>
                  <a:pt x="21464" y="0"/>
                </a:cubicBezTo>
                <a:cubicBezTo>
                  <a:pt x="33059" y="0"/>
                  <a:pt x="42586" y="9155"/>
                  <a:pt x="43046" y="20742"/>
                </a:cubicBezTo>
              </a:path>
              <a:path w="43047" h="21600" stroke="0" extrusionOk="0">
                <a:moveTo>
                  <a:pt x="-1" y="19182"/>
                </a:moveTo>
                <a:cubicBezTo>
                  <a:pt x="1229" y="8257"/>
                  <a:pt x="10469" y="-1"/>
                  <a:pt x="21464" y="0"/>
                </a:cubicBezTo>
                <a:cubicBezTo>
                  <a:pt x="33059" y="0"/>
                  <a:pt x="42586" y="9155"/>
                  <a:pt x="43046" y="20742"/>
                </a:cubicBezTo>
                <a:lnTo>
                  <a:pt x="21464" y="21600"/>
                </a:lnTo>
                <a:lnTo>
                  <a:pt x="-1" y="19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10800000" wrap="none" anchor="ctr"/>
          <a:lstStyle/>
          <a:p>
            <a:endParaRPr lang="ko-KR" altLang="en-US"/>
          </a:p>
        </p:txBody>
      </p:sp>
      <p:sp>
        <p:nvSpPr>
          <p:cNvPr id="22" name="Freeform 189"/>
          <p:cNvSpPr>
            <a:spLocks/>
          </p:cNvSpPr>
          <p:nvPr/>
        </p:nvSpPr>
        <p:spPr bwMode="auto">
          <a:xfrm>
            <a:off x="2286000" y="4523475"/>
            <a:ext cx="2224088" cy="398463"/>
          </a:xfrm>
          <a:custGeom>
            <a:avLst/>
            <a:gdLst>
              <a:gd name="T0" fmla="*/ 2147483647 w 1445"/>
              <a:gd name="T1" fmla="*/ 2147483647 h 408"/>
              <a:gd name="T2" fmla="*/ 2147483647 w 1445"/>
              <a:gd name="T3" fmla="*/ 2147483647 h 408"/>
              <a:gd name="T4" fmla="*/ 0 w 1445"/>
              <a:gd name="T5" fmla="*/ 2147483647 h 408"/>
              <a:gd name="T6" fmla="*/ 2147483647 w 1445"/>
              <a:gd name="T7" fmla="*/ 0 h 408"/>
              <a:gd name="T8" fmla="*/ 2147483647 w 1445"/>
              <a:gd name="T9" fmla="*/ 2147483647 h 408"/>
              <a:gd name="T10" fmla="*/ 2147483647 w 1445"/>
              <a:gd name="T11" fmla="*/ 2147483647 h 408"/>
              <a:gd name="T12" fmla="*/ 2147483647 w 1445"/>
              <a:gd name="T13" fmla="*/ 2147483647 h 408"/>
              <a:gd name="T14" fmla="*/ 2147483647 w 1445"/>
              <a:gd name="T15" fmla="*/ 2147483647 h 4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45"/>
              <a:gd name="T25" fmla="*/ 0 h 408"/>
              <a:gd name="T26" fmla="*/ 1445 w 1445"/>
              <a:gd name="T27" fmla="*/ 408 h 4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45" h="408">
                <a:moveTo>
                  <a:pt x="211" y="408"/>
                </a:moveTo>
                <a:lnTo>
                  <a:pt x="388" y="184"/>
                </a:lnTo>
                <a:lnTo>
                  <a:pt x="0" y="264"/>
                </a:lnTo>
                <a:lnTo>
                  <a:pt x="725" y="0"/>
                </a:lnTo>
                <a:lnTo>
                  <a:pt x="1445" y="264"/>
                </a:lnTo>
                <a:lnTo>
                  <a:pt x="1061" y="182"/>
                </a:lnTo>
                <a:lnTo>
                  <a:pt x="1245" y="408"/>
                </a:lnTo>
                <a:lnTo>
                  <a:pt x="211" y="408"/>
                </a:lnTo>
                <a:close/>
              </a:path>
            </a:pathLst>
          </a:custGeom>
          <a:gradFill rotWithShape="1">
            <a:gsLst>
              <a:gs pos="0">
                <a:srgbClr val="8FD2FB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9" name="Group 53"/>
          <p:cNvGrpSpPr>
            <a:grpSpLocks/>
          </p:cNvGrpSpPr>
          <p:nvPr/>
        </p:nvGrpSpPr>
        <p:grpSpPr bwMode="auto">
          <a:xfrm>
            <a:off x="385763" y="3365190"/>
            <a:ext cx="6116637" cy="357188"/>
            <a:chOff x="236" y="2167"/>
            <a:chExt cx="3853" cy="225"/>
          </a:xfrm>
        </p:grpSpPr>
        <p:grpSp>
          <p:nvGrpSpPr>
            <p:cNvPr id="30" name="Group 54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32" name="Picture 55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3" name="Picture 56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1" name="Text Box 57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제안 장점</a:t>
              </a:r>
              <a:endParaRPr lang="en-US" altLang="ko-KR" sz="1200">
                <a:solidFill>
                  <a:srgbClr val="333333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sp>
        <p:nvSpPr>
          <p:cNvPr id="34" name="AutoShape 112"/>
          <p:cNvSpPr>
            <a:spLocks noChangeArrowheads="1"/>
          </p:cNvSpPr>
          <p:nvPr/>
        </p:nvSpPr>
        <p:spPr bwMode="auto">
          <a:xfrm>
            <a:off x="549275" y="8400150"/>
            <a:ext cx="5772150" cy="7889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lang="ko-KR" altLang="en-US">
              <a:latin typeface="HY신명조" pitchFamily="18" charset="-127"/>
              <a:ea typeface="HY신명조" pitchFamily="18" charset="-127"/>
            </a:endParaRPr>
          </a:p>
        </p:txBody>
      </p:sp>
      <p:sp>
        <p:nvSpPr>
          <p:cNvPr id="35" name="AutoShape 113"/>
          <p:cNvSpPr>
            <a:spLocks noChangeArrowheads="1"/>
          </p:cNvSpPr>
          <p:nvPr/>
        </p:nvSpPr>
        <p:spPr bwMode="auto">
          <a:xfrm>
            <a:off x="584200" y="8425550"/>
            <a:ext cx="5691188" cy="742950"/>
          </a:xfrm>
          <a:prstGeom prst="roundRect">
            <a:avLst>
              <a:gd name="adj" fmla="val 11917"/>
            </a:avLst>
          </a:prstGeom>
          <a:solidFill>
            <a:schemeClr val="accent1">
              <a:lumMod val="90000"/>
            </a:schemeClr>
          </a:solidFill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latinLnBrk="1" hangingPunct="1">
              <a:defRPr/>
            </a:pPr>
            <a:endParaRPr lang="ko-KR" altLang="en-US">
              <a:latin typeface="HY신명조" pitchFamily="18" charset="-127"/>
              <a:ea typeface="HY신명조" pitchFamily="18" charset="-127"/>
            </a:endParaRPr>
          </a:p>
        </p:txBody>
      </p:sp>
      <p:sp>
        <p:nvSpPr>
          <p:cNvPr id="36" name="AutoShape 114"/>
          <p:cNvSpPr>
            <a:spLocks noChangeArrowheads="1"/>
          </p:cNvSpPr>
          <p:nvPr/>
        </p:nvSpPr>
        <p:spPr bwMode="auto">
          <a:xfrm>
            <a:off x="1768475" y="8465238"/>
            <a:ext cx="4437063" cy="668337"/>
          </a:xfrm>
          <a:prstGeom prst="roundRect">
            <a:avLst>
              <a:gd name="adj" fmla="val 12602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 eaLnBrk="1" latinLnBrk="1" hangingPunct="1">
              <a:defRPr/>
            </a:pPr>
            <a:endParaRPr lang="ko-KR" altLang="en-US">
              <a:latin typeface="HY신명조" pitchFamily="18" charset="-127"/>
              <a:ea typeface="HY신명조" pitchFamily="18" charset="-127"/>
            </a:endParaRPr>
          </a:p>
        </p:txBody>
      </p:sp>
      <p:sp>
        <p:nvSpPr>
          <p:cNvPr id="37" name="Text Box 117"/>
          <p:cNvSpPr txBox="1">
            <a:spLocks noChangeArrowheads="1"/>
          </p:cNvSpPr>
          <p:nvPr/>
        </p:nvSpPr>
        <p:spPr bwMode="auto">
          <a:xfrm>
            <a:off x="593725" y="8443013"/>
            <a:ext cx="1154113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50000"/>
              </a:lnSpc>
            </a:pPr>
            <a:r>
              <a:rPr kumimoji="0" lang="ko-KR" altLang="en-US" sz="1400" b="1">
                <a:latin typeface="HY신명조" pitchFamily="18" charset="-127"/>
                <a:ea typeface="HY신명조" pitchFamily="18" charset="-127"/>
              </a:rPr>
              <a:t>현행시스템 개선</a:t>
            </a:r>
          </a:p>
        </p:txBody>
      </p:sp>
      <p:sp>
        <p:nvSpPr>
          <p:cNvPr id="38" name="Text Box 130"/>
          <p:cNvSpPr txBox="1">
            <a:spLocks noChangeArrowheads="1"/>
          </p:cNvSpPr>
          <p:nvPr/>
        </p:nvSpPr>
        <p:spPr bwMode="auto">
          <a:xfrm>
            <a:off x="1698625" y="8489050"/>
            <a:ext cx="4348163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5597" tIns="42798" rIns="85597" bIns="42798">
            <a:spAutoFit/>
          </a:bodyPr>
          <a:lstStyle/>
          <a:p>
            <a:pPr algn="ctr" defTabSz="855663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ko-KR" sz="1400">
                <a:effectLst>
                  <a:outerShdw blurRad="38100" dist="38100" dir="2700000" algn="tl">
                    <a:srgbClr val="C0C0C0"/>
                  </a:outerShdw>
                </a:effectLst>
                <a:latin typeface="HY신명조" pitchFamily="18" charset="-127"/>
                <a:ea typeface="HY신명조" pitchFamily="18" charset="-127"/>
              </a:rPr>
              <a:t>    </a:t>
            </a:r>
            <a:r>
              <a:rPr lang="ko-KR" altLang="en-US" sz="1400">
                <a:effectLst>
                  <a:outerShdw blurRad="38100" dist="38100" dir="2700000" algn="tl">
                    <a:srgbClr val="C0C0C0"/>
                  </a:outerShdw>
                </a:effectLst>
                <a:latin typeface="HY신명조" pitchFamily="18" charset="-127"/>
                <a:ea typeface="HY신명조" pitchFamily="18" charset="-127"/>
              </a:rPr>
              <a:t>풍부한 경험을 바탕으로  태극</a:t>
            </a:r>
            <a:r>
              <a:rPr lang="en-US" altLang="ko-KR" sz="1400">
                <a:effectLst>
                  <a:outerShdw blurRad="38100" dist="38100" dir="2700000" algn="tl">
                    <a:srgbClr val="C0C0C0"/>
                  </a:outerShdw>
                </a:effectLst>
                <a:latin typeface="HY신명조" pitchFamily="18" charset="-127"/>
                <a:ea typeface="HY신명조" pitchFamily="18" charset="-127"/>
              </a:rPr>
              <a:t>JOS</a:t>
            </a:r>
            <a:r>
              <a:rPr lang="ko-KR" altLang="en-US" sz="1400">
                <a:effectLst>
                  <a:outerShdw blurRad="38100" dist="38100" dir="2700000" algn="tl">
                    <a:srgbClr val="C0C0C0"/>
                  </a:outerShdw>
                </a:effectLst>
                <a:latin typeface="HY신명조" pitchFamily="18" charset="-127"/>
                <a:ea typeface="HY신명조" pitchFamily="18" charset="-127"/>
              </a:rPr>
              <a:t>모델의 신뢰도 제고와 과학적인 합동 연습체계 구축 </a:t>
            </a:r>
          </a:p>
        </p:txBody>
      </p:sp>
      <p:grpSp>
        <p:nvGrpSpPr>
          <p:cNvPr id="39" name="그룹 56"/>
          <p:cNvGrpSpPr>
            <a:grpSpLocks/>
          </p:cNvGrpSpPr>
          <p:nvPr/>
        </p:nvGrpSpPr>
        <p:grpSpPr bwMode="auto">
          <a:xfrm>
            <a:off x="1246188" y="3948800"/>
            <a:ext cx="4371975" cy="542925"/>
            <a:chOff x="752476" y="8875178"/>
            <a:chExt cx="6270624" cy="290177"/>
          </a:xfrm>
        </p:grpSpPr>
        <p:sp>
          <p:nvSpPr>
            <p:cNvPr id="40" name="AutoShape 66"/>
            <p:cNvSpPr>
              <a:spLocks noChangeArrowheads="1"/>
            </p:cNvSpPr>
            <p:nvPr/>
          </p:nvSpPr>
          <p:spPr bwMode="gray">
            <a:xfrm>
              <a:off x="752476" y="8875178"/>
              <a:ext cx="6270624" cy="290177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50195"/>
              </a:srgbClr>
            </a:solidFill>
            <a:ln w="6350" algn="ctr">
              <a:solidFill>
                <a:srgbClr val="DDDDDD"/>
              </a:solidFill>
              <a:round/>
              <a:headEnd/>
              <a:tailEnd/>
            </a:ln>
            <a:effectLst>
              <a:outerShdw dist="17961" dir="2700000" algn="ctr" rotWithShape="0">
                <a:srgbClr val="E6E6E6"/>
              </a:outerShdw>
            </a:effectLst>
          </p:spPr>
          <p:txBody>
            <a:bodyPr lIns="540000" tIns="36000" rIns="72000" bIns="36000" anchor="ctr"/>
            <a:lstStyle/>
            <a:p>
              <a:pPr>
                <a:spcBef>
                  <a:spcPct val="10000"/>
                </a:spcBef>
                <a:spcAft>
                  <a:spcPct val="10000"/>
                </a:spcAft>
              </a:pPr>
              <a:endParaRPr lang="ko-KR" altLang="en-US" sz="1000">
                <a:latin typeface="Rix모던고딕 L"/>
                <a:ea typeface="Rix모던고딕 L"/>
                <a:cs typeface="Rix모던고딕 L"/>
              </a:endParaRPr>
            </a:p>
          </p:txBody>
        </p:sp>
        <p:sp>
          <p:nvSpPr>
            <p:cNvPr id="41" name="Rectangle 77"/>
            <p:cNvSpPr>
              <a:spLocks noChangeArrowheads="1"/>
            </p:cNvSpPr>
            <p:nvPr/>
          </p:nvSpPr>
          <p:spPr bwMode="gray">
            <a:xfrm flipH="1">
              <a:off x="775519" y="8881768"/>
              <a:ext cx="368680" cy="276999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algn="ctr">
                  <a:solidFill>
                    <a:srgbClr val="BBCDEA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7D7D7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42" name="Rectangle 85"/>
            <p:cNvSpPr>
              <a:spLocks noChangeArrowheads="1"/>
            </p:cNvSpPr>
            <p:nvPr/>
          </p:nvSpPr>
          <p:spPr bwMode="gray">
            <a:xfrm>
              <a:off x="6634451" y="8881767"/>
              <a:ext cx="368680" cy="276999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algn="ctr">
                  <a:solidFill>
                    <a:srgbClr val="BBCDEA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7D7D7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43" name="AutoShape 90"/>
          <p:cNvSpPr>
            <a:spLocks noChangeArrowheads="1"/>
          </p:cNvSpPr>
          <p:nvPr/>
        </p:nvSpPr>
        <p:spPr bwMode="auto">
          <a:xfrm>
            <a:off x="508000" y="4901300"/>
            <a:ext cx="2316163" cy="1512888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12700" algn="ctr">
            <a:solidFill>
              <a:srgbClr val="C0C0C0"/>
            </a:solidFill>
            <a:round/>
            <a:headEnd/>
            <a:tailEnd/>
          </a:ln>
          <a:effectLst>
            <a:outerShdw dist="35921" dir="2700000" algn="ctr" rotWithShape="0">
              <a:srgbClr val="DDDDDD"/>
            </a:outerShdw>
          </a:effectLst>
        </p:spPr>
        <p:txBody>
          <a:bodyPr lIns="90000" tIns="46800" rIns="10800" bIns="46800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ko-KR" sz="1100" kern="0">
              <a:solidFill>
                <a:srgbClr val="000000"/>
              </a:solidFill>
              <a:latin typeface="KoPub돋움체 Medium" panose="02020603020101020101" pitchFamily="18" charset="-127"/>
            </a:endParaRPr>
          </a:p>
        </p:txBody>
      </p:sp>
      <p:sp>
        <p:nvSpPr>
          <p:cNvPr id="44" name="AutoShape 90"/>
          <p:cNvSpPr>
            <a:spLocks noChangeArrowheads="1"/>
          </p:cNvSpPr>
          <p:nvPr/>
        </p:nvSpPr>
        <p:spPr bwMode="auto">
          <a:xfrm>
            <a:off x="3868738" y="4901300"/>
            <a:ext cx="2316162" cy="1512888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12700" algn="ctr">
            <a:solidFill>
              <a:srgbClr val="C0C0C0"/>
            </a:solidFill>
            <a:round/>
            <a:headEnd/>
            <a:tailEnd/>
          </a:ln>
          <a:effectLst>
            <a:outerShdw dist="35921" dir="2700000" algn="ctr" rotWithShape="0">
              <a:srgbClr val="DDDDDD"/>
            </a:outerShdw>
          </a:effectLst>
        </p:spPr>
        <p:txBody>
          <a:bodyPr lIns="90000" tIns="46800" rIns="10800" bIns="46800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ko-KR" sz="1100" kern="0">
              <a:solidFill>
                <a:srgbClr val="000000"/>
              </a:solidFill>
              <a:latin typeface="KoPub돋움체 Medium" panose="02020603020101020101" pitchFamily="18" charset="-127"/>
            </a:endParaRPr>
          </a:p>
        </p:txBody>
      </p:sp>
      <p:sp>
        <p:nvSpPr>
          <p:cNvPr id="45" name="AutoShape 102"/>
          <p:cNvSpPr>
            <a:spLocks noChangeArrowheads="1"/>
          </p:cNvSpPr>
          <p:nvPr/>
        </p:nvSpPr>
        <p:spPr bwMode="auto">
          <a:xfrm>
            <a:off x="4017963" y="5083863"/>
            <a:ext cx="2095500" cy="1209675"/>
          </a:xfrm>
          <a:prstGeom prst="roundRect">
            <a:avLst>
              <a:gd name="adj" fmla="val 4981"/>
            </a:avLst>
          </a:prstGeom>
          <a:solidFill>
            <a:schemeClr val="bg1"/>
          </a:solidFill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4288" tIns="20638" rIns="14288" bIns="20638" anchor="ctr"/>
          <a:lstStyle/>
          <a:p>
            <a:pPr algn="ctr" eaLnBrk="1" latinLnBrk="1" hangingPunct="1"/>
            <a:endParaRPr lang="ko-KR" altLang="en-US"/>
          </a:p>
        </p:txBody>
      </p:sp>
      <p:sp>
        <p:nvSpPr>
          <p:cNvPr id="46" name="Rectangle 37"/>
          <p:cNvSpPr>
            <a:spLocks noChangeArrowheads="1"/>
          </p:cNvSpPr>
          <p:nvPr/>
        </p:nvSpPr>
        <p:spPr bwMode="auto">
          <a:xfrm>
            <a:off x="4068763" y="5148950"/>
            <a:ext cx="2006600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marL="88900" indent="-88900" eaLnBrk="1" hangingPunct="1"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ko-KR" altLang="en-US" sz="1050">
                <a:latin typeface="HY신명조" panose="02030600000101010101" pitchFamily="18" charset="-127"/>
                <a:ea typeface="HY신명조" panose="02030600000101010101" pitchFamily="18" charset="-127"/>
              </a:rPr>
              <a:t>운용 중 문제점을 경험하여 안정성 유지 보장</a:t>
            </a:r>
          </a:p>
          <a:p>
            <a:pPr marL="88900" indent="-88900" eaLnBrk="1" hangingPunct="1"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ko-KR" altLang="en-US" sz="1050">
                <a:latin typeface="HY신명조" panose="02030600000101010101" pitchFamily="18" charset="-127"/>
                <a:ea typeface="HY신명조" panose="02030600000101010101" pitchFamily="18" charset="-127"/>
              </a:rPr>
              <a:t>숙달된 장애상황 조치 능력</a:t>
            </a:r>
          </a:p>
          <a:p>
            <a:pPr marL="180975" indent="-180975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ko-KR" sz="1050">
                <a:latin typeface="HY신명조" panose="02030600000101010101" pitchFamily="18" charset="-127"/>
                <a:ea typeface="HY신명조" panose="02030600000101010101" pitchFamily="18" charset="-127"/>
              </a:rPr>
              <a:t>  -08</a:t>
            </a:r>
            <a:r>
              <a:rPr lang="ko-KR" altLang="en-US" sz="1050">
                <a:latin typeface="HY신명조" panose="02030600000101010101" pitchFamily="18" charset="-127"/>
                <a:ea typeface="HY신명조" panose="02030600000101010101" pitchFamily="18" charset="-127"/>
              </a:rPr>
              <a:t>년부터 태극연습간 모델의 </a:t>
            </a:r>
            <a:r>
              <a:rPr lang="ko-KR" altLang="en-US" sz="1050" err="1">
                <a:latin typeface="HY신명조" panose="02030600000101010101" pitchFamily="18" charset="-127"/>
                <a:ea typeface="HY신명조" panose="02030600000101010101" pitchFamily="18" charset="-127"/>
              </a:rPr>
              <a:t>무중단</a:t>
            </a:r>
            <a:r>
              <a:rPr lang="ko-KR" altLang="en-US" sz="1050">
                <a:latin typeface="HY신명조" panose="02030600000101010101" pitchFamily="18" charset="-127"/>
                <a:ea typeface="HY신명조" panose="02030600000101010101" pitchFamily="18" charset="-127"/>
              </a:rPr>
              <a:t> 운영</a:t>
            </a:r>
          </a:p>
        </p:txBody>
      </p:sp>
      <p:sp>
        <p:nvSpPr>
          <p:cNvPr id="47" name="AutoShape 99"/>
          <p:cNvSpPr>
            <a:spLocks noChangeArrowheads="1"/>
          </p:cNvSpPr>
          <p:nvPr/>
        </p:nvSpPr>
        <p:spPr bwMode="auto">
          <a:xfrm>
            <a:off x="681038" y="5083863"/>
            <a:ext cx="2105025" cy="1209675"/>
          </a:xfrm>
          <a:prstGeom prst="roundRect">
            <a:avLst>
              <a:gd name="adj" fmla="val 4981"/>
            </a:avLst>
          </a:prstGeom>
          <a:solidFill>
            <a:schemeClr val="bg1"/>
          </a:solidFill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4288" tIns="20638" rIns="14288" bIns="20638" anchor="ctr"/>
          <a:lstStyle/>
          <a:p>
            <a:pPr algn="ctr" eaLnBrk="1" latinLnBrk="1" hangingPunct="1"/>
            <a:endParaRPr lang="ko-KR" altLang="en-US"/>
          </a:p>
        </p:txBody>
      </p:sp>
      <p:sp>
        <p:nvSpPr>
          <p:cNvPr id="48" name="Rectangle 37"/>
          <p:cNvSpPr>
            <a:spLocks noChangeArrowheads="1"/>
          </p:cNvSpPr>
          <p:nvPr/>
        </p:nvSpPr>
        <p:spPr bwMode="auto">
          <a:xfrm>
            <a:off x="738188" y="5094975"/>
            <a:ext cx="2016125" cy="123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marL="88900" indent="-88900" eaLnBrk="1" hangingPunct="1"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ko-KR" altLang="en-US" sz="1050" spc="-90">
                <a:latin typeface="HY신명조" panose="02030600000101010101" pitchFamily="18" charset="-127"/>
                <a:ea typeface="HY신명조" panose="02030600000101010101" pitchFamily="18" charset="-127"/>
              </a:rPr>
              <a:t>실제 구현 및 운용 경험에 기반한 </a:t>
            </a:r>
            <a:r>
              <a:rPr lang="ko-KR" altLang="en-US" sz="1050">
                <a:latin typeface="HY신명조" panose="02030600000101010101" pitchFamily="18" charset="-127"/>
                <a:ea typeface="HY신명조" panose="02030600000101010101" pitchFamily="18" charset="-127"/>
              </a:rPr>
              <a:t>업무 제시</a:t>
            </a:r>
          </a:p>
          <a:p>
            <a:pPr marL="180975" indent="-180975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ko-KR" sz="1050">
                <a:latin typeface="HY신명조" panose="02030600000101010101" pitchFamily="18" charset="-127"/>
                <a:ea typeface="HY신명조" panose="02030600000101010101" pitchFamily="18" charset="-127"/>
              </a:rPr>
              <a:t>  - </a:t>
            </a:r>
            <a:r>
              <a:rPr lang="ko-KR" altLang="en-US" sz="1050">
                <a:latin typeface="HY신명조" panose="02030600000101010101" pitchFamily="18" charset="-127"/>
                <a:ea typeface="HY신명조" panose="02030600000101010101" pitchFamily="18" charset="-127"/>
              </a:rPr>
              <a:t>성능개량모델</a:t>
            </a:r>
            <a:r>
              <a:rPr lang="en-US" altLang="ko-KR" sz="1050">
                <a:latin typeface="HY신명조" panose="02030600000101010101" pitchFamily="18" charset="-127"/>
                <a:ea typeface="HY신명조" panose="02030600000101010101" pitchFamily="18" charset="-127"/>
              </a:rPr>
              <a:t>(AJOS)</a:t>
            </a:r>
            <a:r>
              <a:rPr lang="ko-KR" altLang="en-US" sz="1050">
                <a:latin typeface="HY신명조" panose="02030600000101010101" pitchFamily="18" charset="-127"/>
                <a:ea typeface="HY신명조" panose="02030600000101010101" pitchFamily="18" charset="-127"/>
              </a:rPr>
              <a:t>개발 및   </a:t>
            </a:r>
            <a:br>
              <a:rPr lang="en-US" altLang="ko-KR" sz="105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05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50">
                <a:latin typeface="HY신명조" panose="02030600000101010101" pitchFamily="18" charset="-127"/>
                <a:ea typeface="HY신명조" panose="02030600000101010101" pitchFamily="18" charset="-127"/>
              </a:rPr>
              <a:t>유지보수 업무적용 </a:t>
            </a:r>
          </a:p>
          <a:p>
            <a:pPr marL="180975" indent="-180975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ko-KR" sz="1050">
                <a:latin typeface="HY신명조" panose="02030600000101010101" pitchFamily="18" charset="-127"/>
                <a:ea typeface="HY신명조" panose="02030600000101010101" pitchFamily="18" charset="-127"/>
              </a:rPr>
              <a:t>  - </a:t>
            </a:r>
            <a:r>
              <a:rPr lang="ko-KR" altLang="en-US" sz="1050"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1050"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050">
                <a:latin typeface="HY신명조" panose="02030600000101010101" pitchFamily="18" charset="-127"/>
                <a:ea typeface="HY신명조" panose="02030600000101010101" pitchFamily="18" charset="-127"/>
              </a:rPr>
              <a:t>모델 유지보수 </a:t>
            </a:r>
            <a:br>
              <a:rPr lang="en-US" altLang="ko-KR" sz="105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05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50">
                <a:latin typeface="HY신명조" panose="02030600000101010101" pitchFamily="18" charset="-127"/>
                <a:ea typeface="HY신명조" panose="02030600000101010101" pitchFamily="18" charset="-127"/>
              </a:rPr>
              <a:t>경험자 활용 </a:t>
            </a:r>
          </a:p>
        </p:txBody>
      </p:sp>
      <p:grpSp>
        <p:nvGrpSpPr>
          <p:cNvPr id="49" name="그룹 3"/>
          <p:cNvGrpSpPr>
            <a:grpSpLocks/>
          </p:cNvGrpSpPr>
          <p:nvPr/>
        </p:nvGrpSpPr>
        <p:grpSpPr bwMode="auto">
          <a:xfrm>
            <a:off x="508000" y="6784075"/>
            <a:ext cx="2316163" cy="1512888"/>
            <a:chOff x="508000" y="6721475"/>
            <a:chExt cx="2316163" cy="1512888"/>
          </a:xfrm>
        </p:grpSpPr>
        <p:sp>
          <p:nvSpPr>
            <p:cNvPr id="50" name="AutoShape 90"/>
            <p:cNvSpPr>
              <a:spLocks noChangeArrowheads="1"/>
            </p:cNvSpPr>
            <p:nvPr/>
          </p:nvSpPr>
          <p:spPr bwMode="auto">
            <a:xfrm>
              <a:off x="508000" y="6721475"/>
              <a:ext cx="2316163" cy="1512888"/>
            </a:xfrm>
            <a:prstGeom prst="roundRect">
              <a:avLst>
                <a:gd name="adj" fmla="val 3287"/>
              </a:avLst>
            </a:prstGeom>
            <a:solidFill>
              <a:srgbClr val="FFFFFF"/>
            </a:solidFill>
            <a:ln w="12700" algn="ctr">
              <a:solidFill>
                <a:srgbClr val="C0C0C0"/>
              </a:solidFill>
              <a:round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lIns="90000" tIns="46800" rIns="10800" bIns="46800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ko-KR" sz="1050" ker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51" name="AutoShape 105"/>
            <p:cNvSpPr>
              <a:spLocks noChangeArrowheads="1"/>
            </p:cNvSpPr>
            <p:nvPr/>
          </p:nvSpPr>
          <p:spPr bwMode="auto">
            <a:xfrm>
              <a:off x="619125" y="6827838"/>
              <a:ext cx="2095500" cy="1316037"/>
            </a:xfrm>
            <a:prstGeom prst="roundRect">
              <a:avLst>
                <a:gd name="adj" fmla="val 4981"/>
              </a:avLst>
            </a:prstGeom>
            <a:solidFill>
              <a:schemeClr val="bg1"/>
            </a:solidFill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4288" tIns="20638" rIns="14288" bIns="20638" anchor="ctr"/>
            <a:lstStyle/>
            <a:p>
              <a:pPr algn="ctr" eaLnBrk="1" latinLnBrk="1" hangingPunct="1"/>
              <a:endParaRPr lang="ko-KR" altLang="en-US" sz="160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52" name="Rectangle 37"/>
            <p:cNvSpPr>
              <a:spLocks noChangeArrowheads="1"/>
            </p:cNvSpPr>
            <p:nvPr/>
          </p:nvSpPr>
          <p:spPr bwMode="auto">
            <a:xfrm>
              <a:off x="655638" y="6848097"/>
              <a:ext cx="2071687" cy="1255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/>
            <a:p>
              <a:pPr marL="88900" indent="-88900" eaLnBrk="1" hangingPunct="1">
                <a:lnSpc>
                  <a:spcPct val="120000"/>
                </a:lnSpc>
                <a:buFont typeface="Wingdings" pitchFamily="2" charset="2"/>
                <a:buChar char="§"/>
              </a:pP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태극</a:t>
              </a:r>
              <a:r>
                <a:rPr lang="en-US" altLang="ko-KR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JOS</a:t>
              </a: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모델 유지보수 수행 경험자 </a:t>
              </a:r>
              <a:r>
                <a:rPr lang="ko-KR" altLang="en-US" sz="105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재투입으로</a:t>
              </a: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 업무의 질 향상</a:t>
              </a:r>
            </a:p>
            <a:p>
              <a:pPr marL="88900" indent="-88900" eaLnBrk="1" hangingPunct="1">
                <a:lnSpc>
                  <a:spcPct val="120000"/>
                </a:lnSpc>
                <a:buFont typeface="Wingdings" pitchFamily="2" charset="2"/>
                <a:buChar char="§"/>
              </a:pP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사용자 </a:t>
              </a:r>
              <a:r>
                <a:rPr lang="ko-KR" altLang="en-US" sz="105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요구분석과</a:t>
              </a: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 개선안 제시</a:t>
              </a:r>
              <a:r>
                <a:rPr lang="ko-KR" altLang="en-US" sz="105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sym typeface="Wingdings" pitchFamily="2" charset="2"/>
                </a:rPr>
                <a:t> </a:t>
              </a:r>
            </a:p>
            <a:p>
              <a:pPr marL="88900" indent="-88900" eaLnBrk="1" hangingPunct="1">
                <a:lnSpc>
                  <a:spcPct val="120000"/>
                </a:lnSpc>
                <a:buFont typeface="Wingdings" pitchFamily="2" charset="2"/>
                <a:buChar char="§"/>
              </a:pPr>
              <a:r>
                <a:rPr lang="ko-KR" altLang="en-US" sz="105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sym typeface="Wingdings" pitchFamily="2" charset="2"/>
                </a:rPr>
                <a:t>프로그램의 최적화</a:t>
              </a:r>
              <a:r>
                <a:rPr lang="en-US" altLang="ko-KR" sz="105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sym typeface="Wingdings" pitchFamily="2" charset="2"/>
                </a:rPr>
                <a:t>/</a:t>
              </a:r>
              <a:r>
                <a:rPr lang="ko-KR" altLang="en-US" sz="105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sym typeface="Wingdings" pitchFamily="2" charset="2"/>
                </a:rPr>
                <a:t>안정화 유지</a:t>
              </a: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</a:p>
            <a:p>
              <a:pPr marL="88900" indent="-88900" eaLnBrk="1" hangingPunct="1">
                <a:lnSpc>
                  <a:spcPct val="120000"/>
                </a:lnSpc>
                <a:buFont typeface="Wingdings" pitchFamily="2" charset="2"/>
                <a:buChar char="§"/>
              </a:pP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원활한 의사소통</a:t>
              </a:r>
              <a:r>
                <a:rPr lang="en-US" altLang="ko-KR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/</a:t>
              </a:r>
              <a:r>
                <a:rPr lang="ko-KR" altLang="en-US" sz="105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요원관리</a:t>
              </a: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 용이</a:t>
              </a:r>
            </a:p>
          </p:txBody>
        </p:sp>
      </p:grpSp>
      <p:grpSp>
        <p:nvGrpSpPr>
          <p:cNvPr id="53" name="그룹 4"/>
          <p:cNvGrpSpPr>
            <a:grpSpLocks/>
          </p:cNvGrpSpPr>
          <p:nvPr/>
        </p:nvGrpSpPr>
        <p:grpSpPr bwMode="auto">
          <a:xfrm>
            <a:off x="3889375" y="6784075"/>
            <a:ext cx="2316163" cy="1512888"/>
            <a:chOff x="3889375" y="6721475"/>
            <a:chExt cx="2316163" cy="1512888"/>
          </a:xfrm>
        </p:grpSpPr>
        <p:sp>
          <p:nvSpPr>
            <p:cNvPr id="54" name="AutoShape 90"/>
            <p:cNvSpPr>
              <a:spLocks noChangeArrowheads="1"/>
            </p:cNvSpPr>
            <p:nvPr/>
          </p:nvSpPr>
          <p:spPr bwMode="auto">
            <a:xfrm>
              <a:off x="3889375" y="6721475"/>
              <a:ext cx="2316163" cy="1512888"/>
            </a:xfrm>
            <a:prstGeom prst="roundRect">
              <a:avLst>
                <a:gd name="adj" fmla="val 3287"/>
              </a:avLst>
            </a:prstGeom>
            <a:solidFill>
              <a:srgbClr val="FFFFFF"/>
            </a:solidFill>
            <a:ln w="12700" algn="ctr">
              <a:solidFill>
                <a:srgbClr val="C0C0C0"/>
              </a:solidFill>
              <a:round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lIns="90000" tIns="46800" rIns="10800" bIns="46800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ko-KR" sz="1050" ker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55" name="AutoShape 106"/>
            <p:cNvSpPr>
              <a:spLocks noChangeArrowheads="1"/>
            </p:cNvSpPr>
            <p:nvPr/>
          </p:nvSpPr>
          <p:spPr bwMode="auto">
            <a:xfrm>
              <a:off x="4033838" y="6843713"/>
              <a:ext cx="2001837" cy="1220787"/>
            </a:xfrm>
            <a:prstGeom prst="roundRect">
              <a:avLst>
                <a:gd name="adj" fmla="val 4981"/>
              </a:avLst>
            </a:prstGeom>
            <a:solidFill>
              <a:schemeClr val="bg1"/>
            </a:solidFill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4288" tIns="20638" rIns="14288" bIns="20638" anchor="ctr"/>
            <a:lstStyle/>
            <a:p>
              <a:pPr algn="ctr" eaLnBrk="1" latinLnBrk="1" hangingPunct="1"/>
              <a:endParaRPr lang="ko-KR" altLang="en-US" sz="160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56" name="Rectangle 37"/>
            <p:cNvSpPr>
              <a:spLocks noChangeArrowheads="1"/>
            </p:cNvSpPr>
            <p:nvPr/>
          </p:nvSpPr>
          <p:spPr bwMode="auto">
            <a:xfrm>
              <a:off x="4187825" y="6848097"/>
              <a:ext cx="1963738" cy="1255728"/>
            </a:xfrm>
            <a:prstGeom prst="rect">
              <a:avLst/>
            </a:prstGeom>
            <a:noFill/>
            <a:ln>
              <a:noFill/>
            </a:ln>
          </p:spPr>
          <p:txBody>
            <a:bodyPr lIns="0" rIns="0">
              <a:spAutoFit/>
            </a:bodyPr>
            <a:lstStyle>
              <a:lvl1pPr marL="88900" indent="-889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Wingdings" panose="05000000000000000000" pitchFamily="2" charset="2"/>
                <a:buChar char="§"/>
                <a:defRPr/>
              </a:pP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국방 </a:t>
              </a:r>
              <a:r>
                <a:rPr lang="en-US" altLang="ko-KR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M&amp;S</a:t>
              </a: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분야 사전연구기술 지원</a:t>
              </a:r>
            </a:p>
            <a:p>
              <a:pPr eaLnBrk="1" hangingPunct="1">
                <a:lnSpc>
                  <a:spcPct val="120000"/>
                </a:lnSpc>
                <a:buFont typeface="Wingdings" panose="05000000000000000000" pitchFamily="2" charset="2"/>
                <a:buChar char="§"/>
                <a:defRPr/>
              </a:pPr>
              <a:r>
                <a:rPr lang="ko-KR" altLang="en-US" sz="1050" spc="-50">
                  <a:latin typeface="HY신명조" panose="02030600000101010101" pitchFamily="18" charset="-127"/>
                  <a:ea typeface="HY신명조" panose="02030600000101010101" pitchFamily="18" charset="-127"/>
                </a:rPr>
                <a:t>여러 기능의 </a:t>
              </a:r>
              <a:r>
                <a:rPr lang="en-US" altLang="ko-KR" sz="1050" spc="-50">
                  <a:latin typeface="HY신명조" panose="02030600000101010101" pitchFamily="18" charset="-127"/>
                  <a:ea typeface="HY신명조" panose="02030600000101010101" pitchFamily="18" charset="-127"/>
                </a:rPr>
                <a:t>TOOL</a:t>
              </a:r>
              <a:r>
                <a:rPr lang="ko-KR" altLang="en-US" sz="1050" spc="-50">
                  <a:latin typeface="HY신명조" panose="02030600000101010101" pitchFamily="18" charset="-127"/>
                  <a:ea typeface="HY신명조" panose="02030600000101010101" pitchFamily="18" charset="-127"/>
                </a:rPr>
                <a:t>을 개발하여</a:t>
              </a: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 편의성</a:t>
              </a:r>
              <a:r>
                <a:rPr lang="en-US" altLang="ko-KR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/</a:t>
              </a: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효율성 제고 </a:t>
              </a:r>
            </a:p>
            <a:p>
              <a:pPr eaLnBrk="1" hangingPunct="1">
                <a:lnSpc>
                  <a:spcPct val="120000"/>
                </a:lnSpc>
                <a:buFont typeface="Wingdings" panose="05000000000000000000" pitchFamily="2" charset="2"/>
                <a:buChar char="§"/>
                <a:defRPr/>
              </a:pP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향후 </a:t>
              </a:r>
              <a:r>
                <a:rPr lang="ko-KR" altLang="en-US" sz="105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훈련모델의</a:t>
              </a: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 발전에 기여 </a:t>
              </a:r>
            </a:p>
            <a:p>
              <a:pPr eaLnBrk="1" hangingPunct="1">
                <a:lnSpc>
                  <a:spcPct val="120000"/>
                </a:lnSpc>
                <a:buFont typeface="Wingdings" panose="05000000000000000000" pitchFamily="2" charset="2"/>
                <a:buChar char="§"/>
                <a:defRPr/>
              </a:pPr>
              <a:r>
                <a:rPr lang="ko-KR" altLang="en-US" sz="1050">
                  <a:latin typeface="HY신명조" panose="02030600000101010101" pitchFamily="18" charset="-127"/>
                  <a:ea typeface="HY신명조" panose="02030600000101010101" pitchFamily="18" charset="-127"/>
                </a:rPr>
                <a:t>훈련간 운용 및 기술지원 실시</a:t>
              </a:r>
            </a:p>
          </p:txBody>
        </p:sp>
      </p:grpSp>
      <p:pic>
        <p:nvPicPr>
          <p:cNvPr id="57" name="Picture 78" descr="8"/>
          <p:cNvPicPr preferRelativeResize="0"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4704450"/>
            <a:ext cx="533400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8" name="그룹 2"/>
          <p:cNvGrpSpPr>
            <a:grpSpLocks/>
          </p:cNvGrpSpPr>
          <p:nvPr/>
        </p:nvGrpSpPr>
        <p:grpSpPr bwMode="auto">
          <a:xfrm>
            <a:off x="4557713" y="6406250"/>
            <a:ext cx="1744662" cy="544513"/>
            <a:chOff x="4558030" y="8015288"/>
            <a:chExt cx="1744151" cy="544512"/>
          </a:xfrm>
        </p:grpSpPr>
        <p:grpSp>
          <p:nvGrpSpPr>
            <p:cNvPr id="59" name="그룹 1"/>
            <p:cNvGrpSpPr>
              <a:grpSpLocks/>
            </p:cNvGrpSpPr>
            <p:nvPr/>
          </p:nvGrpSpPr>
          <p:grpSpPr bwMode="auto">
            <a:xfrm>
              <a:off x="5627031" y="8015288"/>
              <a:ext cx="675150" cy="544512"/>
              <a:chOff x="5258759" y="6937375"/>
              <a:chExt cx="617934" cy="520075"/>
            </a:xfrm>
          </p:grpSpPr>
          <p:pic>
            <p:nvPicPr>
              <p:cNvPr id="62" name="Picture 63" descr="1"/>
              <p:cNvPicPr preferRelativeResize="0"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36908" y="6937375"/>
                <a:ext cx="539785" cy="505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" name="Picture 44" descr="서류-씨디_1-[Converted]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58759" y="7154101"/>
                <a:ext cx="375721" cy="303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0" name="평행 사변형 59"/>
            <p:cNvSpPr/>
            <p:nvPr/>
          </p:nvSpPr>
          <p:spPr bwMode="auto">
            <a:xfrm>
              <a:off x="4558030" y="8090815"/>
              <a:ext cx="1214880" cy="395800"/>
            </a:xfrm>
            <a:prstGeom prst="parallelogram">
              <a:avLst>
                <a:gd name="adj" fmla="val 66761"/>
              </a:avLst>
            </a:prstGeom>
            <a:solidFill>
              <a:schemeClr val="bg1">
                <a:lumMod val="6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perspectiveFront">
                <a:rot lat="17808396" lon="1359200" rev="20376160"/>
              </a:camera>
              <a:lightRig rig="threePt" dir="t"/>
            </a:scene3d>
          </p:spPr>
          <p:txBody>
            <a:bodyPr/>
            <a:lstStyle/>
            <a:p>
              <a:pPr algn="ctr" eaLnBrk="1" latinLnBrk="1" hangingPunct="1">
                <a:defRPr/>
              </a:pPr>
              <a:endParaRPr lang="ko-KR" altLang="en-US"/>
            </a:p>
          </p:txBody>
        </p:sp>
        <p:sp>
          <p:nvSpPr>
            <p:cNvPr id="61" name="Rectangle 101"/>
            <p:cNvSpPr>
              <a:spLocks noChangeArrowheads="1"/>
            </p:cNvSpPr>
            <p:nvPr/>
          </p:nvSpPr>
          <p:spPr bwMode="auto">
            <a:xfrm>
              <a:off x="4614863" y="8096220"/>
              <a:ext cx="1004483" cy="2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defTabSz="912813"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기술적 측면</a:t>
              </a:r>
            </a:p>
          </p:txBody>
        </p:sp>
      </p:grpSp>
      <p:sp>
        <p:nvSpPr>
          <p:cNvPr id="64" name="평행 사변형 63"/>
          <p:cNvSpPr/>
          <p:nvPr/>
        </p:nvSpPr>
        <p:spPr bwMode="auto">
          <a:xfrm>
            <a:off x="4558030" y="4742845"/>
            <a:ext cx="1214880" cy="395800"/>
          </a:xfrm>
          <a:prstGeom prst="parallelogram">
            <a:avLst>
              <a:gd name="adj" fmla="val 66761"/>
            </a:avLst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perspectiveFront">
              <a:rot lat="17808396" lon="1359200" rev="20376160"/>
            </a:camera>
            <a:lightRig rig="threePt" dir="t"/>
          </a:scene3d>
        </p:spPr>
        <p:txBody>
          <a:bodyPr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65" name="Rectangle 101"/>
          <p:cNvSpPr>
            <a:spLocks noChangeArrowheads="1"/>
          </p:cNvSpPr>
          <p:nvPr/>
        </p:nvSpPr>
        <p:spPr bwMode="auto">
          <a:xfrm>
            <a:off x="4614863" y="4767950"/>
            <a:ext cx="10048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2813" eaLnBrk="1" latinLnBrk="1" hangingPunct="1"/>
            <a:r>
              <a:rPr lang="ko-KR" altLang="en-US" sz="1200">
                <a:solidFill>
                  <a:srgbClr val="333333"/>
                </a:solidFill>
                <a:latin typeface="HY헤드라인M" pitchFamily="18" charset="-127"/>
                <a:ea typeface="HY헤드라인M" pitchFamily="18" charset="-127"/>
              </a:rPr>
              <a:t>운용적 측면</a:t>
            </a:r>
          </a:p>
        </p:txBody>
      </p:sp>
      <p:pic>
        <p:nvPicPr>
          <p:cNvPr id="66" name="Picture 34"/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950" y="4667938"/>
            <a:ext cx="6572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평행 사변형 66"/>
          <p:cNvSpPr/>
          <p:nvPr/>
        </p:nvSpPr>
        <p:spPr bwMode="auto">
          <a:xfrm>
            <a:off x="1122895" y="4742845"/>
            <a:ext cx="1214880" cy="395800"/>
          </a:xfrm>
          <a:prstGeom prst="parallelogram">
            <a:avLst>
              <a:gd name="adj" fmla="val 66761"/>
            </a:avLst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perspectiveFront">
              <a:rot lat="17808396" lon="1359200" rev="20376160"/>
            </a:camera>
            <a:lightRig rig="threePt" dir="t"/>
          </a:scene3d>
        </p:spPr>
        <p:txBody>
          <a:bodyPr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68" name="Rectangle 101"/>
          <p:cNvSpPr>
            <a:spLocks noChangeArrowheads="1"/>
          </p:cNvSpPr>
          <p:nvPr/>
        </p:nvSpPr>
        <p:spPr bwMode="auto">
          <a:xfrm>
            <a:off x="1179513" y="4767950"/>
            <a:ext cx="1006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2813" eaLnBrk="1" latinLnBrk="1" hangingPunct="1"/>
            <a:r>
              <a:rPr lang="ko-KR" altLang="en-US" sz="1200">
                <a:solidFill>
                  <a:srgbClr val="333333"/>
                </a:solidFill>
                <a:latin typeface="HY헤드라인M" pitchFamily="18" charset="-127"/>
                <a:ea typeface="HY헤드라인M" pitchFamily="18" charset="-127"/>
              </a:rPr>
              <a:t>업무적 측면</a:t>
            </a:r>
          </a:p>
        </p:txBody>
      </p:sp>
      <p:grpSp>
        <p:nvGrpSpPr>
          <p:cNvPr id="69" name="그룹 1"/>
          <p:cNvGrpSpPr>
            <a:grpSpLocks/>
          </p:cNvGrpSpPr>
          <p:nvPr/>
        </p:nvGrpSpPr>
        <p:grpSpPr bwMode="auto">
          <a:xfrm>
            <a:off x="479425" y="6431650"/>
            <a:ext cx="1858963" cy="496888"/>
            <a:chOff x="480210" y="8047038"/>
            <a:chExt cx="1857565" cy="496887"/>
          </a:xfrm>
        </p:grpSpPr>
        <p:sp>
          <p:nvSpPr>
            <p:cNvPr id="70" name="평행 사변형 69"/>
            <p:cNvSpPr/>
            <p:nvPr/>
          </p:nvSpPr>
          <p:spPr bwMode="auto">
            <a:xfrm>
              <a:off x="1122895" y="8090815"/>
              <a:ext cx="1214880" cy="395800"/>
            </a:xfrm>
            <a:prstGeom prst="parallelogram">
              <a:avLst>
                <a:gd name="adj" fmla="val 66761"/>
              </a:avLst>
            </a:prstGeom>
            <a:solidFill>
              <a:schemeClr val="bg1">
                <a:lumMod val="6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perspectiveFront">
                <a:rot lat="17808396" lon="1359200" rev="20376160"/>
              </a:camera>
              <a:lightRig rig="threePt" dir="t"/>
            </a:scene3d>
          </p:spPr>
          <p:txBody>
            <a:bodyPr/>
            <a:lstStyle/>
            <a:p>
              <a:pPr algn="ctr" eaLnBrk="1" latinLnBrk="1" hangingPunct="1">
                <a:defRPr/>
              </a:pPr>
              <a:endParaRPr lang="ko-KR" altLang="en-US"/>
            </a:p>
          </p:txBody>
        </p:sp>
        <p:sp>
          <p:nvSpPr>
            <p:cNvPr id="71" name="Rectangle 101"/>
            <p:cNvSpPr>
              <a:spLocks noChangeArrowheads="1"/>
            </p:cNvSpPr>
            <p:nvPr/>
          </p:nvSpPr>
          <p:spPr bwMode="auto">
            <a:xfrm>
              <a:off x="1179513" y="8096220"/>
              <a:ext cx="1006062" cy="2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defTabSz="912813"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사용자 측면</a:t>
              </a:r>
            </a:p>
          </p:txBody>
        </p:sp>
        <p:pic>
          <p:nvPicPr>
            <p:cNvPr id="72" name="Picture 383" descr="회의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210" y="8047038"/>
              <a:ext cx="685800" cy="496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 Box 44"/>
          <p:cNvSpPr txBox="1">
            <a:spLocks noChangeArrowheads="1"/>
          </p:cNvSpPr>
          <p:nvPr/>
        </p:nvSpPr>
        <p:spPr bwMode="auto">
          <a:xfrm>
            <a:off x="1230313" y="4075800"/>
            <a:ext cx="44037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80000"/>
              <a:buFont typeface="Monotype Sorts" pitchFamily="2" charset="2"/>
              <a:buNone/>
            </a:pPr>
            <a:r>
              <a:rPr lang="ko-KR" altLang="en-US" sz="1600">
                <a:solidFill>
                  <a:srgbClr val="003366"/>
                </a:solidFill>
                <a:latin typeface="HY수평선B" pitchFamily="18" charset="-127"/>
                <a:ea typeface="HY수평선B" pitchFamily="18" charset="-127"/>
              </a:rPr>
              <a:t>태극</a:t>
            </a:r>
            <a:r>
              <a:rPr lang="en-US" altLang="ko-KR" sz="1600">
                <a:solidFill>
                  <a:srgbClr val="003366"/>
                </a:solidFill>
                <a:latin typeface="HY수평선B" pitchFamily="18" charset="-127"/>
                <a:ea typeface="HY수평선B" pitchFamily="18" charset="-127"/>
              </a:rPr>
              <a:t>JOS </a:t>
            </a:r>
            <a:r>
              <a:rPr lang="ko-KR" altLang="en-US" sz="1600">
                <a:solidFill>
                  <a:srgbClr val="003366"/>
                </a:solidFill>
                <a:latin typeface="HY수평선B" pitchFamily="18" charset="-127"/>
                <a:ea typeface="HY수평선B" pitchFamily="18" charset="-127"/>
              </a:rPr>
              <a:t>모델 유지보수 경험으로 효과 극대화</a:t>
            </a:r>
          </a:p>
        </p:txBody>
      </p:sp>
      <p:grpSp>
        <p:nvGrpSpPr>
          <p:cNvPr id="74" name="그룹 7"/>
          <p:cNvGrpSpPr>
            <a:grpSpLocks/>
          </p:cNvGrpSpPr>
          <p:nvPr/>
        </p:nvGrpSpPr>
        <p:grpSpPr bwMode="auto">
          <a:xfrm>
            <a:off x="2624138" y="5679175"/>
            <a:ext cx="1585912" cy="1520825"/>
            <a:chOff x="2624191" y="5862225"/>
            <a:chExt cx="1585905" cy="1521199"/>
          </a:xfrm>
        </p:grpSpPr>
        <p:grpSp>
          <p:nvGrpSpPr>
            <p:cNvPr id="75" name="그룹 66"/>
            <p:cNvGrpSpPr>
              <a:grpSpLocks/>
            </p:cNvGrpSpPr>
            <p:nvPr/>
          </p:nvGrpSpPr>
          <p:grpSpPr bwMode="auto">
            <a:xfrm rot="8100000">
              <a:off x="3418096" y="6591424"/>
              <a:ext cx="792000" cy="792000"/>
              <a:chOff x="2016126" y="1962151"/>
              <a:chExt cx="1187450" cy="1187451"/>
            </a:xfrm>
          </p:grpSpPr>
          <p:sp>
            <p:nvSpPr>
              <p:cNvPr id="82" name="Oval 43" descr="현대중공업_템플릿-35"/>
              <p:cNvSpPr>
                <a:spLocks noChangeArrowheads="1"/>
              </p:cNvSpPr>
              <p:nvPr/>
            </p:nvSpPr>
            <p:spPr bwMode="gray">
              <a:xfrm>
                <a:off x="2016126" y="1962151"/>
                <a:ext cx="1187450" cy="1187451"/>
              </a:xfrm>
              <a:prstGeom prst="ellipse">
                <a:avLst/>
              </a:prstGeom>
              <a:blipFill dpi="0" rotWithShape="1">
                <a:blip r:embed="rId9" cstate="print"/>
                <a:srcRect/>
                <a:stretch>
                  <a:fillRect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83" name="Rectangle 76"/>
              <p:cNvSpPr>
                <a:spLocks noChangeArrowheads="1"/>
              </p:cNvSpPr>
              <p:nvPr/>
            </p:nvSpPr>
            <p:spPr bwMode="gray">
              <a:xfrm rot="-8100000">
                <a:off x="2263674" y="2417436"/>
                <a:ext cx="692349" cy="2768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1019175" eaLnBrk="1" hangingPunct="1"/>
                <a:r>
                  <a:rPr lang="ko-KR" altLang="en-US" sz="1200" b="1">
                    <a:solidFill>
                      <a:srgbClr val="000000"/>
                    </a:solidFill>
                    <a:latin typeface="HY신명조" pitchFamily="18" charset="-127"/>
                    <a:ea typeface="HY신명조" pitchFamily="18" charset="-127"/>
                  </a:rPr>
                  <a:t>신뢰성</a:t>
                </a:r>
              </a:p>
            </p:txBody>
          </p:sp>
        </p:grpSp>
        <p:grpSp>
          <p:nvGrpSpPr>
            <p:cNvPr id="76" name="그룹 84"/>
            <p:cNvGrpSpPr>
              <a:grpSpLocks/>
            </p:cNvGrpSpPr>
            <p:nvPr/>
          </p:nvGrpSpPr>
          <p:grpSpPr bwMode="auto">
            <a:xfrm rot="-8100000">
              <a:off x="2624191" y="6591424"/>
              <a:ext cx="792000" cy="792000"/>
              <a:chOff x="2016126" y="1962151"/>
              <a:chExt cx="1187450" cy="1187451"/>
            </a:xfrm>
          </p:grpSpPr>
          <p:sp>
            <p:nvSpPr>
              <p:cNvPr id="80" name="Oval 43" descr="현대중공업_템플릿-35"/>
              <p:cNvSpPr>
                <a:spLocks noChangeArrowheads="1"/>
              </p:cNvSpPr>
              <p:nvPr/>
            </p:nvSpPr>
            <p:spPr bwMode="gray">
              <a:xfrm>
                <a:off x="2016126" y="1962151"/>
                <a:ext cx="1187450" cy="1187451"/>
              </a:xfrm>
              <a:prstGeom prst="ellipse">
                <a:avLst/>
              </a:prstGeom>
              <a:blipFill dpi="0" rotWithShape="1">
                <a:blip r:embed="rId9" cstate="print"/>
                <a:srcRect/>
                <a:stretch>
                  <a:fillRect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81" name="Rectangle 76"/>
              <p:cNvSpPr>
                <a:spLocks noChangeArrowheads="1"/>
              </p:cNvSpPr>
              <p:nvPr/>
            </p:nvSpPr>
            <p:spPr bwMode="gray">
              <a:xfrm rot="8100000">
                <a:off x="2270891" y="2417435"/>
                <a:ext cx="677923" cy="2768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1019175" eaLnBrk="1" hangingPunct="1"/>
                <a:r>
                  <a:rPr lang="ko-KR" altLang="en-US" sz="1200" b="1">
                    <a:solidFill>
                      <a:srgbClr val="000000"/>
                    </a:solidFill>
                    <a:latin typeface="HY신명조" pitchFamily="18" charset="-127"/>
                    <a:ea typeface="HY신명조" pitchFamily="18" charset="-127"/>
                  </a:rPr>
                  <a:t>적극성</a:t>
                </a:r>
              </a:p>
            </p:txBody>
          </p:sp>
        </p:grpSp>
        <p:grpSp>
          <p:nvGrpSpPr>
            <p:cNvPr id="77" name="그룹 93"/>
            <p:cNvGrpSpPr>
              <a:grpSpLocks/>
            </p:cNvGrpSpPr>
            <p:nvPr/>
          </p:nvGrpSpPr>
          <p:grpSpPr bwMode="auto">
            <a:xfrm>
              <a:off x="3015050" y="5862225"/>
              <a:ext cx="792000" cy="792000"/>
              <a:chOff x="2016126" y="1962151"/>
              <a:chExt cx="1187450" cy="1187451"/>
            </a:xfrm>
          </p:grpSpPr>
          <p:sp>
            <p:nvSpPr>
              <p:cNvPr id="78" name="Oval 43" descr="현대중공업_템플릿-35"/>
              <p:cNvSpPr>
                <a:spLocks noChangeArrowheads="1"/>
              </p:cNvSpPr>
              <p:nvPr/>
            </p:nvSpPr>
            <p:spPr bwMode="gray">
              <a:xfrm>
                <a:off x="2016126" y="1962151"/>
                <a:ext cx="1187450" cy="1187451"/>
              </a:xfrm>
              <a:prstGeom prst="ellipse">
                <a:avLst/>
              </a:prstGeom>
              <a:blipFill dpi="0" rotWithShape="1">
                <a:blip r:embed="rId9" cstate="print"/>
                <a:srcRect/>
                <a:stretch>
                  <a:fillRect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79" name="Rectangle 76"/>
              <p:cNvSpPr>
                <a:spLocks noChangeArrowheads="1"/>
              </p:cNvSpPr>
              <p:nvPr/>
            </p:nvSpPr>
            <p:spPr bwMode="gray">
              <a:xfrm>
                <a:off x="2270975" y="2417405"/>
                <a:ext cx="677754" cy="2769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1019175" eaLnBrk="1" hangingPunct="1"/>
                <a:r>
                  <a:rPr lang="ko-KR" altLang="en-US" sz="1200" b="1">
                    <a:solidFill>
                      <a:srgbClr val="000000"/>
                    </a:solidFill>
                    <a:latin typeface="HY신명조" pitchFamily="18" charset="-127"/>
                    <a:ea typeface="HY신명조" pitchFamily="18" charset="-127"/>
                  </a:rPr>
                  <a:t>전문성</a:t>
                </a:r>
              </a:p>
            </p:txBody>
          </p:sp>
        </p:grpSp>
      </p:grpSp>
      <p:sp>
        <p:nvSpPr>
          <p:cNvPr id="84" name="Rectangle 121"/>
          <p:cNvSpPr>
            <a:spLocks noChangeArrowheads="1"/>
          </p:cNvSpPr>
          <p:nvPr/>
        </p:nvSpPr>
        <p:spPr bwMode="auto">
          <a:xfrm>
            <a:off x="2640717" y="6253932"/>
            <a:ext cx="1627369" cy="44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perspectiveRelaxedModerately" fov="6000000">
              <a:rot lat="19499990" lon="0" rev="0"/>
            </a:camera>
            <a:lightRig rig="threePt" dir="t"/>
          </a:scene3d>
          <a:sp3d/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ko-KR" sz="1800">
                <a:latin typeface="HY헤드라인M" pitchFamily="18" charset="-127"/>
                <a:ea typeface="HY헤드라인M" pitchFamily="18" charset="-127"/>
              </a:rPr>
              <a:t>3</a:t>
            </a:r>
            <a:r>
              <a:rPr lang="ko-KR" altLang="en-US" sz="1800">
                <a:latin typeface="HY헤드라인M" pitchFamily="18" charset="-127"/>
                <a:ea typeface="HY헤드라인M" pitchFamily="18" charset="-127"/>
              </a:rPr>
              <a:t>대 핵심 역량</a:t>
            </a:r>
            <a:endParaRPr lang="en-US" altLang="ko-KR" sz="180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85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Ⅱ - 5</a:t>
            </a:r>
          </a:p>
        </p:txBody>
      </p:sp>
    </p:spTree>
    <p:extLst>
      <p:ext uri="{BB962C8B-B14F-4D97-AF65-F5344CB8AC3E}">
        <p14:creationId xmlns:p14="http://schemas.microsoft.com/office/powerpoint/2010/main" val="1387899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사업 이해도</a:t>
            </a:r>
          </a:p>
        </p:txBody>
      </p:sp>
      <p:sp>
        <p:nvSpPr>
          <p:cNvPr id="85" name="Rectangle 169"/>
          <p:cNvSpPr>
            <a:spLocks noChangeArrowheads="1"/>
          </p:cNvSpPr>
          <p:nvPr/>
        </p:nvSpPr>
        <p:spPr bwMode="auto">
          <a:xfrm>
            <a:off x="395288" y="2987675"/>
            <a:ext cx="6054725" cy="6499225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C0C0C0"/>
            </a:solidFill>
            <a:miter lim="800000"/>
            <a:headEnd/>
            <a:tailEnd/>
          </a:ln>
          <a:effectLst>
            <a:outerShdw dist="17961" dir="2700000" algn="ctr" rotWithShape="0">
              <a:srgbClr val="C9D2DD"/>
            </a:outerShdw>
          </a:effec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pic>
        <p:nvPicPr>
          <p:cNvPr id="86" name="Picture 7" descr="바닦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190"/>
          <a:stretch>
            <a:fillRect/>
          </a:stretch>
        </p:blipFill>
        <p:spPr bwMode="auto">
          <a:xfrm>
            <a:off x="692150" y="5848350"/>
            <a:ext cx="5546725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" name="Picture 7" descr="바닦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90"/>
          <a:stretch>
            <a:fillRect/>
          </a:stretch>
        </p:blipFill>
        <p:spPr bwMode="auto">
          <a:xfrm>
            <a:off x="639763" y="6664325"/>
            <a:ext cx="567531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8" name="Group 436"/>
          <p:cNvGrpSpPr>
            <a:grpSpLocks/>
          </p:cNvGrpSpPr>
          <p:nvPr/>
        </p:nvGrpSpPr>
        <p:grpSpPr bwMode="auto">
          <a:xfrm>
            <a:off x="631825" y="3051175"/>
            <a:ext cx="5594350" cy="1246188"/>
            <a:chOff x="302" y="1164"/>
            <a:chExt cx="3834" cy="1406"/>
          </a:xfrm>
        </p:grpSpPr>
        <p:sp>
          <p:nvSpPr>
            <p:cNvPr id="89" name="Oval 437"/>
            <p:cNvSpPr>
              <a:spLocks noChangeArrowheads="1"/>
            </p:cNvSpPr>
            <p:nvPr/>
          </p:nvSpPr>
          <p:spPr bwMode="auto">
            <a:xfrm>
              <a:off x="1358" y="1578"/>
              <a:ext cx="1722" cy="570"/>
            </a:xfrm>
            <a:prstGeom prst="ellipse">
              <a:avLst/>
            </a:prstGeom>
            <a:gradFill rotWithShape="1">
              <a:gsLst>
                <a:gs pos="0">
                  <a:srgbClr val="C2E1A3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/>
            </a:p>
          </p:txBody>
        </p:sp>
        <p:grpSp>
          <p:nvGrpSpPr>
            <p:cNvPr id="90" name="Group 438"/>
            <p:cNvGrpSpPr>
              <a:grpSpLocks/>
            </p:cNvGrpSpPr>
            <p:nvPr/>
          </p:nvGrpSpPr>
          <p:grpSpPr bwMode="auto">
            <a:xfrm>
              <a:off x="302" y="1164"/>
              <a:ext cx="2858" cy="907"/>
              <a:chOff x="405" y="3944"/>
              <a:chExt cx="3143" cy="860"/>
            </a:xfrm>
          </p:grpSpPr>
          <p:sp>
            <p:nvSpPr>
              <p:cNvPr id="95" name="Freeform 439"/>
              <p:cNvSpPr>
                <a:spLocks/>
              </p:cNvSpPr>
              <p:nvPr/>
            </p:nvSpPr>
            <p:spPr bwMode="auto">
              <a:xfrm>
                <a:off x="405" y="3966"/>
                <a:ext cx="3143" cy="838"/>
              </a:xfrm>
              <a:custGeom>
                <a:avLst/>
                <a:gdLst>
                  <a:gd name="T0" fmla="*/ 0 w 3143"/>
                  <a:gd name="T1" fmla="*/ 544 h 837"/>
                  <a:gd name="T2" fmla="*/ 3143 w 3143"/>
                  <a:gd name="T3" fmla="*/ 925 h 837"/>
                  <a:gd name="T4" fmla="*/ 0 w 3143"/>
                  <a:gd name="T5" fmla="*/ 711 h 837"/>
                  <a:gd name="T6" fmla="*/ 0 w 3143"/>
                  <a:gd name="T7" fmla="*/ 544 h 8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43"/>
                  <a:gd name="T13" fmla="*/ 0 h 837"/>
                  <a:gd name="T14" fmla="*/ 3143 w 3143"/>
                  <a:gd name="T15" fmla="*/ 837 h 8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43" h="837">
                    <a:moveTo>
                      <a:pt x="0" y="456"/>
                    </a:moveTo>
                    <a:cubicBezTo>
                      <a:pt x="0" y="456"/>
                      <a:pt x="2432" y="0"/>
                      <a:pt x="3143" y="837"/>
                    </a:cubicBezTo>
                    <a:cubicBezTo>
                      <a:pt x="2350" y="5"/>
                      <a:pt x="0" y="623"/>
                      <a:pt x="0" y="623"/>
                    </a:cubicBezTo>
                    <a:lnTo>
                      <a:pt x="0" y="45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0BB3E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6" name="Freeform 440"/>
              <p:cNvSpPr>
                <a:spLocks/>
              </p:cNvSpPr>
              <p:nvPr/>
            </p:nvSpPr>
            <p:spPr bwMode="auto">
              <a:xfrm>
                <a:off x="405" y="3965"/>
                <a:ext cx="3143" cy="838"/>
              </a:xfrm>
              <a:custGeom>
                <a:avLst/>
                <a:gdLst>
                  <a:gd name="T0" fmla="*/ 0 w 3143"/>
                  <a:gd name="T1" fmla="*/ 289 h 837"/>
                  <a:gd name="T2" fmla="*/ 3143 w 3143"/>
                  <a:gd name="T3" fmla="*/ 925 h 837"/>
                  <a:gd name="T4" fmla="*/ 0 w 3143"/>
                  <a:gd name="T5" fmla="*/ 615 h 837"/>
                  <a:gd name="T6" fmla="*/ 0 w 3143"/>
                  <a:gd name="T7" fmla="*/ 289 h 8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43"/>
                  <a:gd name="T13" fmla="*/ 0 h 837"/>
                  <a:gd name="T14" fmla="*/ 3143 w 3143"/>
                  <a:gd name="T15" fmla="*/ 837 h 8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43" h="837">
                    <a:moveTo>
                      <a:pt x="0" y="289"/>
                    </a:moveTo>
                    <a:cubicBezTo>
                      <a:pt x="0" y="289"/>
                      <a:pt x="2470" y="24"/>
                      <a:pt x="3143" y="837"/>
                    </a:cubicBezTo>
                    <a:cubicBezTo>
                      <a:pt x="2398" y="0"/>
                      <a:pt x="0" y="527"/>
                      <a:pt x="0" y="527"/>
                    </a:cubicBezTo>
                    <a:lnTo>
                      <a:pt x="0" y="28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62D1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7" name="Freeform 441"/>
              <p:cNvSpPr>
                <a:spLocks/>
              </p:cNvSpPr>
              <p:nvPr/>
            </p:nvSpPr>
            <p:spPr bwMode="auto">
              <a:xfrm>
                <a:off x="405" y="3944"/>
                <a:ext cx="3143" cy="857"/>
              </a:xfrm>
              <a:custGeom>
                <a:avLst/>
                <a:gdLst>
                  <a:gd name="T0" fmla="*/ 0 w 3143"/>
                  <a:gd name="T1" fmla="*/ 46 h 856"/>
                  <a:gd name="T2" fmla="*/ 3143 w 3143"/>
                  <a:gd name="T3" fmla="*/ 944 h 856"/>
                  <a:gd name="T4" fmla="*/ 0 w 3143"/>
                  <a:gd name="T5" fmla="*/ 380 h 856"/>
                  <a:gd name="T6" fmla="*/ 0 w 3143"/>
                  <a:gd name="T7" fmla="*/ 46 h 8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43"/>
                  <a:gd name="T13" fmla="*/ 0 h 856"/>
                  <a:gd name="T14" fmla="*/ 3143 w 3143"/>
                  <a:gd name="T15" fmla="*/ 856 h 8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43" h="856">
                    <a:moveTo>
                      <a:pt x="0" y="46"/>
                    </a:moveTo>
                    <a:cubicBezTo>
                      <a:pt x="0" y="46"/>
                      <a:pt x="2422" y="0"/>
                      <a:pt x="3143" y="856"/>
                    </a:cubicBezTo>
                    <a:cubicBezTo>
                      <a:pt x="2355" y="19"/>
                      <a:pt x="0" y="380"/>
                      <a:pt x="0" y="380"/>
                    </a:cubicBezTo>
                    <a:lnTo>
                      <a:pt x="0" y="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A3E4FB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91" name="Group 442"/>
            <p:cNvGrpSpPr>
              <a:grpSpLocks/>
            </p:cNvGrpSpPr>
            <p:nvPr/>
          </p:nvGrpSpPr>
          <p:grpSpPr bwMode="auto">
            <a:xfrm flipH="1" flipV="1">
              <a:off x="1278" y="1687"/>
              <a:ext cx="2858" cy="883"/>
              <a:chOff x="405" y="3939"/>
              <a:chExt cx="3143" cy="856"/>
            </a:xfrm>
          </p:grpSpPr>
          <p:sp>
            <p:nvSpPr>
              <p:cNvPr id="92" name="Freeform 443"/>
              <p:cNvSpPr>
                <a:spLocks/>
              </p:cNvSpPr>
              <p:nvPr/>
            </p:nvSpPr>
            <p:spPr bwMode="auto">
              <a:xfrm>
                <a:off x="405" y="3955"/>
                <a:ext cx="3143" cy="836"/>
              </a:xfrm>
              <a:custGeom>
                <a:avLst/>
                <a:gdLst>
                  <a:gd name="T0" fmla="*/ 0 w 3143"/>
                  <a:gd name="T1" fmla="*/ 418 h 837"/>
                  <a:gd name="T2" fmla="*/ 3143 w 3143"/>
                  <a:gd name="T3" fmla="*/ 749 h 837"/>
                  <a:gd name="T4" fmla="*/ 0 w 3143"/>
                  <a:gd name="T5" fmla="*/ 535 h 837"/>
                  <a:gd name="T6" fmla="*/ 0 w 3143"/>
                  <a:gd name="T7" fmla="*/ 418 h 8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43"/>
                  <a:gd name="T13" fmla="*/ 0 h 837"/>
                  <a:gd name="T14" fmla="*/ 3143 w 3143"/>
                  <a:gd name="T15" fmla="*/ 837 h 8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43" h="837">
                    <a:moveTo>
                      <a:pt x="0" y="456"/>
                    </a:moveTo>
                    <a:cubicBezTo>
                      <a:pt x="0" y="456"/>
                      <a:pt x="2432" y="0"/>
                      <a:pt x="3143" y="837"/>
                    </a:cubicBezTo>
                    <a:cubicBezTo>
                      <a:pt x="2350" y="5"/>
                      <a:pt x="0" y="623"/>
                      <a:pt x="0" y="623"/>
                    </a:cubicBezTo>
                    <a:lnTo>
                      <a:pt x="0" y="45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0BB3E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3" name="Freeform 444"/>
              <p:cNvSpPr>
                <a:spLocks/>
              </p:cNvSpPr>
              <p:nvPr/>
            </p:nvSpPr>
            <p:spPr bwMode="auto">
              <a:xfrm>
                <a:off x="405" y="3955"/>
                <a:ext cx="3143" cy="836"/>
              </a:xfrm>
              <a:custGeom>
                <a:avLst/>
                <a:gdLst>
                  <a:gd name="T0" fmla="*/ 0 w 3143"/>
                  <a:gd name="T1" fmla="*/ 289 h 837"/>
                  <a:gd name="T2" fmla="*/ 3143 w 3143"/>
                  <a:gd name="T3" fmla="*/ 749 h 837"/>
                  <a:gd name="T4" fmla="*/ 0 w 3143"/>
                  <a:gd name="T5" fmla="*/ 439 h 837"/>
                  <a:gd name="T6" fmla="*/ 0 w 3143"/>
                  <a:gd name="T7" fmla="*/ 289 h 8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43"/>
                  <a:gd name="T13" fmla="*/ 0 h 837"/>
                  <a:gd name="T14" fmla="*/ 3143 w 3143"/>
                  <a:gd name="T15" fmla="*/ 837 h 8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43" h="837">
                    <a:moveTo>
                      <a:pt x="0" y="289"/>
                    </a:moveTo>
                    <a:cubicBezTo>
                      <a:pt x="0" y="289"/>
                      <a:pt x="2470" y="24"/>
                      <a:pt x="3143" y="837"/>
                    </a:cubicBezTo>
                    <a:cubicBezTo>
                      <a:pt x="2398" y="0"/>
                      <a:pt x="0" y="527"/>
                      <a:pt x="0" y="527"/>
                    </a:cubicBezTo>
                    <a:lnTo>
                      <a:pt x="0" y="28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62D1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4" name="Freeform 445"/>
              <p:cNvSpPr>
                <a:spLocks/>
              </p:cNvSpPr>
              <p:nvPr/>
            </p:nvSpPr>
            <p:spPr bwMode="auto">
              <a:xfrm>
                <a:off x="405" y="3939"/>
                <a:ext cx="3143" cy="856"/>
              </a:xfrm>
              <a:custGeom>
                <a:avLst/>
                <a:gdLst>
                  <a:gd name="T0" fmla="*/ 0 w 3143"/>
                  <a:gd name="T1" fmla="*/ 46 h 856"/>
                  <a:gd name="T2" fmla="*/ 3143 w 3143"/>
                  <a:gd name="T3" fmla="*/ 856 h 856"/>
                  <a:gd name="T4" fmla="*/ 0 w 3143"/>
                  <a:gd name="T5" fmla="*/ 380 h 856"/>
                  <a:gd name="T6" fmla="*/ 0 w 3143"/>
                  <a:gd name="T7" fmla="*/ 46 h 8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43"/>
                  <a:gd name="T13" fmla="*/ 0 h 856"/>
                  <a:gd name="T14" fmla="*/ 3143 w 3143"/>
                  <a:gd name="T15" fmla="*/ 856 h 8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43" h="856">
                    <a:moveTo>
                      <a:pt x="0" y="46"/>
                    </a:moveTo>
                    <a:cubicBezTo>
                      <a:pt x="0" y="46"/>
                      <a:pt x="2422" y="0"/>
                      <a:pt x="3143" y="856"/>
                    </a:cubicBezTo>
                    <a:cubicBezTo>
                      <a:pt x="2355" y="19"/>
                      <a:pt x="0" y="380"/>
                      <a:pt x="0" y="380"/>
                    </a:cubicBezTo>
                    <a:lnTo>
                      <a:pt x="0" y="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A3E4FB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98" name="Text Box 33"/>
          <p:cNvSpPr txBox="1">
            <a:spLocks noChangeArrowheads="1"/>
          </p:cNvSpPr>
          <p:nvPr/>
        </p:nvSpPr>
        <p:spPr bwMode="auto">
          <a:xfrm>
            <a:off x="296863" y="793750"/>
            <a:ext cx="6242050" cy="187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바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제안 기대효과</a:t>
            </a:r>
            <a:endParaRPr lang="ko-KR" altLang="en-US" sz="15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dist" eaLnBrk="1" latinLnBrk="1" hangingPunct="1">
              <a:lnSpc>
                <a:spcPct val="125000"/>
              </a:lnSpc>
            </a:pP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</a:t>
            </a: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본 유지보수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외주용역</a:t>
            </a: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사업은 태극연습을 지원하는 </a:t>
            </a:r>
            <a:r>
              <a:rPr lang="ko-KR" altLang="en-US" sz="1200" b="1" u="sng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ㅇ</a:t>
            </a:r>
            <a:r>
              <a:rPr lang="ko-KR" altLang="en-US" sz="1200" b="1" u="sng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ko-KR" sz="1200" b="1" u="sng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태극JOS모델에</a:t>
            </a:r>
            <a:r>
              <a:rPr lang="ko-KR" altLang="ko-KR" sz="1200" b="1" u="sng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대해 </a:t>
            </a:r>
            <a:r>
              <a:rPr lang="ko-KR" altLang="en-US" sz="1200" b="1" u="sng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유지보수 및      </a:t>
            </a:r>
            <a:r>
              <a:rPr lang="ko-KR" altLang="en-US" sz="1200" b="1" u="sng" spc="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기능개선전문업체가 참여하여 효율적으로 유지보수 업무를 추진하고 </a:t>
            </a:r>
            <a:r>
              <a:rPr lang="ko-KR" altLang="en-US" sz="1200" b="1" u="sng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ㅇ</a:t>
            </a:r>
            <a:r>
              <a:rPr lang="ko-KR" altLang="en-US" sz="1200" b="1" u="sng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전문인력 투입을 통한 체계 안정화 및 긴급 장애 발생시 신속 대응 가능하며 </a:t>
            </a:r>
          </a:p>
          <a:p>
            <a:pPr eaLnBrk="1" latinLnBrk="1" hangingPunct="1">
              <a:lnSpc>
                <a:spcPct val="125000"/>
              </a:lnSpc>
            </a:pPr>
            <a:r>
              <a:rPr lang="ko-KR" altLang="en-US" sz="1200" b="1" u="sng" spc="6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ㅇ</a:t>
            </a:r>
            <a:r>
              <a:rPr lang="ko-KR" altLang="en-US" sz="1200" b="1" u="sng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유지보수 및 기능개선에 민간분야의 새로운 기술 트렌드 적용 가능한 </a:t>
            </a:r>
            <a:r>
              <a:rPr lang="ko-KR" altLang="en-US" sz="1200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정보체계에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대한 통합 유지보수체계구축이 달성되어 </a:t>
            </a: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실전적인 한국군의 전투지휘훈련 모델로 위상을 제고 시키는 효과를 기대합니다.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ko-KR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99" name="Group 35"/>
          <p:cNvGrpSpPr>
            <a:grpSpLocks/>
          </p:cNvGrpSpPr>
          <p:nvPr/>
        </p:nvGrpSpPr>
        <p:grpSpPr bwMode="auto">
          <a:xfrm>
            <a:off x="374650" y="2590799"/>
            <a:ext cx="6116638" cy="357188"/>
            <a:chOff x="236" y="2167"/>
            <a:chExt cx="3853" cy="225"/>
          </a:xfrm>
        </p:grpSpPr>
        <p:grpSp>
          <p:nvGrpSpPr>
            <p:cNvPr id="100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02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3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01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제안 기대효과</a:t>
              </a:r>
            </a:p>
          </p:txBody>
        </p:sp>
      </p:grpSp>
      <p:sp>
        <p:nvSpPr>
          <p:cNvPr id="104" name="Rectangle 33"/>
          <p:cNvSpPr>
            <a:spLocks noChangeArrowheads="1"/>
          </p:cNvSpPr>
          <p:nvPr/>
        </p:nvSpPr>
        <p:spPr bwMode="auto">
          <a:xfrm>
            <a:off x="1447800" y="3390900"/>
            <a:ext cx="39401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80000"/>
              <a:defRPr/>
            </a:pPr>
            <a:r>
              <a:rPr lang="ko-KR" altLang="en-US" sz="1600">
                <a:solidFill>
                  <a:srgbClr val="003366"/>
                </a:solidFill>
                <a:latin typeface="HY수평선B" pitchFamily="18" charset="-127"/>
                <a:ea typeface="HY수평선B" pitchFamily="18" charset="-127"/>
              </a:rPr>
              <a:t>전장관리 및 자원관리 정보체계에 대한</a:t>
            </a:r>
            <a:endParaRPr lang="en-US" altLang="ko-KR" sz="1600">
              <a:solidFill>
                <a:srgbClr val="003366"/>
              </a:solidFill>
              <a:latin typeface="HY수평선B" pitchFamily="18" charset="-127"/>
              <a:ea typeface="HY수평선B" pitchFamily="18" charset="-127"/>
            </a:endParaRPr>
          </a:p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80000"/>
              <a:defRPr/>
            </a:pPr>
            <a:r>
              <a:rPr lang="ko-KR" altLang="en-US" sz="1600">
                <a:solidFill>
                  <a:srgbClr val="003366"/>
                </a:solidFill>
                <a:latin typeface="HY수평선B" pitchFamily="18" charset="-127"/>
                <a:ea typeface="HY수평선B" pitchFamily="18" charset="-127"/>
              </a:rPr>
              <a:t>통합유지보수 체계 구축 달성</a:t>
            </a:r>
          </a:p>
        </p:txBody>
      </p:sp>
      <p:grpSp>
        <p:nvGrpSpPr>
          <p:cNvPr id="105" name="그룹 3"/>
          <p:cNvGrpSpPr>
            <a:grpSpLocks/>
          </p:cNvGrpSpPr>
          <p:nvPr/>
        </p:nvGrpSpPr>
        <p:grpSpPr bwMode="auto">
          <a:xfrm>
            <a:off x="2727325" y="6096000"/>
            <a:ext cx="1344613" cy="1316038"/>
            <a:chOff x="2657475" y="5995890"/>
            <a:chExt cx="1345035" cy="1316609"/>
          </a:xfrm>
        </p:grpSpPr>
        <p:grpSp>
          <p:nvGrpSpPr>
            <p:cNvPr id="106" name="Group 45"/>
            <p:cNvGrpSpPr>
              <a:grpSpLocks/>
            </p:cNvGrpSpPr>
            <p:nvPr/>
          </p:nvGrpSpPr>
          <p:grpSpPr bwMode="auto">
            <a:xfrm>
              <a:off x="2657475" y="5995890"/>
              <a:ext cx="1345035" cy="1316609"/>
              <a:chOff x="144" y="-1986"/>
              <a:chExt cx="1842" cy="1842"/>
            </a:xfrm>
          </p:grpSpPr>
          <p:grpSp>
            <p:nvGrpSpPr>
              <p:cNvPr id="108" name="Group 46"/>
              <p:cNvGrpSpPr>
                <a:grpSpLocks/>
              </p:cNvGrpSpPr>
              <p:nvPr/>
            </p:nvGrpSpPr>
            <p:grpSpPr bwMode="auto">
              <a:xfrm>
                <a:off x="144" y="-1986"/>
                <a:ext cx="1842" cy="1842"/>
                <a:chOff x="0" y="-2130"/>
                <a:chExt cx="2130" cy="2130"/>
              </a:xfrm>
            </p:grpSpPr>
            <p:sp>
              <p:nvSpPr>
                <p:cNvPr id="114" name="Oval 47" descr="밝은 상향 대각선"/>
                <p:cNvSpPr>
                  <a:spLocks noChangeArrowheads="1"/>
                </p:cNvSpPr>
                <p:nvPr/>
              </p:nvSpPr>
              <p:spPr bwMode="gray">
                <a:xfrm>
                  <a:off x="0" y="-2130"/>
                  <a:ext cx="2130" cy="2130"/>
                </a:xfrm>
                <a:prstGeom prst="ellipse">
                  <a:avLst/>
                </a:prstGeom>
                <a:blipFill dpi="0" rotWithShape="0">
                  <a:blip r:embed="rId6" cstate="print"/>
                  <a:srcRect/>
                  <a:tile tx="0" ty="0" sx="100000" sy="100000" flip="none" algn="tl"/>
                </a:blipFill>
                <a:ln w="76200" cmpd="thinThick">
                  <a:solidFill>
                    <a:srgbClr val="A6C9F4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>
                    <a:latin typeface="HY신명조" panose="02030600000101010101" pitchFamily="18" charset="-127"/>
                    <a:ea typeface="HY신명조" panose="02030600000101010101" pitchFamily="18" charset="-127"/>
                  </a:endParaRPr>
                </a:p>
              </p:txBody>
            </p:sp>
            <p:sp>
              <p:nvSpPr>
                <p:cNvPr id="115" name="Oval 48"/>
                <p:cNvSpPr>
                  <a:spLocks noChangeArrowheads="1"/>
                </p:cNvSpPr>
                <p:nvPr/>
              </p:nvSpPr>
              <p:spPr bwMode="gray">
                <a:xfrm>
                  <a:off x="22" y="-2108"/>
                  <a:ext cx="2086" cy="2086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endParaRPr lang="ko-KR" altLang="en-US">
                    <a:latin typeface="HY신명조" panose="02030600000101010101" pitchFamily="18" charset="-127"/>
                    <a:ea typeface="HY신명조" panose="02030600000101010101" pitchFamily="18" charset="-127"/>
                  </a:endParaRPr>
                </a:p>
              </p:txBody>
            </p:sp>
          </p:grpSp>
          <p:grpSp>
            <p:nvGrpSpPr>
              <p:cNvPr id="109" name="Group 49"/>
              <p:cNvGrpSpPr>
                <a:grpSpLocks/>
              </p:cNvGrpSpPr>
              <p:nvPr/>
            </p:nvGrpSpPr>
            <p:grpSpPr bwMode="auto">
              <a:xfrm>
                <a:off x="250" y="-1891"/>
                <a:ext cx="1630" cy="1652"/>
                <a:chOff x="250" y="-1891"/>
                <a:chExt cx="1630" cy="1652"/>
              </a:xfrm>
            </p:grpSpPr>
            <p:pic>
              <p:nvPicPr>
                <p:cNvPr id="110" name="Picture 50" descr="상단1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487" y="-1745"/>
                  <a:ext cx="1156" cy="5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1" name="Picture 51" descr="상단1"/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487" y="-932"/>
                  <a:ext cx="1156" cy="5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2" name="Picture 52" descr="원둘레"/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lum bright="12000"/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250" y="-1891"/>
                  <a:ext cx="1630" cy="16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3" name="Picture 53" descr="종이사람"/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445" y="-1501"/>
                  <a:ext cx="1240" cy="8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107" name="TextBox 106"/>
            <p:cNvSpPr txBox="1"/>
            <p:nvPr/>
          </p:nvSpPr>
          <p:spPr>
            <a:xfrm>
              <a:off x="2897263" y="6407231"/>
              <a:ext cx="865459" cy="493926"/>
            </a:xfrm>
            <a:prstGeom prst="rect">
              <a:avLst/>
            </a:prstGeom>
            <a:noFill/>
          </p:spPr>
          <p:txBody>
            <a:bodyPr lIns="0" tIns="0" rIns="0" bIns="0" anchor="ctr">
              <a:spAutoFit/>
            </a:bodyPr>
            <a:lstStyle/>
            <a:p>
              <a:pPr algn="ctr">
                <a:defRPr/>
              </a:pPr>
              <a:r>
                <a:rPr lang="ko-KR" altLang="en-US" sz="1600" kern="10">
                  <a:solidFill>
                    <a:srgbClr val="336699"/>
                  </a:solidFill>
                  <a:latin typeface="HY헤드라인M" pitchFamily="18" charset="-127"/>
                  <a:ea typeface="HY헤드라인M" pitchFamily="18" charset="-127"/>
                </a:rPr>
                <a:t>시스템</a:t>
              </a:r>
              <a:endParaRPr lang="en-US" altLang="ko-KR" sz="1600" kern="10">
                <a:solidFill>
                  <a:srgbClr val="336699"/>
                </a:solidFill>
                <a:latin typeface="HY헤드라인M" pitchFamily="18" charset="-127"/>
                <a:ea typeface="HY헤드라인M" pitchFamily="18" charset="-127"/>
              </a:endParaRPr>
            </a:p>
            <a:p>
              <a:pPr algn="ctr">
                <a:defRPr/>
              </a:pPr>
              <a:r>
                <a:rPr lang="ko-KR" altLang="en-US" sz="1600" kern="10">
                  <a:solidFill>
                    <a:srgbClr val="336699"/>
                  </a:solidFill>
                  <a:latin typeface="HY헤드라인M" pitchFamily="18" charset="-127"/>
                  <a:ea typeface="HY헤드라인M" pitchFamily="18" charset="-127"/>
                </a:rPr>
                <a:t>안정화</a:t>
              </a:r>
            </a:p>
          </p:txBody>
        </p:sp>
      </p:grpSp>
      <p:sp>
        <p:nvSpPr>
          <p:cNvPr id="116" name="모서리가 둥근 직사각형 115"/>
          <p:cNvSpPr/>
          <p:nvPr/>
        </p:nvSpPr>
        <p:spPr bwMode="gray">
          <a:xfrm rot="10800000" flipV="1">
            <a:off x="580799" y="4633235"/>
            <a:ext cx="2470150" cy="1404000"/>
          </a:xfrm>
          <a:prstGeom prst="roundRect">
            <a:avLst>
              <a:gd name="adj" fmla="val 3650"/>
            </a:avLst>
          </a:prstGeom>
          <a:solidFill>
            <a:schemeClr val="bg1"/>
          </a:solidFill>
          <a:ln w="12700" cap="flat" cmpd="sng" algn="ctr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5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5400000" scaled="1"/>
              <a:tileRect/>
            </a:gradFill>
            <a:prstDash val="solid"/>
          </a:ln>
          <a:effectLst>
            <a:outerShdw blurRad="38100" dist="12700" dir="540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101600" indent="-101600" algn="ctr" defTabSz="1043056">
              <a:lnSpc>
                <a:spcPct val="90000"/>
              </a:lnSpc>
              <a:buClr>
                <a:srgbClr val="595959"/>
              </a:buClr>
              <a:buSzPct val="100000"/>
              <a:buFont typeface="Arial" charset="0"/>
              <a:buChar char="•"/>
              <a:tabLst>
                <a:tab pos="5648325" algn="l"/>
              </a:tabLst>
              <a:defRPr/>
            </a:pPr>
            <a:endParaRPr lang="ko-KR" altLang="en-US" sz="900" kern="0">
              <a:solidFill>
                <a:srgbClr val="777777"/>
              </a:solidFill>
              <a:latin typeface="HY신명조" pitchFamily="18" charset="-127"/>
              <a:ea typeface="HY신명조" pitchFamily="18" charset="-127"/>
              <a:sym typeface="Monotype Sorts"/>
            </a:endParaRPr>
          </a:p>
        </p:txBody>
      </p:sp>
      <p:sp>
        <p:nvSpPr>
          <p:cNvPr id="117" name="모서리가 둥근 직사각형 766"/>
          <p:cNvSpPr>
            <a:spLocks noChangeArrowheads="1"/>
          </p:cNvSpPr>
          <p:nvPr/>
        </p:nvSpPr>
        <p:spPr bwMode="gray">
          <a:xfrm>
            <a:off x="663575" y="4676775"/>
            <a:ext cx="23114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92075" indent="-92075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Clr>
                <a:srgbClr val="262626"/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지상전</a:t>
            </a:r>
            <a:r>
              <a:rPr lang="en-US" altLang="ko-KR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0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해상전</a:t>
            </a:r>
            <a:r>
              <a:rPr lang="en-US" altLang="ko-KR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공중전 등 합동 군사 훈련 가능</a:t>
            </a:r>
            <a:endParaRPr lang="en-US" altLang="ko-KR" sz="10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20000"/>
              </a:lnSpc>
              <a:buClr>
                <a:srgbClr val="262626"/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대부대 훈련을 통한 작전 계획 검증 및 발전 </a:t>
            </a:r>
          </a:p>
          <a:p>
            <a:pPr>
              <a:lnSpc>
                <a:spcPct val="120000"/>
              </a:lnSpc>
              <a:buClr>
                <a:srgbClr val="262626"/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10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합참차원의</a:t>
            </a: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전쟁계획 능력 배양</a:t>
            </a:r>
          </a:p>
          <a:p>
            <a:pPr>
              <a:lnSpc>
                <a:spcPct val="120000"/>
              </a:lnSpc>
              <a:buClr>
                <a:srgbClr val="262626"/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독자적인 합동작전 지휘 및 작전 능력 제고</a:t>
            </a:r>
            <a:endParaRPr lang="en-US" altLang="ko-KR" sz="10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8" name="TextBox 184"/>
          <p:cNvSpPr txBox="1">
            <a:spLocks noChangeArrowheads="1"/>
          </p:cNvSpPr>
          <p:nvPr/>
        </p:nvSpPr>
        <p:spPr bwMode="gray">
          <a:xfrm>
            <a:off x="697936" y="4373815"/>
            <a:ext cx="2211556" cy="291702"/>
          </a:xfrm>
          <a:prstGeom prst="roundRect">
            <a:avLst>
              <a:gd name="adj" fmla="val 0"/>
            </a:avLst>
          </a:prstGeom>
          <a:gradFill flip="none" rotWithShape="1">
            <a:gsLst>
              <a:gs pos="50000">
                <a:srgbClr val="EAEAEA"/>
              </a:gs>
              <a:gs pos="51000">
                <a:schemeClr val="bg1">
                  <a:lumMod val="85000"/>
                </a:schemeClr>
              </a:gs>
            </a:gsLst>
            <a:lin ang="5400000" scaled="1"/>
            <a:tileRect/>
          </a:gradFill>
          <a:ln w="6350">
            <a:gradFill>
              <a:gsLst>
                <a:gs pos="0">
                  <a:schemeClr val="bg1">
                    <a:lumMod val="65000"/>
                  </a:schemeClr>
                </a:gs>
                <a:gs pos="50000">
                  <a:schemeClr val="bg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anchor="ctr"/>
          <a:lstStyle>
            <a:defPPr>
              <a:defRPr lang="ko-KR"/>
            </a:defPPr>
            <a:lvl1pPr marL="339725" indent="-339725" algn="ctr" defTabSz="1042988" eaLnBrk="0" latinLnBrk="0" hangingPunct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 sz="1150">
                <a:solidFill>
                  <a:schemeClr val="tx1">
                    <a:lumMod val="85000"/>
                    <a:lumOff val="15000"/>
                  </a:schemeClr>
                </a:solidFill>
                <a:latin typeface="HY신명조" pitchFamily="18" charset="-127"/>
                <a:ea typeface="HY신명조" pitchFamily="18" charset="-127"/>
              </a:defRPr>
            </a:lvl1pPr>
            <a:lvl2pPr marL="497845" defTabSz="995690" eaLnBrk="1" hangingPunct="1">
              <a:defRPr sz="2000">
                <a:solidFill>
                  <a:schemeClr val="lt1"/>
                </a:solidFill>
                <a:latin typeface="+mn-lt"/>
                <a:ea typeface="+mn-ea"/>
              </a:defRPr>
            </a:lvl2pPr>
            <a:lvl3pPr marL="995690" defTabSz="995690" eaLnBrk="1" hangingPunct="1">
              <a:defRPr sz="2000">
                <a:solidFill>
                  <a:schemeClr val="lt1"/>
                </a:solidFill>
                <a:latin typeface="+mn-lt"/>
                <a:ea typeface="+mn-ea"/>
              </a:defRPr>
            </a:lvl3pPr>
            <a:lvl4pPr marL="1493535" defTabSz="995690" eaLnBrk="1" hangingPunct="1">
              <a:defRPr sz="2000">
                <a:solidFill>
                  <a:schemeClr val="lt1"/>
                </a:solidFill>
                <a:latin typeface="+mn-lt"/>
                <a:ea typeface="+mn-ea"/>
              </a:defRPr>
            </a:lvl4pPr>
            <a:lvl5pPr marL="1991380" defTabSz="995690" eaLnBrk="1" hangingPunct="1">
              <a:defRPr sz="2000">
                <a:solidFill>
                  <a:schemeClr val="lt1"/>
                </a:solidFill>
                <a:latin typeface="+mn-lt"/>
                <a:ea typeface="+mn-ea"/>
              </a:defRPr>
            </a:lvl5pPr>
            <a:lvl6pPr marL="2489225" defTabSz="995690">
              <a:defRPr sz="2000">
                <a:solidFill>
                  <a:schemeClr val="lt1"/>
                </a:solidFill>
                <a:latin typeface="+mn-lt"/>
                <a:ea typeface="+mn-ea"/>
              </a:defRPr>
            </a:lvl6pPr>
            <a:lvl7pPr marL="2987070" defTabSz="995690">
              <a:defRPr sz="2000">
                <a:solidFill>
                  <a:schemeClr val="lt1"/>
                </a:solidFill>
                <a:latin typeface="+mn-lt"/>
                <a:ea typeface="+mn-ea"/>
              </a:defRPr>
            </a:lvl7pPr>
            <a:lvl8pPr marL="3484916" defTabSz="995690">
              <a:defRPr sz="2000">
                <a:solidFill>
                  <a:schemeClr val="lt1"/>
                </a:solidFill>
                <a:latin typeface="+mn-lt"/>
                <a:ea typeface="+mn-ea"/>
              </a:defRPr>
            </a:lvl8pPr>
            <a:lvl9pPr marL="3982761" defTabSz="995690">
              <a:defRPr sz="2000"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ko-KR" altLang="en-US" b="1">
                <a:solidFill>
                  <a:schemeClr val="tx1">
                    <a:lumMod val="95000"/>
                    <a:lumOff val="5000"/>
                  </a:schemeClr>
                </a:solidFill>
                <a:sym typeface="Monotype Sorts"/>
              </a:rPr>
              <a:t>연습 및 훈련 간 모의지원</a:t>
            </a:r>
          </a:p>
        </p:txBody>
      </p:sp>
      <p:sp>
        <p:nvSpPr>
          <p:cNvPr id="119" name="모서리가 둥근 직사각형 118"/>
          <p:cNvSpPr/>
          <p:nvPr/>
        </p:nvSpPr>
        <p:spPr bwMode="gray">
          <a:xfrm rot="10800000" flipV="1">
            <a:off x="3844925" y="4640559"/>
            <a:ext cx="2470150" cy="1404000"/>
          </a:xfrm>
          <a:prstGeom prst="roundRect">
            <a:avLst>
              <a:gd name="adj" fmla="val 3650"/>
            </a:avLst>
          </a:prstGeom>
          <a:solidFill>
            <a:schemeClr val="bg1"/>
          </a:solidFill>
          <a:ln w="12700" cap="flat" cmpd="sng" algn="ctr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5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5400000" scaled="1"/>
              <a:tileRect/>
            </a:gradFill>
            <a:prstDash val="solid"/>
          </a:ln>
          <a:effectLst>
            <a:outerShdw blurRad="38100" dist="12700" dir="540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101600" indent="-101600" algn="ctr" defTabSz="1043056">
              <a:lnSpc>
                <a:spcPct val="90000"/>
              </a:lnSpc>
              <a:buClr>
                <a:srgbClr val="595959"/>
              </a:buClr>
              <a:buSzPct val="100000"/>
              <a:buFont typeface="Arial" charset="0"/>
              <a:buChar char="•"/>
              <a:tabLst>
                <a:tab pos="5648325" algn="l"/>
              </a:tabLst>
              <a:defRPr/>
            </a:pPr>
            <a:endParaRPr lang="ko-KR" altLang="en-US" sz="900" kern="0">
              <a:solidFill>
                <a:srgbClr val="777777"/>
              </a:solidFill>
              <a:latin typeface="HY신명조" pitchFamily="18" charset="-127"/>
              <a:ea typeface="HY신명조" pitchFamily="18" charset="-127"/>
              <a:sym typeface="Monotype Sorts"/>
            </a:endParaRPr>
          </a:p>
        </p:txBody>
      </p:sp>
      <p:sp>
        <p:nvSpPr>
          <p:cNvPr id="120" name="모서리가 둥근 직사각형 766"/>
          <p:cNvSpPr>
            <a:spLocks noChangeArrowheads="1"/>
          </p:cNvSpPr>
          <p:nvPr/>
        </p:nvSpPr>
        <p:spPr bwMode="gray">
          <a:xfrm>
            <a:off x="3952875" y="4725988"/>
            <a:ext cx="231140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92075" indent="-92075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  <a:buClr>
                <a:srgbClr val="262626"/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전장환경의 변화 적극수용</a:t>
            </a:r>
          </a:p>
          <a:p>
            <a:pPr>
              <a:lnSpc>
                <a:spcPct val="150000"/>
              </a:lnSpc>
              <a:buClr>
                <a:srgbClr val="262626"/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모델개발기술의 종속성 탈피</a:t>
            </a:r>
          </a:p>
          <a:p>
            <a:pPr>
              <a:lnSpc>
                <a:spcPct val="150000"/>
              </a:lnSpc>
              <a:buClr>
                <a:srgbClr val="262626"/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한국적 전장환경과 무기체계 모델 반영 </a:t>
            </a:r>
          </a:p>
          <a:p>
            <a:pPr>
              <a:lnSpc>
                <a:spcPct val="150000"/>
              </a:lnSpc>
              <a:buClr>
                <a:srgbClr val="262626"/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한국군 작전개념 및 모의 논리 개발</a:t>
            </a:r>
            <a:r>
              <a:rPr lang="en-US" altLang="ko-KR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적용</a:t>
            </a:r>
          </a:p>
        </p:txBody>
      </p:sp>
      <p:sp>
        <p:nvSpPr>
          <p:cNvPr id="121" name="TextBox 184"/>
          <p:cNvSpPr txBox="1">
            <a:spLocks noChangeArrowheads="1"/>
          </p:cNvSpPr>
          <p:nvPr/>
        </p:nvSpPr>
        <p:spPr bwMode="gray">
          <a:xfrm>
            <a:off x="4026923" y="4373815"/>
            <a:ext cx="2211556" cy="291770"/>
          </a:xfrm>
          <a:prstGeom prst="roundRect">
            <a:avLst>
              <a:gd name="adj" fmla="val 0"/>
            </a:avLst>
          </a:prstGeom>
          <a:gradFill flip="none" rotWithShape="1">
            <a:gsLst>
              <a:gs pos="50000">
                <a:srgbClr val="EAEAEA"/>
              </a:gs>
              <a:gs pos="51000">
                <a:schemeClr val="bg1">
                  <a:lumMod val="85000"/>
                </a:schemeClr>
              </a:gs>
            </a:gsLst>
            <a:lin ang="5400000" scaled="1"/>
            <a:tileRect/>
          </a:gradFill>
          <a:ln w="6350">
            <a:gradFill>
              <a:gsLst>
                <a:gs pos="0">
                  <a:schemeClr val="bg1">
                    <a:lumMod val="65000"/>
                  </a:schemeClr>
                </a:gs>
                <a:gs pos="50000">
                  <a:schemeClr val="bg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anchor="ctr"/>
          <a:lstStyle>
            <a:defPPr>
              <a:defRPr lang="ko-KR"/>
            </a:defPPr>
            <a:lvl1pPr marL="339725" indent="-339725" algn="ctr" defTabSz="1042988" eaLnBrk="0" latinLnBrk="0" hangingPunct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 sz="1150">
                <a:solidFill>
                  <a:schemeClr val="tx1">
                    <a:lumMod val="85000"/>
                    <a:lumOff val="15000"/>
                  </a:schemeClr>
                </a:solidFill>
                <a:latin typeface="HY신명조" pitchFamily="18" charset="-127"/>
                <a:ea typeface="HY신명조" pitchFamily="18" charset="-127"/>
              </a:defRPr>
            </a:lvl1pPr>
            <a:lvl2pPr marL="497845" defTabSz="995690" eaLnBrk="1" hangingPunct="1">
              <a:defRPr sz="2000">
                <a:solidFill>
                  <a:schemeClr val="lt1"/>
                </a:solidFill>
                <a:latin typeface="+mn-lt"/>
                <a:ea typeface="+mn-ea"/>
              </a:defRPr>
            </a:lvl2pPr>
            <a:lvl3pPr marL="995690" defTabSz="995690" eaLnBrk="1" hangingPunct="1">
              <a:defRPr sz="2000">
                <a:solidFill>
                  <a:schemeClr val="lt1"/>
                </a:solidFill>
                <a:latin typeface="+mn-lt"/>
                <a:ea typeface="+mn-ea"/>
              </a:defRPr>
            </a:lvl3pPr>
            <a:lvl4pPr marL="1493535" defTabSz="995690" eaLnBrk="1" hangingPunct="1">
              <a:defRPr sz="2000">
                <a:solidFill>
                  <a:schemeClr val="lt1"/>
                </a:solidFill>
                <a:latin typeface="+mn-lt"/>
                <a:ea typeface="+mn-ea"/>
              </a:defRPr>
            </a:lvl4pPr>
            <a:lvl5pPr marL="1991380" defTabSz="995690" eaLnBrk="1" hangingPunct="1">
              <a:defRPr sz="2000">
                <a:solidFill>
                  <a:schemeClr val="lt1"/>
                </a:solidFill>
                <a:latin typeface="+mn-lt"/>
                <a:ea typeface="+mn-ea"/>
              </a:defRPr>
            </a:lvl5pPr>
            <a:lvl6pPr marL="2489225" defTabSz="995690">
              <a:defRPr sz="2000">
                <a:solidFill>
                  <a:schemeClr val="lt1"/>
                </a:solidFill>
                <a:latin typeface="+mn-lt"/>
                <a:ea typeface="+mn-ea"/>
              </a:defRPr>
            </a:lvl6pPr>
            <a:lvl7pPr marL="2987070" defTabSz="995690">
              <a:defRPr sz="2000">
                <a:solidFill>
                  <a:schemeClr val="lt1"/>
                </a:solidFill>
                <a:latin typeface="+mn-lt"/>
                <a:ea typeface="+mn-ea"/>
              </a:defRPr>
            </a:lvl7pPr>
            <a:lvl8pPr marL="3484916" defTabSz="995690">
              <a:defRPr sz="2000">
                <a:solidFill>
                  <a:schemeClr val="lt1"/>
                </a:solidFill>
                <a:latin typeface="+mn-lt"/>
                <a:ea typeface="+mn-ea"/>
              </a:defRPr>
            </a:lvl8pPr>
            <a:lvl9pPr marL="3982761" defTabSz="995690">
              <a:defRPr sz="2000"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ko-KR" altLang="en-US" b="1" err="1">
                <a:solidFill>
                  <a:schemeClr val="tx1">
                    <a:lumMod val="95000"/>
                    <a:lumOff val="5000"/>
                  </a:schemeClr>
                </a:solidFill>
                <a:sym typeface="Monotype Sorts"/>
              </a:rPr>
              <a:t>실체계</a:t>
            </a:r>
            <a:r>
              <a:rPr lang="ko-KR" altLang="en-US" b="1">
                <a:solidFill>
                  <a:schemeClr val="tx1">
                    <a:lumMod val="95000"/>
                    <a:lumOff val="5000"/>
                  </a:schemeClr>
                </a:solidFill>
                <a:sym typeface="Monotype Sorts"/>
              </a:rPr>
              <a:t> 연동을 통한 실전적 연습</a:t>
            </a:r>
          </a:p>
        </p:txBody>
      </p:sp>
      <p:sp>
        <p:nvSpPr>
          <p:cNvPr id="122" name="모서리가 둥근 직사각형 121"/>
          <p:cNvSpPr/>
          <p:nvPr/>
        </p:nvSpPr>
        <p:spPr bwMode="gray">
          <a:xfrm flipV="1">
            <a:off x="580800" y="7514789"/>
            <a:ext cx="2470150" cy="1546690"/>
          </a:xfrm>
          <a:prstGeom prst="roundRect">
            <a:avLst>
              <a:gd name="adj" fmla="val 3650"/>
            </a:avLst>
          </a:prstGeom>
          <a:solidFill>
            <a:schemeClr val="bg1"/>
          </a:solidFill>
          <a:ln w="12700" cap="flat" cmpd="sng" algn="ctr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5000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  <a:prstDash val="solid"/>
          </a:ln>
          <a:effectLst>
            <a:outerShdw blurRad="38100" dist="12700" dir="540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101600" indent="-101600" algn="ctr" defTabSz="1043056">
              <a:lnSpc>
                <a:spcPct val="90000"/>
              </a:lnSpc>
              <a:buClr>
                <a:srgbClr val="595959"/>
              </a:buClr>
              <a:buSzPct val="100000"/>
              <a:buFont typeface="Arial" charset="0"/>
              <a:buChar char="•"/>
              <a:tabLst>
                <a:tab pos="5648325" algn="l"/>
              </a:tabLst>
              <a:defRPr/>
            </a:pPr>
            <a:endParaRPr lang="ko-KR" altLang="en-US" sz="900" kern="0">
              <a:solidFill>
                <a:srgbClr val="777777"/>
              </a:solidFill>
              <a:latin typeface="HY신명조" pitchFamily="18" charset="-127"/>
              <a:ea typeface="HY신명조" pitchFamily="18" charset="-127"/>
              <a:sym typeface="Monotype Sorts"/>
            </a:endParaRPr>
          </a:p>
        </p:txBody>
      </p:sp>
      <p:sp>
        <p:nvSpPr>
          <p:cNvPr id="123" name="모서리가 둥근 직사각형 766"/>
          <p:cNvSpPr>
            <a:spLocks noChangeArrowheads="1"/>
          </p:cNvSpPr>
          <p:nvPr/>
        </p:nvSpPr>
        <p:spPr bwMode="gray">
          <a:xfrm>
            <a:off x="663575" y="7715250"/>
            <a:ext cx="2311400" cy="1346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92075" indent="-92075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1042988"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Clr>
                <a:srgbClr val="262626"/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야전 및 신규 교리에 의한 개선으로 실전성 향상 </a:t>
            </a:r>
          </a:p>
          <a:p>
            <a:pPr>
              <a:lnSpc>
                <a:spcPct val="120000"/>
              </a:lnSpc>
              <a:buClr>
                <a:srgbClr val="262626"/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인터페이스 개선으로 사용자 편의성 향상</a:t>
            </a:r>
          </a:p>
          <a:p>
            <a:pPr>
              <a:lnSpc>
                <a:spcPct val="120000"/>
              </a:lnSpc>
              <a:buClr>
                <a:srgbClr val="262626"/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성능개량 향상 </a:t>
            </a:r>
          </a:p>
          <a:p>
            <a:pPr>
              <a:lnSpc>
                <a:spcPct val="120000"/>
              </a:lnSpc>
              <a:buClr>
                <a:srgbClr val="262626"/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운용상 문제점 개선으로 태극</a:t>
            </a:r>
            <a:r>
              <a:rPr lang="en-US" altLang="ko-KR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안정성 향상</a:t>
            </a:r>
          </a:p>
        </p:txBody>
      </p:sp>
      <p:sp>
        <p:nvSpPr>
          <p:cNvPr id="124" name="TextBox 184"/>
          <p:cNvSpPr txBox="1">
            <a:spLocks noChangeArrowheads="1"/>
          </p:cNvSpPr>
          <p:nvPr/>
        </p:nvSpPr>
        <p:spPr bwMode="gray">
          <a:xfrm>
            <a:off x="697936" y="7348567"/>
            <a:ext cx="2211556" cy="291542"/>
          </a:xfrm>
          <a:prstGeom prst="roundRect">
            <a:avLst>
              <a:gd name="adj" fmla="val 0"/>
            </a:avLst>
          </a:prstGeom>
          <a:gradFill flip="none" rotWithShape="1">
            <a:gsLst>
              <a:gs pos="50000">
                <a:srgbClr val="EAEAEA"/>
              </a:gs>
              <a:gs pos="51000">
                <a:schemeClr val="bg1">
                  <a:lumMod val="85000"/>
                </a:schemeClr>
              </a:gs>
            </a:gsLst>
            <a:lin ang="5400000" scaled="1"/>
            <a:tileRect/>
          </a:gradFill>
          <a:ln w="6350">
            <a:gradFill>
              <a:gsLst>
                <a:gs pos="0">
                  <a:schemeClr val="bg1">
                    <a:lumMod val="65000"/>
                  </a:schemeClr>
                </a:gs>
                <a:gs pos="50000">
                  <a:schemeClr val="bg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anchor="ctr"/>
          <a:lstStyle>
            <a:defPPr>
              <a:defRPr lang="ko-KR"/>
            </a:defPPr>
            <a:lvl1pPr marL="339725" indent="-339725" algn="ctr" defTabSz="1042988" eaLnBrk="0" latinLnBrk="0" hangingPunct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 sz="1150">
                <a:solidFill>
                  <a:schemeClr val="tx1">
                    <a:lumMod val="85000"/>
                    <a:lumOff val="15000"/>
                  </a:schemeClr>
                </a:solidFill>
                <a:latin typeface="HY신명조" pitchFamily="18" charset="-127"/>
                <a:ea typeface="HY신명조" pitchFamily="18" charset="-127"/>
              </a:defRPr>
            </a:lvl1pPr>
            <a:lvl2pPr marL="497845" defTabSz="995690" eaLnBrk="1" hangingPunct="1">
              <a:defRPr sz="2000">
                <a:solidFill>
                  <a:schemeClr val="lt1"/>
                </a:solidFill>
                <a:latin typeface="+mn-lt"/>
                <a:ea typeface="+mn-ea"/>
              </a:defRPr>
            </a:lvl2pPr>
            <a:lvl3pPr marL="995690" defTabSz="995690" eaLnBrk="1" hangingPunct="1">
              <a:defRPr sz="2000">
                <a:solidFill>
                  <a:schemeClr val="lt1"/>
                </a:solidFill>
                <a:latin typeface="+mn-lt"/>
                <a:ea typeface="+mn-ea"/>
              </a:defRPr>
            </a:lvl3pPr>
            <a:lvl4pPr marL="1493535" defTabSz="995690" eaLnBrk="1" hangingPunct="1">
              <a:defRPr sz="2000">
                <a:solidFill>
                  <a:schemeClr val="lt1"/>
                </a:solidFill>
                <a:latin typeface="+mn-lt"/>
                <a:ea typeface="+mn-ea"/>
              </a:defRPr>
            </a:lvl4pPr>
            <a:lvl5pPr marL="1991380" defTabSz="995690" eaLnBrk="1" hangingPunct="1">
              <a:defRPr sz="2000">
                <a:solidFill>
                  <a:schemeClr val="lt1"/>
                </a:solidFill>
                <a:latin typeface="+mn-lt"/>
                <a:ea typeface="+mn-ea"/>
              </a:defRPr>
            </a:lvl5pPr>
            <a:lvl6pPr marL="2489225" defTabSz="995690">
              <a:defRPr sz="2000">
                <a:solidFill>
                  <a:schemeClr val="lt1"/>
                </a:solidFill>
                <a:latin typeface="+mn-lt"/>
                <a:ea typeface="+mn-ea"/>
              </a:defRPr>
            </a:lvl6pPr>
            <a:lvl7pPr marL="2987070" defTabSz="995690">
              <a:defRPr sz="2000">
                <a:solidFill>
                  <a:schemeClr val="lt1"/>
                </a:solidFill>
                <a:latin typeface="+mn-lt"/>
                <a:ea typeface="+mn-ea"/>
              </a:defRPr>
            </a:lvl7pPr>
            <a:lvl8pPr marL="3484916" defTabSz="995690">
              <a:defRPr sz="2000">
                <a:solidFill>
                  <a:schemeClr val="lt1"/>
                </a:solidFill>
                <a:latin typeface="+mn-lt"/>
                <a:ea typeface="+mn-ea"/>
              </a:defRPr>
            </a:lvl8pPr>
            <a:lvl9pPr marL="3982761" defTabSz="995690">
              <a:defRPr sz="2000"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altLang="ko-KR" b="1">
                <a:solidFill>
                  <a:schemeClr val="tx1">
                    <a:lumMod val="95000"/>
                    <a:lumOff val="5000"/>
                  </a:schemeClr>
                </a:solidFill>
                <a:sym typeface="Monotype Sorts"/>
              </a:rPr>
              <a:t>DB</a:t>
            </a:r>
            <a:r>
              <a:rPr lang="ko-KR" altLang="en-US" b="1">
                <a:solidFill>
                  <a:schemeClr val="tx1">
                    <a:lumMod val="95000"/>
                    <a:lumOff val="5000"/>
                  </a:schemeClr>
                </a:solidFill>
                <a:sym typeface="Monotype Sorts"/>
              </a:rPr>
              <a:t>구축을 통한 실전적 연습</a:t>
            </a:r>
          </a:p>
        </p:txBody>
      </p:sp>
      <p:grpSp>
        <p:nvGrpSpPr>
          <p:cNvPr id="125" name="그룹 76"/>
          <p:cNvGrpSpPr>
            <a:grpSpLocks/>
          </p:cNvGrpSpPr>
          <p:nvPr/>
        </p:nvGrpSpPr>
        <p:grpSpPr bwMode="auto">
          <a:xfrm>
            <a:off x="3844925" y="7348538"/>
            <a:ext cx="2470150" cy="1712912"/>
            <a:chOff x="516359" y="7232080"/>
            <a:chExt cx="2470404" cy="1713606"/>
          </a:xfrm>
        </p:grpSpPr>
        <p:sp>
          <p:nvSpPr>
            <p:cNvPr id="126" name="모서리가 둥근 직사각형 125"/>
            <p:cNvSpPr/>
            <p:nvPr/>
          </p:nvSpPr>
          <p:spPr bwMode="gray">
            <a:xfrm flipV="1">
              <a:off x="516359" y="7398369"/>
              <a:ext cx="2470404" cy="1547316"/>
            </a:xfrm>
            <a:prstGeom prst="roundRect">
              <a:avLst>
                <a:gd name="adj" fmla="val 3650"/>
              </a:avLst>
            </a:prstGeom>
            <a:solidFill>
              <a:schemeClr val="bg1"/>
            </a:solidFill>
            <a:ln w="12700" cap="flat" cmpd="sng" algn="ctr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38100" dist="12700" dir="5400000" algn="t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101600" indent="-101600" algn="ctr" defTabSz="1043056">
                <a:lnSpc>
                  <a:spcPct val="90000"/>
                </a:lnSpc>
                <a:buClr>
                  <a:srgbClr val="595959"/>
                </a:buClr>
                <a:buSzPct val="100000"/>
                <a:buFont typeface="Arial" charset="0"/>
                <a:buChar char="•"/>
                <a:tabLst>
                  <a:tab pos="5648325" algn="l"/>
                </a:tabLst>
                <a:defRPr/>
              </a:pPr>
              <a:endParaRPr lang="ko-KR" altLang="en-US" sz="900" kern="0">
                <a:solidFill>
                  <a:srgbClr val="777777"/>
                </a:solidFill>
                <a:latin typeface="HY신명조" pitchFamily="18" charset="-127"/>
                <a:ea typeface="HY신명조" pitchFamily="18" charset="-127"/>
                <a:sym typeface="Monotype Sorts"/>
              </a:endParaRPr>
            </a:p>
          </p:txBody>
        </p:sp>
        <p:sp>
          <p:nvSpPr>
            <p:cNvPr id="127" name="모서리가 둥근 직사각형 766"/>
            <p:cNvSpPr>
              <a:spLocks noChangeArrowheads="1"/>
            </p:cNvSpPr>
            <p:nvPr/>
          </p:nvSpPr>
          <p:spPr bwMode="gray">
            <a:xfrm>
              <a:off x="624064" y="7599350"/>
              <a:ext cx="2311948" cy="1346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92075" indent="-92075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국방 </a:t>
              </a:r>
              <a:r>
                <a:rPr lang="ko-KR" altLang="en-US" sz="1000" err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워게임</a:t>
              </a: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 모델 기술 발전</a:t>
              </a:r>
            </a:p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최신 기술 활용으로 노하우 축적</a:t>
              </a:r>
            </a:p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실전과 같은 전장환경 제공으로 훈련효과 극대화 </a:t>
              </a:r>
            </a:p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국방 </a:t>
              </a:r>
              <a:r>
                <a:rPr lang="en-US" altLang="ko-KR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Modeling &amp; Simulation </a:t>
              </a: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기술 향상</a:t>
              </a:r>
            </a:p>
          </p:txBody>
        </p:sp>
        <p:sp>
          <p:nvSpPr>
            <p:cNvPr id="128" name="TextBox 184"/>
            <p:cNvSpPr txBox="1">
              <a:spLocks noChangeArrowheads="1"/>
            </p:cNvSpPr>
            <p:nvPr/>
          </p:nvSpPr>
          <p:spPr bwMode="gray">
            <a:xfrm>
              <a:off x="698376" y="7232080"/>
              <a:ext cx="2211783" cy="29166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rgbClr val="EAEAEA"/>
                </a:gs>
                <a:gs pos="51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anchor="ctr"/>
            <a:lstStyle>
              <a:defPPr>
                <a:defRPr lang="ko-KR"/>
              </a:defPPr>
              <a:lvl1pPr marL="339725" indent="-339725"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defRPr>
              </a:lvl1pPr>
              <a:lvl2pPr marL="497845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2pPr>
              <a:lvl3pPr marL="995690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3pPr>
              <a:lvl4pPr marL="1493535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4pPr>
              <a:lvl5pPr marL="1991380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5pPr>
              <a:lvl6pPr marL="2489225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6pPr>
              <a:lvl7pPr marL="2987070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7pPr>
              <a:lvl8pPr marL="3484916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8pPr>
              <a:lvl9pPr marL="3982761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9pPr>
            </a:lstStyle>
            <a:p>
              <a:pPr>
                <a:defRPr/>
              </a:pPr>
              <a:r>
                <a:rPr lang="ko-KR" altLang="en-US" b="1">
                  <a:solidFill>
                    <a:schemeClr val="tx1">
                      <a:lumMod val="95000"/>
                      <a:lumOff val="5000"/>
                    </a:schemeClr>
                  </a:solidFill>
                  <a:sym typeface="Monotype Sorts"/>
                </a:rPr>
                <a:t>효율적인 연습 효과달성</a:t>
              </a:r>
            </a:p>
          </p:txBody>
        </p:sp>
      </p:grpSp>
      <p:sp>
        <p:nvSpPr>
          <p:cNvPr id="48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Ⅱ - 6</a:t>
            </a:r>
          </a:p>
        </p:txBody>
      </p:sp>
    </p:spTree>
    <p:extLst>
      <p:ext uri="{BB962C8B-B14F-4D97-AF65-F5344CB8AC3E}">
        <p14:creationId xmlns:p14="http://schemas.microsoft.com/office/powerpoint/2010/main" val="291287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추진전략</a:t>
            </a:r>
          </a:p>
        </p:txBody>
      </p:sp>
      <p:sp>
        <p:nvSpPr>
          <p:cNvPr id="10" name="Rectangle 169"/>
          <p:cNvSpPr>
            <a:spLocks noChangeArrowheads="1"/>
          </p:cNvSpPr>
          <p:nvPr/>
        </p:nvSpPr>
        <p:spPr bwMode="auto">
          <a:xfrm>
            <a:off x="395288" y="2924175"/>
            <a:ext cx="6054725" cy="6499225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C0C0C0"/>
            </a:solidFill>
            <a:miter lim="800000"/>
            <a:headEnd/>
            <a:tailEnd/>
          </a:ln>
          <a:effectLst>
            <a:outerShdw dist="17961" dir="2700000" algn="ctr" rotWithShape="0">
              <a:srgbClr val="C9D2DD"/>
            </a:outerShdw>
          </a:effec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>
            <a:off x="296863" y="793750"/>
            <a:ext cx="6242050" cy="1702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kumimoji="0" lang="ko-KR" altLang="en-US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추진전략</a:t>
            </a:r>
            <a:endParaRPr kumimoji="0" lang="en-US" altLang="ko-KR" sz="16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dist" eaLnBrk="1" latinLnBrk="1" hangingPunct="1">
              <a:lnSpc>
                <a:spcPct val="125000"/>
              </a:lnSpc>
            </a:pP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본 사업은 태극연습을 지원하는 태극JOS모델에 대해 </a:t>
            </a:r>
            <a:r>
              <a:rPr lang="ko-KR" altLang="en-US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</a:t>
            </a:r>
            <a:r>
              <a:rPr lang="en-US" altLang="ko-KR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정기적인 회의를 통한 사업수행결과 평가 및 방향결정  나</a:t>
            </a:r>
            <a:r>
              <a:rPr lang="en-US" altLang="ko-KR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적용규정 및 지침에 의거 산출물에 대한 검토 및 평가</a:t>
            </a:r>
            <a:r>
              <a:rPr lang="en-US" altLang="ko-KR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다</a:t>
            </a:r>
            <a:r>
              <a:rPr lang="en-US" altLang="ko-KR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품질 및 위험관리는 유지보수 전담기관의 업무 프로세스 </a:t>
            </a:r>
            <a:r>
              <a:rPr lang="en-US" altLang="ko-KR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라</a:t>
            </a:r>
            <a:r>
              <a:rPr lang="en-US" altLang="ko-KR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사업추진 방향이나 내용의 긴급수정이 요구되는 사안 발생시 사전협의 및 승인하에 조치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 가능한 체계구축이 달성되어 </a:t>
            </a: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실전적인 한국군의 전투지휘훈련 모델로 위상을 </a:t>
            </a:r>
            <a:r>
              <a:rPr lang="ko-KR" altLang="ko-KR" sz="12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제고시키는</a:t>
            </a:r>
            <a:r>
              <a:rPr lang="ko-KR" altLang="en-US" sz="12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게</a:t>
            </a: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추진전략 입니다</a:t>
            </a: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ko-KR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24" name="Group 35"/>
          <p:cNvGrpSpPr>
            <a:grpSpLocks/>
          </p:cNvGrpSpPr>
          <p:nvPr/>
        </p:nvGrpSpPr>
        <p:grpSpPr bwMode="auto">
          <a:xfrm>
            <a:off x="374650" y="2495675"/>
            <a:ext cx="6116638" cy="357188"/>
            <a:chOff x="236" y="2167"/>
            <a:chExt cx="3853" cy="225"/>
          </a:xfrm>
        </p:grpSpPr>
        <p:grpSp>
          <p:nvGrpSpPr>
            <p:cNvPr id="25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27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추진전략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580798" y="2998955"/>
            <a:ext cx="5418940" cy="1663420"/>
            <a:chOff x="580798" y="2998955"/>
            <a:chExt cx="5418940" cy="1663420"/>
          </a:xfrm>
        </p:grpSpPr>
        <p:sp>
          <p:nvSpPr>
            <p:cNvPr id="41" name="모서리가 둥근 직사각형 40"/>
            <p:cNvSpPr/>
            <p:nvPr/>
          </p:nvSpPr>
          <p:spPr bwMode="gray">
            <a:xfrm rot="10800000" flipV="1">
              <a:off x="580798" y="3258375"/>
              <a:ext cx="5418939" cy="1404000"/>
            </a:xfrm>
            <a:prstGeom prst="roundRect">
              <a:avLst>
                <a:gd name="adj" fmla="val 3650"/>
              </a:avLst>
            </a:prstGeom>
            <a:solidFill>
              <a:schemeClr val="bg1"/>
            </a:solidFill>
            <a:ln w="12700" cap="flat" cmpd="sng" algn="ctr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38100" dist="12700" dir="5400000" algn="t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101600" indent="-101600" algn="ctr" defTabSz="1043056">
                <a:lnSpc>
                  <a:spcPct val="150000"/>
                </a:lnSpc>
                <a:buClr>
                  <a:srgbClr val="595959"/>
                </a:buClr>
                <a:buSzPct val="100000"/>
                <a:buFont typeface="Arial" charset="0"/>
                <a:buChar char="•"/>
                <a:tabLst>
                  <a:tab pos="5648325" algn="l"/>
                </a:tabLst>
                <a:defRPr/>
              </a:pPr>
              <a:endParaRPr lang="ko-KR" altLang="en-US" sz="900" kern="0">
                <a:solidFill>
                  <a:srgbClr val="777777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endParaRPr>
            </a:p>
          </p:txBody>
        </p:sp>
        <p:sp>
          <p:nvSpPr>
            <p:cNvPr id="42" name="모서리가 둥근 직사각형 766"/>
            <p:cNvSpPr>
              <a:spLocks noChangeArrowheads="1"/>
            </p:cNvSpPr>
            <p:nvPr/>
          </p:nvSpPr>
          <p:spPr bwMode="gray">
            <a:xfrm>
              <a:off x="631430" y="3301915"/>
              <a:ext cx="5368308" cy="1346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92075" indent="-92075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태극</a:t>
              </a:r>
              <a:r>
                <a:rPr lang="en-US" altLang="ko-KR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JOS </a:t>
              </a:r>
              <a:r>
                <a:rPr lang="ko-KR" altLang="en-US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모델에 대한 안정적 유지관리 지속 수행</a:t>
              </a:r>
              <a:endParaRPr lang="en-US" altLang="ko-KR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연습 준비단계 자료구축 지원 및 관련 프로그램 보완</a:t>
              </a:r>
              <a:endParaRPr lang="en-US" altLang="ko-KR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연습 실시단계에서의 안정적인 모델운용 지원 및 오류 수정</a:t>
              </a:r>
              <a:endParaRPr lang="en-US" altLang="ko-KR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연습 및 훈련 후 발생하는 사용자 요구사항 검토</a:t>
              </a:r>
              <a:r>
                <a:rPr lang="en-US" altLang="ko-KR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, </a:t>
              </a:r>
              <a:r>
                <a:rPr lang="ko-KR" altLang="en-US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개선 조치</a:t>
              </a:r>
              <a:endParaRPr lang="en-US" altLang="ko-KR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전투 모의논리 수정 및 관련 </a:t>
              </a:r>
              <a:r>
                <a:rPr lang="ko-KR" altLang="en-US" sz="1000" b="1" err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인수값</a:t>
              </a:r>
              <a:r>
                <a:rPr lang="ko-KR" altLang="en-US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 분석 연구</a:t>
              </a:r>
              <a:endParaRPr lang="en-US" altLang="ko-KR" sz="10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43" name="TextBox 184"/>
            <p:cNvSpPr txBox="1">
              <a:spLocks noChangeArrowheads="1"/>
            </p:cNvSpPr>
            <p:nvPr/>
          </p:nvSpPr>
          <p:spPr bwMode="gray">
            <a:xfrm>
              <a:off x="697935" y="2998955"/>
              <a:ext cx="3828590" cy="291702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rgbClr val="EAEAEA"/>
                </a:gs>
                <a:gs pos="51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anchor="ctr"/>
            <a:lstStyle>
              <a:defPPr>
                <a:defRPr lang="ko-KR"/>
              </a:defPPr>
              <a:lvl1pPr marL="339725" indent="-339725"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defRPr>
              </a:lvl1pPr>
              <a:lvl2pPr marL="497845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2pPr>
              <a:lvl3pPr marL="995690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3pPr>
              <a:lvl4pPr marL="1493535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4pPr>
              <a:lvl5pPr marL="1991380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5pPr>
              <a:lvl6pPr marL="2489225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6pPr>
              <a:lvl7pPr marL="2987070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7pPr>
              <a:lvl8pPr marL="3484916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8pPr>
              <a:lvl9pPr marL="3982761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9pPr>
            </a:lstStyle>
            <a:p>
              <a:pPr algn="l">
                <a:buFont typeface="Wingdings" pitchFamily="2" charset="2"/>
                <a:buChar char="ü"/>
                <a:defRPr/>
              </a:pPr>
              <a:r>
                <a:rPr lang="ko-KR" altLang="en-US" sz="1100" b="1">
                  <a:solidFill>
                    <a:schemeClr val="tx1"/>
                  </a:solidFill>
                  <a:sym typeface="Monotype Sorts"/>
                </a:rPr>
                <a:t>추진 목표 이행</a:t>
              </a:r>
            </a:p>
          </p:txBody>
        </p:sp>
      </p:grpSp>
      <p:grpSp>
        <p:nvGrpSpPr>
          <p:cNvPr id="9216" name="그룹 9215"/>
          <p:cNvGrpSpPr/>
          <p:nvPr/>
        </p:nvGrpSpPr>
        <p:grpSpPr>
          <a:xfrm>
            <a:off x="528073" y="4852214"/>
            <a:ext cx="5471664" cy="969711"/>
            <a:chOff x="528073" y="4789674"/>
            <a:chExt cx="5471664" cy="969711"/>
          </a:xfrm>
        </p:grpSpPr>
        <p:sp>
          <p:nvSpPr>
            <p:cNvPr id="44" name="모서리가 둥근 직사각형 43"/>
            <p:cNvSpPr/>
            <p:nvPr/>
          </p:nvSpPr>
          <p:spPr bwMode="gray">
            <a:xfrm rot="10800000" flipV="1">
              <a:off x="528073" y="5056419"/>
              <a:ext cx="5471664" cy="702966"/>
            </a:xfrm>
            <a:prstGeom prst="roundRect">
              <a:avLst>
                <a:gd name="adj" fmla="val 3650"/>
              </a:avLst>
            </a:prstGeom>
            <a:solidFill>
              <a:schemeClr val="bg1"/>
            </a:solidFill>
            <a:ln w="12700" cap="flat" cmpd="sng" algn="ctr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38100" dist="12700" dir="5400000" algn="t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101600" indent="-101600" algn="ctr" defTabSz="1043056">
                <a:lnSpc>
                  <a:spcPct val="90000"/>
                </a:lnSpc>
                <a:buClr>
                  <a:srgbClr val="595959"/>
                </a:buClr>
                <a:buSzPct val="100000"/>
                <a:buFont typeface="Arial" charset="0"/>
                <a:buChar char="•"/>
                <a:tabLst>
                  <a:tab pos="5648325" algn="l"/>
                </a:tabLst>
                <a:defRPr/>
              </a:pPr>
              <a:endParaRPr lang="ko-KR" altLang="en-US" sz="900" kern="0">
                <a:solidFill>
                  <a:srgbClr val="777777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endParaRPr>
            </a:p>
          </p:txBody>
        </p:sp>
        <p:sp>
          <p:nvSpPr>
            <p:cNvPr id="45" name="모서리가 둥근 직사각형 766"/>
            <p:cNvSpPr>
              <a:spLocks noChangeArrowheads="1"/>
            </p:cNvSpPr>
            <p:nvPr/>
          </p:nvSpPr>
          <p:spPr bwMode="gray">
            <a:xfrm>
              <a:off x="636024" y="5096127"/>
              <a:ext cx="5363711" cy="61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92075" indent="-92075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유지보수 전담기관에서 수립한 품질</a:t>
              </a:r>
              <a:r>
                <a:rPr lang="en-US" altLang="ko-KR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/</a:t>
              </a: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위험관리는 절차에 따라 수행</a:t>
              </a:r>
              <a:endParaRPr lang="en-US" altLang="ko-KR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적용규정</a:t>
              </a:r>
              <a:r>
                <a:rPr lang="en-US" altLang="ko-KR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/</a:t>
              </a: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지침에 의거 산출물에 대한 검토 및 평가</a:t>
              </a:r>
            </a:p>
          </p:txBody>
        </p:sp>
        <p:sp>
          <p:nvSpPr>
            <p:cNvPr id="46" name="TextBox 184"/>
            <p:cNvSpPr txBox="1">
              <a:spLocks noChangeArrowheads="1"/>
            </p:cNvSpPr>
            <p:nvPr/>
          </p:nvSpPr>
          <p:spPr bwMode="gray">
            <a:xfrm>
              <a:off x="700549" y="4789674"/>
              <a:ext cx="3825976" cy="29177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rgbClr val="EAEAEA"/>
                </a:gs>
                <a:gs pos="51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anchor="ctr"/>
            <a:lstStyle>
              <a:defPPr>
                <a:defRPr lang="ko-KR"/>
              </a:defPPr>
              <a:lvl1pPr marL="339725" indent="-339725"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defRPr>
              </a:lvl1pPr>
              <a:lvl2pPr marL="497845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2pPr>
              <a:lvl3pPr marL="995690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3pPr>
              <a:lvl4pPr marL="1493535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4pPr>
              <a:lvl5pPr marL="1991380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5pPr>
              <a:lvl6pPr marL="2489225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6pPr>
              <a:lvl7pPr marL="2987070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7pPr>
              <a:lvl8pPr marL="3484916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8pPr>
              <a:lvl9pPr marL="3982761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9pPr>
            </a:lstStyle>
            <a:p>
              <a:pPr algn="l">
                <a:buFont typeface="Wingdings" pitchFamily="2" charset="2"/>
                <a:buChar char="ü"/>
                <a:defRPr/>
              </a:pPr>
              <a:r>
                <a:rPr lang="ko-KR" altLang="en-US" sz="1100" b="1">
                  <a:solidFill>
                    <a:schemeClr val="tx1"/>
                  </a:solidFill>
                  <a:sym typeface="Monotype Sorts"/>
                </a:rPr>
                <a:t>체계적인 유지보수 업무 프로세스 수립 및 수행</a:t>
              </a:r>
            </a:p>
          </p:txBody>
        </p:sp>
      </p:grpSp>
      <p:grpSp>
        <p:nvGrpSpPr>
          <p:cNvPr id="9217" name="그룹 9216"/>
          <p:cNvGrpSpPr/>
          <p:nvPr/>
        </p:nvGrpSpPr>
        <p:grpSpPr>
          <a:xfrm>
            <a:off x="528071" y="6011764"/>
            <a:ext cx="5471665" cy="969711"/>
            <a:chOff x="528071" y="6062563"/>
            <a:chExt cx="5471665" cy="969711"/>
          </a:xfrm>
        </p:grpSpPr>
        <p:sp>
          <p:nvSpPr>
            <p:cNvPr id="54" name="모서리가 둥근 직사각형 53"/>
            <p:cNvSpPr/>
            <p:nvPr/>
          </p:nvSpPr>
          <p:spPr bwMode="gray">
            <a:xfrm rot="10800000" flipV="1">
              <a:off x="528071" y="6329308"/>
              <a:ext cx="5471665" cy="702966"/>
            </a:xfrm>
            <a:prstGeom prst="roundRect">
              <a:avLst>
                <a:gd name="adj" fmla="val 3650"/>
              </a:avLst>
            </a:prstGeom>
            <a:solidFill>
              <a:schemeClr val="bg1"/>
            </a:solidFill>
            <a:ln w="12700" cap="flat" cmpd="sng" algn="ctr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38100" dist="12700" dir="5400000" algn="t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101600" indent="-101600" algn="ctr" defTabSz="1043056">
                <a:lnSpc>
                  <a:spcPct val="90000"/>
                </a:lnSpc>
                <a:buClr>
                  <a:srgbClr val="595959"/>
                </a:buClr>
                <a:buSzPct val="100000"/>
                <a:buFont typeface="Arial" charset="0"/>
                <a:buChar char="•"/>
                <a:tabLst>
                  <a:tab pos="5648325" algn="l"/>
                </a:tabLst>
                <a:defRPr/>
              </a:pPr>
              <a:endParaRPr lang="ko-KR" altLang="en-US" sz="900" kern="0">
                <a:solidFill>
                  <a:srgbClr val="777777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endParaRPr>
            </a:p>
          </p:txBody>
        </p:sp>
        <p:sp>
          <p:nvSpPr>
            <p:cNvPr id="55" name="모서리가 둥근 직사각형 766"/>
            <p:cNvSpPr>
              <a:spLocks noChangeArrowheads="1"/>
            </p:cNvSpPr>
            <p:nvPr/>
          </p:nvSpPr>
          <p:spPr bwMode="gray">
            <a:xfrm>
              <a:off x="631430" y="6369016"/>
              <a:ext cx="5368306" cy="61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92075" indent="-92075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풍부한 경험과 기술을 갖춘 인력을 확보</a:t>
              </a:r>
              <a:r>
                <a:rPr lang="en-US" altLang="ko-KR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, </a:t>
              </a: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즉각 업무 수행 가능</a:t>
              </a:r>
              <a:endParaRPr lang="en-US" altLang="ko-KR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지속적인 교육을 통해 전문성 강화</a:t>
              </a:r>
            </a:p>
          </p:txBody>
        </p:sp>
        <p:sp>
          <p:nvSpPr>
            <p:cNvPr id="56" name="TextBox 184"/>
            <p:cNvSpPr txBox="1">
              <a:spLocks noChangeArrowheads="1"/>
            </p:cNvSpPr>
            <p:nvPr/>
          </p:nvSpPr>
          <p:spPr bwMode="gray">
            <a:xfrm>
              <a:off x="699721" y="6062563"/>
              <a:ext cx="3826803" cy="29177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rgbClr val="EAEAEA"/>
                </a:gs>
                <a:gs pos="51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anchor="ctr"/>
            <a:lstStyle>
              <a:defPPr>
                <a:defRPr lang="ko-KR"/>
              </a:defPPr>
              <a:lvl1pPr marL="339725" indent="-339725"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defRPr>
              </a:lvl1pPr>
              <a:lvl2pPr marL="497845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2pPr>
              <a:lvl3pPr marL="995690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3pPr>
              <a:lvl4pPr marL="1493535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4pPr>
              <a:lvl5pPr marL="1991380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5pPr>
              <a:lvl6pPr marL="2489225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6pPr>
              <a:lvl7pPr marL="2987070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7pPr>
              <a:lvl8pPr marL="3484916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8pPr>
              <a:lvl9pPr marL="3982761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9pPr>
            </a:lstStyle>
            <a:p>
              <a:pPr algn="l">
                <a:buFont typeface="Wingdings" pitchFamily="2" charset="2"/>
                <a:buChar char="ü"/>
                <a:defRPr/>
              </a:pPr>
              <a:r>
                <a:rPr lang="ko-KR" altLang="en-US" sz="1100" b="1">
                  <a:solidFill>
                    <a:schemeClr val="tx1"/>
                  </a:solidFill>
                  <a:sym typeface="Monotype Sorts"/>
                </a:rPr>
                <a:t>전문 인력 확보 및 교육</a:t>
              </a:r>
            </a:p>
          </p:txBody>
        </p:sp>
      </p:grpSp>
      <p:grpSp>
        <p:nvGrpSpPr>
          <p:cNvPr id="9219" name="그룹 9218"/>
          <p:cNvGrpSpPr/>
          <p:nvPr/>
        </p:nvGrpSpPr>
        <p:grpSpPr>
          <a:xfrm>
            <a:off x="528072" y="7171314"/>
            <a:ext cx="5471665" cy="969711"/>
            <a:chOff x="528072" y="7234518"/>
            <a:chExt cx="5471665" cy="969711"/>
          </a:xfrm>
        </p:grpSpPr>
        <p:sp>
          <p:nvSpPr>
            <p:cNvPr id="57" name="모서리가 둥근 직사각형 56"/>
            <p:cNvSpPr/>
            <p:nvPr/>
          </p:nvSpPr>
          <p:spPr bwMode="gray">
            <a:xfrm rot="10800000" flipV="1">
              <a:off x="528072" y="7501263"/>
              <a:ext cx="5471665" cy="702966"/>
            </a:xfrm>
            <a:prstGeom prst="roundRect">
              <a:avLst>
                <a:gd name="adj" fmla="val 3650"/>
              </a:avLst>
            </a:prstGeom>
            <a:solidFill>
              <a:schemeClr val="bg1"/>
            </a:solidFill>
            <a:ln w="12700" cap="flat" cmpd="sng" algn="ctr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38100" dist="12700" dir="5400000" algn="t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101600" indent="-101600" algn="ctr" defTabSz="1043056">
                <a:lnSpc>
                  <a:spcPct val="90000"/>
                </a:lnSpc>
                <a:buClr>
                  <a:srgbClr val="595959"/>
                </a:buClr>
                <a:buSzPct val="100000"/>
                <a:buFont typeface="Arial" charset="0"/>
                <a:buChar char="•"/>
                <a:tabLst>
                  <a:tab pos="5648325" algn="l"/>
                </a:tabLst>
                <a:defRPr/>
              </a:pPr>
              <a:endParaRPr lang="ko-KR" altLang="en-US" sz="900" kern="0">
                <a:solidFill>
                  <a:srgbClr val="777777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endParaRPr>
            </a:p>
          </p:txBody>
        </p:sp>
        <p:sp>
          <p:nvSpPr>
            <p:cNvPr id="58" name="모서리가 둥근 직사각형 766"/>
            <p:cNvSpPr>
              <a:spLocks noChangeArrowheads="1"/>
            </p:cNvSpPr>
            <p:nvPr/>
          </p:nvSpPr>
          <p:spPr bwMode="gray">
            <a:xfrm>
              <a:off x="631430" y="7540971"/>
              <a:ext cx="5368304" cy="61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92075" indent="-92075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회의를 통한 정기적인 소통</a:t>
              </a:r>
              <a:r>
                <a:rPr lang="en-US" altLang="ko-KR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, </a:t>
              </a: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개발 진행상황 공유</a:t>
              </a:r>
              <a:endParaRPr lang="en-US" altLang="ko-KR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적용규정</a:t>
              </a:r>
              <a:r>
                <a:rPr lang="en-US" altLang="ko-KR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/</a:t>
              </a: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지침에 의거 산출물에 대한 검토 및 평가</a:t>
              </a:r>
            </a:p>
          </p:txBody>
        </p:sp>
        <p:sp>
          <p:nvSpPr>
            <p:cNvPr id="59" name="TextBox 184"/>
            <p:cNvSpPr txBox="1">
              <a:spLocks noChangeArrowheads="1"/>
            </p:cNvSpPr>
            <p:nvPr/>
          </p:nvSpPr>
          <p:spPr bwMode="gray">
            <a:xfrm>
              <a:off x="700549" y="7234518"/>
              <a:ext cx="3825975" cy="29177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rgbClr val="EAEAEA"/>
                </a:gs>
                <a:gs pos="51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anchor="ctr"/>
            <a:lstStyle>
              <a:defPPr>
                <a:defRPr lang="ko-KR"/>
              </a:defPPr>
              <a:lvl1pPr marL="339725" indent="-339725"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defRPr>
              </a:lvl1pPr>
              <a:lvl2pPr marL="497845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2pPr>
              <a:lvl3pPr marL="995690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3pPr>
              <a:lvl4pPr marL="1493535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4pPr>
              <a:lvl5pPr marL="1991380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5pPr>
              <a:lvl6pPr marL="2489225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6pPr>
              <a:lvl7pPr marL="2987070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7pPr>
              <a:lvl8pPr marL="3484916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8pPr>
              <a:lvl9pPr marL="3982761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9pPr>
            </a:lstStyle>
            <a:p>
              <a:pPr algn="l">
                <a:buFont typeface="Wingdings" pitchFamily="2" charset="2"/>
                <a:buChar char="ü"/>
                <a:defRPr/>
              </a:pPr>
              <a:r>
                <a:rPr lang="ko-KR" altLang="en-US" sz="1100" b="1">
                  <a:solidFill>
                    <a:schemeClr val="tx1"/>
                  </a:solidFill>
                  <a:sym typeface="Monotype Sorts"/>
                </a:rPr>
                <a:t>긴밀한 협력 및 요구사항 반영</a:t>
              </a:r>
            </a:p>
          </p:txBody>
        </p:sp>
      </p:grpSp>
      <p:grpSp>
        <p:nvGrpSpPr>
          <p:cNvPr id="9220" name="그룹 9219"/>
          <p:cNvGrpSpPr/>
          <p:nvPr/>
        </p:nvGrpSpPr>
        <p:grpSpPr>
          <a:xfrm>
            <a:off x="528071" y="8330864"/>
            <a:ext cx="5471668" cy="969711"/>
            <a:chOff x="528071" y="8330864"/>
            <a:chExt cx="5471668" cy="969711"/>
          </a:xfrm>
        </p:grpSpPr>
        <p:sp>
          <p:nvSpPr>
            <p:cNvPr id="60" name="모서리가 둥근 직사각형 59"/>
            <p:cNvSpPr/>
            <p:nvPr/>
          </p:nvSpPr>
          <p:spPr bwMode="gray">
            <a:xfrm rot="10800000" flipV="1">
              <a:off x="528071" y="8597609"/>
              <a:ext cx="5471668" cy="702966"/>
            </a:xfrm>
            <a:prstGeom prst="roundRect">
              <a:avLst>
                <a:gd name="adj" fmla="val 3650"/>
              </a:avLst>
            </a:prstGeom>
            <a:solidFill>
              <a:schemeClr val="bg1"/>
            </a:solidFill>
            <a:ln w="12700" cap="flat" cmpd="sng" algn="ctr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38100" dist="12700" dir="5400000" algn="t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101600" indent="-101600" algn="ctr" defTabSz="1043056">
                <a:lnSpc>
                  <a:spcPct val="90000"/>
                </a:lnSpc>
                <a:buClr>
                  <a:srgbClr val="595959"/>
                </a:buClr>
                <a:buSzPct val="100000"/>
                <a:buFont typeface="Arial" charset="0"/>
                <a:buChar char="•"/>
                <a:tabLst>
                  <a:tab pos="5648325" algn="l"/>
                </a:tabLst>
                <a:defRPr/>
              </a:pPr>
              <a:endParaRPr lang="ko-KR" altLang="en-US" sz="900" kern="0">
                <a:solidFill>
                  <a:srgbClr val="777777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endParaRPr>
            </a:p>
          </p:txBody>
        </p:sp>
        <p:sp>
          <p:nvSpPr>
            <p:cNvPr id="61" name="모서리가 둥근 직사각형 766"/>
            <p:cNvSpPr>
              <a:spLocks noChangeArrowheads="1"/>
            </p:cNvSpPr>
            <p:nvPr/>
          </p:nvSpPr>
          <p:spPr bwMode="gray">
            <a:xfrm>
              <a:off x="631430" y="8637317"/>
              <a:ext cx="5368308" cy="61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92075" indent="-92075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42988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 err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국방정보화업무</a:t>
              </a: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 훈령 등 국방 관련 규정 준수</a:t>
              </a:r>
              <a:endParaRPr lang="en-US" altLang="ko-KR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altLang="ko-KR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“</a:t>
              </a: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소프트웨어 개발보안 가이드</a:t>
              </a:r>
              <a:r>
                <a:rPr lang="en-US" altLang="ko-KR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”, “C </a:t>
              </a:r>
              <a:r>
                <a:rPr lang="ko-KR" altLang="en-US" sz="1000" err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시큐어</a:t>
              </a: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 코딩 가이드</a:t>
              </a:r>
              <a:r>
                <a:rPr lang="en-US" altLang="ko-KR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”</a:t>
              </a: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등 보안관련 가이드 라인 준수</a:t>
              </a:r>
              <a:endParaRPr lang="en-US" altLang="ko-KR" sz="10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>
                <a:lnSpc>
                  <a:spcPct val="150000"/>
                </a:lnSpc>
                <a:buClr>
                  <a:srgbClr val="262626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보안 요구사항 준수</a:t>
              </a:r>
            </a:p>
          </p:txBody>
        </p:sp>
        <p:sp>
          <p:nvSpPr>
            <p:cNvPr id="62" name="TextBox 184"/>
            <p:cNvSpPr txBox="1">
              <a:spLocks noChangeArrowheads="1"/>
            </p:cNvSpPr>
            <p:nvPr/>
          </p:nvSpPr>
          <p:spPr bwMode="gray">
            <a:xfrm>
              <a:off x="700549" y="8330864"/>
              <a:ext cx="3825975" cy="29177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rgbClr val="EAEAEA"/>
                </a:gs>
                <a:gs pos="51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anchor="ctr"/>
            <a:lstStyle>
              <a:defPPr>
                <a:defRPr lang="ko-KR"/>
              </a:defPPr>
              <a:lvl1pPr marL="339725" indent="-339725"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defRPr>
              </a:lvl1pPr>
              <a:lvl2pPr marL="497845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2pPr>
              <a:lvl3pPr marL="995690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3pPr>
              <a:lvl4pPr marL="1493535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4pPr>
              <a:lvl5pPr marL="1991380" defTabSz="995690" eaLnBrk="1" hangingPunct="1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5pPr>
              <a:lvl6pPr marL="2489225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6pPr>
              <a:lvl7pPr marL="2987070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7pPr>
              <a:lvl8pPr marL="3484916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8pPr>
              <a:lvl9pPr marL="3982761" defTabSz="995690">
                <a:defRPr sz="2000">
                  <a:solidFill>
                    <a:schemeClr val="lt1"/>
                  </a:solidFill>
                  <a:latin typeface="+mn-lt"/>
                  <a:ea typeface="+mn-ea"/>
                </a:defRPr>
              </a:lvl9pPr>
            </a:lstStyle>
            <a:p>
              <a:pPr algn="l">
                <a:buFont typeface="Wingdings" pitchFamily="2" charset="2"/>
                <a:buChar char="ü"/>
                <a:defRPr/>
              </a:pPr>
              <a:r>
                <a:rPr lang="ko-KR" altLang="en-US" sz="1100" b="1">
                  <a:solidFill>
                    <a:schemeClr val="tx1"/>
                  </a:solidFill>
                  <a:sym typeface="Monotype Sorts"/>
                </a:rPr>
                <a:t>사업 환경</a:t>
              </a:r>
            </a:p>
          </p:txBody>
        </p:sp>
      </p:grpSp>
      <p:sp>
        <p:nvSpPr>
          <p:cNvPr id="31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Ⅱ - 7</a:t>
            </a:r>
          </a:p>
        </p:txBody>
      </p:sp>
    </p:spTree>
    <p:extLst>
      <p:ext uri="{BB962C8B-B14F-4D97-AF65-F5344CB8AC3E}">
        <p14:creationId xmlns:p14="http://schemas.microsoft.com/office/powerpoint/2010/main" val="3083016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3.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추진체계</a:t>
            </a:r>
          </a:p>
        </p:txBody>
      </p:sp>
      <p:sp>
        <p:nvSpPr>
          <p:cNvPr id="6" name="Text Box 63"/>
          <p:cNvSpPr txBox="1">
            <a:spLocks noChangeArrowheads="1"/>
          </p:cNvSpPr>
          <p:nvPr/>
        </p:nvSpPr>
        <p:spPr bwMode="auto">
          <a:xfrm>
            <a:off x="296863" y="793750"/>
            <a:ext cx="6242050" cy="289156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kumimoji="0" lang="ko-KR" altLang="en-US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추진체계</a:t>
            </a:r>
            <a:endParaRPr kumimoji="0" lang="en-US" altLang="ko-KR" sz="16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en-US" altLang="ko-KR" sz="12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ko-KR" altLang="en-US" sz="14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추진목표</a:t>
            </a:r>
            <a:endParaRPr kumimoji="0" lang="en-US" altLang="ko-KR" sz="14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eaLnBrk="1" latin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ko-KR" altLang="en-US" sz="1200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모델에 대한 안정적 유지관리 </a:t>
            </a:r>
            <a:r>
              <a:rPr lang="ko-KR" altLang="en-US" sz="1200" spc="-50" err="1">
                <a:latin typeface="HY신명조" panose="02030600000101010101" pitchFamily="18" charset="-127"/>
                <a:ea typeface="HY신명조" panose="02030600000101010101" pitchFamily="18" charset="-127"/>
              </a:rPr>
              <a:t>지속수행</a:t>
            </a:r>
            <a:endParaRPr lang="en-US" altLang="ko-KR" sz="1200" spc="-5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 eaLnBrk="1" latin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ko-KR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연습 준비단계 </a:t>
            </a:r>
            <a:r>
              <a:rPr lang="ko-KR" altLang="en-US" sz="1200" spc="-50" err="1">
                <a:latin typeface="HY신명조" panose="02030600000101010101" pitchFamily="18" charset="-127"/>
                <a:ea typeface="HY신명조" panose="02030600000101010101" pitchFamily="18" charset="-127"/>
              </a:rPr>
              <a:t>자료구축</a:t>
            </a:r>
            <a:r>
              <a:rPr lang="ko-KR" altLang="en-US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 지원 및 관련 프로그램 보완</a:t>
            </a:r>
            <a:endParaRPr lang="en-US" altLang="ko-KR" sz="1200" spc="-5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 eaLnBrk="1" latin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ko-KR" altLang="en-US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 연습 실시단계에서의 안정적인 모델운용 지원 및 오류 수정</a:t>
            </a:r>
            <a:endParaRPr lang="en-US" altLang="ko-KR" sz="1200" spc="-5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 eaLnBrk="1" latin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ko-KR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연습 및 훈련 후 발생하는 사용자 요구사항 검토</a:t>
            </a:r>
            <a:r>
              <a:rPr lang="en-US" altLang="ko-KR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개선 조치</a:t>
            </a:r>
            <a:endParaRPr lang="en-US" altLang="ko-KR" sz="1200" spc="-5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 eaLnBrk="1" latin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ko-KR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전투 모의논리 수정 및 관련 </a:t>
            </a:r>
            <a:r>
              <a:rPr lang="ko-KR" altLang="en-US" sz="1200" spc="-50" err="1">
                <a:latin typeface="HY신명조" panose="02030600000101010101" pitchFamily="18" charset="-127"/>
                <a:ea typeface="HY신명조" panose="02030600000101010101" pitchFamily="18" charset="-127"/>
              </a:rPr>
              <a:t>인수값</a:t>
            </a:r>
            <a:r>
              <a:rPr lang="ko-KR" altLang="en-US" sz="1200" spc="-50">
                <a:latin typeface="HY신명조" panose="02030600000101010101" pitchFamily="18" charset="-127"/>
                <a:ea typeface="HY신명조" panose="02030600000101010101" pitchFamily="18" charset="-127"/>
              </a:rPr>
              <a:t> 분석 연구</a:t>
            </a:r>
            <a:endParaRPr lang="en-US" altLang="ko-KR" sz="1200" spc="-5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eaLnBrk="1" latinLnBrk="1" hangingPunct="1">
              <a:lnSpc>
                <a:spcPct val="140000"/>
              </a:lnSpc>
              <a:defRPr/>
            </a:pPr>
            <a:endParaRPr lang="en-US" altLang="ko-KR" sz="1200" spc="-5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eaLnBrk="1" latinLnBrk="1" hangingPunct="1">
              <a:lnSpc>
                <a:spcPct val="140000"/>
              </a:lnSpc>
              <a:defRPr/>
            </a:pPr>
            <a:r>
              <a:rPr kumimoji="0" lang="en-US" altLang="ko-KR" sz="12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ko-KR" altLang="en-US" sz="14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나</a:t>
            </a:r>
            <a:r>
              <a:rPr kumimoji="0" lang="en-US" altLang="ko-KR" sz="14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추진조직</a:t>
            </a:r>
            <a:endParaRPr kumimoji="0" lang="en-US" altLang="ko-KR" sz="14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 Box 63"/>
          <p:cNvSpPr txBox="1">
            <a:spLocks noChangeArrowheads="1"/>
          </p:cNvSpPr>
          <p:nvPr/>
        </p:nvSpPr>
        <p:spPr bwMode="auto">
          <a:xfrm>
            <a:off x="290513" y="5735940"/>
            <a:ext cx="6242050" cy="3231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en-US" altLang="ko-KR" sz="12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ko-KR" altLang="en-US" sz="14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다</a:t>
            </a:r>
            <a:r>
              <a:rPr kumimoji="0" lang="en-US" altLang="ko-KR" sz="14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대상체계</a:t>
            </a:r>
            <a:endParaRPr kumimoji="0" lang="en-US" altLang="ko-KR" sz="14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3"/>
          <p:cNvSpPr>
            <a:spLocks noChangeArrowheads="1"/>
          </p:cNvSpPr>
          <p:nvPr/>
        </p:nvSpPr>
        <p:spPr bwMode="auto">
          <a:xfrm>
            <a:off x="444500" y="6287053"/>
            <a:ext cx="5935663" cy="31051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endParaRPr lang="ko-KR" altLang="en-US"/>
          </a:p>
        </p:txBody>
      </p:sp>
      <p:pic>
        <p:nvPicPr>
          <p:cNvPr id="9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0413" y="6369603"/>
            <a:ext cx="5329237" cy="2957513"/>
          </a:xfrm>
          <a:prstGeom prst="rect">
            <a:avLst/>
          </a:prstGeom>
          <a:noFill/>
          <a:ln w="0" cap="flat" cmpd="sng" algn="ctr">
            <a:solidFill>
              <a:srgbClr val="333399"/>
            </a:solidFill>
            <a:prstDash val="solid"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</p:pic>
      <p:sp>
        <p:nvSpPr>
          <p:cNvPr id="10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Ⅱ - 8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88" y="3692013"/>
            <a:ext cx="5382271" cy="19637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88173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3.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추진체계</a:t>
            </a:r>
          </a:p>
        </p:txBody>
      </p:sp>
      <p:sp>
        <p:nvSpPr>
          <p:cNvPr id="6" name="Text Box 63"/>
          <p:cNvSpPr txBox="1">
            <a:spLocks noChangeArrowheads="1"/>
          </p:cNvSpPr>
          <p:nvPr/>
        </p:nvSpPr>
        <p:spPr bwMode="auto">
          <a:xfrm>
            <a:off x="296863" y="831555"/>
            <a:ext cx="6242050" cy="32476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라</a:t>
            </a:r>
            <a:r>
              <a:rPr kumimoji="0" lang="en-US" altLang="ko-KR" sz="14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업무수행 </a:t>
            </a:r>
            <a:r>
              <a:rPr kumimoji="0" lang="ko-KR" altLang="en-US" sz="140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조직별</a:t>
            </a:r>
            <a:r>
              <a:rPr kumimoji="0" lang="ko-KR" altLang="en-US" sz="140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역할</a:t>
            </a:r>
            <a:endParaRPr lang="en-US" altLang="ko-KR" sz="1200" spc="-5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296863" y="1252239"/>
            <a:ext cx="6242050" cy="75328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1200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200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유지보수 사업의 업무수행 </a:t>
            </a:r>
            <a:r>
              <a:rPr lang="ko-KR" altLang="en-US" sz="1200" spc="8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조직별</a:t>
            </a:r>
            <a:r>
              <a:rPr lang="ko-KR" altLang="en-US" sz="1200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역할은 다음과 같으며</a:t>
            </a:r>
            <a:r>
              <a:rPr lang="en-US" altLang="ko-KR" sz="1200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ko-KR" sz="1200" spc="8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en-US" altLang="ko-KR" sz="1200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유지보수 </a:t>
            </a:r>
            <a:r>
              <a:rPr lang="ko-KR" altLang="en-US" sz="1200" spc="4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전담기관과</a:t>
            </a:r>
            <a:r>
              <a:rPr lang="ko-KR" altLang="en-US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협력하여 업무의 효율성 증진</a:t>
            </a:r>
            <a:r>
              <a:rPr lang="en-US" altLang="ko-KR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모델의 최적화 및 안정화 향상에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크게 기여할 수 있도록 하겠습니다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11" name="Group 53"/>
          <p:cNvGrpSpPr>
            <a:grpSpLocks/>
          </p:cNvGrpSpPr>
          <p:nvPr/>
        </p:nvGrpSpPr>
        <p:grpSpPr bwMode="auto">
          <a:xfrm>
            <a:off x="385763" y="2098889"/>
            <a:ext cx="6116637" cy="357188"/>
            <a:chOff x="236" y="2167"/>
            <a:chExt cx="3853" cy="225"/>
          </a:xfrm>
        </p:grpSpPr>
        <p:grpSp>
          <p:nvGrpSpPr>
            <p:cNvPr id="12" name="Group 54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4" name="Picture 55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56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3" name="Text Box 57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업무수행 </a:t>
              </a:r>
              <a:r>
                <a:rPr lang="ko-KR" altLang="en-US" sz="1200" err="1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조직별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 역할</a:t>
              </a:r>
              <a:endParaRPr lang="en-US" altLang="ko-KR" sz="1200">
                <a:solidFill>
                  <a:srgbClr val="333333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sp>
        <p:nvSpPr>
          <p:cNvPr id="17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Ⅱ - 9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970019"/>
              </p:ext>
            </p:extLst>
          </p:nvPr>
        </p:nvGraphicFramePr>
        <p:xfrm>
          <a:off x="480209" y="2684700"/>
          <a:ext cx="5934879" cy="6510775"/>
        </p:xfrm>
        <a:graphic>
          <a:graphicData uri="http://schemas.openxmlformats.org/drawingml/2006/table">
            <a:tbl>
              <a:tblPr/>
              <a:tblGrid>
                <a:gridCol w="1062874">
                  <a:extLst>
                    <a:ext uri="{9D8B030D-6E8A-4147-A177-3AD203B41FA5}">
                      <a16:colId xmlns:a16="http://schemas.microsoft.com/office/drawing/2014/main" val="1413363827"/>
                    </a:ext>
                  </a:extLst>
                </a:gridCol>
                <a:gridCol w="1432257">
                  <a:extLst>
                    <a:ext uri="{9D8B030D-6E8A-4147-A177-3AD203B41FA5}">
                      <a16:colId xmlns:a16="http://schemas.microsoft.com/office/drawing/2014/main" val="3700244245"/>
                    </a:ext>
                  </a:extLst>
                </a:gridCol>
                <a:gridCol w="3439748">
                  <a:extLst>
                    <a:ext uri="{9D8B030D-6E8A-4147-A177-3AD203B41FA5}">
                      <a16:colId xmlns:a16="http://schemas.microsoft.com/office/drawing/2014/main" val="2907618636"/>
                    </a:ext>
                  </a:extLst>
                </a:gridCol>
              </a:tblGrid>
              <a:tr h="464454"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구 분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조 직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역 할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960404"/>
                  </a:ext>
                </a:extLst>
              </a:tr>
              <a:tr h="687238"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유지보수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통제기관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국방부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지능정보화정책관실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전담기관 사업실적 분석결과 검토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유지관리 예산 반영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478881"/>
                  </a:ext>
                </a:extLst>
              </a:tr>
              <a:tr h="675243"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유지보수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책임기관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합참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분석실험실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유지관리 사업관리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전담기관 사업실적 분석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운영결과 보고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627932"/>
                  </a:ext>
                </a:extLst>
              </a:tr>
              <a:tr h="2785275">
                <a:tc rowSpan="3"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유지보수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전담기관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PM</a:t>
                      </a: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유지보수팀장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프로젝트 총괄 관리 및 통제</a:t>
                      </a:r>
                      <a:b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예산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범위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인원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일정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위험관리 등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계약에 의한 업무 추진 활동을 효과적으로 감독하기 위한 </a:t>
                      </a:r>
                      <a:b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</a:b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관리체계 수립 및 조정 감독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각 부문 임무 부여 및 확인감독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이해당사자간 의사소통 문제점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역할 및 책임 범위 해결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조정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프로젝트 진척사항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문제점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위험요소 등을 보고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프로젝트 </a:t>
                      </a:r>
                      <a:b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</a:b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산출물 검토 및 인도 책임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사업수행 중 기술적 문제 해결 총괄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유지보수 전담기관 수행실적 보고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반기별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786756"/>
                  </a:ext>
                </a:extLst>
              </a:tr>
              <a:tr h="973704">
                <a:tc vMerge="1"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유지관리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수행팀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협력업체 포함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태극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JOS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모델 개선 및 유지관리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시스템 예방점검 및 비상조치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 요구사항 확정 시 시스템 개선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990902"/>
                  </a:ext>
                </a:extLst>
              </a:tr>
              <a:tr h="5038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행정실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계약 등 예산 및 인사관리 업무지원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시설 및 보안 관리  업무지원 등 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0" marR="0" lvl="0" indent="0" algn="l" defTabSz="839788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899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557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4.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사업추진 방법론</a:t>
            </a:r>
          </a:p>
        </p:txBody>
      </p:sp>
      <p:sp>
        <p:nvSpPr>
          <p:cNvPr id="9239" name="Text Box 63"/>
          <p:cNvSpPr txBox="1">
            <a:spLocks noChangeArrowheads="1"/>
          </p:cNvSpPr>
          <p:nvPr/>
        </p:nvSpPr>
        <p:spPr bwMode="auto">
          <a:xfrm>
            <a:off x="290513" y="831850"/>
            <a:ext cx="6242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kumimoji="0" lang="ko-KR" altLang="en-US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사업추진 방법론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296863" y="1226322"/>
            <a:ext cx="6242050" cy="75328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ko-KR" sz="12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</a:t>
            </a:r>
            <a:r>
              <a:rPr lang="ko-KR" altLang="en-US" sz="12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안사는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유지보수 전담기관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(KIDA)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 프로젝트 착수로부터 종료까지의 전 단계 추진에 있어서 범위관리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품질관리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자원관리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일정관리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위험관리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의사소통관리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보완 관리 등을 통해 범위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일정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자원 등을 관리하는데 협조하고 지원하겠습니다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11" name="Group 53"/>
          <p:cNvGrpSpPr>
            <a:grpSpLocks/>
          </p:cNvGrpSpPr>
          <p:nvPr/>
        </p:nvGrpSpPr>
        <p:grpSpPr bwMode="auto">
          <a:xfrm>
            <a:off x="385763" y="2003915"/>
            <a:ext cx="6116637" cy="357188"/>
            <a:chOff x="236" y="2167"/>
            <a:chExt cx="3853" cy="225"/>
          </a:xfrm>
        </p:grpSpPr>
        <p:grpSp>
          <p:nvGrpSpPr>
            <p:cNvPr id="12" name="Group 54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4" name="Picture 55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56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3" name="Text Box 57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사업추진 관리</a:t>
              </a:r>
              <a:r>
                <a:rPr lang="en-US" altLang="ko-KR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(1/2)</a:t>
              </a:r>
            </a:p>
          </p:txBody>
        </p:sp>
      </p:grpSp>
      <p:sp>
        <p:nvSpPr>
          <p:cNvPr id="16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432811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Ⅱ - 10</a:t>
            </a:r>
          </a:p>
        </p:txBody>
      </p:sp>
      <p:graphicFrame>
        <p:nvGraphicFramePr>
          <p:cNvPr id="17" name="Group 1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007116"/>
              </p:ext>
            </p:extLst>
          </p:nvPr>
        </p:nvGraphicFramePr>
        <p:xfrm>
          <a:off x="468313" y="2533480"/>
          <a:ext cx="6022976" cy="6578768"/>
        </p:xfrm>
        <a:graphic>
          <a:graphicData uri="http://schemas.openxmlformats.org/drawingml/2006/table">
            <a:tbl>
              <a:tblPr/>
              <a:tblGrid>
                <a:gridCol w="730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3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149"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구 분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착수 단계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수행</a:t>
                      </a: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통제 단계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종료 단계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산출물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381">
                <a:tc rowSpan="2"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형상관리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형상관리대상 식별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형상관리계획 수립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형상항목기준선 수립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형상변경 통제수행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백업 실시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형상관리 활동 최종점검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사업수행계획서 내 형상관리계획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86">
                <a:tc vMerge="1"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프로젝트 수행 기간 전반에 걸쳐 사업의 형상항목 식별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형상항목의 변경 사항 통제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형상상태 기록 및 유지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7095">
                <a:tc rowSpan="2"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자원관리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인적자원 관리계획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물적자원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관리계획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인력투입 실적관리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물적자원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관리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인력철수계획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장비철수계획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사업수행계획서 내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인력계획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정기보고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(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투입인력 현황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86">
                <a:tc vMerge="1"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필요자원을 적기에 경제적으로 조달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재배치하기 위한 절차 마련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적용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인적자원이 사업을 성공적으로 수행할 수 있도록 지도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동기부여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지시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교육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381">
                <a:tc rowSpan="2"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일정관리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공정계획 수립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공정표 작성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일정계획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실적관리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성과측정 및 분석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시정조치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최종 검수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종료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사업수행계획서 내 일정계획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86">
                <a:tc vMerge="1"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 범위 내에서 요구되는 모든 산출물과 자원을 포함하는 사업 일정 수립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계획대로 자원이 활용되는지 확인하고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진행 정도에 따라 일정을 조정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02369"/>
                  </a:ext>
                </a:extLst>
              </a:tr>
              <a:tr h="1398523">
                <a:tc rowSpan="2"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범위관리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사업수행계획서 수립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범위관리절차 수립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요구사항 정의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비용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납기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기술 모니터링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요구사항 변경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추적관리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변경요구사항 영향평가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요구사항 검증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승인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요구분석서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개선결과서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32294"/>
                  </a:ext>
                </a:extLst>
              </a:tr>
              <a:tr h="751381">
                <a:tc vMerge="1"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요구사항과 산출물을 파악하고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사업요구사항에 대한 고객의 이해 및 합의 도출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비용과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작업완료일을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예상할 수 있도록 작업을 관리 가능한 단위로 세분화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우발적인 범위 변경이 일정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비용 및 성능에 미치는 영향 평가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457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681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4.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사업추진 방법론</a:t>
            </a:r>
          </a:p>
        </p:txBody>
      </p:sp>
      <p:grpSp>
        <p:nvGrpSpPr>
          <p:cNvPr id="11" name="Group 53"/>
          <p:cNvGrpSpPr>
            <a:grpSpLocks/>
          </p:cNvGrpSpPr>
          <p:nvPr/>
        </p:nvGrpSpPr>
        <p:grpSpPr bwMode="auto">
          <a:xfrm>
            <a:off x="385763" y="870060"/>
            <a:ext cx="6116637" cy="357188"/>
            <a:chOff x="236" y="2167"/>
            <a:chExt cx="3853" cy="225"/>
          </a:xfrm>
        </p:grpSpPr>
        <p:grpSp>
          <p:nvGrpSpPr>
            <p:cNvPr id="12" name="Group 54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4" name="Picture 55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56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3" name="Text Box 57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사업추진 관리</a:t>
              </a:r>
              <a:r>
                <a:rPr lang="en-US" altLang="ko-KR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(2/2)</a:t>
              </a:r>
            </a:p>
          </p:txBody>
        </p:sp>
      </p:grpSp>
      <p:sp>
        <p:nvSpPr>
          <p:cNvPr id="10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432811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Ⅱ - 11</a:t>
            </a:r>
          </a:p>
        </p:txBody>
      </p:sp>
      <p:graphicFrame>
        <p:nvGraphicFramePr>
          <p:cNvPr id="16" name="Group 1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643268"/>
              </p:ext>
            </p:extLst>
          </p:nvPr>
        </p:nvGraphicFramePr>
        <p:xfrm>
          <a:off x="468313" y="1323721"/>
          <a:ext cx="6022976" cy="7791081"/>
        </p:xfrm>
        <a:graphic>
          <a:graphicData uri="http://schemas.openxmlformats.org/drawingml/2006/table">
            <a:tbl>
              <a:tblPr/>
              <a:tblGrid>
                <a:gridCol w="730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3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655">
                <a:tc>
                  <a:txBody>
                    <a:bodyPr/>
                    <a:lstStyle>
                      <a:lvl1pPr algn="l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algn="l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algn="l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algn="l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83978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구 분</a:t>
                      </a:r>
                    </a:p>
                  </a:txBody>
                  <a:tcPr marL="17492" marR="17492" marT="17489" marB="1748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착수 단계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수행</a:t>
                      </a: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통제 단계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종료 단계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산출물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5394">
                <a:tc rowSpan="2"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위험관리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위험관리계획 수립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위험요소 식별 및 정의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위험 원인분석 및 조치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위험요소분석 및 확인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위험완료보고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사업수행계획서 내 위험관리계획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위험요소 사전 식별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체계적으로 평가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특별관리 대상 위험 항목을 식별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평가 및 식별된 위험은 회피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수용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전환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완화시키는 조치 수행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9806">
                <a:tc rowSpan="2"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문서관리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문서표준 수립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단계별 문서 목록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산출물 제출계획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버전관리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배포관리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단계별 산출물 관리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최종산출물 검토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검수 산출물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016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단계별 산출물 및 보고서를 작성하며 정해진 일정에 제출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동일한 문서의 지속적 보완 및 체계적 관리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090">
                <a:tc rowSpan="2"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의사소통</a:t>
                      </a: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관리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사업착수계획 협의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이슈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위험요소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일정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형상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범위 변경 등의 분석 및 조치계획 보고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검수 시 적합성 판단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검수 결과 분석 조치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사업수행계획서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수시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정기보고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중간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최종 검수 보고서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발견되는 문제 및 이슈를 해결하기 위해 의사소통경로를 명확히 정의하고 이행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프로세스 효율성의 확립과 유지를 위해 의사소통을 통제하고 관리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02369"/>
                  </a:ext>
                </a:extLst>
              </a:tr>
              <a:tr h="1301217">
                <a:tc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품질관리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품질활동계획 수립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표준 및 절차 수립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품질검토 수행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자체감리 수행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 (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필요 시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테스트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튜닝 수행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품질활동결과 정리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시정조치 수행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사업수행계획서 내 품질보증계획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각종 품질 활동에 대한 시정조치결과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32294"/>
                  </a:ext>
                </a:extLst>
              </a:tr>
              <a:tr h="1301217">
                <a:tc rowSpan="2"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Arial" charset="0"/>
                        </a:rPr>
                        <a:t>보안관리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보안관리자 임명 및 교육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보안서약서 작성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 점검 시행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점검결과에 따른 조치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개선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관련 문서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세절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등 장비 포맷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 점검 확인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사업수행계획서 내 보안 관리계획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577600"/>
                  </a:ext>
                </a:extLst>
              </a:tr>
              <a:tr h="699102">
                <a:tc vMerge="1">
                  <a:txBody>
                    <a:bodyPr/>
                    <a:lstStyle/>
                    <a:p>
                      <a:pPr marL="0" marR="0" lvl="0" indent="0" algn="ctr" defTabSz="839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Arial" charset="0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정보보호를 위한 조직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관리절차 문서화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교육 등에 대한 정책 및 지침관리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시스템 구축을 수행하는 사무실에 대한 출입관리 통제 및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시건장치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설치</a:t>
                      </a: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457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209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94EE74CD-0D42-4DE0-CAE7-69589F6A0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" y="1909763"/>
            <a:ext cx="1625600" cy="16160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6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10000">
                <a:solidFill>
                  <a:schemeClr val="bg1"/>
                </a:solidFill>
                <a:latin typeface="Yoon 윤명조 540_TT" pitchFamily="18" charset="-127"/>
                <a:ea typeface="Yoon 윤명조 540_TT" pitchFamily="18" charset="-127"/>
              </a:rPr>
              <a:t>Ⅲ</a:t>
            </a:r>
          </a:p>
        </p:txBody>
      </p:sp>
      <p:sp>
        <p:nvSpPr>
          <p:cNvPr id="188419" name="Text Box 3">
            <a:extLst>
              <a:ext uri="{FF2B5EF4-FFF2-40B4-BE49-F238E27FC236}">
                <a16:creationId xmlns:a16="http://schemas.microsoft.com/office/drawing/2014/main" id="{86154D14-8B65-676B-94F6-506E28B87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75" y="2408238"/>
            <a:ext cx="2949575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3200" err="1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수행계획</a:t>
            </a:r>
            <a:endParaRPr lang="ko-KR" altLang="en-US" sz="320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C08F9830-8E8C-4E4A-E0E5-6044BD95C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4129088"/>
            <a:ext cx="3930650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>
                <a:latin typeface="Yoon 윤고딕 530_TT" pitchFamily="18" charset="-127"/>
                <a:ea typeface="Yoon 윤고딕 530_TT" pitchFamily="18" charset="-127"/>
              </a:rPr>
              <a:t>기능개선 및 운영</a:t>
            </a:r>
            <a:endParaRPr lang="en-US" altLang="ko-KR">
              <a:latin typeface="Yoon 윤고딕 530_TT" pitchFamily="18" charset="-127"/>
              <a:ea typeface="Yoon 윤고딕 530_TT" pitchFamily="18" charset="-127"/>
            </a:endParaRPr>
          </a:p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>
                <a:latin typeface="Yoon 윤고딕 530_TT" pitchFamily="18" charset="-127"/>
                <a:ea typeface="Yoon 윤고딕 530_TT" pitchFamily="18" charset="-127"/>
              </a:rPr>
              <a:t>연습지원 및 장애대응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Ⅲ - 1</a:t>
            </a:r>
          </a:p>
        </p:txBody>
      </p:sp>
      <p:sp>
        <p:nvSpPr>
          <p:cNvPr id="5126" name="Text Box 81"/>
          <p:cNvSpPr txBox="1">
            <a:spLocks noChangeArrowheads="1"/>
          </p:cNvSpPr>
          <p:nvPr/>
        </p:nvSpPr>
        <p:spPr bwMode="auto">
          <a:xfrm>
            <a:off x="315913" y="1265238"/>
            <a:ext cx="6165850" cy="16558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기능 요구사항</a:t>
            </a:r>
            <a:r>
              <a:rPr kumimoji="0"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(SFR, System Function Requirement)</a:t>
            </a:r>
            <a:endParaRPr lang="ko-KR" altLang="en-US" sz="180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0000"/>
              </a:lnSpc>
              <a:defRPr/>
            </a:pP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개선과제로 의결된 기능개선  요구사항에 대해 합참 </a:t>
            </a:r>
            <a:r>
              <a:rPr lang="en-US" altLang="ko-KR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“</a:t>
            </a:r>
            <a:r>
              <a:rPr lang="ko-KR" altLang="en-US" sz="1200" spc="1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워게임</a:t>
            </a:r>
            <a:r>
              <a:rPr lang="ko-KR" altLang="en-US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모델 개발 및 운영관리규정</a:t>
            </a:r>
            <a:r>
              <a:rPr lang="en-US" altLang="ko-KR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”</a:t>
            </a:r>
            <a:r>
              <a:rPr lang="ko-KR" altLang="en-US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에 의거한 형상관리절차에 따라 </a:t>
            </a:r>
            <a:r>
              <a:rPr lang="en-US" altLang="ko-KR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ko-KR" altLang="en-US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</a:t>
            </a:r>
            <a:r>
              <a:rPr lang="en-US" altLang="ko-KR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</a:t>
            </a:r>
            <a:r>
              <a:rPr lang="ko-KR" altLang="en-US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설계</a:t>
            </a:r>
            <a:r>
              <a:rPr lang="en-US" altLang="ko-KR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</a:t>
            </a:r>
            <a:r>
              <a:rPr lang="ko-KR" altLang="en-US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구현</a:t>
            </a:r>
            <a:r>
              <a:rPr lang="en-US" altLang="ko-KR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</a:t>
            </a:r>
            <a:r>
              <a:rPr lang="ko-KR" altLang="en-US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시험</a:t>
            </a:r>
            <a:r>
              <a:rPr lang="en-US" altLang="ko-KR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’</a:t>
            </a:r>
            <a:r>
              <a:rPr lang="ko-KR" altLang="en-US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절차를 거쳐 해당 과제의 기능개선을 수행하고</a:t>
            </a:r>
            <a:r>
              <a:rPr lang="en-US" altLang="ko-KR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반영시기 내에 운용환경에서 개선요구자의 최종 확인 후 개선과제를 완료하겠습니다</a:t>
            </a:r>
            <a:r>
              <a:rPr lang="en-US" altLang="ko-KR" sz="1200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ko-KR" sz="1200" spc="8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just" eaLnBrk="1" latinLnBrk="1" hangingPunct="1">
              <a:lnSpc>
                <a:spcPct val="120000"/>
              </a:lnSpc>
              <a:defRPr/>
            </a:pPr>
            <a:endParaRPr lang="en-US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기능개선 및 운영</a:t>
            </a:r>
          </a:p>
        </p:txBody>
      </p:sp>
      <p:sp>
        <p:nvSpPr>
          <p:cNvPr id="9239" name="Text Box 63"/>
          <p:cNvSpPr txBox="1">
            <a:spLocks noChangeArrowheads="1"/>
          </p:cNvSpPr>
          <p:nvPr/>
        </p:nvSpPr>
        <p:spPr bwMode="auto">
          <a:xfrm>
            <a:off x="290513" y="831850"/>
            <a:ext cx="6242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kumimoji="0" lang="ko-KR" altLang="en-US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기능개선 및 운영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85238" y="2899166"/>
            <a:ext cx="61179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en-US" altLang="ko-KR" dirty="0">
                <a:latin typeface="HY헤드라인M" pitchFamily="18" charset="-127"/>
                <a:ea typeface="HY헤드라인M" pitchFamily="18" charset="-127"/>
              </a:rPr>
              <a:t>1) </a:t>
            </a:r>
            <a:r>
              <a:rPr kumimoji="0" lang="ko-KR" altLang="en-US" dirty="0">
                <a:latin typeface="HY헤드라인M" pitchFamily="18" charset="-127"/>
                <a:ea typeface="HY헤드라인M" pitchFamily="18" charset="-127"/>
              </a:rPr>
              <a:t>직사화기 사격명령에 좌표 입력 사격 기능 추가</a:t>
            </a:r>
            <a:r>
              <a:rPr kumimoji="0" lang="en-US" altLang="ko-KR" dirty="0">
                <a:latin typeface="HY헤드라인M" pitchFamily="18" charset="-127"/>
                <a:ea typeface="HY헤드라인M" pitchFamily="18" charset="-127"/>
              </a:rPr>
              <a:t>(SFR-001)</a:t>
            </a:r>
          </a:p>
        </p:txBody>
      </p:sp>
      <p:graphicFrame>
        <p:nvGraphicFramePr>
          <p:cNvPr id="7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270958"/>
              </p:ext>
            </p:extLst>
          </p:nvPr>
        </p:nvGraphicFramePr>
        <p:xfrm>
          <a:off x="481013" y="3981025"/>
          <a:ext cx="5859462" cy="4109790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4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직사화기 사격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명령창에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[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좌표입력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]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사격이 가능토록 개선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9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현상태</a:t>
                      </a: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문제점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직사화기 사격 시 사격대상을 부대 및 표적물에 대해서만 사격이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가능토록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되어 있음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북한국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MDL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월경 시 경고사격과 대응사격 등 직접적인 부대 및 표적물이 아닌 임의지역에 사격이 요구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다양하고 실전적인 연습상황 구현을 위해서 직사화기 사격 기능에 임의좌표에 대한 사격기능 추가 필요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개선방안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직사화기 사격 명령창의 사격대상에 임의좌표 입력 기능을 추가하여 사격 모의가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가능토록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개선하고 부대 및 표적에 대한 피해는 모의제한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4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관련형상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입출력체계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전투모의체계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4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모델 반영시기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`25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년 전반기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374650" y="3197027"/>
            <a:ext cx="6116638" cy="357188"/>
            <a:chOff x="236" y="2167"/>
            <a:chExt cx="3853" cy="225"/>
          </a:xfrm>
        </p:grpSpPr>
        <p:grpSp>
          <p:nvGrpSpPr>
            <p:cNvPr id="11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3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2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 dirty="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직사화기 사격명령에 좌표 입력 사격 기능 추가 개선방안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" name="Text Box 1086"/>
          <p:cNvSpPr txBox="1">
            <a:spLocks noChangeArrowheads="1"/>
          </p:cNvSpPr>
          <p:nvPr/>
        </p:nvSpPr>
        <p:spPr bwMode="auto">
          <a:xfrm>
            <a:off x="4676775" y="407988"/>
            <a:ext cx="21304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기능개선 및 운영</a:t>
            </a: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285238" y="738158"/>
            <a:ext cx="61179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2) 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공중돌격의 공중수송수단 다수선택 기능 추가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 (SFR-002)</a:t>
            </a:r>
          </a:p>
        </p:txBody>
      </p:sp>
      <p:graphicFrame>
        <p:nvGraphicFramePr>
          <p:cNvPr id="13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125536"/>
              </p:ext>
            </p:extLst>
          </p:nvPr>
        </p:nvGraphicFramePr>
        <p:xfrm>
          <a:off x="512630" y="1979411"/>
          <a:ext cx="5832739" cy="6413844"/>
        </p:xfrm>
        <a:graphic>
          <a:graphicData uri="http://schemas.openxmlformats.org/drawingml/2006/table">
            <a:tbl>
              <a:tblPr/>
              <a:tblGrid>
                <a:gridCol w="1070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1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619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청군의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‘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공중돌격 명령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’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을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‘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헬기공중강습명령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’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처럼 보유한 모든 항공기를 선택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가능하개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개선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82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현상태</a:t>
                      </a: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문제점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수송헬기를 단일부대가 다수 보유하는 경우에도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1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개 기종만 선택가능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반면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‘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지상작전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육군항공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헬기공중강습명령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’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에서는 다수 선택 가능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보유한 항공기 기종 수와 탑재능력을 고려하여 부대를 일일이 부대 분리해야 하는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번거러움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발생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부대 분리 없이 명령 전송이 가능한 지상작전 헬기공중강습 명령 일부를 반영하여 개선 필요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38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개선방안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“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공중돌격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”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입력화면에서 임무수행 비행대대가 보유하고 있는 다수의 항공기를 선택할 수 있도록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명령창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UI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개선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선택한 다수의 항공기가 동일 임무를 수행하도록 모의논리 개선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관련형상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입출력체계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전투모의체계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031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모델 반영시기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`25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년 전반기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Ⅲ - 2</a:t>
            </a:r>
          </a:p>
        </p:txBody>
      </p: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374650" y="1100668"/>
            <a:ext cx="6116638" cy="357188"/>
            <a:chOff x="236" y="2167"/>
            <a:chExt cx="3853" cy="225"/>
          </a:xfrm>
        </p:grpSpPr>
        <p:grpSp>
          <p:nvGrpSpPr>
            <p:cNvPr id="8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0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공중돌격의 공중수송수단 다수선택 기능 추가 개선방안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0678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" name="Text Box 1086"/>
          <p:cNvSpPr txBox="1">
            <a:spLocks noChangeArrowheads="1"/>
          </p:cNvSpPr>
          <p:nvPr/>
        </p:nvSpPr>
        <p:spPr bwMode="auto">
          <a:xfrm>
            <a:off x="4676775" y="407988"/>
            <a:ext cx="21304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기능개선 및 운영</a:t>
            </a: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285238" y="738158"/>
            <a:ext cx="61179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3) 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포병사격 명령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kumimoji="0" lang="ko-KR" altLang="en-US" err="1">
                <a:latin typeface="HY헤드라인M" pitchFamily="18" charset="-127"/>
                <a:ea typeface="HY헤드라인M" pitchFamily="18" charset="-127"/>
              </a:rPr>
              <a:t>해안포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 사격 명령 통합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) 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기능개선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(SFR-003)</a:t>
            </a:r>
          </a:p>
        </p:txBody>
      </p:sp>
      <p:graphicFrame>
        <p:nvGraphicFramePr>
          <p:cNvPr id="13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456139"/>
              </p:ext>
            </p:extLst>
          </p:nvPr>
        </p:nvGraphicFramePr>
        <p:xfrm>
          <a:off x="481012" y="1890930"/>
          <a:ext cx="5939101" cy="6729155"/>
        </p:xfrm>
        <a:graphic>
          <a:graphicData uri="http://schemas.openxmlformats.org/drawingml/2006/table">
            <a:tbl>
              <a:tblPr/>
              <a:tblGrid>
                <a:gridCol w="109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07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사격 명령 삭제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-&gt;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포병사격 명령 활용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관련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DB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수정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속성제외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함정탑재장비 제외 등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포병에 의한 함정 및 함정탑재 전투장비 피해 반영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9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현상태</a:t>
                      </a: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문제점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대항군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운용중인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해안포는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76.2mm, 100mm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등 일반포병이지만 별도의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속성을 부여하여 모의하고 있음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해안포가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해군의 함정 탑재 무장으로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DB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에 잘못 반영됨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해안포병에 의한 함정피해가 미미함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사격과 포병사격 명령이 구분되어 운용되고 있음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32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개선방안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사격 명령 삭제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-&gt;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포병사격 명령 활용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해안포관련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DB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수정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해안포속성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제외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함정 탑재 장비 제외 등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포병에 의한 함정 및 함정탑재 전투장비 피해 반영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관련형상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전투모의체계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입출력체계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시나리오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DB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관리체계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모델 반영시기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`25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년 전반기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Ⅲ - 3</a:t>
            </a:r>
          </a:p>
        </p:txBody>
      </p: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374650" y="1130298"/>
            <a:ext cx="6116638" cy="357188"/>
            <a:chOff x="236" y="2167"/>
            <a:chExt cx="3853" cy="225"/>
          </a:xfrm>
        </p:grpSpPr>
        <p:grpSp>
          <p:nvGrpSpPr>
            <p:cNvPr id="11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6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포병사격 명령</a:t>
              </a:r>
              <a:r>
                <a:rPr lang="en-US" altLang="ko-KR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(</a:t>
              </a:r>
              <a:r>
                <a:rPr lang="ko-KR" altLang="en-US" sz="1200" err="1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해안포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 사격 명령 통합</a:t>
              </a:r>
              <a:r>
                <a:rPr lang="en-US" altLang="ko-KR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기능개선 개선방안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985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" name="Text Box 1086"/>
          <p:cNvSpPr txBox="1">
            <a:spLocks noChangeArrowheads="1"/>
          </p:cNvSpPr>
          <p:nvPr/>
        </p:nvSpPr>
        <p:spPr bwMode="auto">
          <a:xfrm>
            <a:off x="4676775" y="407988"/>
            <a:ext cx="21304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기능개선 및 운영</a:t>
            </a: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285238" y="738158"/>
            <a:ext cx="61179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4) </a:t>
            </a:r>
            <a:r>
              <a:rPr kumimoji="0" lang="ko-KR" altLang="en-US" err="1">
                <a:latin typeface="HY헤드라인M" pitchFamily="18" charset="-127"/>
                <a:ea typeface="HY헤드라인M" pitchFamily="18" charset="-127"/>
              </a:rPr>
              <a:t>해안포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 부대 갱도진지 점령 및 사격 기능 추가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(SFR-004)</a:t>
            </a:r>
          </a:p>
        </p:txBody>
      </p:sp>
      <p:graphicFrame>
        <p:nvGraphicFramePr>
          <p:cNvPr id="13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708593"/>
              </p:ext>
            </p:extLst>
          </p:nvPr>
        </p:nvGraphicFramePr>
        <p:xfrm>
          <a:off x="495300" y="1664334"/>
          <a:ext cx="5907864" cy="7295996"/>
        </p:xfrm>
        <a:graphic>
          <a:graphicData uri="http://schemas.openxmlformats.org/drawingml/2006/table">
            <a:tbl>
              <a:tblPr/>
              <a:tblGrid>
                <a:gridCol w="1084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3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81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45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해안포도 갱도포병운용으로 모의 반영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5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표적물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DB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에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부대 갱도 추가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30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현상태</a:t>
                      </a: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문제점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45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태극</a:t>
                      </a:r>
                      <a:r>
                        <a:rPr kumimoji="1" lang="en-US" altLang="ko-KR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JOS</a:t>
                      </a:r>
                      <a:r>
                        <a:rPr kumimoji="1" lang="ko-KR" altLang="en-US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모델</a:t>
                      </a:r>
                      <a:r>
                        <a:rPr kumimoji="1" lang="en-US" altLang="ko-KR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spc="-5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대항군</a:t>
                      </a:r>
                      <a:r>
                        <a:rPr kumimoji="1" lang="en-US" altLang="ko-KR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r>
                        <a:rPr kumimoji="1" lang="ko-KR" altLang="en-US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에서는 </a:t>
                      </a:r>
                      <a:r>
                        <a:rPr kumimoji="1" lang="ko-KR" altLang="en-US" sz="1100" b="0" i="0" u="none" strike="noStrike" cap="none" spc="-5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장사정포</a:t>
                      </a:r>
                      <a:r>
                        <a:rPr kumimoji="1" lang="ko-KR" altLang="en-US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부대에 한하여 갱도사격 등을 모의할 수 있는 바</a:t>
                      </a:r>
                      <a:r>
                        <a:rPr kumimoji="1" lang="en-US" altLang="ko-KR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갱도를 운용중인 </a:t>
                      </a:r>
                      <a:r>
                        <a:rPr kumimoji="1" lang="ko-KR" altLang="en-US" sz="1100" b="0" i="0" u="none" strike="noStrike" cap="none" spc="-5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</a:t>
                      </a:r>
                      <a:r>
                        <a:rPr kumimoji="1" lang="ko-KR" altLang="en-US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부대도 갱도포병운용을 모의할 수 있도록 형상개선 필요</a:t>
                      </a:r>
                      <a:endParaRPr kumimoji="1" lang="en-US" altLang="ko-KR" sz="1100" b="0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5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현 </a:t>
                      </a:r>
                      <a:r>
                        <a:rPr kumimoji="1" lang="ko-KR" altLang="en-US" sz="1100" b="0" i="0" u="none" strike="noStrike" cap="none" spc="-5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북한국</a:t>
                      </a:r>
                      <a:r>
                        <a:rPr kumimoji="1" lang="ko-KR" altLang="en-US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spc="-5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</a:t>
                      </a:r>
                      <a:r>
                        <a:rPr kumimoji="1" lang="ko-KR" altLang="en-US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부대는 갱도</a:t>
                      </a:r>
                      <a:r>
                        <a:rPr kumimoji="1" lang="en-US" altLang="ko-KR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spc="-5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동굴형</a:t>
                      </a:r>
                      <a:r>
                        <a:rPr kumimoji="1" lang="en-US" altLang="ko-KR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spc="-5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터널형</a:t>
                      </a:r>
                      <a:r>
                        <a:rPr kumimoji="1" lang="en-US" altLang="ko-KR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spc="-5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벙커형</a:t>
                      </a:r>
                      <a:r>
                        <a:rPr kumimoji="1" lang="ko-KR" altLang="en-US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등</a:t>
                      </a:r>
                      <a:r>
                        <a:rPr kumimoji="1" lang="en-US" altLang="ko-KR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r>
                        <a:rPr kumimoji="1" lang="ko-KR" altLang="en-US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에서 운용하고 있으나</a:t>
                      </a:r>
                      <a:r>
                        <a:rPr kumimoji="1" lang="en-US" altLang="ko-KR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갱도진지 점령 및 갱도사격 모의 제한</a:t>
                      </a:r>
                      <a:endParaRPr kumimoji="1" lang="en-US" altLang="ko-KR" sz="1100" b="0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15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개선방안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45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기존 갱도포병 운용을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장사정포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운용과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운용으로 분류하고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장사정포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운용과 동일한 모의를 수행할 수 있도록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운용에도 동일한 메뉴를 추가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5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보고서에 제공되는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‘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장사정포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부대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’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문구를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‘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갱도포병운용 부대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’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로 변경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5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해안포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부대 및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장사정포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특성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탄종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표적물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갱도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 DB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는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합동전투모의실에서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반영이 필요하며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반영을 위한 업무 지원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95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관련형상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입출력체계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전투모의체계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시나리오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DB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관리체계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모델 반영시기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`25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년 전반기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Ⅲ - 4</a:t>
            </a:r>
          </a:p>
        </p:txBody>
      </p: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374650" y="1054101"/>
            <a:ext cx="6116638" cy="357188"/>
            <a:chOff x="236" y="2167"/>
            <a:chExt cx="3853" cy="225"/>
          </a:xfrm>
        </p:grpSpPr>
        <p:grpSp>
          <p:nvGrpSpPr>
            <p:cNvPr id="11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6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 err="1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해안포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 부대 갱도진지 점령 및 사격 기능 추가 개선방안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717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Text Box 81"/>
          <p:cNvSpPr txBox="1">
            <a:spLocks noChangeArrowheads="1"/>
          </p:cNvSpPr>
          <p:nvPr/>
        </p:nvSpPr>
        <p:spPr bwMode="auto">
          <a:xfrm>
            <a:off x="315913" y="800100"/>
            <a:ext cx="6165850" cy="115570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나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운용</a:t>
            </a:r>
            <a:endParaRPr lang="ko-KR" altLang="en-US" sz="15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0000"/>
              </a:lnSpc>
              <a:defRPr/>
            </a:pP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6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z="1200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태극</a:t>
            </a:r>
            <a:r>
              <a:rPr lang="en-US" altLang="ko-KR" sz="1200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z="1200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모델을 구성하는 전투모의</a:t>
            </a:r>
            <a:r>
              <a:rPr lang="en-US" altLang="ko-KR" sz="1200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200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데이터 전달처리</a:t>
            </a:r>
            <a:r>
              <a:rPr lang="en-US" altLang="ko-KR" sz="1200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200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시나리오</a:t>
            </a:r>
            <a:r>
              <a:rPr lang="en-US" altLang="ko-KR" sz="1200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200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관리</a:t>
            </a:r>
            <a:r>
              <a:rPr lang="en-US" altLang="ko-KR" sz="1200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입출력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연동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사후검토 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6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 체계에 대하여 유지보수를 수행하겠습니다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  <a:p>
            <a:pPr algn="just" eaLnBrk="1" latinLnBrk="1" hangingPunct="1">
              <a:lnSpc>
                <a:spcPct val="120000"/>
              </a:lnSpc>
              <a:defRPr/>
            </a:pPr>
            <a:r>
              <a:rPr lang="ko-KR" altLang="en-US" sz="1200" spc="-2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상시운용과</a:t>
            </a:r>
            <a:r>
              <a:rPr lang="ko-KR" altLang="en-US" sz="1200" spc="-2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연습 시 모델 운용을 지원하며</a:t>
            </a:r>
            <a:r>
              <a:rPr lang="en-US" altLang="ko-KR" sz="1200" spc="-2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-2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장애 발생 시에도 적극적으로 조치하겠습니다</a:t>
            </a:r>
            <a:r>
              <a:rPr lang="en-US" altLang="ko-KR" sz="1200" spc="-2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기능개선 및 운영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85238" y="1964266"/>
            <a:ext cx="61179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1) 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유지보수 요구사항 총괄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(MPR-001)</a:t>
            </a:r>
          </a:p>
        </p:txBody>
      </p:sp>
      <p:graphicFrame>
        <p:nvGraphicFramePr>
          <p:cNvPr id="10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03012"/>
              </p:ext>
            </p:extLst>
          </p:nvPr>
        </p:nvGraphicFramePr>
        <p:xfrm>
          <a:off x="481013" y="2724151"/>
          <a:ext cx="5859462" cy="6388099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80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유지보수 대상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목록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전투모의체계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데이터전달처리체계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시나리오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관리체계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입출력체계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연동체계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사후검토체계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유지보수 대상 상용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목록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상황도 솔루션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</a:t>
                      </a:r>
                      <a:r>
                        <a:rPr kumimoji="1" lang="en-US" altLang="ko-KR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GoonInMap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대상 정보체계에 대한 기술지원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운영 중인 프로그램 점검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개선 및 안정화 등 수행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DB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개선 지원과 환경관리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튜닝 포함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시스템 장애 발생 시 원인분석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장애복구 등 수행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수시 사용자 문의에 따른 모델 기술지원 수행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대상 정보체계에 대한 운영지원 부분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 관리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인력관리 지원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∙ </a:t>
                      </a:r>
                      <a:r>
                        <a:rPr kumimoji="1" lang="ko-KR" altLang="en-US" sz="1100" b="0" i="0" u="none" strike="noStrike" kern="1200" cap="none" spc="-12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자체 보안 점검 및 신원조회</a:t>
                      </a:r>
                      <a:r>
                        <a:rPr kumimoji="1" lang="en-US" altLang="ko-KR" sz="1100" b="0" i="0" u="none" strike="noStrike" kern="1200" cap="none" spc="-12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spc="-12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인원</a:t>
                      </a:r>
                      <a:r>
                        <a:rPr lang="en-US" altLang="ko-KR" sz="1100" kern="1200" spc="-120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100" b="0" i="0" u="none" strike="noStrike" kern="1200" cap="none" spc="-12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차량 출입증 관리</a:t>
                      </a:r>
                      <a:r>
                        <a:rPr kumimoji="1" lang="en-US" altLang="ko-KR" sz="1100" b="0" i="0" u="none" strike="noStrike" kern="1200" cap="none" spc="-12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spc="-12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정보통신 장비 등록  등 협조</a:t>
                      </a:r>
                      <a:endParaRPr kumimoji="1" lang="en-US" altLang="ko-KR" sz="1100" b="0" i="0" u="none" strike="noStrike" kern="1200" cap="none" spc="-12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∙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사이버사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취약점 분석 평가지원 조치 등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형상관리 지원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∙ 변경내용 확인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반영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형상관리위원회 계획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개최결과 반영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체계관리 및 운용 지원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∙ 체계접속 및 체계운용 관제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PC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상용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패치 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∙ 기능개선 소요제기 및 관리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취약점 진단 및 후속 조치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제안사의 수행범위는 발주기관과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제안사가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상호협의하여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결정하고 품질 수준은 발주기관 사업총괄책임자의 통제에 따름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Ⅲ - 5</a:t>
            </a:r>
          </a:p>
        </p:txBody>
      </p: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374650" y="2286000"/>
            <a:ext cx="6116638" cy="357188"/>
            <a:chOff x="236" y="2167"/>
            <a:chExt cx="3853" cy="225"/>
          </a:xfrm>
        </p:grpSpPr>
        <p:grpSp>
          <p:nvGrpSpPr>
            <p:cNvPr id="9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2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1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응용</a:t>
              </a:r>
              <a:r>
                <a:rPr lang="en-US" altLang="ko-KR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SW 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유지보수 및 운영지원 등 과업 요구사항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기능개선 및 운영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85238" y="762000"/>
            <a:ext cx="61179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2) 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계획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/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일반 유지보수 수행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(MPR-002)</a:t>
            </a:r>
          </a:p>
        </p:txBody>
      </p:sp>
      <p:graphicFrame>
        <p:nvGraphicFramePr>
          <p:cNvPr id="10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626224"/>
              </p:ext>
            </p:extLst>
          </p:nvPr>
        </p:nvGraphicFramePr>
        <p:xfrm>
          <a:off x="481013" y="2299696"/>
          <a:ext cx="5859462" cy="6471610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16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계획 유지보수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관련 법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제도 변경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 편의성 증대 등 사전에 소요 제기한 기능에 대한 유지보수 및 개발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`25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년 계획유지보수 항목을 분기별 이행 시한 내에 개발 완료 후 실적 확인 및 보고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일반 유지보수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체계의 안정적 운영 및 성능 향상을 위한 프로그램 최적화 활동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 요구사항에 따른 기능 추가 및 개선사항에 대한 유지보수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체계운영 간 발생한 각종 장애</a:t>
                      </a:r>
                      <a:r>
                        <a:rPr kumimoji="1" lang="en-US" altLang="ko-KR" sz="11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오류 및 버그</a:t>
                      </a:r>
                      <a:r>
                        <a:rPr kumimoji="1" lang="en-US" altLang="ko-KR" sz="11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1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등 비정상적 작동의 수정 및 보완</a:t>
                      </a:r>
                      <a:endParaRPr kumimoji="1" lang="en-US" altLang="ko-KR" sz="11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취약점 분석</a:t>
                      </a:r>
                      <a:r>
                        <a:rPr kumimoji="1" lang="en-US" altLang="ko-KR" sz="11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1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평가 결과에 따른 문제점 해결 및 사전 예방</a:t>
                      </a:r>
                      <a:r>
                        <a:rPr kumimoji="1" lang="en-US" altLang="ko-KR" sz="11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1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대응대책 강구</a:t>
                      </a:r>
                      <a:endParaRPr kumimoji="1" lang="en-US" altLang="ko-KR" sz="11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사전에 인지하지 못하여 계획 유지보수에 반영하지 못한 유지보수 사항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다음 사전 식별된 계획유지보수 사항에 대해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제안사는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발주기관 사업총괄책임자의 통제를 받아 이상 없이 수행하여야 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수행하게 될 항목은 발주기관과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상호협의하여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계획함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계획유지보수 세부 요구사항에 대해서는 요청 시 담당자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입회하에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가능한 범위 내에서 설명 및 열람 가능함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계약 기간 중 형상관리절차에 따라 접수되는 일반 유지보수 요구사항에 대해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제안사는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발주기관 사업총괄책임자의 통제를 받아 이상 없이 수행하여야 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061750"/>
              </p:ext>
            </p:extLst>
          </p:nvPr>
        </p:nvGraphicFramePr>
        <p:xfrm>
          <a:off x="1676400" y="5709100"/>
          <a:ext cx="4572000" cy="130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382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식별자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내  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607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JOS-24-02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직사화기 사격명령에 좌표 입력 사격 기능추가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607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JOS-24—05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공중돌격의 공중수송수단 다수선택 기능추가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607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JOS-24-07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포병사격 명령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해안포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사격 명령 통합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기능개선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607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JOS-24-08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해안포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부대 갱도진지 점령 및 사격 기능추가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Ⅲ - 6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30200" y="1066800"/>
            <a:ext cx="624205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-2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-2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식별된 계획유지보수 사항에 대해 모델 반영 기한 내에 개선하겠으며</a:t>
            </a:r>
            <a:r>
              <a:rPr lang="en-US" altLang="ko-KR" spc="-2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 </a:t>
            </a:r>
            <a:r>
              <a:rPr lang="ko-KR" altLang="en-US" spc="-2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사업기간 내에 발생하는 일반 유지보수 요구사항에 대해서도 발주기관 사업총괄 책임자의 통제를 받아 이상 없이 수행하겠습니다</a:t>
            </a:r>
            <a:r>
              <a:rPr lang="en-US" altLang="ko-KR" spc="-2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pc="-20">
                <a:solidFill>
                  <a:srgbClr val="000000"/>
                </a:solidFill>
                <a:latin typeface="HY신명조" pitchFamily="18" charset="-127"/>
                <a:ea typeface="가는각진제목체"/>
              </a:rPr>
              <a:t> </a:t>
            </a:r>
            <a:endParaRPr lang="en-US" altLang="ko-KR" spc="70">
              <a:solidFill>
                <a:srgbClr val="000000"/>
              </a:solidFill>
              <a:latin typeface="HY신명조" pitchFamily="18" charset="-127"/>
              <a:ea typeface="가는각진제목체"/>
            </a:endParaRPr>
          </a:p>
        </p:txBody>
      </p:sp>
      <p:grpSp>
        <p:nvGrpSpPr>
          <p:cNvPr id="11" name="Group 35"/>
          <p:cNvGrpSpPr>
            <a:grpSpLocks/>
          </p:cNvGrpSpPr>
          <p:nvPr/>
        </p:nvGrpSpPr>
        <p:grpSpPr bwMode="auto">
          <a:xfrm>
            <a:off x="374650" y="1837267"/>
            <a:ext cx="6116638" cy="357188"/>
            <a:chOff x="236" y="2167"/>
            <a:chExt cx="3853" cy="225"/>
          </a:xfrm>
        </p:grpSpPr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4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3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응용</a:t>
              </a:r>
              <a:r>
                <a:rPr lang="en-US" altLang="ko-KR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SW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의 유지보수 중 제안사 임무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기능개선 및 운영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85238" y="762000"/>
            <a:ext cx="6117926" cy="1080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3) SW 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품질관리 및 형상관리 유지보수 수행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(MPR-003)</a:t>
            </a:r>
          </a:p>
          <a:p>
            <a:pPr algn="just" ea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유지보수전담기관에서 수행하고 있는 업무 절차에 따라 품질관리 및 형상관리를 지원하겠습니다</a:t>
            </a:r>
            <a:r>
              <a:rPr lang="en-US" altLang="ko-KR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 </a:t>
            </a:r>
            <a:r>
              <a:rPr lang="ko-KR" altLang="en-US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또한 기술지원과 기타 활동에서 발생하는 이행실적을 기록 및 이력 관리를 하겠습니다</a:t>
            </a:r>
            <a:r>
              <a:rPr lang="en-US" altLang="ko-KR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aphicFrame>
        <p:nvGraphicFramePr>
          <p:cNvPr id="10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730045"/>
              </p:ext>
            </p:extLst>
          </p:nvPr>
        </p:nvGraphicFramePr>
        <p:xfrm>
          <a:off x="481013" y="2438400"/>
          <a:ext cx="5859462" cy="1608688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9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유지보수 및 기술지원 이행실적을 기술지원내역에 기록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및 각종 산출물에 대한 품질관리 및 형상관리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응용프로그램의 버전 및 이력 관리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사용자지침서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모의논리서 등 항목별 품질보증 활동 수행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유지보수 기간 중 기술변경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법률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제도 변경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 요구사항 등 변동에 따른 이력 관리 유지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91341" y="4229100"/>
            <a:ext cx="6117926" cy="1080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4) 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산출물 납품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(MPR-009)</a:t>
            </a:r>
          </a:p>
          <a:p>
            <a:pPr algn="just" ea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발주기관에서 요구한 양식에 따라 주간</a:t>
            </a:r>
            <a:r>
              <a:rPr lang="en-US" altLang="ko-KR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월간 보고서를 시기에 맞추어 작성하겠으며</a:t>
            </a:r>
            <a:r>
              <a:rPr lang="en-US" altLang="ko-KR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필요 시 수시 보고서도 작성</a:t>
            </a:r>
            <a:r>
              <a:rPr lang="en-US" altLang="ko-KR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제출하겠습니다</a:t>
            </a:r>
            <a:r>
              <a:rPr lang="en-US" altLang="ko-KR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유지보수 기간 중 발생한 산출물에 대해서도 작성 및 최신화하도록 하겠습니다</a:t>
            </a:r>
            <a:r>
              <a:rPr lang="en-US" altLang="ko-KR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aphicFrame>
        <p:nvGraphicFramePr>
          <p:cNvPr id="9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39037"/>
              </p:ext>
            </p:extLst>
          </p:nvPr>
        </p:nvGraphicFramePr>
        <p:xfrm>
          <a:off x="481013" y="5856372"/>
          <a:ext cx="5859462" cy="3255878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58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제안업체는 발주기관이 요구한 양식에 따라 주간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월간 보고서 등을 제출 시기에 맞추어 제출하여야 하며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필요 시 수시보고서 제출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산출물은 기존 산출물에서 기능 변경 및 추가된 내용을 보완하여 작성하며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기존 산출물과 명확히 식별이 가능하도록 작성하되 변동사항은 최신화하여야 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매 분기별 기성 검수를 위해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수행실적서를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제출하여야 하며 유지보수 실적 내역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산출물 내역을 포함하여야 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연말 최종 검사의 경우 사업수행 범위 전체에 대한 산출물과 용역 수행 내역을 대상으로 검사 처리를 하여야 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제출한 중간 및 최종 산출물에 대하여 발주기관은 보완을 요구할 수 있으며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보완 요구 시 즉시 산출물을 보완 제출하여야 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산출물 제출 방식은 발주기관과 협의하여 제출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Ⅲ - 7</a:t>
            </a:r>
          </a:p>
        </p:txBody>
      </p:sp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374650" y="1905000"/>
            <a:ext cx="6116638" cy="357188"/>
            <a:chOff x="236" y="2167"/>
            <a:chExt cx="3853" cy="225"/>
          </a:xfrm>
        </p:grpSpPr>
        <p:grpSp>
          <p:nvGrpSpPr>
            <p:cNvPr id="13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5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6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4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en-US" altLang="ko-KR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SW 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품질관리 및 형상관리 유지보수 </a:t>
              </a:r>
              <a:r>
                <a:rPr lang="ko-KR" altLang="en-US" sz="1200" err="1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제안사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 임무</a:t>
              </a:r>
            </a:p>
          </p:txBody>
        </p:sp>
      </p:grpSp>
      <p:grpSp>
        <p:nvGrpSpPr>
          <p:cNvPr id="17" name="Group 35"/>
          <p:cNvGrpSpPr>
            <a:grpSpLocks/>
          </p:cNvGrpSpPr>
          <p:nvPr/>
        </p:nvGrpSpPr>
        <p:grpSpPr bwMode="auto">
          <a:xfrm>
            <a:off x="374650" y="5350934"/>
            <a:ext cx="6116638" cy="357188"/>
            <a:chOff x="236" y="2167"/>
            <a:chExt cx="3853" cy="225"/>
          </a:xfrm>
        </p:grpSpPr>
        <p:grpSp>
          <p:nvGrpSpPr>
            <p:cNvPr id="18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20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9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단계별 산출물 작성 및 제출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Text Box 81"/>
          <p:cNvSpPr txBox="1">
            <a:spLocks noChangeArrowheads="1"/>
          </p:cNvSpPr>
          <p:nvPr/>
        </p:nvSpPr>
        <p:spPr bwMode="auto">
          <a:xfrm>
            <a:off x="315913" y="1265238"/>
            <a:ext cx="6165850" cy="141423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연습지원</a:t>
            </a:r>
            <a:endParaRPr lang="ko-KR" altLang="en-US" sz="15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5000"/>
              </a:lnSpc>
              <a:defRPr/>
            </a:pP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연습지원은 </a:t>
            </a:r>
            <a:r>
              <a:rPr lang="ko-KR" altLang="en-US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준비단계</a:t>
            </a:r>
            <a:r>
              <a:rPr lang="en-US" altLang="ko-KR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실시단계</a:t>
            </a:r>
            <a:r>
              <a:rPr lang="en-US" altLang="ko-KR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사후분석 단계로 구분하여 지원하며</a:t>
            </a:r>
            <a:r>
              <a:rPr lang="en-US" altLang="ko-KR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상시 기술 지원한 내용은 별도 지원 내역 목록을 작성하고 연습 중 장애 발생 시 긴급조치 및 오류 반영 시기 판별 등</a:t>
            </a:r>
            <a:r>
              <a:rPr lang="en-US" altLang="ko-KR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절차에 의한 장애처리를 실시 후 일반유지관리 </a:t>
            </a:r>
            <a:r>
              <a:rPr lang="ko-KR" altLang="en-US" sz="1200" spc="1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결과서를</a:t>
            </a:r>
            <a:r>
              <a:rPr lang="ko-KR" altLang="en-US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작성하여 이력을 관리하도록 하겠습니다</a:t>
            </a:r>
            <a:r>
              <a:rPr lang="en-US" altLang="ko-KR" sz="1200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</a:rPr>
              <a:t>연습지원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 및 </a:t>
            </a: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</a:rPr>
              <a:t>장애대응</a:t>
            </a:r>
            <a:endParaRPr lang="ko-KR" altLang="en-US" sz="1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239" name="Text Box 63"/>
          <p:cNvSpPr txBox="1">
            <a:spLocks noChangeArrowheads="1"/>
          </p:cNvSpPr>
          <p:nvPr/>
        </p:nvSpPr>
        <p:spPr bwMode="auto">
          <a:xfrm>
            <a:off x="290513" y="831850"/>
            <a:ext cx="6242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kumimoji="0" lang="ko-KR" altLang="en-US" sz="160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연습지원</a:t>
            </a:r>
            <a:r>
              <a:rPr kumimoji="0" lang="ko-KR" altLang="en-US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 및 </a:t>
            </a:r>
            <a:r>
              <a:rPr kumimoji="0" lang="ko-KR" altLang="en-US" sz="160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장애대응</a:t>
            </a:r>
            <a:endParaRPr kumimoji="0" lang="ko-KR" altLang="en-US" sz="16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374650" y="3543300"/>
            <a:ext cx="6116638" cy="357188"/>
            <a:chOff x="236" y="2167"/>
            <a:chExt cx="3853" cy="225"/>
          </a:xfrm>
        </p:grpSpPr>
        <p:grpSp>
          <p:nvGrpSpPr>
            <p:cNvPr id="11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4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3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태극연습 지원관련 </a:t>
              </a:r>
              <a:r>
                <a:rPr lang="ko-KR" altLang="en-US" sz="1200" err="1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제안사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 임무</a:t>
              </a:r>
            </a:p>
          </p:txBody>
        </p:sp>
      </p:grpSp>
      <p:graphicFrame>
        <p:nvGraphicFramePr>
          <p:cNvPr id="2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049863"/>
              </p:ext>
            </p:extLst>
          </p:nvPr>
        </p:nvGraphicFramePr>
        <p:xfrm>
          <a:off x="481013" y="4038600"/>
          <a:ext cx="5859462" cy="5073650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3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연습단계별 모델 운용지원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준비단계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: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태극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JOS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모델과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타모델간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부대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일치화를 지원한다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.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 (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부대자산 일치 등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실시단계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전투모의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데이터 전달처리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입출력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연동 체계 운용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장애발생 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 조치를 지원한다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.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사후분석단계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전투모의 정보수집 프로세스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전투모의 사후검토도구 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운용을 지원한다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.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연동체계 운용지원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Master Enumeration Data, </a:t>
                      </a:r>
                      <a:r>
                        <a:rPr kumimoji="1" lang="en-US" altLang="ko-KR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SOM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en-US" altLang="ko-KR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FOM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관리를 지원한다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.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연동환경 구성을 할 수 있도록 관련 제반 사항을 지원한다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.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`25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태극연습간 합동 </a:t>
                      </a:r>
                      <a:r>
                        <a:rPr kumimoji="1" lang="en-US" altLang="ko-KR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Federataion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을 구성하고 운영을 지원한다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.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연습 및 사전 연동시험 간 체계 운용을 지원한다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.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태극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JOS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모델과 타 모델간 망 연결을 통한 연동환경 조성을 지원한다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.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285238" y="2642316"/>
            <a:ext cx="6117926" cy="8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en-US" altLang="ko-KR" dirty="0">
                <a:latin typeface="HY헤드라인M" pitchFamily="18" charset="-127"/>
                <a:ea typeface="HY헤드라인M" pitchFamily="18" charset="-127"/>
              </a:rPr>
              <a:t>1) </a:t>
            </a:r>
            <a:r>
              <a:rPr kumimoji="0" lang="ko-KR" altLang="en-US" dirty="0">
                <a:latin typeface="HY헤드라인M" pitchFamily="18" charset="-127"/>
                <a:ea typeface="HY헤드라인M" pitchFamily="18" charset="-127"/>
              </a:rPr>
              <a:t>태극연습 지원</a:t>
            </a:r>
            <a:r>
              <a:rPr kumimoji="0" lang="en-US" altLang="ko-KR" dirty="0">
                <a:latin typeface="HY헤드라인M" pitchFamily="18" charset="-127"/>
                <a:ea typeface="HY헤드라인M" pitchFamily="18" charset="-127"/>
              </a:rPr>
              <a:t>(MPR-004)</a:t>
            </a:r>
          </a:p>
          <a:p>
            <a:pPr algn="just" ea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pc="1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2025 </a:t>
            </a:r>
            <a:r>
              <a:rPr lang="ko-KR" altLang="en-US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태극연습을 지원하고 효과적 연습지원을 위해 연습 준비</a:t>
            </a:r>
            <a:r>
              <a:rPr lang="en-US" altLang="ko-KR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실시</a:t>
            </a:r>
            <a:r>
              <a:rPr lang="en-US" altLang="ko-KR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사후분석 단계에 대한 연습 주관부서를 지원하겠습니다</a:t>
            </a:r>
            <a:r>
              <a:rPr lang="en-US" altLang="ko-KR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6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Ⅲ - 8</a:t>
            </a:r>
          </a:p>
        </p:txBody>
      </p:sp>
    </p:spTree>
    <p:extLst>
      <p:ext uri="{BB962C8B-B14F-4D97-AF65-F5344CB8AC3E}">
        <p14:creationId xmlns:p14="http://schemas.microsoft.com/office/powerpoint/2010/main" val="2716914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</a:rPr>
              <a:t>연습지원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 및 </a:t>
            </a: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</a:rPr>
              <a:t>장애대응</a:t>
            </a:r>
            <a:endParaRPr lang="ko-KR" altLang="en-US" sz="1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374650" y="1675671"/>
            <a:ext cx="6116638" cy="357188"/>
            <a:chOff x="236" y="2167"/>
            <a:chExt cx="3853" cy="225"/>
          </a:xfrm>
        </p:grpSpPr>
        <p:grpSp>
          <p:nvGrpSpPr>
            <p:cNvPr id="3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4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3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 err="1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합동대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 전쟁실습 지원관련 </a:t>
              </a:r>
              <a:r>
                <a:rPr lang="ko-KR" altLang="en-US" sz="1200" err="1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제안사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 임무</a:t>
              </a:r>
            </a:p>
          </p:txBody>
        </p:sp>
      </p:grpSp>
      <p:graphicFrame>
        <p:nvGraphicFramePr>
          <p:cNvPr id="2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851559"/>
              </p:ext>
            </p:extLst>
          </p:nvPr>
        </p:nvGraphicFramePr>
        <p:xfrm>
          <a:off x="481013" y="2170970"/>
          <a:ext cx="5859462" cy="3869701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97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연습단계별 모델 운용지원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준비단계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모델운영 준비 및 교육을 지원한다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.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실시단계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전투모의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데이터 전달처리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입출력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연동 체계 운용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장애발생 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 조치를 지원한다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.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사후분석단계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전투모의 정보수집 프로세스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전투모의 사후검토도구 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운용을 지원한다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.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합동대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기본과정 전쟁실습은 현장 출장하여 지원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장소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인원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대전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/3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주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/1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명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합동대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고급과정 전쟁실습은 현장 출장하여 지원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장소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인원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논산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/3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주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/1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명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285238" y="762000"/>
            <a:ext cx="6117926" cy="8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2) </a:t>
            </a:r>
            <a:r>
              <a:rPr kumimoji="0" lang="ko-KR" altLang="en-US" err="1">
                <a:latin typeface="HY헤드라인M" pitchFamily="18" charset="-127"/>
                <a:ea typeface="HY헤드라인M" pitchFamily="18" charset="-127"/>
              </a:rPr>
              <a:t>합동대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기본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/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고급과정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) 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전쟁실습 지원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(MPR-005)</a:t>
            </a:r>
          </a:p>
          <a:p>
            <a:pPr algn="just" ea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pc="4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태극연습과 동일하게 교육기관 </a:t>
            </a:r>
            <a:r>
              <a:rPr lang="ko-KR" altLang="en-US" spc="4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합동대</a:t>
            </a:r>
            <a:r>
              <a:rPr lang="ko-KR" altLang="en-US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전쟁실습 시</a:t>
            </a:r>
            <a:r>
              <a:rPr lang="en-US" altLang="ko-KR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기본</a:t>
            </a:r>
            <a:r>
              <a:rPr lang="en-US" altLang="ko-KR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고급 과정</a:t>
            </a:r>
            <a:r>
              <a:rPr lang="en-US" altLang="ko-KR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에도 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주관부서를 적극 지원하겠습니다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24" name="Group 35"/>
          <p:cNvGrpSpPr>
            <a:grpSpLocks/>
          </p:cNvGrpSpPr>
          <p:nvPr/>
        </p:nvGrpSpPr>
        <p:grpSpPr bwMode="auto">
          <a:xfrm>
            <a:off x="374650" y="7030640"/>
            <a:ext cx="6116638" cy="357188"/>
            <a:chOff x="236" y="2167"/>
            <a:chExt cx="3853" cy="225"/>
          </a:xfrm>
        </p:grpSpPr>
        <p:grpSp>
          <p:nvGrpSpPr>
            <p:cNvPr id="25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27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기타 연습 지원관련 </a:t>
              </a:r>
              <a:r>
                <a:rPr lang="ko-KR" altLang="en-US" sz="1200" err="1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제안사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 임무</a:t>
              </a:r>
            </a:p>
          </p:txBody>
        </p:sp>
      </p:grpSp>
      <p:graphicFrame>
        <p:nvGraphicFramePr>
          <p:cNvPr id="29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761726"/>
              </p:ext>
            </p:extLst>
          </p:nvPr>
        </p:nvGraphicFramePr>
        <p:xfrm>
          <a:off x="481013" y="7525940"/>
          <a:ext cx="5859462" cy="1586310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863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별도의 계획에 의해 태극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JOS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모델을 활용하는 연습 지원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기계획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연습훈련 외 별도계획으로 태극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JOS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모델 활용 시 가용 자원 내에서 적극 지원한다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.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285238" y="6178784"/>
            <a:ext cx="6117926" cy="8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3) </a:t>
            </a:r>
            <a:r>
              <a:rPr kumimoji="0" lang="ko-KR" altLang="en-US">
                <a:latin typeface="HY헤드라인M" pitchFamily="18" charset="-127"/>
                <a:ea typeface="HY헤드라인M" pitchFamily="18" charset="-127"/>
              </a:rPr>
              <a:t>기타 연습 지원</a:t>
            </a: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(MPR-006)</a:t>
            </a:r>
          </a:p>
          <a:p>
            <a:pPr algn="just" ea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pc="1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pc="1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기계획된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연습훈련 외 별도계획으로 태극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활용 시 가용 자원 내에서 적극 지원하겠습니다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pc="100" err="1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Ⅲ - 9</a:t>
            </a:r>
          </a:p>
        </p:txBody>
      </p:sp>
    </p:spTree>
    <p:extLst>
      <p:ext uri="{BB962C8B-B14F-4D97-AF65-F5344CB8AC3E}">
        <p14:creationId xmlns:p14="http://schemas.microsoft.com/office/powerpoint/2010/main" val="1643572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" name="Text Box 1086"/>
          <p:cNvSpPr txBox="1">
            <a:spLocks noChangeArrowheads="1"/>
          </p:cNvSpPr>
          <p:nvPr/>
        </p:nvSpPr>
        <p:spPr bwMode="auto">
          <a:xfrm>
            <a:off x="4676775" y="407988"/>
            <a:ext cx="21304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연습지원 및 장애대응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330200" y="1149357"/>
            <a:ext cx="624205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연습 중 장애 발생 시 신속한 대응을 위해 지속적인 모니터링을 지원하겠으며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긴급 장애 발생 시 유지보수 전담기관 책임자의 통제하에 즉각 대응하겠습니다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해당 장애가 단발성인지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지속적으로 발생할 수 있는 것인지에 대한 분석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판단을 신속하게 하여 조치하겠습니다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장애처리 완료 후 이력을 관리하여 장애 발생을 최소화하고 모델이 안정화될 수 있도록 하겠습니다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spc="1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8" name="Group 62"/>
          <p:cNvGrpSpPr>
            <a:grpSpLocks/>
          </p:cNvGrpSpPr>
          <p:nvPr/>
        </p:nvGrpSpPr>
        <p:grpSpPr bwMode="auto">
          <a:xfrm>
            <a:off x="374650" y="2616607"/>
            <a:ext cx="6116638" cy="357187"/>
            <a:chOff x="236" y="2167"/>
            <a:chExt cx="3853" cy="225"/>
          </a:xfrm>
        </p:grpSpPr>
        <p:grpSp>
          <p:nvGrpSpPr>
            <p:cNvPr id="10" name="Group 63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3" name="Picture 64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6" name="Picture 65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2" name="Text Box 66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 defTabSz="912813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 defTabSz="912813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 defTabSz="912813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 defTabSz="912813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장애 조치 및 비상대책 유지보수 수행</a:t>
              </a:r>
              <a:r>
                <a:rPr kumimoji="0" lang="en-US" altLang="ko-KR" sz="120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(MPR-007)</a:t>
              </a:r>
              <a:endParaRPr lang="ko-KR" altLang="en-US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36" name="Text Box 81"/>
          <p:cNvSpPr txBox="1">
            <a:spLocks noChangeArrowheads="1"/>
          </p:cNvSpPr>
          <p:nvPr/>
        </p:nvSpPr>
        <p:spPr bwMode="auto">
          <a:xfrm>
            <a:off x="315913" y="772121"/>
            <a:ext cx="6165850" cy="32476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나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장애대응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aphicFrame>
        <p:nvGraphicFramePr>
          <p:cNvPr id="37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038055"/>
              </p:ext>
            </p:extLst>
          </p:nvPr>
        </p:nvGraphicFramePr>
        <p:xfrm>
          <a:off x="481013" y="3048000"/>
          <a:ext cx="5859462" cy="2528593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85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긴급장애 발생 시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제안사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유지보수 책임자에 의해 주도적으로 정상 복구될 수 있도록 기술인력 상주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장애 인지 즉시 즉각적인 조치를 함과 동시에 발주기관 담당자에게 장애 보고를 하여야 하며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장애 원인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해결 방법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재발 방지대책 등을 제시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장애처리 완료 후 장애처리 결과보고서를 발주기관이 제공하는 양식에 맞게 작성 및 제출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휴일 및 야간에 발생하는 장애에 대비하여 비상대응체계 수립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8" name="Group 35"/>
          <p:cNvGrpSpPr>
            <a:grpSpLocks/>
          </p:cNvGrpSpPr>
          <p:nvPr/>
        </p:nvGrpSpPr>
        <p:grpSpPr bwMode="auto">
          <a:xfrm>
            <a:off x="374650" y="5709100"/>
            <a:ext cx="6116638" cy="357188"/>
            <a:chOff x="236" y="2167"/>
            <a:chExt cx="3853" cy="225"/>
          </a:xfrm>
        </p:grpSpPr>
        <p:grpSp>
          <p:nvGrpSpPr>
            <p:cNvPr id="41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44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5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2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장애 대응 절차</a:t>
              </a:r>
            </a:p>
          </p:txBody>
        </p:sp>
      </p:grpSp>
      <p:graphicFrame>
        <p:nvGraphicFramePr>
          <p:cNvPr id="46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041620"/>
              </p:ext>
            </p:extLst>
          </p:nvPr>
        </p:nvGraphicFramePr>
        <p:xfrm>
          <a:off x="469107" y="6198795"/>
          <a:ext cx="5859462" cy="2913455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34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장애 대응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절차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1)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모니터링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–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신속한 대응을 위해 지속적인 모니터링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228600" marR="0" lvl="0" indent="-228600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2)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장애 발생 시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228600" marR="0" lvl="0" indent="-228600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보고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유지보수 전담기관 책임자에게 장애현상 보고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228600" marR="0" lvl="0" indent="-228600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장애 긴급조치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문제코드 롤백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체크 포인트 복구 및 단순 복구 실행 등 판단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조치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228600" marR="0" lvl="0" indent="-228600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3)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후속조치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228600" marR="0" lvl="0" indent="-228600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근본적 장애원인 분석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및 수정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228600" marR="0" lvl="0" indent="-228600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이력관리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연습 상황일지 및 기술지원 내역서 등 기록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432811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Ⅲ - 10</a:t>
            </a:r>
          </a:p>
        </p:txBody>
      </p:sp>
    </p:spTree>
    <p:extLst>
      <p:ext uri="{BB962C8B-B14F-4D97-AF65-F5344CB8AC3E}">
        <p14:creationId xmlns:p14="http://schemas.microsoft.com/office/powerpoint/2010/main" val="918990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592107FF-C3C1-3456-BC13-610A896A8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350" y="1909763"/>
            <a:ext cx="1625600" cy="16160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6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10000">
                <a:solidFill>
                  <a:schemeClr val="bg1"/>
                </a:solidFill>
                <a:latin typeface="Yoon 윤명조 540_TT" pitchFamily="18" charset="-127"/>
                <a:ea typeface="Yoon 윤명조 540_TT" pitchFamily="18" charset="-127"/>
              </a:rPr>
              <a:t>Ⅳ</a:t>
            </a:r>
          </a:p>
        </p:txBody>
      </p:sp>
      <p:sp>
        <p:nvSpPr>
          <p:cNvPr id="7171" name="Text Box 4">
            <a:extLst>
              <a:ext uri="{FF2B5EF4-FFF2-40B4-BE49-F238E27FC236}">
                <a16:creationId xmlns:a16="http://schemas.microsoft.com/office/drawing/2014/main" id="{1FE0A714-F58E-BD5A-882F-35DC4E117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4129088"/>
            <a:ext cx="393065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>
                <a:latin typeface="Yoon 윤고딕 530_TT" pitchFamily="18" charset="-127"/>
                <a:ea typeface="Yoon 윤고딕 530_TT" pitchFamily="18" charset="-127"/>
              </a:rPr>
              <a:t>수행환경</a:t>
            </a:r>
            <a:endParaRPr lang="en-US" altLang="ko-KR">
              <a:latin typeface="Yoon 윤고딕 530_TT" pitchFamily="18" charset="-127"/>
              <a:ea typeface="Yoon 윤고딕 530_TT" pitchFamily="18" charset="-127"/>
            </a:endParaRPr>
          </a:p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>
                <a:latin typeface="Yoon 윤고딕 530_TT" pitchFamily="18" charset="-127"/>
                <a:ea typeface="Yoon 윤고딕 530_TT" pitchFamily="18" charset="-127"/>
              </a:rPr>
              <a:t>보안요구사항</a:t>
            </a:r>
            <a:endParaRPr lang="en-US" altLang="ko-KR">
              <a:latin typeface="Yoon 윤고딕 530_TT" pitchFamily="18" charset="-127"/>
              <a:ea typeface="Yoon 윤고딕 530_TT" pitchFamily="18" charset="-127"/>
            </a:endParaRPr>
          </a:p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>
                <a:latin typeface="Yoon 윤고딕 530_TT" pitchFamily="18" charset="-127"/>
                <a:ea typeface="Yoon 윤고딕 530_TT" pitchFamily="18" charset="-127"/>
              </a:rPr>
              <a:t>제약사항</a:t>
            </a:r>
          </a:p>
        </p:txBody>
      </p:sp>
      <p:sp>
        <p:nvSpPr>
          <p:cNvPr id="189446" name="Text Box 6">
            <a:extLst>
              <a:ext uri="{FF2B5EF4-FFF2-40B4-BE49-F238E27FC236}">
                <a16:creationId xmlns:a16="http://schemas.microsoft.com/office/drawing/2014/main" id="{86B25171-40EE-546C-7F5E-BD0B86B89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75" y="2408238"/>
            <a:ext cx="2949575" cy="5794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3200" err="1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수행기반</a:t>
            </a:r>
            <a:endParaRPr lang="ko-KR" altLang="en-US" sz="3200"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Ⅳ - 1</a:t>
            </a:r>
          </a:p>
        </p:txBody>
      </p:sp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5205413" y="407988"/>
            <a:ext cx="16017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</a:rPr>
              <a:t>수행환경</a:t>
            </a:r>
            <a:endParaRPr lang="ko-KR" altLang="en-US" sz="1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239" name="Text Box 63"/>
          <p:cNvSpPr txBox="1">
            <a:spLocks noChangeArrowheads="1"/>
          </p:cNvSpPr>
          <p:nvPr/>
        </p:nvSpPr>
        <p:spPr bwMode="auto">
          <a:xfrm>
            <a:off x="290513" y="831850"/>
            <a:ext cx="6242050" cy="358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kumimoji="0" lang="ko-KR" altLang="en-US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수행환경</a:t>
            </a:r>
          </a:p>
        </p:txBody>
      </p:sp>
      <p:sp>
        <p:nvSpPr>
          <p:cNvPr id="10" name="Text Box 81"/>
          <p:cNvSpPr txBox="1">
            <a:spLocks noChangeArrowheads="1"/>
          </p:cNvSpPr>
          <p:nvPr/>
        </p:nvSpPr>
        <p:spPr bwMode="auto">
          <a:xfrm>
            <a:off x="315913" y="1265238"/>
            <a:ext cx="6165850" cy="32476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사업수행 요구사항 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(PMR-001)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30200" y="1613382"/>
            <a:ext cx="6242050" cy="753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-2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-2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사업수행에 있어 기본적으로 준수해야 할 규정과 요구사항들을 이행 하겠습니다</a:t>
            </a:r>
            <a:r>
              <a:rPr lang="en-US" altLang="ko-KR" spc="-2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또한 장애 등의 비상상황 발생 시 제안업체의 담당자들을 신속히 투입시킬 수 있도록 </a:t>
            </a:r>
            <a:r>
              <a:rPr lang="ko-KR" altLang="en-US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비상연락체계를 유지하고</a:t>
            </a:r>
            <a:r>
              <a:rPr lang="en-US" altLang="ko-KR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비상상황 조치를 수행하겠습니다</a:t>
            </a:r>
            <a:r>
              <a:rPr lang="en-US" altLang="ko-KR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aphicFrame>
        <p:nvGraphicFramePr>
          <p:cNvPr id="9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568378"/>
              </p:ext>
            </p:extLst>
          </p:nvPr>
        </p:nvGraphicFramePr>
        <p:xfrm>
          <a:off x="481013" y="2969324"/>
          <a:ext cx="5859462" cy="6142926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429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국방정보화업무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훈령 등 국방 관련 규정 준수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사업수행에 있어 아래의 사항을 준수하여야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기술이전이 필요하다고 판단되는 대상에 대한 목록과 기술이전 방법 등에 대한 계획을 제시하고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관련 기술지원을 실시하여야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유지보수책임기관에서 제시한 소집교육 계획에 따라 체계 관리자 교육 및 사용자 교육을 추진할 경우 세부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교육별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교재작성 등을 포함한 지원을 실시하여야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사업추진 간 실시되는 주간보고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월간회의 및 협조회의 등에 필요한 지원 및 중간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최종검수에 요구되는 사항을 조치하여야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사업수행 시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“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소프트웨어 개발보안 가이드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”, “C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시큐어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코딩 가이드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”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등 보안관련 가이드라인을 준수하여 유지보수 업무를 수행하여야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사업추진 방향이나 내용의 긴급수정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의견조정이 요구되는 사안 발생 시 발주기관의 사전협의 및 승인을 득하여 해결해야 하며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모든 회의결과 및 통보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보고사항은 문서로 작성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보관함을 원칙으로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제안업체는 장애 등의 비상상황 발생 시 필요한 기술요원을 신속히 투입시킬 수 있는 비상연락체계를 유지하여야 하며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비상소집훈련 등 비상상황 조치를 수행하여야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계약서상의 유지보수 기간이 만료 되었을 지라도 차기 유지보수 업체의 업무개시 전일까지는 계약기간이 연장된 것으로 간주하여 유지보수 업무를 수행하여야 하며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추가 업무수행에 따른 대가는 계약연도의 유지보수료를 일할 계산하여 지급함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Group 35"/>
          <p:cNvGrpSpPr>
            <a:grpSpLocks/>
          </p:cNvGrpSpPr>
          <p:nvPr/>
        </p:nvGrpSpPr>
        <p:grpSpPr bwMode="auto">
          <a:xfrm>
            <a:off x="374650" y="2476500"/>
            <a:ext cx="6116638" cy="357188"/>
            <a:chOff x="236" y="2167"/>
            <a:chExt cx="3853" cy="225"/>
          </a:xfrm>
        </p:grpSpPr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4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3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사업수행에 필요한 관리적 측면 요구사항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85238" y="838200"/>
            <a:ext cx="611792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나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사업수행 장소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(PMR-002)</a:t>
            </a:r>
          </a:p>
        </p:txBody>
      </p:sp>
      <p:graphicFrame>
        <p:nvGraphicFramePr>
          <p:cNvPr id="1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732590"/>
              </p:ext>
            </p:extLst>
          </p:nvPr>
        </p:nvGraphicFramePr>
        <p:xfrm>
          <a:off x="481013" y="2259224"/>
          <a:ext cx="5859462" cy="1055476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30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사업수행을 위하여 필요한 작업장소는 발주기관에서 제공하며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설비 및 기타 작업환경은 계약상대자가 구비하여야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상황에 따라 유지보수 장소 변경 필요 시 제안업체는 이에 적극 협조해야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30200" y="1181100"/>
            <a:ext cx="6242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5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5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발주기관에서 제공하는 장소에서 업무를 수행하겠으며</a:t>
            </a:r>
            <a:r>
              <a:rPr lang="en-US" altLang="ko-KR" spc="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장소 변경 시에도 </a:t>
            </a:r>
            <a:r>
              <a:rPr lang="ko-KR" altLang="en-US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적극 협조하겠습니다</a:t>
            </a:r>
            <a:r>
              <a:rPr lang="en-US" altLang="ko-KR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374650" y="1766400"/>
            <a:ext cx="6116638" cy="357188"/>
            <a:chOff x="236" y="2167"/>
            <a:chExt cx="3853" cy="225"/>
          </a:xfrm>
        </p:grpSpPr>
        <p:grpSp>
          <p:nvGrpSpPr>
            <p:cNvPr id="3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6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사업수행 장소 결정</a:t>
              </a:r>
            </a:p>
          </p:txBody>
        </p:sp>
      </p:grpSp>
      <p:grpSp>
        <p:nvGrpSpPr>
          <p:cNvPr id="13" name="Group 35"/>
          <p:cNvGrpSpPr>
            <a:grpSpLocks/>
          </p:cNvGrpSpPr>
          <p:nvPr/>
        </p:nvGrpSpPr>
        <p:grpSpPr bwMode="auto">
          <a:xfrm>
            <a:off x="374650" y="4310315"/>
            <a:ext cx="6116638" cy="357188"/>
            <a:chOff x="236" y="2167"/>
            <a:chExt cx="3853" cy="225"/>
          </a:xfrm>
        </p:grpSpPr>
        <p:grpSp>
          <p:nvGrpSpPr>
            <p:cNvPr id="14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9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8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공동수급형태 구성 요건</a:t>
              </a:r>
            </a:p>
          </p:txBody>
        </p:sp>
      </p:grpSp>
      <p:graphicFrame>
        <p:nvGraphicFramePr>
          <p:cNvPr id="21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363246"/>
              </p:ext>
            </p:extLst>
          </p:nvPr>
        </p:nvGraphicFramePr>
        <p:xfrm>
          <a:off x="481013" y="4805615"/>
          <a:ext cx="5859462" cy="787252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9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공동수급 형태로 제안 시 주사업자와 부사업자 간의 업무수행범위 및 책임 한계를 상세히 정의하고 주사업자의 조직운영방안을 구체적으로 제시하여야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 Box 81"/>
          <p:cNvSpPr txBox="1">
            <a:spLocks noChangeArrowheads="1"/>
          </p:cNvSpPr>
          <p:nvPr/>
        </p:nvSpPr>
        <p:spPr bwMode="auto">
          <a:xfrm>
            <a:off x="315913" y="3543300"/>
            <a:ext cx="6165850" cy="361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다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공동수급형태의 제안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(PMR-003)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330200" y="3880733"/>
            <a:ext cx="62420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1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유지보수 업무를 수행이 가능한 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명을 선별하여 단독으로 제안합니다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32" name="Group 35"/>
          <p:cNvGrpSpPr>
            <a:grpSpLocks/>
          </p:cNvGrpSpPr>
          <p:nvPr/>
        </p:nvGrpSpPr>
        <p:grpSpPr bwMode="auto">
          <a:xfrm>
            <a:off x="374650" y="6724488"/>
            <a:ext cx="6116638" cy="357188"/>
            <a:chOff x="236" y="2167"/>
            <a:chExt cx="3853" cy="225"/>
          </a:xfrm>
        </p:grpSpPr>
        <p:grpSp>
          <p:nvGrpSpPr>
            <p:cNvPr id="33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35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4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사업수행계획보고 요구사항</a:t>
              </a:r>
            </a:p>
          </p:txBody>
        </p:sp>
      </p:grpSp>
      <p:graphicFrame>
        <p:nvGraphicFramePr>
          <p:cNvPr id="37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777344"/>
              </p:ext>
            </p:extLst>
          </p:nvPr>
        </p:nvGraphicFramePr>
        <p:xfrm>
          <a:off x="481013" y="7234638"/>
          <a:ext cx="5859462" cy="1876912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9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제안업체는 사업 착수 이후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14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일 이내에 추진 일정과 세부활동내용 등이 포함된 사업수행계획서를 제출하고 발주기관의 승인을 받아야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㉮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사업범위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 대상업무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 및 운영환경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기타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㉯ 사업추진체계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수행 조직도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관리방안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본사 지원인력 등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㉰ 산출물계획       ㉱ 일정계획          ㉲ 투입인력계획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㉳ 보고계획          ㉴ 교육계획          ㉵ 품질보증계획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㉶ 위험관리계획    ㉷ 보안대책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 Box 81"/>
          <p:cNvSpPr txBox="1">
            <a:spLocks noChangeArrowheads="1"/>
          </p:cNvSpPr>
          <p:nvPr/>
        </p:nvSpPr>
        <p:spPr bwMode="auto">
          <a:xfrm>
            <a:off x="315913" y="5822515"/>
            <a:ext cx="6165850" cy="361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라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사업수행계획보고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(PMR-004)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330200" y="6159948"/>
            <a:ext cx="6242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1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사업 착수 이후 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14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일 이내 사업수행계획서를 제출하고 발주기관의 승인을 받도록 하겠습니다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40" name="Text Box 1086"/>
          <p:cNvSpPr txBox="1">
            <a:spLocks noChangeArrowheads="1"/>
          </p:cNvSpPr>
          <p:nvPr/>
        </p:nvSpPr>
        <p:spPr bwMode="auto">
          <a:xfrm>
            <a:off x="5205413" y="407988"/>
            <a:ext cx="16017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</a:rPr>
              <a:t>수행환경</a:t>
            </a:r>
            <a:endParaRPr lang="ko-KR" altLang="en-US" sz="1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8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Ⅳ - 2</a:t>
            </a:r>
          </a:p>
        </p:txBody>
      </p:sp>
    </p:spTree>
    <p:extLst>
      <p:ext uri="{BB962C8B-B14F-4D97-AF65-F5344CB8AC3E}">
        <p14:creationId xmlns:p14="http://schemas.microsoft.com/office/powerpoint/2010/main" val="1973064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85238" y="838200"/>
            <a:ext cx="611792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마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사업수행 도구 준비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(PMR-005)</a:t>
            </a:r>
          </a:p>
        </p:txBody>
      </p:sp>
      <p:graphicFrame>
        <p:nvGraphicFramePr>
          <p:cNvPr id="1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033522"/>
              </p:ext>
            </p:extLst>
          </p:nvPr>
        </p:nvGraphicFramePr>
        <p:xfrm>
          <a:off x="481013" y="2336857"/>
          <a:ext cx="5859462" cy="1395467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54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인력 상주 지원에 따른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PC, S/W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등의 전산장비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책상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의자 등의 비품 일체의 부담은 제안업체에서 책임을 지고 준비하여야 하며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유지보수용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PC HDD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는 계약 만료 후 반출이 불가함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디가우징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처리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30200" y="1181100"/>
            <a:ext cx="6242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50" dirty="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체계개발에 필요한 </a:t>
            </a:r>
            <a:r>
              <a:rPr lang="en-US" altLang="ko-KR" spc="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H/W, S/W, </a:t>
            </a:r>
            <a:r>
              <a:rPr lang="ko-KR" altLang="en-US" spc="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사무기기</a:t>
            </a:r>
            <a:r>
              <a:rPr lang="en-US" altLang="ko-KR" spc="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사무용품 등 사업수행 인원에게 필요한 비품들은 </a:t>
            </a:r>
            <a:r>
              <a:rPr lang="ko-KR" altLang="en-US" spc="5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제안사에서</a:t>
            </a:r>
            <a:r>
              <a:rPr lang="ko-KR" altLang="en-US" spc="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확보하여 업무를 수행하겠습니다</a:t>
            </a:r>
            <a:r>
              <a:rPr lang="en-US" altLang="ko-KR" spc="5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pc="7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374650" y="1844034"/>
            <a:ext cx="6116638" cy="357188"/>
            <a:chOff x="236" y="2167"/>
            <a:chExt cx="3853" cy="225"/>
          </a:xfrm>
        </p:grpSpPr>
        <p:grpSp>
          <p:nvGrpSpPr>
            <p:cNvPr id="3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6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사업수행에 필요한 장비 등 준비사항</a:t>
              </a:r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374650" y="4911950"/>
            <a:ext cx="6116638" cy="357188"/>
            <a:chOff x="236" y="2167"/>
            <a:chExt cx="3853" cy="225"/>
          </a:xfrm>
        </p:grpSpPr>
        <p:grpSp>
          <p:nvGrpSpPr>
            <p:cNvPr id="5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9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8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사업수행 시 보안사고 등 귀책사유에 따른 손해의 배상</a:t>
              </a:r>
            </a:p>
          </p:txBody>
        </p:sp>
      </p:grpSp>
      <p:graphicFrame>
        <p:nvGraphicFramePr>
          <p:cNvPr id="21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732631"/>
              </p:ext>
            </p:extLst>
          </p:nvPr>
        </p:nvGraphicFramePr>
        <p:xfrm>
          <a:off x="481013" y="5407250"/>
          <a:ext cx="5859462" cy="2721370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3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유지보수 수행간 제안업체의 귀책사유로 자산에 손해를 입혔을 경우 모든 민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형사상 책임은 제안업체에 있으며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손실에 따른 손실금을 배상하여야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제안업체는 사업수행 과정에서 취득한 일체의 정보를 유출하거나 누설하여서는 아니 되며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보안준수 사항을 위반하여 발생하는 모든 민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형사상 책임 및 그에 따른 유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무형의 손해배상을 전적으로 책임져야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 Box 81"/>
          <p:cNvSpPr txBox="1">
            <a:spLocks noChangeArrowheads="1"/>
          </p:cNvSpPr>
          <p:nvPr/>
        </p:nvSpPr>
        <p:spPr bwMode="auto">
          <a:xfrm>
            <a:off x="315913" y="3921350"/>
            <a:ext cx="6165850" cy="361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바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손해의 배상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(PMR-006)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330200" y="4258783"/>
            <a:ext cx="6242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제안사의 귀책사유로 손해가 발생 시</a:t>
            </a:r>
            <a:r>
              <a:rPr lang="en-US" altLang="ko-KR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책임과 손실에 따른 손실금을 배상하겠으며</a:t>
            </a:r>
            <a:r>
              <a:rPr lang="en-US" altLang="ko-KR" spc="6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사업수행 과정에서 취득한 일체의 정보를 절대로 유출 및 누설하지 않겠습니다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8" name="Text Box 1086"/>
          <p:cNvSpPr txBox="1">
            <a:spLocks noChangeArrowheads="1"/>
          </p:cNvSpPr>
          <p:nvPr/>
        </p:nvSpPr>
        <p:spPr bwMode="auto">
          <a:xfrm>
            <a:off x="5205413" y="407988"/>
            <a:ext cx="16017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</a:rPr>
              <a:t>수행환경</a:t>
            </a:r>
            <a:endParaRPr lang="ko-KR" altLang="en-US" sz="1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4" name="Rectangle 182"/>
          <p:cNvSpPr txBox="1">
            <a:spLocks noGrp="1" noChangeArrowheads="1"/>
          </p:cNvSpPr>
          <p:nvPr/>
        </p:nvSpPr>
        <p:spPr bwMode="auto">
          <a:xfrm>
            <a:off x="3277780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Ⅳ - 3</a:t>
            </a:r>
          </a:p>
        </p:txBody>
      </p:sp>
    </p:spTree>
    <p:extLst>
      <p:ext uri="{BB962C8B-B14F-4D97-AF65-F5344CB8AC3E}">
        <p14:creationId xmlns:p14="http://schemas.microsoft.com/office/powerpoint/2010/main" val="3429085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5205413" y="407988"/>
            <a:ext cx="16017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보안요구사항</a:t>
            </a:r>
          </a:p>
        </p:txBody>
      </p:sp>
      <p:sp>
        <p:nvSpPr>
          <p:cNvPr id="19" name="Text Box 81"/>
          <p:cNvSpPr txBox="1">
            <a:spLocks noChangeArrowheads="1"/>
          </p:cNvSpPr>
          <p:nvPr/>
        </p:nvSpPr>
        <p:spPr bwMode="auto">
          <a:xfrm>
            <a:off x="315913" y="1210305"/>
            <a:ext cx="6165850" cy="5355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0000"/>
              </a:lnSpc>
              <a:defRPr/>
            </a:pP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사업 수행 기간 동안 엄격한 보안 교육 및 인식을 제고하여 보안 사고 발생을 미연에 방지하고 군사 보안 정보를 보호하기 위해 최선의 노력을 다하겠습니다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0" name="Text Box 63"/>
          <p:cNvSpPr txBox="1">
            <a:spLocks noChangeArrowheads="1"/>
          </p:cNvSpPr>
          <p:nvPr/>
        </p:nvSpPr>
        <p:spPr bwMode="auto">
          <a:xfrm>
            <a:off x="290513" y="831850"/>
            <a:ext cx="6242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kumimoji="0" lang="ko-KR" altLang="en-US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보안요구사항</a:t>
            </a: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85238" y="1792623"/>
            <a:ext cx="6117926" cy="324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보안일반사항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(SER-001)</a:t>
            </a:r>
            <a:endParaRPr lang="ko-KR" altLang="en-US" sz="16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1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537230"/>
              </p:ext>
            </p:extLst>
          </p:nvPr>
        </p:nvGraphicFramePr>
        <p:xfrm>
          <a:off x="481013" y="2992138"/>
          <a:ext cx="5859462" cy="6120112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01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발주기관의 보안규정에 따라 사업자 선정 후 실시예정인 투입인력에 대한 신원조사에 응해야 하며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조사결과 결격사유가 없어야 함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업체 대표자 책임하에 사업 투입인원은 보안서약서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[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서식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10],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개인상용정보통신장비 반입〮운용  간 보안서약서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[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서식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12]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등 관련 서류를 반드시 제출하여야 하며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주기적인 보안교육 및 보안대책을 제시하여야 함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발주기관과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제안사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수행업체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는 대외보안을 위하여 사업 수행 계약서와는 별도로 비밀유지계약서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[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서식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11]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를 상호 작성해야 함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사업수행기간 중 보안 관련법규를 준수하고 대외 보안 유지에 적극 협조하여야 함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 수행기간 중 중요 데이터 등 정보 누출에 대비하여 구체적인 정보보호 계획 및 방안을 사업수행계획서에 포함하여 제시하여야 함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 수행 중 취득한 지식에 대하여 과업수행 중은 물론 사업이 완료된 후에도 외부에 누설하거나 다른 용도로 이용해서는 안 되며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이를 위반하였을 경우 법적인 책임을 져야 함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 종료 시 제공받은 장비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서류 및 중간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최종 산출물 등 모든 자료를 반납하고 컴퓨터 및 보조기억매체 내 모든 파일을 삭제해야 하며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수행업체 대표명의 확인서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[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서식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14]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와 사업참여 인력의 사업 종료 서약서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[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서식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13]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를 작성하여 발주기관에 제출해야 함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유지보수 책임기관 및 발주기관은 사업수행에 있어서의 보안관리 상태를 수시로 점검하고 미흡사항에 대하여 시정을 요구할 수 있으며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또한 보안상 필요한 모든 지시를 할 수 있음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발주기관은 정보보안에 관한 책임사항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책임범위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보안 대책 위반 시 손해배상 책임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누출금지 대상정보 등을 계약서에 기록할 수 있으며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보안 위반이나 침해사고 발생 시 경위 확인 후 재발방지 대책을 요구할 수 있음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" name="Group 35"/>
          <p:cNvGrpSpPr>
            <a:grpSpLocks/>
          </p:cNvGrpSpPr>
          <p:nvPr/>
        </p:nvGrpSpPr>
        <p:grpSpPr bwMode="auto">
          <a:xfrm>
            <a:off x="374650" y="2524660"/>
            <a:ext cx="6116638" cy="357188"/>
            <a:chOff x="236" y="2167"/>
            <a:chExt cx="3853" cy="225"/>
          </a:xfrm>
        </p:grpSpPr>
        <p:grpSp>
          <p:nvGrpSpPr>
            <p:cNvPr id="18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21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0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계약단계부터 완료 단계까지 준수해야 할 보안 요구사항</a:t>
              </a:r>
            </a:p>
          </p:txBody>
        </p:sp>
      </p:grp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30200" y="2135284"/>
            <a:ext cx="62420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5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계약단계부터 완료 시까지 보안 요구사항들은 반드시 준수하겠습니다</a:t>
            </a:r>
            <a:r>
              <a:rPr lang="en-US" altLang="ko-KR" spc="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pc="7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Ⅳ - 4</a:t>
            </a:r>
          </a:p>
        </p:txBody>
      </p:sp>
    </p:spTree>
    <p:extLst>
      <p:ext uri="{BB962C8B-B14F-4D97-AF65-F5344CB8AC3E}">
        <p14:creationId xmlns:p14="http://schemas.microsoft.com/office/powerpoint/2010/main" val="95497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5205413" y="407988"/>
            <a:ext cx="16017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보안요구사항</a:t>
            </a: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85238" y="838200"/>
            <a:ext cx="611792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나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누출금지 대상정보 및 보안 </a:t>
            </a:r>
            <a:r>
              <a:rPr kumimoji="0" lang="ko-KR" altLang="en-US" sz="1400" err="1">
                <a:latin typeface="HY헤드라인M" pitchFamily="18" charset="-127"/>
                <a:ea typeface="HY헤드라인M" pitchFamily="18" charset="-127"/>
              </a:rPr>
              <a:t>위규</a:t>
            </a: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 처리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(SER-002)</a:t>
            </a:r>
          </a:p>
        </p:txBody>
      </p:sp>
      <p:graphicFrame>
        <p:nvGraphicFramePr>
          <p:cNvPr id="1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784452"/>
              </p:ext>
            </p:extLst>
          </p:nvPr>
        </p:nvGraphicFramePr>
        <p:xfrm>
          <a:off x="481013" y="2247900"/>
          <a:ext cx="5859462" cy="6864350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6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아래 명시된 아래의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‘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누출금지 대상 정보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’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에 대한 보안 관리 계획을 제안서에 기재하여야 하며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해당 정보 누출 시 발주기관은 국가계약법 시행령 제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76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조에 따라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‘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부정당업자 제재 조치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’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를 적용할 수 있음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계약업체는 사업자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보안위규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처리기준을 숙지하며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보안정책을 위반하거나 내부 자료를 무단으로 유출하는 등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위규사항이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발생할 경우 아래와 같이 책임을 이행해야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en-US" altLang="ko-KR" sz="1100" b="0" i="0" u="none" strike="noStrike" cap="none" spc="-3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[</a:t>
                      </a:r>
                      <a:r>
                        <a:rPr kumimoji="1" lang="ko-KR" altLang="en-US" sz="1100" b="0" i="0" u="none" strike="noStrike" cap="none" spc="-3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붙임 </a:t>
                      </a:r>
                      <a:r>
                        <a:rPr kumimoji="1" lang="en-US" altLang="ko-KR" sz="1100" b="0" i="0" u="none" strike="noStrike" cap="none" spc="-3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3. </a:t>
                      </a:r>
                      <a:r>
                        <a:rPr kumimoji="1" lang="ko-KR" altLang="en-US" sz="1100" b="0" i="0" u="none" strike="noStrike" cap="none" spc="-3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사업자 </a:t>
                      </a:r>
                      <a:r>
                        <a:rPr kumimoji="1" lang="ko-KR" altLang="en-US" sz="1100" b="0" i="0" u="none" strike="noStrike" cap="none" spc="-3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보안위규</a:t>
                      </a:r>
                      <a:r>
                        <a:rPr kumimoji="1" lang="ko-KR" altLang="en-US" sz="1100" b="0" i="0" u="none" strike="noStrike" cap="none" spc="-3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처리기준</a:t>
                      </a:r>
                      <a:r>
                        <a:rPr kumimoji="1" lang="en-US" altLang="ko-KR" sz="1100" b="0" i="0" u="none" strike="noStrike" cap="none" spc="-3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]</a:t>
                      </a:r>
                      <a:r>
                        <a:rPr kumimoji="1" lang="ko-KR" altLang="en-US" sz="1100" b="0" i="0" u="none" strike="noStrike" cap="none" spc="-3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에 따라 당사자 및 관리자를 행정조치</a:t>
                      </a:r>
                      <a:endParaRPr kumimoji="1" lang="en-US" altLang="ko-KR" sz="1100" b="0" i="0" u="none" strike="noStrike" cap="none" spc="-3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[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붙임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4.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보안위약금 부과기준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]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에 따라 위약금을 부과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이외 민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형사상 모든 책임을 져야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또한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발주기관에서 실시한 기관 자체 보안점검에 따른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보안위규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경미한 사항 포함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발생 시에도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보안위규에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따른 보안조치를 적용해야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30200" y="1181100"/>
            <a:ext cx="6242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8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사업자 </a:t>
            </a:r>
            <a:r>
              <a:rPr lang="ko-KR" altLang="en-US" spc="8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보안위규</a:t>
            </a:r>
            <a:r>
              <a:rPr lang="ko-KR" altLang="en-US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처리기준을 숙지하며</a:t>
            </a:r>
            <a:r>
              <a:rPr lang="en-US" altLang="ko-KR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보안정책을 위반하거나 내부 자료를 무단으로 유출하는 등의 </a:t>
            </a:r>
            <a:r>
              <a:rPr lang="ko-KR" altLang="en-US" spc="8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위규사항을</a:t>
            </a:r>
            <a:r>
              <a:rPr lang="ko-KR" altLang="en-US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절대로 하지 않겠습니다</a:t>
            </a:r>
            <a:r>
              <a:rPr lang="en-US" altLang="ko-KR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pc="1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13" name="Group 35"/>
          <p:cNvGrpSpPr>
            <a:grpSpLocks/>
          </p:cNvGrpSpPr>
          <p:nvPr/>
        </p:nvGrpSpPr>
        <p:grpSpPr bwMode="auto">
          <a:xfrm>
            <a:off x="374650" y="1755076"/>
            <a:ext cx="6116638" cy="357188"/>
            <a:chOff x="236" y="2167"/>
            <a:chExt cx="3853" cy="225"/>
          </a:xfrm>
        </p:grpSpPr>
        <p:grpSp>
          <p:nvGrpSpPr>
            <p:cNvPr id="14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6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누출금지 대상정보 및 보안 </a:t>
              </a:r>
              <a:r>
                <a:rPr lang="ko-KR" altLang="en-US" sz="1200" err="1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위규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 처리에 대한 보안관리</a:t>
              </a:r>
            </a:p>
          </p:txBody>
        </p:sp>
      </p:grpSp>
      <p:sp>
        <p:nvSpPr>
          <p:cNvPr id="18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Ⅳ - 5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363289"/>
              </p:ext>
            </p:extLst>
          </p:nvPr>
        </p:nvGraphicFramePr>
        <p:xfrm>
          <a:off x="1676400" y="3461299"/>
          <a:ext cx="4572000" cy="2928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0944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누출금지 대상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347">
                <a:tc>
                  <a:txBody>
                    <a:bodyPr/>
                    <a:lstStyle/>
                    <a:p>
                      <a:pPr marL="90488" indent="-90488" fontAlgn="base" latinLnBrk="1">
                        <a:lnSpc>
                          <a:spcPct val="140000"/>
                        </a:lnSpc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㉮ 각급부대 소유 정보시스템의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내ㆍ외부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IP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주소 현황</a:t>
                      </a:r>
                    </a:p>
                    <a:p>
                      <a:pPr marL="90488" indent="-90488" fontAlgn="base" latinLnBrk="1">
                        <a:lnSpc>
                          <a:spcPct val="140000"/>
                        </a:lnSpc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㉯ 세부 정보시스템 구성 현황 및 정보통신망 구성도</a:t>
                      </a:r>
                    </a:p>
                    <a:p>
                      <a:pPr marL="90488" indent="-90488" fontAlgn="base" latinLnBrk="1">
                        <a:lnSpc>
                          <a:spcPct val="140000"/>
                        </a:lnSpc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㉰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사용자계정ㆍ비밀번호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등 정보시스템 접근권한 정보</a:t>
                      </a:r>
                    </a:p>
                    <a:p>
                      <a:pPr marL="90488" indent="-90488" fontAlgn="base" latinLnBrk="1">
                        <a:lnSpc>
                          <a:spcPct val="140000"/>
                        </a:lnSpc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㉱ 정보시스템 취약점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분석ㆍ평가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결과물</a:t>
                      </a:r>
                    </a:p>
                    <a:p>
                      <a:pPr marL="90488" indent="-90488" fontAlgn="base" latinLnBrk="1">
                        <a:lnSpc>
                          <a:spcPct val="140000"/>
                        </a:lnSpc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㉲ 정보화 용역사업 결과물 및 관련 프로그램 소스코드</a:t>
                      </a:r>
                    </a:p>
                    <a:p>
                      <a:pPr marL="90488" indent="-90488" fontAlgn="base" latinLnBrk="1">
                        <a:lnSpc>
                          <a:spcPct val="140000"/>
                        </a:lnSpc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㉳ 국가용 보안시스템 및 정보보호시스템 도입 현황</a:t>
                      </a:r>
                    </a:p>
                    <a:p>
                      <a:pPr marL="90488" indent="-90488" fontAlgn="base" latinLnBrk="1">
                        <a:lnSpc>
                          <a:spcPct val="140000"/>
                        </a:lnSpc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㉴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침입차단시스템ㆍ방지시스템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(IPS)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등 정보보호시스템 및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라우터ㆍ스위치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등 </a:t>
                      </a:r>
                      <a:b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</a:b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네트워크 장비 설정 정보</a:t>
                      </a:r>
                    </a:p>
                    <a:p>
                      <a:pPr marL="90488" indent="-90488" fontAlgn="base" latinLnBrk="1">
                        <a:lnSpc>
                          <a:spcPct val="140000"/>
                        </a:lnSpc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㉵ 「공공기관의 정보공개에 관한 법률」에 따른 비공개 대상 정보로 분류된 각급부대 내부 문서</a:t>
                      </a:r>
                    </a:p>
                    <a:p>
                      <a:pPr marL="90488" indent="-90488" fontAlgn="base" latinLnBrk="1">
                        <a:lnSpc>
                          <a:spcPct val="140000"/>
                        </a:lnSpc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㉶ 개인정보보호법 제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조 제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항의 개인정보</a:t>
                      </a:r>
                    </a:p>
                    <a:p>
                      <a:pPr marL="90488" indent="-90488" fontAlgn="base" latinLnBrk="1">
                        <a:lnSpc>
                          <a:spcPct val="140000"/>
                        </a:lnSpc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㉷ 「</a:t>
                      </a:r>
                      <a:r>
                        <a:rPr kumimoji="1" lang="ko-KR" altLang="en-US" sz="900" b="0" i="0" u="none" strike="noStrike" kern="1200" cap="none" spc="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국방보안업무훈령」제</a:t>
                      </a:r>
                      <a:r>
                        <a:rPr kumimoji="1" lang="en-US" altLang="ko-KR" sz="900" b="0" i="0" u="none" strike="noStrike" kern="1200" cap="none" spc="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16</a:t>
                      </a:r>
                      <a:r>
                        <a:rPr kumimoji="1" lang="ko-KR" altLang="en-US" sz="900" b="0" i="0" u="none" strike="noStrike" kern="1200" cap="none" spc="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조</a:t>
                      </a:r>
                      <a:r>
                        <a:rPr kumimoji="1" lang="en-US" altLang="ko-KR" sz="900" b="0" i="0" u="none" strike="noStrike" kern="1200" cap="none" spc="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비밀의 구분</a:t>
                      </a:r>
                      <a:r>
                        <a:rPr kumimoji="1" lang="en-US" altLang="ko-KR" sz="900" b="0" i="0" u="none" strike="noStrike" kern="1200" cap="none" spc="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900" b="0" i="0" u="none" strike="noStrike" kern="1200" cap="none" spc="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및 제</a:t>
                      </a:r>
                      <a:r>
                        <a:rPr kumimoji="1" lang="en-US" altLang="ko-KR" sz="900" b="0" i="0" u="none" strike="noStrike" kern="1200" cap="none" spc="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63</a:t>
                      </a:r>
                      <a:r>
                        <a:rPr kumimoji="1" lang="ko-KR" altLang="en-US" sz="900" b="0" i="0" u="none" strike="noStrike" kern="1200" cap="none" spc="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조</a:t>
                      </a:r>
                      <a:r>
                        <a:rPr kumimoji="1" lang="en-US" altLang="ko-KR" sz="900" b="0" i="0" u="none" strike="noStrike" kern="1200" cap="none" spc="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대외비의 취급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및 관리</a:t>
                      </a: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90488" indent="-90488" fontAlgn="base" latinLnBrk="1">
                        <a:lnSpc>
                          <a:spcPct val="140000"/>
                        </a:lnSpc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㉸ 그 밖에 각급부대의 장이 공개가 불가하다고 판단한 자료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172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5205413" y="407988"/>
            <a:ext cx="16017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보안요구사항</a:t>
            </a: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85238" y="838200"/>
            <a:ext cx="611792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다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정보보안 계획수립 및 실행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(SER-003)</a:t>
            </a:r>
          </a:p>
        </p:txBody>
      </p:sp>
      <p:graphicFrame>
        <p:nvGraphicFramePr>
          <p:cNvPr id="1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328588"/>
              </p:ext>
            </p:extLst>
          </p:nvPr>
        </p:nvGraphicFramePr>
        <p:xfrm>
          <a:off x="481013" y="2131125"/>
          <a:ext cx="5859462" cy="2670656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065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정보보안 관련 규정 및 지침은 국방부 「국방보안업무훈령」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「국방사이버보안훈령」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「국방정보시스템 보호대책서」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「국방전산정보원 용역사업 보안관리지침」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「국가를 당사자로 하는 계약에 관한 법률」을 준수하여야 함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「소프트웨어 개발보안 가이드」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「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C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시큐어코딩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가이드」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「사이버 자산에 대한 취약점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분석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ㆍ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평가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실무지침서」등 발주기관이 준수해야 하는 보안 관련 가이드라인을 준수하여 유지보수 업무를 수행하여야 함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30200" y="1181100"/>
            <a:ext cx="6242050" cy="291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7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정보보안 관련 규정과 지침을 준수하여 유지보수 업무를 수행하겠습니다</a:t>
            </a:r>
            <a:r>
              <a:rPr lang="en-US" altLang="ko-KR" spc="7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.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374650" y="1638300"/>
            <a:ext cx="6116638" cy="357188"/>
            <a:chOff x="236" y="2167"/>
            <a:chExt cx="3853" cy="225"/>
          </a:xfrm>
        </p:grpSpPr>
        <p:grpSp>
          <p:nvGrpSpPr>
            <p:cNvPr id="3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6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정보보안 계획수립 및 실행 방안 제시</a:t>
              </a:r>
            </a:p>
          </p:txBody>
        </p:sp>
      </p:grpSp>
      <p:sp>
        <p:nvSpPr>
          <p:cNvPr id="13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Ⅳ - 6</a:t>
            </a:r>
          </a:p>
        </p:txBody>
      </p:sp>
      <p:pic>
        <p:nvPicPr>
          <p:cNvPr id="14" name="Picture 83" descr="박스1"/>
          <p:cNvPicPr>
            <a:picLocks noChangeAspect="1" noChangeArrowheads="1"/>
          </p:cNvPicPr>
          <p:nvPr/>
        </p:nvPicPr>
        <p:blipFill>
          <a:blip r:embed="rId4" cstate="print"/>
          <a:srcRect l="311" t="2850" r="623"/>
          <a:stretch>
            <a:fillRect/>
          </a:stretch>
        </p:blipFill>
        <p:spPr bwMode="gray">
          <a:xfrm>
            <a:off x="330200" y="8041675"/>
            <a:ext cx="6264000" cy="1064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21235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5205413" y="407988"/>
            <a:ext cx="16017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보안요구사항</a:t>
            </a: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85238" y="838200"/>
            <a:ext cx="611792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라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장비 보안 및 자료 보안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(SER-004)</a:t>
            </a:r>
          </a:p>
        </p:txBody>
      </p:sp>
      <p:graphicFrame>
        <p:nvGraphicFramePr>
          <p:cNvPr id="1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95859"/>
              </p:ext>
            </p:extLst>
          </p:nvPr>
        </p:nvGraphicFramePr>
        <p:xfrm>
          <a:off x="481013" y="2283524"/>
          <a:ext cx="5859462" cy="6828726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287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본 사업에 투입되는 모든 인력은 보조기억매체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노트북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USB,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이동형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HDD, CD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등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를 사업관리장소에 반입할 수 없으며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스마트폰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차량용 항법장비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블랙박스의 경우 승인을 받아 사용하여야 함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본 사업에 투입되는 장비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(PC)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는 국방보안업무훈령에 따라 포맷된 상태에서 운영체제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(OS)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만 탑재 후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보안성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검토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승인하에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사용하게 되며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사업종료 또는 기타 사유로 인해 반출 시에는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보안성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검토 후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PC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본체만 반출하여야 함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(HDD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반출 불가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업무 중 자료 유출 방지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업무 자료의 상용 메일을 이용한 전송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상용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P2P,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웹하드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업로드 금지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업무 목적이 아닌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P2P,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웹하드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등 사이트 이용 금지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일반 상용 메신저 이용 금지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업무용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PC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에 불필요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SW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설치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/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개인자료 저장 금지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인가받지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않은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USB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등의 휴대용 저장매체 사용을 금지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용역 수행자비 내 군사비밀 자료 저장 금지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자료에 대한 보안관리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-‘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누출금지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대상정보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’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는 반드시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‘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자료관리 대장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’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에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인계자ㆍ인수자가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직접 서명하여 관리하고 사업완료 시 자료 회수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사업수행간 생산되는 모든 산출물은 사전 승인된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에서만 작업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매일 퇴근 시 발주기관이 제공한 중요자료는 반납하고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그 외 자료는 사무실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시건장치가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된 보관함에 보관하여야 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사업완료 시 보안관리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불필요한 자료는 반드시 삭제 및 폐기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발주기관에서 제공받은 자료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장비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산출물 등 용역 관련 제반 자료는 전량 회수하고 용역업체에 복사본 등 별도 보관 절대 금지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30200" y="1181100"/>
            <a:ext cx="6242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100" dirty="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사용 가능한</a:t>
            </a:r>
            <a:r>
              <a:rPr lang="ko-KR" altLang="en-US" spc="7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개인정보통신 장비는 유지보수 책임기관으로부터 승인을 받아 사용 하도록 하겠습니다</a:t>
            </a:r>
            <a:r>
              <a:rPr lang="en-US" altLang="ko-KR" spc="7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pc="7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불필요한 자료는 삭제 및 폐기하며</a:t>
            </a:r>
            <a:r>
              <a:rPr lang="en-US" altLang="ko-KR" spc="7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7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별도 보관하지 않겠습니다</a:t>
            </a:r>
            <a:r>
              <a:rPr lang="en-US" altLang="ko-KR" spc="7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374650" y="1790700"/>
            <a:ext cx="6116638" cy="357188"/>
            <a:chOff x="236" y="2167"/>
            <a:chExt cx="3853" cy="225"/>
          </a:xfrm>
        </p:grpSpPr>
        <p:grpSp>
          <p:nvGrpSpPr>
            <p:cNvPr id="3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6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장비 보안 및 자료 보안 제시</a:t>
              </a:r>
            </a:p>
          </p:txBody>
        </p:sp>
      </p:grpSp>
      <p:sp>
        <p:nvSpPr>
          <p:cNvPr id="13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Ⅳ - 7</a:t>
            </a:r>
          </a:p>
        </p:txBody>
      </p:sp>
    </p:spTree>
    <p:extLst>
      <p:ext uri="{BB962C8B-B14F-4D97-AF65-F5344CB8AC3E}">
        <p14:creationId xmlns:p14="http://schemas.microsoft.com/office/powerpoint/2010/main" val="2891879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5205413" y="407988"/>
            <a:ext cx="16017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보안요구사항</a:t>
            </a: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85238" y="838200"/>
            <a:ext cx="611792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마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외주 용역업체 보안대책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(SER-005)</a:t>
            </a:r>
          </a:p>
        </p:txBody>
      </p:sp>
      <p:graphicFrame>
        <p:nvGraphicFramePr>
          <p:cNvPr id="1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836874"/>
              </p:ext>
            </p:extLst>
          </p:nvPr>
        </p:nvGraphicFramePr>
        <p:xfrm>
          <a:off x="481013" y="2275988"/>
          <a:ext cx="5859462" cy="3134212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3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수행업체 직원 보안교육 실시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사업수행 중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정보시스템ㆍ정보통신망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무단 접속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비인가 프로그램 설치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정보시스템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정보통신망 취약점 고의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생성ㆍ방치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시 제재는 물론 향후 입찰참가에 제한을 받을 수 있음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USB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등 비인가 저장매체 사용을 금하며 사업 종료 후 업체소유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PC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ㆍ서버의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하드디스크ㆍ저장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매체 등은 파일 완전소거 프로그램을 이용하여 완전삭제 후 파기 및 반납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반출불가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하는 등 사무실 및 장비에 대한 보안방안 제시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사업기간 중 불법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SW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의 사용으로 인한 문제에 대한 책임을 져야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사업관련 자료는 인터넷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웹하드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웹메일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등 외부에 저장 및 전송 금지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정보화사업과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관련한 중요자료 및 비공개자료는 </a:t>
                      </a:r>
                      <a:r>
                        <a:rPr kumimoji="1" lang="ko-KR" altLang="en-US" sz="1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시건장치가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있는 장소에 보관하여야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30200" y="1181100"/>
            <a:ext cx="6242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사업에 투입된 인원에게 보안 사고가 발생하지 않도록 정기적으로 보안 교육을 실시</a:t>
            </a:r>
            <a:r>
              <a:rPr lang="ko-KR" altLang="en-US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하겠습니다</a:t>
            </a:r>
            <a:r>
              <a:rPr lang="en-US" altLang="ko-KR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374650" y="1783164"/>
            <a:ext cx="6116638" cy="357188"/>
            <a:chOff x="236" y="2167"/>
            <a:chExt cx="3853" cy="225"/>
          </a:xfrm>
        </p:grpSpPr>
        <p:grpSp>
          <p:nvGrpSpPr>
            <p:cNvPr id="3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6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외주 용역업체 보안대책 제시</a:t>
              </a:r>
            </a:p>
          </p:txBody>
        </p:sp>
      </p:grpSp>
      <p:grpSp>
        <p:nvGrpSpPr>
          <p:cNvPr id="13" name="Group 35"/>
          <p:cNvGrpSpPr>
            <a:grpSpLocks/>
          </p:cNvGrpSpPr>
          <p:nvPr/>
        </p:nvGrpSpPr>
        <p:grpSpPr bwMode="auto">
          <a:xfrm>
            <a:off x="374650" y="6548268"/>
            <a:ext cx="6116638" cy="357188"/>
            <a:chOff x="236" y="2167"/>
            <a:chExt cx="3853" cy="225"/>
          </a:xfrm>
        </p:grpSpPr>
        <p:grpSp>
          <p:nvGrpSpPr>
            <p:cNvPr id="14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9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8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개인정보보호법 준수 정의</a:t>
              </a:r>
            </a:p>
          </p:txBody>
        </p:sp>
      </p:grpSp>
      <p:graphicFrame>
        <p:nvGraphicFramePr>
          <p:cNvPr id="21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520837"/>
              </p:ext>
            </p:extLst>
          </p:nvPr>
        </p:nvGraphicFramePr>
        <p:xfrm>
          <a:off x="481013" y="7043568"/>
          <a:ext cx="5859462" cy="2068682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86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개인정보보호 관련 모든 법규를 충실히 이행하여 유지보수에 반영하여야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개인정보보호법에 따른 기술적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관리적 보호조치 수행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개인정보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열람시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접근 이력 기록 및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필요시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사유 입력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개인정보 열람에 대한 이력관리 통계 또는 조회 화면 제공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개인정보 중 고유식별정보에 대한 암호화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개인정보보호법에 의한 개인정보보호 지침을 준수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 Box 81"/>
          <p:cNvSpPr txBox="1">
            <a:spLocks noChangeArrowheads="1"/>
          </p:cNvSpPr>
          <p:nvPr/>
        </p:nvSpPr>
        <p:spPr bwMode="auto">
          <a:xfrm>
            <a:off x="315913" y="5600700"/>
            <a:ext cx="6165850" cy="361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바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개인정보보호법 준수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(SER-006)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330200" y="5938133"/>
            <a:ext cx="6242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1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개인정보보호 관련 모든 법규를 충실히 이행하여 유지보수에 반영하고 개인정보보호 지침을 준수하겠습니다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4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Ⅳ - 8</a:t>
            </a:r>
          </a:p>
        </p:txBody>
      </p:sp>
    </p:spTree>
    <p:extLst>
      <p:ext uri="{BB962C8B-B14F-4D97-AF65-F5344CB8AC3E}">
        <p14:creationId xmlns:p14="http://schemas.microsoft.com/office/powerpoint/2010/main" val="2947790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5205413" y="407988"/>
            <a:ext cx="16017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보안요구사항</a:t>
            </a: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85238" y="838200"/>
            <a:ext cx="611792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spcAft>
                <a:spcPct val="60000"/>
              </a:spcAft>
            </a:pP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사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해킹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kumimoji="0" lang="ko-KR" altLang="en-US" sz="1400">
                <a:latin typeface="HY헤드라인M" pitchFamily="18" charset="-127"/>
                <a:ea typeface="HY헤드라인M" pitchFamily="18" charset="-127"/>
              </a:rPr>
              <a:t>바이러스 등 침해사고 예방대책</a:t>
            </a:r>
            <a:r>
              <a:rPr kumimoji="0" lang="en-US" altLang="ko-KR" sz="1400">
                <a:latin typeface="HY헤드라인M" pitchFamily="18" charset="-127"/>
                <a:ea typeface="HY헤드라인M" pitchFamily="18" charset="-127"/>
              </a:rPr>
              <a:t>(SER-007)</a:t>
            </a:r>
          </a:p>
        </p:txBody>
      </p:sp>
      <p:graphicFrame>
        <p:nvGraphicFramePr>
          <p:cNvPr id="1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103869"/>
              </p:ext>
            </p:extLst>
          </p:nvPr>
        </p:nvGraphicFramePr>
        <p:xfrm>
          <a:off x="481013" y="2396384"/>
          <a:ext cx="5859462" cy="804016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0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해킹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바이러스 등으로 인한 침해사고 예방대책 및 서비스 중단사태 발생에 대한 긴급복구 방안 등을 포함한 보안대책을 제시해야 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사업 기간 중 불법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S/W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의 사용으로 인한 문제에 대해서는 책임을 져야함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30200" y="1181100"/>
            <a:ext cx="624205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5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해킹</a:t>
            </a:r>
            <a:r>
              <a:rPr lang="en-US" altLang="ko-KR" spc="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바이러스 등으로 인한 침해사고를 예방을 위해 </a:t>
            </a:r>
            <a:r>
              <a:rPr lang="en-US" altLang="ko-KR" spc="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9</a:t>
            </a:r>
            <a:r>
              <a:rPr lang="ko-KR" altLang="en-US" spc="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자리 이상의 강력한 </a:t>
            </a:r>
            <a:r>
              <a:rPr lang="ko-KR" altLang="en-US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비밀번호를 설정하며</a:t>
            </a:r>
            <a:r>
              <a:rPr lang="en-US" altLang="ko-KR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1</a:t>
            </a:r>
            <a:r>
              <a:rPr lang="ko-KR" altLang="en-US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달 주기로 변경하겠습니다</a:t>
            </a:r>
            <a:r>
              <a:rPr lang="en-US" altLang="ko-KR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또한 불법 </a:t>
            </a:r>
            <a:r>
              <a:rPr lang="en-US" altLang="ko-KR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S/W</a:t>
            </a:r>
            <a:r>
              <a:rPr lang="ko-KR" altLang="en-US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의 사용은 일체 하지 않으며</a:t>
            </a:r>
            <a:r>
              <a:rPr lang="en-US" altLang="ko-KR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중요 데이터는 정기적으로 백업하고 안전하게 보관하겠습니다</a:t>
            </a:r>
            <a:r>
              <a:rPr lang="en-US" altLang="ko-KR" spc="7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374650" y="1937744"/>
            <a:ext cx="5938838" cy="357188"/>
            <a:chOff x="236" y="2167"/>
            <a:chExt cx="3741" cy="225"/>
          </a:xfrm>
        </p:grpSpPr>
        <p:pic>
          <p:nvPicPr>
            <p:cNvPr id="16" name="Picture 37" descr="Magazine temp08_A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" y="2167"/>
              <a:ext cx="3741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해킹</a:t>
              </a:r>
              <a:r>
                <a:rPr lang="en-US" altLang="ko-KR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바이러스 등 침해사고 예방대책</a:t>
              </a:r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374650" y="4408852"/>
            <a:ext cx="5938838" cy="357188"/>
            <a:chOff x="236" y="2167"/>
            <a:chExt cx="3741" cy="225"/>
          </a:xfrm>
        </p:grpSpPr>
        <p:pic>
          <p:nvPicPr>
            <p:cNvPr id="19" name="Picture 37" descr="Magazine temp08_A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" y="2167"/>
              <a:ext cx="3741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341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외주용역사업 비밀유지 계약에 따른 용역사업 보안점검 사항을 상시 점검</a:t>
              </a:r>
            </a:p>
          </p:txBody>
        </p:sp>
      </p:grpSp>
      <p:graphicFrame>
        <p:nvGraphicFramePr>
          <p:cNvPr id="21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332421"/>
              </p:ext>
            </p:extLst>
          </p:nvPr>
        </p:nvGraphicFramePr>
        <p:xfrm>
          <a:off x="481013" y="4801780"/>
          <a:ext cx="5859462" cy="4310470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4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용역업체 사용 전산망과 기관 전산망의 분리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용역업체 직원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의 내부 정보시스템 접근 통제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P2P,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웹하드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메신저 등 불필요한 인터넷 접속 차단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용역업체 직원에 주요 계정 비밀번호 제공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용역업체 직원에 비밀번호 부여 시 관련사항 별도 기록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용역업체 직원에 시스템 관리자 계정 단독 접근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노트북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등 휴대형 정보시스템을 시스템 관리용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로 활용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용역업체 직원 등에 의한 기관 외부에서의 원격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접속ㆍ작업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용역업체 정보시스템 접근 시 작업이력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로깅기능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사용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용역업체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및 휴대형 저장매체에 정보시스템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‘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계정명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비밀번호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’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저장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용역업체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에 설치된 운영체제 및 응용프로그램 최신 상태 유지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용역업체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백신 프로그램 자동 업데이트 및 실시간 감시기능 사용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용역업체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 USB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CD-RW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ㆍ무선랜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등 매체 통제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용역업체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비밀번호 및 화면보호기 설정 여부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용역업체 직원이 비인가 정보통신장비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노트북 등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휴대 반입 여부 등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 Box 81"/>
          <p:cNvSpPr txBox="1">
            <a:spLocks noChangeArrowheads="1"/>
          </p:cNvSpPr>
          <p:nvPr/>
        </p:nvSpPr>
        <p:spPr bwMode="auto">
          <a:xfrm>
            <a:off x="315913" y="3289580"/>
            <a:ext cx="6165850" cy="361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아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보안점검 항목 작성 및 관리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(SER-008)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330200" y="3627013"/>
            <a:ext cx="624205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en-US" altLang="ko-KR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1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유지보수 업무환경에서 제공하는 최신 버전의 백신 프로그램을 사용 </a:t>
            </a:r>
            <a:r>
              <a:rPr lang="ko-KR" altLang="en-US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하겠으며</a:t>
            </a:r>
            <a:r>
              <a:rPr lang="en-US" altLang="ko-KR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주기적으로 업데이트 및 검사를 하겠습니다</a:t>
            </a:r>
            <a:r>
              <a:rPr lang="en-US" altLang="ko-KR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pc="4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그리고 기본적인 보안 습관을 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가질 수 있도록 보안 인식 교육을 철저히 하겠습니다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7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Ⅳ - 9</a:t>
            </a:r>
          </a:p>
        </p:txBody>
      </p:sp>
    </p:spTree>
    <p:extLst>
      <p:ext uri="{BB962C8B-B14F-4D97-AF65-F5344CB8AC3E}">
        <p14:creationId xmlns:p14="http://schemas.microsoft.com/office/powerpoint/2010/main" val="631499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Text Box 81"/>
          <p:cNvSpPr txBox="1">
            <a:spLocks noChangeArrowheads="1"/>
          </p:cNvSpPr>
          <p:nvPr/>
        </p:nvSpPr>
        <p:spPr bwMode="auto">
          <a:xfrm>
            <a:off x="315913" y="1265238"/>
            <a:ext cx="6165850" cy="55399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30" err="1"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z="1200" spc="30">
                <a:latin typeface="HY신명조" panose="02030600000101010101" pitchFamily="18" charset="-127"/>
                <a:ea typeface="HY신명조" panose="02030600000101010101" pitchFamily="18" charset="-127"/>
              </a:rPr>
              <a:t> 제안요청서의 기술</a:t>
            </a:r>
            <a:r>
              <a:rPr lang="en-US" altLang="ko-KR" sz="1200" spc="3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30">
                <a:latin typeface="HY신명조" panose="02030600000101010101" pitchFamily="18" charset="-127"/>
                <a:ea typeface="HY신명조" panose="02030600000101010101" pitchFamily="18" charset="-127"/>
              </a:rPr>
              <a:t>표준</a:t>
            </a:r>
            <a:r>
              <a:rPr lang="en-US" altLang="ko-KR" sz="1200" spc="3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30">
                <a:latin typeface="HY신명조" panose="02030600000101010101" pitchFamily="18" charset="-127"/>
                <a:ea typeface="HY신명조" panose="02030600000101010101" pitchFamily="18" charset="-127"/>
              </a:rPr>
              <a:t>업무</a:t>
            </a:r>
            <a:r>
              <a:rPr lang="en-US" altLang="ko-KR" sz="1200" spc="3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spc="30">
                <a:latin typeface="HY신명조" panose="02030600000101010101" pitchFamily="18" charset="-127"/>
                <a:ea typeface="HY신명조" panose="02030600000101010101" pitchFamily="18" charset="-127"/>
              </a:rPr>
              <a:t>법제도 및 </a:t>
            </a:r>
            <a:r>
              <a:rPr lang="ko-KR" altLang="en-US" sz="1200" spc="30" err="1">
                <a:latin typeface="HY신명조" panose="02030600000101010101" pitchFamily="18" charset="-127"/>
                <a:ea typeface="HY신명조" panose="02030600000101010101" pitchFamily="18" charset="-127"/>
              </a:rPr>
              <a:t>안전관리등의</a:t>
            </a:r>
            <a:r>
              <a:rPr lang="ko-KR" altLang="en-US" sz="1200" spc="30">
                <a:latin typeface="HY신명조" panose="02030600000101010101" pitchFamily="18" charset="-127"/>
                <a:ea typeface="HY신명조" panose="02030600000101010101" pitchFamily="18" charset="-127"/>
              </a:rPr>
              <a:t> 제약조건을 적극적으로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지원하여 원활한 프로젝트 진행이 가능하도록 하겠습니다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5205413" y="407988"/>
            <a:ext cx="16017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3.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제약사항</a:t>
            </a:r>
          </a:p>
        </p:txBody>
      </p:sp>
      <p:sp>
        <p:nvSpPr>
          <p:cNvPr id="9239" name="Text Box 63"/>
          <p:cNvSpPr txBox="1">
            <a:spLocks noChangeArrowheads="1"/>
          </p:cNvSpPr>
          <p:nvPr/>
        </p:nvSpPr>
        <p:spPr bwMode="auto">
          <a:xfrm>
            <a:off x="290513" y="831850"/>
            <a:ext cx="6242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kumimoji="0" lang="ko-KR" altLang="en-US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제약사항 </a:t>
            </a: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(COR, Constraints Requirement)</a:t>
            </a:r>
            <a:endParaRPr kumimoji="0" lang="ko-KR" altLang="en-US" sz="16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 Box 81"/>
          <p:cNvSpPr txBox="1">
            <a:spLocks noChangeArrowheads="1"/>
          </p:cNvSpPr>
          <p:nvPr/>
        </p:nvSpPr>
        <p:spPr bwMode="auto">
          <a:xfrm>
            <a:off x="315913" y="1869403"/>
            <a:ext cx="6165850" cy="9910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개발언어 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(COR-001)</a:t>
            </a:r>
          </a:p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en-US" altLang="ko-KR" sz="14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30"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1200" spc="30">
                <a:latin typeface="HY신명조" panose="02030600000101010101" pitchFamily="18" charset="-127"/>
                <a:ea typeface="HY신명조" panose="02030600000101010101" pitchFamily="18" charset="-127"/>
              </a:rPr>
              <a:t>JOS </a:t>
            </a:r>
            <a:r>
              <a:rPr lang="ko-KR" altLang="en-US" sz="1200" spc="30">
                <a:latin typeface="HY신명조" panose="02030600000101010101" pitchFamily="18" charset="-127"/>
                <a:ea typeface="HY신명조" panose="02030600000101010101" pitchFamily="18" charset="-127"/>
              </a:rPr>
              <a:t>모델에서 사용하는 개발언어와 대용량 </a:t>
            </a:r>
            <a:r>
              <a:rPr lang="en-US" altLang="ko-KR" sz="1200" spc="30">
                <a:latin typeface="HY신명조" panose="02030600000101010101" pitchFamily="18" charset="-127"/>
                <a:ea typeface="HY신명조" panose="02030600000101010101" pitchFamily="18" charset="-127"/>
              </a:rPr>
              <a:t>DB, Linux/Window </a:t>
            </a:r>
            <a:r>
              <a:rPr lang="ko-KR" altLang="en-US" sz="1200" spc="30">
                <a:latin typeface="HY신명조" panose="02030600000101010101" pitchFamily="18" charset="-127"/>
                <a:ea typeface="HY신명조" panose="02030600000101010101" pitchFamily="18" charset="-127"/>
              </a:rPr>
              <a:t>시스템 사용에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풍부한 경험을 가진 인력을 구성하여 원활한 업무 수행이 가능하도록 하겠습니다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aphicFrame>
        <p:nvGraphicFramePr>
          <p:cNvPr id="11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882755"/>
              </p:ext>
            </p:extLst>
          </p:nvPr>
        </p:nvGraphicFramePr>
        <p:xfrm>
          <a:off x="481013" y="3384444"/>
          <a:ext cx="5859462" cy="1577576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775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기존 시스템을 분석 파악할 수 있는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C++, Visual C++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프로그래밍이 가능하여야 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대용량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DB(ORACLE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등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설계 및 튜닝이 가능하여야 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주 전산기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Linux/Window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시스템 사용이 가능하여야 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3" name="Group 35"/>
          <p:cNvGrpSpPr>
            <a:grpSpLocks/>
          </p:cNvGrpSpPr>
          <p:nvPr/>
        </p:nvGrpSpPr>
        <p:grpSpPr bwMode="auto">
          <a:xfrm>
            <a:off x="374650" y="2918396"/>
            <a:ext cx="6116638" cy="357188"/>
            <a:chOff x="236" y="2167"/>
            <a:chExt cx="3853" cy="225"/>
          </a:xfrm>
        </p:grpSpPr>
        <p:grpSp>
          <p:nvGrpSpPr>
            <p:cNvPr id="14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6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개발언어</a:t>
              </a:r>
            </a:p>
          </p:txBody>
        </p:sp>
      </p:grpSp>
      <p:grpSp>
        <p:nvGrpSpPr>
          <p:cNvPr id="18" name="Group 35"/>
          <p:cNvGrpSpPr>
            <a:grpSpLocks/>
          </p:cNvGrpSpPr>
          <p:nvPr/>
        </p:nvGrpSpPr>
        <p:grpSpPr bwMode="auto">
          <a:xfrm>
            <a:off x="374650" y="6012661"/>
            <a:ext cx="6116638" cy="357188"/>
            <a:chOff x="236" y="2167"/>
            <a:chExt cx="3853" cy="225"/>
          </a:xfrm>
        </p:grpSpPr>
        <p:grpSp>
          <p:nvGrpSpPr>
            <p:cNvPr id="19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21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0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국방표준 제약사항</a:t>
              </a:r>
            </a:p>
          </p:txBody>
        </p:sp>
      </p:grpSp>
      <p:graphicFrame>
        <p:nvGraphicFramePr>
          <p:cNvPr id="23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366992"/>
              </p:ext>
            </p:extLst>
          </p:nvPr>
        </p:nvGraphicFramePr>
        <p:xfrm>
          <a:off x="481013" y="6507961"/>
          <a:ext cx="5859462" cy="1318219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82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국방상호운용성 준수하여야 함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국방표준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적용 가이드라인을 준수하여야 함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국방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CBD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산출물을 준수하여야 함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 Box 81"/>
          <p:cNvSpPr txBox="1">
            <a:spLocks noChangeArrowheads="1"/>
          </p:cNvSpPr>
          <p:nvPr/>
        </p:nvSpPr>
        <p:spPr bwMode="auto">
          <a:xfrm>
            <a:off x="315913" y="5072158"/>
            <a:ext cx="6165850" cy="361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나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국방표준 제약사항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(COR-002)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330200" y="5409591"/>
            <a:ext cx="6242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25000"/>
              </a:lnSpc>
            </a:pPr>
            <a:r>
              <a:rPr lang="ko-KR" altLang="en-US" spc="100" dirty="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1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국방 </a:t>
            </a:r>
            <a:r>
              <a:rPr lang="ko-KR" altLang="en-US" spc="1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상호운용성</a:t>
            </a:r>
            <a:r>
              <a:rPr lang="en-US" altLang="ko-KR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국방표준 적용 가이드 라인</a:t>
            </a:r>
            <a:r>
              <a:rPr lang="en-US" altLang="ko-KR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국방 </a:t>
            </a:r>
            <a:r>
              <a:rPr lang="en-US" altLang="ko-KR" spc="1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CBD</a:t>
            </a:r>
            <a:r>
              <a:rPr lang="en-US" altLang="ko-KR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산출물을 준수하겠습니다</a:t>
            </a:r>
            <a:r>
              <a:rPr lang="en-US" altLang="ko-KR" spc="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4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432811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Ⅳ - 10</a:t>
            </a:r>
          </a:p>
        </p:txBody>
      </p:sp>
      <p:pic>
        <p:nvPicPr>
          <p:cNvPr id="27" name="Picture 83" descr="박스1"/>
          <p:cNvPicPr>
            <a:picLocks noChangeAspect="1" noChangeArrowheads="1"/>
          </p:cNvPicPr>
          <p:nvPr/>
        </p:nvPicPr>
        <p:blipFill>
          <a:blip r:embed="rId4" cstate="print"/>
          <a:srcRect l="311" t="2850" r="623"/>
          <a:stretch>
            <a:fillRect/>
          </a:stretch>
        </p:blipFill>
        <p:spPr bwMode="gray">
          <a:xfrm>
            <a:off x="330200" y="8041675"/>
            <a:ext cx="6264000" cy="1064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81274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1"/>
          <p:cNvSpPr txBox="1">
            <a:spLocks noChangeArrowheads="1"/>
          </p:cNvSpPr>
          <p:nvPr/>
        </p:nvSpPr>
        <p:spPr bwMode="auto">
          <a:xfrm>
            <a:off x="315913" y="870060"/>
            <a:ext cx="6165850" cy="361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다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지식재산권 및 저작권 </a:t>
            </a:r>
            <a:r>
              <a:rPr kumimoji="0" lang="ko-KR" altLang="en-US" sz="120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en-US" altLang="ko-KR" sz="1200">
                <a:latin typeface="HY헤드라인M" panose="02030600000101010101" pitchFamily="18" charset="-127"/>
                <a:ea typeface="HY헤드라인M" panose="02030600000101010101" pitchFamily="18" charset="-127"/>
              </a:rPr>
              <a:t>(COR-003)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 Box 1086"/>
          <p:cNvSpPr txBox="1">
            <a:spLocks noChangeArrowheads="1"/>
          </p:cNvSpPr>
          <p:nvPr/>
        </p:nvSpPr>
        <p:spPr bwMode="auto">
          <a:xfrm>
            <a:off x="5205413" y="407988"/>
            <a:ext cx="16017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3.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제약사항</a:t>
            </a:r>
          </a:p>
        </p:txBody>
      </p: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374650" y="1714500"/>
            <a:ext cx="6116638" cy="357188"/>
            <a:chOff x="236" y="2167"/>
            <a:chExt cx="3853" cy="225"/>
          </a:xfrm>
        </p:grpSpPr>
        <p:grpSp>
          <p:nvGrpSpPr>
            <p:cNvPr id="10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2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1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지식재산권 및 저작권</a:t>
              </a:r>
            </a:p>
          </p:txBody>
        </p:sp>
      </p:grpSp>
      <p:graphicFrame>
        <p:nvGraphicFramePr>
          <p:cNvPr id="14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395846"/>
              </p:ext>
            </p:extLst>
          </p:nvPr>
        </p:nvGraphicFramePr>
        <p:xfrm>
          <a:off x="481013" y="2209800"/>
          <a:ext cx="5859462" cy="6902450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02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체계구축 관련 국내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외에서 저작권 침해 분쟁이 발생되었을 경우 손해배상 뿐 아니라 민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형사상 책임 등 일체의 책임은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제안사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수행업체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에게 있으며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조속히 분쟁을 해결하여야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본 사업에서 제공한 템플릿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이미지 등 모든 디자인과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콘텐츠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시스템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(DB,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원시프로그램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개발소프트웨어에 포함된 솔루션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패키지 포함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등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설계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구현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운영에 관련된 모든 구성요소에 대한 사용권 및 지식재산권은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계약예규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용역계약일반조건에 따라 지식재산권의 귀속은 원칙적으로 계약 당사자간 공동 소유이나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계약목적물의 특수성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국방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을 고려하여 합참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분석실험실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에 귀속됨을 원칙으로 하며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필요 시 세부사항은 협의하여 결정함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제안사가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발주기관에 납품한 모든 용역 산출물과 사업수행에 따라 취득한 기술자료의 지적재산권은 합참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분석실험실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에 귀속됨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본 사업을 통해 개발되는 소프트웨어는 용역계약일반조건 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56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조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계약목적물의 지식재산권 귀속 등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에 따라 타 기관과 공동활용할 계획이 없음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발주기관은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제안사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수행업체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가 제공받은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산출물을 무단으로 유출하거나 누출되는 경우 및 누출금지정보를 삭제하지 않고 활용하는 경우에는 「국가계약법 시행령」제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76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조 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항 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호 등에 따라 입찰참가자격을 제한함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330200" y="1295400"/>
            <a:ext cx="62420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1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지식재산권 및 저작권에 대한 개념 및 법률을 이해하고 있습니다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6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432811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Ⅳ - 11</a:t>
            </a:r>
          </a:p>
        </p:txBody>
      </p:sp>
    </p:spTree>
    <p:extLst>
      <p:ext uri="{BB962C8B-B14F-4D97-AF65-F5344CB8AC3E}">
        <p14:creationId xmlns:p14="http://schemas.microsoft.com/office/powerpoint/2010/main" val="37544214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81"/>
          <p:cNvSpPr txBox="1">
            <a:spLocks noChangeArrowheads="1"/>
          </p:cNvSpPr>
          <p:nvPr/>
        </p:nvSpPr>
        <p:spPr bwMode="auto">
          <a:xfrm>
            <a:off x="315913" y="870060"/>
            <a:ext cx="6165850" cy="361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라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설계 및 구현 제약사항</a:t>
            </a:r>
            <a:r>
              <a:rPr kumimoji="0" lang="ko-KR" altLang="en-US" sz="120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en-US" altLang="ko-KR" sz="1200">
                <a:latin typeface="HY헤드라인M" panose="02030600000101010101" pitchFamily="18" charset="-127"/>
                <a:ea typeface="HY헤드라인M" panose="02030600000101010101" pitchFamily="18" charset="-127"/>
              </a:rPr>
              <a:t>(COR-004)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 Box 81"/>
          <p:cNvSpPr txBox="1">
            <a:spLocks noChangeArrowheads="1"/>
          </p:cNvSpPr>
          <p:nvPr/>
        </p:nvSpPr>
        <p:spPr bwMode="auto">
          <a:xfrm>
            <a:off x="315913" y="3770847"/>
            <a:ext cx="6165850" cy="361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마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기술적용계획표 및 결과표 작성</a:t>
            </a:r>
            <a:r>
              <a:rPr kumimoji="0" lang="ko-KR" altLang="en-US" sz="120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en-US" altLang="ko-KR" sz="1200">
                <a:latin typeface="HY헤드라인M" panose="02030600000101010101" pitchFamily="18" charset="-127"/>
                <a:ea typeface="HY헤드라인M" panose="02030600000101010101" pitchFamily="18" charset="-127"/>
              </a:rPr>
              <a:t>(COR-005)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 Box 1086"/>
          <p:cNvSpPr txBox="1">
            <a:spLocks noChangeArrowheads="1"/>
          </p:cNvSpPr>
          <p:nvPr/>
        </p:nvSpPr>
        <p:spPr bwMode="auto">
          <a:xfrm>
            <a:off x="5205413" y="407988"/>
            <a:ext cx="16017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3.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제약사항</a:t>
            </a:r>
          </a:p>
        </p:txBody>
      </p:sp>
      <p:graphicFrame>
        <p:nvGraphicFramePr>
          <p:cNvPr id="10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35832"/>
              </p:ext>
            </p:extLst>
          </p:nvPr>
        </p:nvGraphicFramePr>
        <p:xfrm>
          <a:off x="481013" y="2221124"/>
          <a:ext cx="5859462" cy="1369801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9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기존 시스템운영에 영향을 주지 않는 시스템을 구현하여야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 운영되고 있는 시스템 구조 및 전체 표준과 호환성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시스템 통합 및 데이터 유형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프로세스 환경 유형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 유형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시스템 간 물리적 네트워크 연결구성을 고려하여 용역사업을 수행하여야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3" name="Group 35"/>
          <p:cNvGrpSpPr>
            <a:grpSpLocks/>
          </p:cNvGrpSpPr>
          <p:nvPr/>
        </p:nvGrpSpPr>
        <p:grpSpPr bwMode="auto">
          <a:xfrm>
            <a:off x="374650" y="1755076"/>
            <a:ext cx="6116638" cy="357188"/>
            <a:chOff x="236" y="2167"/>
            <a:chExt cx="3853" cy="225"/>
          </a:xfrm>
        </p:grpSpPr>
        <p:grpSp>
          <p:nvGrpSpPr>
            <p:cNvPr id="14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6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설계 및 구현 제약사항</a:t>
              </a:r>
            </a:p>
          </p:txBody>
        </p:sp>
      </p:grpSp>
      <p:grpSp>
        <p:nvGrpSpPr>
          <p:cNvPr id="18" name="Group 35"/>
          <p:cNvGrpSpPr>
            <a:grpSpLocks/>
          </p:cNvGrpSpPr>
          <p:nvPr/>
        </p:nvGrpSpPr>
        <p:grpSpPr bwMode="auto">
          <a:xfrm>
            <a:off x="374650" y="4825060"/>
            <a:ext cx="6116638" cy="357188"/>
            <a:chOff x="236" y="2167"/>
            <a:chExt cx="3853" cy="225"/>
          </a:xfrm>
        </p:grpSpPr>
        <p:grpSp>
          <p:nvGrpSpPr>
            <p:cNvPr id="19" name="Group 3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21" name="Picture 37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" name="Picture 38" descr="Magazine temp08_A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0" name="Text Box 3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itchFamily="18" charset="-127"/>
                  <a:ea typeface="HY헤드라인M" pitchFamily="18" charset="-127"/>
                </a:rPr>
                <a:t>기술적용계획표 및 결과표 작성</a:t>
              </a:r>
            </a:p>
          </p:txBody>
        </p:sp>
      </p:grpSp>
      <p:graphicFrame>
        <p:nvGraphicFramePr>
          <p:cNvPr id="23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369371"/>
              </p:ext>
            </p:extLst>
          </p:nvPr>
        </p:nvGraphicFramePr>
        <p:xfrm>
          <a:off x="481013" y="5320360"/>
          <a:ext cx="5859462" cy="2392405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9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발주자가 작성한 기술적용계획표의 검토 및 준수와 결과표 작성 방안을 제시하여야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기술적용계획표의 기술표준이 본 사업에 부합하는지 검토하여야 하며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변경이 필요할 경우 타당한 사유를 제시하여 발주자와 상호 협의하여 조정하여야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기술적용계획표 검토 시 부득이한 경우를 제외하고는 특정기술에 종속되지 않는 개방형 기술로 구현하도록 검토하여야 함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330200" y="1181100"/>
            <a:ext cx="6242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8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시스템 운영에 영향을 주지 않는 적절한 대안을 선택하여 시스템 구현을 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할 것이며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충분한 테스트 및 검증을 진행하겠습니다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330200" y="4168814"/>
            <a:ext cx="6242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ko-KR" altLang="en-US" spc="100">
                <a:solidFill>
                  <a:srgbClr val="000000"/>
                </a:solidFill>
                <a:latin typeface="HY신명조" pitchFamily="18" charset="-127"/>
                <a:ea typeface="HY신명조" pitchFamily="18" charset="-127"/>
              </a:rPr>
              <a:t> </a:t>
            </a:r>
            <a:r>
              <a:rPr lang="ko-KR" altLang="en-US" spc="8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8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발주자가 작성한 기술적용계획표를 참고하여 검토 및 준수 과정을 수행 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하고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결과표를 작성하겠습니다</a:t>
            </a:r>
            <a:r>
              <a:rPr lang="en-US" altLang="ko-KR" spc="1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</p:txBody>
      </p:sp>
      <p:sp>
        <p:nvSpPr>
          <p:cNvPr id="26" name="Rectangle 182"/>
          <p:cNvSpPr txBox="1">
            <a:spLocks noGrp="1" noChangeArrowheads="1"/>
          </p:cNvSpPr>
          <p:nvPr/>
        </p:nvSpPr>
        <p:spPr bwMode="auto">
          <a:xfrm>
            <a:off x="3248662" y="9702800"/>
            <a:ext cx="432811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Ⅳ - 12</a:t>
            </a:r>
          </a:p>
        </p:txBody>
      </p:sp>
      <p:pic>
        <p:nvPicPr>
          <p:cNvPr id="27" name="Picture 83" descr="박스1"/>
          <p:cNvPicPr>
            <a:picLocks noChangeAspect="1" noChangeArrowheads="1"/>
          </p:cNvPicPr>
          <p:nvPr/>
        </p:nvPicPr>
        <p:blipFill>
          <a:blip r:embed="rId4" cstate="print"/>
          <a:srcRect l="311" t="2850" r="623"/>
          <a:stretch>
            <a:fillRect/>
          </a:stretch>
        </p:blipFill>
        <p:spPr bwMode="gray">
          <a:xfrm>
            <a:off x="330200" y="8041675"/>
            <a:ext cx="6264000" cy="1064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72446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607A6814-7F8D-468E-21A6-A58C1339B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350" y="1909763"/>
            <a:ext cx="1625600" cy="16319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6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1000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Ⅴ</a:t>
            </a:r>
            <a:endParaRPr lang="en-US" altLang="ko-KR" sz="10000">
              <a:solidFill>
                <a:schemeClr val="bg1"/>
              </a:solidFill>
              <a:latin typeface="Yoon 윤명조 540_TT" pitchFamily="18" charset="-127"/>
              <a:ea typeface="Yoon 윤명조 540_TT" pitchFamily="18" charset="-127"/>
            </a:endParaRPr>
          </a:p>
        </p:txBody>
      </p:sp>
      <p:sp>
        <p:nvSpPr>
          <p:cNvPr id="8195" name="Text Box 4">
            <a:extLst>
              <a:ext uri="{FF2B5EF4-FFF2-40B4-BE49-F238E27FC236}">
                <a16:creationId xmlns:a16="http://schemas.microsoft.com/office/drawing/2014/main" id="{1C85B44C-BE38-0B83-AE3A-7F0050F84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975" y="4130675"/>
            <a:ext cx="393065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>
                <a:latin typeface="Yoon 윤고딕 530_TT" pitchFamily="18" charset="-127"/>
                <a:ea typeface="Yoon 윤고딕 530_TT" pitchFamily="18" charset="-127"/>
              </a:rPr>
              <a:t>일정관리</a:t>
            </a:r>
            <a:endParaRPr lang="en-US" altLang="ko-KR">
              <a:latin typeface="Yoon 윤고딕 530_TT" pitchFamily="18" charset="-127"/>
              <a:ea typeface="Yoon 윤고딕 530_TT" pitchFamily="18" charset="-127"/>
            </a:endParaRPr>
          </a:p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>
                <a:latin typeface="Yoon 윤고딕 530_TT" pitchFamily="18" charset="-127"/>
                <a:ea typeface="Yoon 윤고딕 530_TT" pitchFamily="18" charset="-127"/>
              </a:rPr>
              <a:t>품질관리</a:t>
            </a:r>
            <a:endParaRPr lang="en-US" altLang="ko-KR">
              <a:latin typeface="Yoon 윤고딕 530_TT" pitchFamily="18" charset="-127"/>
              <a:ea typeface="Yoon 윤고딕 530_TT" pitchFamily="18" charset="-127"/>
            </a:endParaRPr>
          </a:p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>
                <a:latin typeface="Yoon 윤고딕 530_TT" pitchFamily="18" charset="-127"/>
                <a:ea typeface="Yoon 윤고딕 530_TT" pitchFamily="18" charset="-127"/>
              </a:rPr>
              <a:t>기밀보안관리</a:t>
            </a:r>
            <a:endParaRPr lang="en-US" altLang="ko-KR">
              <a:latin typeface="Yoon 윤고딕 530_TT" pitchFamily="18" charset="-127"/>
              <a:ea typeface="Yoon 윤고딕 530_TT" pitchFamily="18" charset="-127"/>
            </a:endParaRPr>
          </a:p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>
                <a:latin typeface="Yoon 윤고딕 530_TT" pitchFamily="18" charset="-127"/>
                <a:ea typeface="Yoon 윤고딕 530_TT" pitchFamily="18" charset="-127"/>
              </a:rPr>
              <a:t>위험 및 이슈관리</a:t>
            </a:r>
            <a:endParaRPr lang="en-US" altLang="ko-KR">
              <a:latin typeface="Yoon 윤고딕 530_TT" pitchFamily="18" charset="-127"/>
              <a:ea typeface="Yoon 윤고딕 530_TT" pitchFamily="18" charset="-127"/>
            </a:endParaRPr>
          </a:p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endParaRPr lang="ko-KR" altLang="en-US">
              <a:latin typeface="Yoon 윤고딕 530_TT" pitchFamily="18" charset="-127"/>
              <a:ea typeface="Yoon 윤고딕 530_TT" pitchFamily="18" charset="-127"/>
            </a:endParaRPr>
          </a:p>
        </p:txBody>
      </p:sp>
      <p:sp>
        <p:nvSpPr>
          <p:cNvPr id="189446" name="Text Box 6">
            <a:extLst>
              <a:ext uri="{FF2B5EF4-FFF2-40B4-BE49-F238E27FC236}">
                <a16:creationId xmlns:a16="http://schemas.microsoft.com/office/drawing/2014/main" id="{092D566F-ADAA-1D8F-49C4-6079A7662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75" y="2408238"/>
            <a:ext cx="2949575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프로젝트 관리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82">
            <a:extLst>
              <a:ext uri="{FF2B5EF4-FFF2-40B4-BE49-F238E27FC236}">
                <a16:creationId xmlns:a16="http://schemas.microsoft.com/office/drawing/2014/main" id="{14500404-990D-53BF-133A-6161325E6C5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Ⅴ - 1</a:t>
            </a:r>
          </a:p>
        </p:txBody>
      </p:sp>
      <p:sp>
        <p:nvSpPr>
          <p:cNvPr id="12291" name="Text Box 81">
            <a:extLst>
              <a:ext uri="{FF2B5EF4-FFF2-40B4-BE49-F238E27FC236}">
                <a16:creationId xmlns:a16="http://schemas.microsoft.com/office/drawing/2014/main" id="{4D815DB5-3E11-C535-957B-4E3F722F6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1265238"/>
            <a:ext cx="6165850" cy="934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일정관리 계획</a:t>
            </a:r>
            <a:endParaRPr lang="ko-KR" altLang="en-US" sz="15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0000"/>
              </a:lnSpc>
            </a:pP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원활한 사업관리를 위해 아래에 같은 일정으로 유지보수전담기관의 통제에 따라 사업을 진행하겠습니다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2292" name="Text Box 1086">
            <a:extLst>
              <a:ext uri="{FF2B5EF4-FFF2-40B4-BE49-F238E27FC236}">
                <a16:creationId xmlns:a16="http://schemas.microsoft.com/office/drawing/2014/main" id="{592AED87-B484-2944-B1FF-EE075DC0B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07988"/>
            <a:ext cx="2092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1.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일정관리</a:t>
            </a:r>
          </a:p>
        </p:txBody>
      </p:sp>
      <p:sp>
        <p:nvSpPr>
          <p:cNvPr id="12293" name="Text Box 63">
            <a:extLst>
              <a:ext uri="{FF2B5EF4-FFF2-40B4-BE49-F238E27FC236}">
                <a16:creationId xmlns:a16="http://schemas.microsoft.com/office/drawing/2014/main" id="{BAAF9DCF-D896-5454-60BA-27A588F24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831850"/>
            <a:ext cx="6242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kumimoji="0" lang="ko-KR" altLang="en-US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일정관리</a:t>
            </a:r>
          </a:p>
        </p:txBody>
      </p:sp>
      <p:sp>
        <p:nvSpPr>
          <p:cNvPr id="12294" name="Rectangle 2">
            <a:extLst>
              <a:ext uri="{FF2B5EF4-FFF2-40B4-BE49-F238E27FC236}">
                <a16:creationId xmlns:a16="http://schemas.microsoft.com/office/drawing/2014/main" id="{D28301CF-B832-1307-B460-35D456BCC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202565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grpSp>
        <p:nvGrpSpPr>
          <p:cNvPr id="12296" name="Group 5">
            <a:extLst>
              <a:ext uri="{FF2B5EF4-FFF2-40B4-BE49-F238E27FC236}">
                <a16:creationId xmlns:a16="http://schemas.microsoft.com/office/drawing/2014/main" id="{99D68C94-C521-867D-EF88-1B676C86D334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2554342"/>
            <a:ext cx="6116638" cy="357188"/>
            <a:chOff x="236" y="2167"/>
            <a:chExt cx="3853" cy="225"/>
          </a:xfrm>
        </p:grpSpPr>
        <p:grpSp>
          <p:nvGrpSpPr>
            <p:cNvPr id="12297" name="Group 6">
              <a:extLst>
                <a:ext uri="{FF2B5EF4-FFF2-40B4-BE49-F238E27FC236}">
                  <a16:creationId xmlns:a16="http://schemas.microsoft.com/office/drawing/2014/main" id="{432DEAE8-80E1-C4D9-972C-479C060B70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2299" name="Picture 7" descr="Magazine temp08_A4">
                <a:extLst>
                  <a:ext uri="{FF2B5EF4-FFF2-40B4-BE49-F238E27FC236}">
                    <a16:creationId xmlns:a16="http://schemas.microsoft.com/office/drawing/2014/main" id="{18E80A98-9471-0011-EDBC-CAEFA359F0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00" name="Picture 8" descr="Magazine temp08_A4">
                <a:extLst>
                  <a:ext uri="{FF2B5EF4-FFF2-40B4-BE49-F238E27FC236}">
                    <a16:creationId xmlns:a16="http://schemas.microsoft.com/office/drawing/2014/main" id="{2792FDBA-4390-0A3A-38A8-A42F0B8B4B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2298" name="Text Box 9">
              <a:extLst>
                <a:ext uri="{FF2B5EF4-FFF2-40B4-BE49-F238E27FC236}">
                  <a16:creationId xmlns:a16="http://schemas.microsoft.com/office/drawing/2014/main" id="{5CED4C4F-57F9-AB95-F00A-7E68972BD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일정관리 계획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3235410"/>
            <a:ext cx="5936221" cy="4968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82">
            <a:extLst>
              <a:ext uri="{FF2B5EF4-FFF2-40B4-BE49-F238E27FC236}">
                <a16:creationId xmlns:a16="http://schemas.microsoft.com/office/drawing/2014/main" id="{223044F7-278E-C72F-542D-66656F3181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Ⅴ - 2</a:t>
            </a:r>
          </a:p>
        </p:txBody>
      </p:sp>
      <p:sp>
        <p:nvSpPr>
          <p:cNvPr id="14339" name="Text Box 81">
            <a:extLst>
              <a:ext uri="{FF2B5EF4-FFF2-40B4-BE49-F238E27FC236}">
                <a16:creationId xmlns:a16="http://schemas.microsoft.com/office/drawing/2014/main" id="{1DE54F7B-B431-1F5A-4078-4D57BC9D2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1265238"/>
            <a:ext cx="616585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품질보증 목표 및 기준</a:t>
            </a:r>
            <a:endParaRPr lang="ko-KR" altLang="en-US" sz="15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0000"/>
              </a:lnSpc>
            </a:pP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사업 결과물의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품질향상을 위해 일관성 있는 품질보증 활동으로 각 단계별 품질목표 및 평가기준을 제안합니다</a:t>
            </a:r>
            <a:r>
              <a:rPr lang="ko-KR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340" name="Text Box 1086">
            <a:extLst>
              <a:ext uri="{FF2B5EF4-FFF2-40B4-BE49-F238E27FC236}">
                <a16:creationId xmlns:a16="http://schemas.microsoft.com/office/drawing/2014/main" id="{5ACC355F-4CF5-EEB9-27C3-FE53744F1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07988"/>
            <a:ext cx="2092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2.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품질관리</a:t>
            </a:r>
          </a:p>
        </p:txBody>
      </p:sp>
      <p:sp>
        <p:nvSpPr>
          <p:cNvPr id="14341" name="Text Box 63">
            <a:extLst>
              <a:ext uri="{FF2B5EF4-FFF2-40B4-BE49-F238E27FC236}">
                <a16:creationId xmlns:a16="http://schemas.microsoft.com/office/drawing/2014/main" id="{EBEC4BC4-73D1-C7C6-FF64-59C1C9E44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831850"/>
            <a:ext cx="6242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kumimoji="0" lang="ko-KR" altLang="en-US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품질관리</a:t>
            </a:r>
          </a:p>
        </p:txBody>
      </p:sp>
      <p:grpSp>
        <p:nvGrpSpPr>
          <p:cNvPr id="14342" name="Group 5">
            <a:extLst>
              <a:ext uri="{FF2B5EF4-FFF2-40B4-BE49-F238E27FC236}">
                <a16:creationId xmlns:a16="http://schemas.microsoft.com/office/drawing/2014/main" id="{77B1B60E-7562-E6BB-4736-13A7262987CB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2155825"/>
            <a:ext cx="6116638" cy="357188"/>
            <a:chOff x="236" y="2167"/>
            <a:chExt cx="3853" cy="225"/>
          </a:xfrm>
        </p:grpSpPr>
        <p:grpSp>
          <p:nvGrpSpPr>
            <p:cNvPr id="14399" name="Group 6">
              <a:extLst>
                <a:ext uri="{FF2B5EF4-FFF2-40B4-BE49-F238E27FC236}">
                  <a16:creationId xmlns:a16="http://schemas.microsoft.com/office/drawing/2014/main" id="{BFB01E9C-6BE0-2D95-E232-A6A6CE1EB3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4401" name="Picture 7" descr="Magazine temp08_A4">
                <a:extLst>
                  <a:ext uri="{FF2B5EF4-FFF2-40B4-BE49-F238E27FC236}">
                    <a16:creationId xmlns:a16="http://schemas.microsoft.com/office/drawing/2014/main" id="{8479322E-ECDB-21B1-21BE-9976851D16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02" name="Picture 8" descr="Magazine temp08_A4">
                <a:extLst>
                  <a:ext uri="{FF2B5EF4-FFF2-40B4-BE49-F238E27FC236}">
                    <a16:creationId xmlns:a16="http://schemas.microsoft.com/office/drawing/2014/main" id="{3DA1544E-C0E1-19ED-014A-9CEF64F53D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4400" name="Text Box 9">
              <a:extLst>
                <a:ext uri="{FF2B5EF4-FFF2-40B4-BE49-F238E27FC236}">
                  <a16:creationId xmlns:a16="http://schemas.microsoft.com/office/drawing/2014/main" id="{8A2EF7BE-E5E1-198A-ED52-95B9C1A3F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단계별 품질목표 및 평가기준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A17AB1F9-23DB-D780-4306-762654E02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862473"/>
              </p:ext>
            </p:extLst>
          </p:nvPr>
        </p:nvGraphicFramePr>
        <p:xfrm>
          <a:off x="452438" y="2571750"/>
          <a:ext cx="6081712" cy="6540501"/>
        </p:xfrm>
        <a:graphic>
          <a:graphicData uri="http://schemas.openxmlformats.org/drawingml/2006/table">
            <a:tbl>
              <a:tblPr/>
              <a:tblGrid>
                <a:gridCol w="632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단계</a:t>
                      </a:r>
                    </a:p>
                  </a:txBody>
                  <a:tcPr marL="35998" marR="35998" marT="35996" marB="3552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세부사항</a:t>
                      </a:r>
                    </a:p>
                  </a:txBody>
                  <a:tcPr marL="35998" marR="35998" marT="35996" marB="3552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품질목표</a:t>
                      </a:r>
                      <a:endParaRPr kumimoji="1" lang="ko-KR" altLang="en-US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6" marB="3552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평 가 기 준</a:t>
                      </a:r>
                    </a:p>
                  </a:txBody>
                  <a:tcPr marL="35998" marR="35998" marT="35996" marB="3552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453">
                <a:tc rowSpan="3"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분석</a:t>
                      </a:r>
                      <a:endParaRPr lang="en-US" altLang="ko-KR" sz="1000" b="1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요구사항 정의</a:t>
                      </a: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100%</a:t>
                      </a:r>
                      <a:endParaRPr lang="ko-KR" altLang="en-US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85725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C = (B/A) * 100</a:t>
                      </a:r>
                    </a:p>
                    <a:p>
                      <a:pPr marL="0" marR="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  - A : RFP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등에서 식별하여 도출된 요구사항 수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0" marR="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  - B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반영된 요구사항 수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0" marR="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  - C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요구사항 반영률</a:t>
                      </a:r>
                    </a:p>
                  </a:txBody>
                  <a:tcPr marL="45718" marR="45718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표준 준수</a:t>
                      </a: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90%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이상</a:t>
                      </a: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2" indent="-920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C = (B/A) * 100</a:t>
                      </a:r>
                    </a:p>
                    <a:p>
                      <a:pPr marL="204788" marR="0" lvl="2" indent="-11271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–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A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산출물 체크리스트의 표준성 항목 해당 수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204788" marR="0" lvl="2" indent="-11271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–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B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산출물 체크리스트의 표준성 적합 판정 항목 수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204788" marR="0" lvl="2" indent="-11271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–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C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표준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준수률</a:t>
                      </a:r>
                      <a:endParaRPr lang="ko-KR" altLang="en-US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오류 시정</a:t>
                      </a: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100%</a:t>
                      </a:r>
                      <a:endParaRPr lang="ko-KR" altLang="en-US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3662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8080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굴림" pitchFamily="50" charset="-127"/>
                          <a:sym typeface="Monotype Sorts"/>
                        </a:rPr>
                        <a:t>C = (B/A) * 100 </a:t>
                      </a:r>
                    </a:p>
                    <a:p>
                      <a:pPr marL="204788" marR="0" lvl="1" indent="-112713" algn="l" defTabSz="93662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8080"/>
                        </a:buClr>
                        <a:buSzTx/>
                        <a:buFontTx/>
                        <a:buChar char="–"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굴림" pitchFamily="50" charset="-127"/>
                          <a:sym typeface="Monotype Sorts"/>
                        </a:rPr>
                        <a:t>A :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굴림" pitchFamily="50" charset="-127"/>
                          <a:sym typeface="Monotype Sorts"/>
                        </a:rPr>
                        <a:t>발견된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굴림" pitchFamily="50" charset="-127"/>
                          <a:sym typeface="Monotype Sorts"/>
                        </a:rPr>
                        <a:t>결함건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굴림" pitchFamily="50" charset="-127"/>
                          <a:sym typeface="Monotype Sorts"/>
                        </a:rPr>
                        <a:t> 수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굴림" pitchFamily="50" charset="-127"/>
                        <a:sym typeface="Monotype Sorts"/>
                      </a:endParaRPr>
                    </a:p>
                    <a:p>
                      <a:pPr marL="204788" marR="0" lvl="1" indent="-112713" algn="l" defTabSz="93662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8080"/>
                        </a:buClr>
                        <a:buSzTx/>
                        <a:buFontTx/>
                        <a:buChar char="–"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굴림" pitchFamily="50" charset="-127"/>
                          <a:sym typeface="Monotype Sorts"/>
                        </a:rPr>
                        <a:t>B :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굴림" pitchFamily="50" charset="-127"/>
                          <a:sym typeface="Monotype Sorts"/>
                        </a:rPr>
                        <a:t>조치된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굴림" pitchFamily="50" charset="-127"/>
                          <a:sym typeface="Monotype Sorts"/>
                        </a:rPr>
                        <a:t>오류건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굴림" pitchFamily="50" charset="-127"/>
                          <a:sym typeface="Monotype Sorts"/>
                        </a:rPr>
                        <a:t> 수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굴림" pitchFamily="50" charset="-127"/>
                        <a:sym typeface="Monotype Sorts"/>
                      </a:endParaRPr>
                    </a:p>
                    <a:p>
                      <a:pPr marL="204788" marR="0" lvl="1" indent="-112713" algn="l" defTabSz="93662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8080"/>
                        </a:buClr>
                        <a:buSzTx/>
                        <a:buFontTx/>
                        <a:buChar char="–"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굴림" pitchFamily="50" charset="-127"/>
                          <a:sym typeface="Monotype Sorts"/>
                        </a:rPr>
                        <a:t>C : 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굴림" pitchFamily="50" charset="-127"/>
                          <a:sym typeface="Monotype Sorts"/>
                        </a:rPr>
                        <a:t>시정조치 반영률</a:t>
                      </a:r>
                    </a:p>
                  </a:txBody>
                  <a:tcPr marL="45718" marR="45718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531">
                <a:tc rowSpan="3"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설계</a:t>
                      </a:r>
                      <a:endParaRPr lang="en-US" altLang="ko-KR" sz="1000" b="1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일관성</a:t>
                      </a: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90%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이상</a:t>
                      </a: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92075" marR="0" lvl="2" indent="-920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C = (B/A) * 100</a:t>
                      </a:r>
                    </a:p>
                    <a:p>
                      <a:pPr marL="204788" marR="0" lvl="2" indent="-11271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–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A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산출물 체크리스트의 표준성 항목 해당 수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204788" marR="0" lvl="2" indent="-11271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–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B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산출물 체크리스트의 표준성 적합 판정 항목 수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204788" marR="0" lvl="2" indent="-11271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–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C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표준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준수률</a:t>
                      </a:r>
                      <a:endParaRPr lang="ko-KR" altLang="en-US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5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표준 준수</a:t>
                      </a: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90%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이상</a:t>
                      </a: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endParaRPr lang="ko-KR" altLang="en-US" sz="1000" kern="1200" spc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itchFamily="18" charset="-127"/>
                        <a:ea typeface="HY신명조" pitchFamily="18" charset="-127"/>
                        <a:cs typeface="+mn-cs"/>
                        <a:sym typeface="Monotype Sorts"/>
                      </a:endParaRPr>
                    </a:p>
                  </a:txBody>
                  <a:tcPr marL="45720" marR="45720" marT="45725" marB="4572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5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충분성</a:t>
                      </a:r>
                      <a:endParaRPr lang="ko-KR" altLang="en-US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90%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이상</a:t>
                      </a: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endParaRPr lang="ko-KR" altLang="en-US" sz="1000" kern="1200" spc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itchFamily="18" charset="-127"/>
                        <a:ea typeface="HY신명조" pitchFamily="18" charset="-127"/>
                        <a:cs typeface="+mn-cs"/>
                        <a:sym typeface="Monotype Sorts"/>
                      </a:endParaRPr>
                    </a:p>
                  </a:txBody>
                  <a:tcPr marL="45720" marR="45720" marT="45725" marB="4572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8869">
                <a:tc rowSpan="3"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구현 </a:t>
                      </a:r>
                    </a:p>
                  </a:txBody>
                  <a:tcPr marL="45718" marR="4571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코드 검증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90%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이상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90488" marR="0" lvl="2" indent="-9048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C = 100 - (B/A) * 100 </a:t>
                      </a:r>
                    </a:p>
                    <a:p>
                      <a:pPr marL="204788" marR="0" lvl="2" indent="-11271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Tx/>
                        <a:buChar char="–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A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코딩 표준 검사 대상 총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LOC</a:t>
                      </a:r>
                    </a:p>
                    <a:p>
                      <a:pPr marL="204788" marR="0" lvl="2" indent="-11271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Tx/>
                        <a:buChar char="–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B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발견된 코딩 표준 오류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LOC</a:t>
                      </a:r>
                    </a:p>
                    <a:p>
                      <a:pPr marL="204788" marR="0" lvl="2" indent="-11271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Tx/>
                        <a:buChar char="–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C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코딩 표준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준수률</a:t>
                      </a:r>
                      <a:endParaRPr lang="ko-KR" altLang="en-US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88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문서 검증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90%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이상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2" indent="-90488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C = (B/A) * 100 </a:t>
                      </a:r>
                    </a:p>
                    <a:p>
                      <a:pPr marL="204788" marR="0" lvl="2" indent="-11271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Tx/>
                        <a:buChar char="–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A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체계통합시험 단계 이전에 식별된 요구사항 수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204788" marR="0" lvl="2" indent="-11271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Tx/>
                        <a:buChar char="–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B :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체계통합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시험설계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관련 문서에 반영된 요구사항 수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204788" marR="0" lvl="2" indent="-11271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Tx/>
                        <a:buChar char="–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C :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체계통합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시험설계의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요구사항 반영률</a:t>
                      </a: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388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단위기능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검증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100%</a:t>
                      </a: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C = (B/A) * 100</a:t>
                      </a:r>
                    </a:p>
                    <a:p>
                      <a:pPr marL="0" marR="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  - A :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단위기능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시험항목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수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0" marR="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  - B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충족된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시험항목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수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0" marR="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  - C :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단위기능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검증률</a:t>
                      </a:r>
                      <a:endParaRPr lang="ko-KR" altLang="en-US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38869"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시험</a:t>
                      </a:r>
                    </a:p>
                  </a:txBody>
                  <a:tcPr marL="45718" marR="4571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요구사항 충족 검증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100%</a:t>
                      </a: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C = (B/A) * 100</a:t>
                      </a:r>
                    </a:p>
                    <a:p>
                      <a:pPr marL="0" marR="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  - A : RFP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등에서 식별하여 도출된 요구사항 수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0" marR="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  - B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충족된 요구사항 수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0" marR="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  - C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요구사항 충족률</a:t>
                      </a:r>
                    </a:p>
                  </a:txBody>
                  <a:tcPr marL="45718" marR="4571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1086">
            <a:extLst>
              <a:ext uri="{FF2B5EF4-FFF2-40B4-BE49-F238E27FC236}">
                <a16:creationId xmlns:a16="http://schemas.microsoft.com/office/drawing/2014/main" id="{3692C410-CD95-0188-1371-924F43D47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07988"/>
            <a:ext cx="2092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2.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품질관리</a:t>
            </a:r>
          </a:p>
        </p:txBody>
      </p:sp>
      <p:sp>
        <p:nvSpPr>
          <p:cNvPr id="16388" name="Text Box 81">
            <a:extLst>
              <a:ext uri="{FF2B5EF4-FFF2-40B4-BE49-F238E27FC236}">
                <a16:creationId xmlns:a16="http://schemas.microsoft.com/office/drawing/2014/main" id="{D98891DE-BF6D-7318-BAEB-A393037D5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869950"/>
            <a:ext cx="616585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나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품질보증 활동 계획</a:t>
            </a:r>
            <a:endParaRPr lang="ko-KR" altLang="en-US" sz="15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0000"/>
              </a:lnSpc>
            </a:pP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요구성능 품질요구조건을 만족하기 위하여 품질목표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품질전략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품질평가기준 등의 품질 계획을 작성 및 수행하여 품질보증 및 통제를 체계적으로 수행하겠습니다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16389" name="Group 5">
            <a:extLst>
              <a:ext uri="{FF2B5EF4-FFF2-40B4-BE49-F238E27FC236}">
                <a16:creationId xmlns:a16="http://schemas.microsoft.com/office/drawing/2014/main" id="{63B59BA2-E07C-7F98-F083-927E57B9BEE3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1890713"/>
            <a:ext cx="6116638" cy="357187"/>
            <a:chOff x="236" y="2167"/>
            <a:chExt cx="3853" cy="225"/>
          </a:xfrm>
        </p:grpSpPr>
        <p:grpSp>
          <p:nvGrpSpPr>
            <p:cNvPr id="16456" name="Group 6">
              <a:extLst>
                <a:ext uri="{FF2B5EF4-FFF2-40B4-BE49-F238E27FC236}">
                  <a16:creationId xmlns:a16="http://schemas.microsoft.com/office/drawing/2014/main" id="{D67443C0-60A6-50A0-6FE2-2597FFFC1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6458" name="Picture 7" descr="Magazine temp08_A4">
                <a:extLst>
                  <a:ext uri="{FF2B5EF4-FFF2-40B4-BE49-F238E27FC236}">
                    <a16:creationId xmlns:a16="http://schemas.microsoft.com/office/drawing/2014/main" id="{5525E11B-29B1-2D86-ED7F-5603FBC254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6459" name="Picture 8" descr="Magazine temp08_A4">
                <a:extLst>
                  <a:ext uri="{FF2B5EF4-FFF2-40B4-BE49-F238E27FC236}">
                    <a16:creationId xmlns:a16="http://schemas.microsoft.com/office/drawing/2014/main" id="{259944CD-B6EC-FF8A-30AB-DE97F02D6C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6457" name="Text Box 9">
              <a:extLst>
                <a:ext uri="{FF2B5EF4-FFF2-40B4-BE49-F238E27FC236}">
                  <a16:creationId xmlns:a16="http://schemas.microsoft.com/office/drawing/2014/main" id="{832140EE-AE30-DE63-1E34-5CDA9BD42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품질보증 세부활동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pic>
        <p:nvPicPr>
          <p:cNvPr id="16390" name="Picture 6" descr="그림2">
            <a:extLst>
              <a:ext uri="{FF2B5EF4-FFF2-40B4-BE49-F238E27FC236}">
                <a16:creationId xmlns:a16="http://schemas.microsoft.com/office/drawing/2014/main" id="{4CCAAA42-134B-6F90-C346-5FC09CEAC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33"/>
          <a:stretch>
            <a:fillRect/>
          </a:stretch>
        </p:blipFill>
        <p:spPr bwMode="gray">
          <a:xfrm>
            <a:off x="402151" y="8201025"/>
            <a:ext cx="6443663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AutoShape 127" descr="버튼_07">
            <a:extLst>
              <a:ext uri="{FF2B5EF4-FFF2-40B4-BE49-F238E27FC236}">
                <a16:creationId xmlns:a16="http://schemas.microsoft.com/office/drawing/2014/main" id="{8FEE6CDC-7CB6-0FF2-0DFA-2CEC46D7B14D}"/>
              </a:ext>
            </a:extLst>
          </p:cNvPr>
          <p:cNvSpPr>
            <a:spLocks noChangeArrowheads="1"/>
          </p:cNvSpPr>
          <p:nvPr/>
        </p:nvSpPr>
        <p:spPr bwMode="gray">
          <a:xfrm rot="5400000">
            <a:off x="-144462" y="3111500"/>
            <a:ext cx="2090738" cy="795337"/>
          </a:xfrm>
          <a:prstGeom prst="homePlate">
            <a:avLst>
              <a:gd name="adj" fmla="val 37292"/>
            </a:avLst>
          </a:prstGeom>
          <a:solidFill>
            <a:schemeClr val="bg1">
              <a:lumMod val="85000"/>
            </a:schemeClr>
          </a:solidFill>
          <a:ln w="31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2" name="Rectangle 249">
            <a:extLst>
              <a:ext uri="{FF2B5EF4-FFF2-40B4-BE49-F238E27FC236}">
                <a16:creationId xmlns:a16="http://schemas.microsoft.com/office/drawing/2014/main" id="{A230EC8E-D6BD-04E8-A944-7AC59BCEAE44}"/>
              </a:ext>
            </a:extLst>
          </p:cNvPr>
          <p:cNvSpPr>
            <a:spLocks noChangeArrowheads="1"/>
          </p:cNvSpPr>
          <p:nvPr/>
        </p:nvSpPr>
        <p:spPr bwMode="gray">
          <a:xfrm flipV="1">
            <a:off x="464064" y="4119563"/>
            <a:ext cx="795337" cy="466725"/>
          </a:xfrm>
          <a:prstGeom prst="rect">
            <a:avLst/>
          </a:prstGeom>
          <a:gradFill>
            <a:gsLst>
              <a:gs pos="100000">
                <a:schemeClr val="bg1">
                  <a:lumMod val="8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 w="6350" cap="flat" cmpd="sng" algn="ctr">
            <a:noFill/>
            <a:prstDash val="solid"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>
              <a:bevelT w="0" h="12700"/>
            </a:sp3d>
          </a:bodyPr>
          <a:lstStyle>
            <a:defPPr>
              <a:defRPr lang="ko-KR"/>
            </a:defPPr>
            <a:lvl1pPr marL="0" algn="l" defTabSz="1067745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872" algn="l" defTabSz="1067745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7745" algn="l" defTabSz="1067745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1617" algn="l" defTabSz="1067745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5490" algn="l" defTabSz="1067745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69362" algn="l" defTabSz="1067745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3235" algn="l" defTabSz="1067745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37107" algn="l" defTabSz="1067745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0980" algn="l" defTabSz="1067745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ko-KR" sz="1100" kern="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393" name="Rectangle 194">
            <a:extLst>
              <a:ext uri="{FF2B5EF4-FFF2-40B4-BE49-F238E27FC236}">
                <a16:creationId xmlns:a16="http://schemas.microsoft.com/office/drawing/2014/main" id="{949624BA-9CCC-036E-00EB-6DCA94CAD64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2740" y="3189581"/>
            <a:ext cx="59792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defRPr/>
            </a:pPr>
            <a:r>
              <a:rPr lang="ko-KR" altLang="en-US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품질 계획</a:t>
            </a:r>
          </a:p>
        </p:txBody>
      </p:sp>
      <p:sp>
        <p:nvSpPr>
          <p:cNvPr id="16394" name="Rectangle 241">
            <a:extLst>
              <a:ext uri="{FF2B5EF4-FFF2-40B4-BE49-F238E27FC236}">
                <a16:creationId xmlns:a16="http://schemas.microsoft.com/office/drawing/2014/main" id="{612C1007-AB94-8F96-8C19-CA6F6479E7A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72001" y="4375150"/>
            <a:ext cx="90488" cy="1319213"/>
          </a:xfrm>
          <a:prstGeom prst="rect">
            <a:avLst/>
          </a:prstGeom>
          <a:gradFill rotWithShape="1">
            <a:gsLst>
              <a:gs pos="0">
                <a:schemeClr val="bg1">
                  <a:alpha val="0"/>
                </a:schemeClr>
              </a:gs>
              <a:gs pos="100000">
                <a:srgbClr val="CACAC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>
            <a:lvl1pPr defTabSz="1066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1066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1066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1066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1066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1066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1066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1066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1066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endParaRPr lang="ko-KR" altLang="ko-KR" sz="1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395" name="AutoShape 127" descr="버튼_07">
            <a:extLst>
              <a:ext uri="{FF2B5EF4-FFF2-40B4-BE49-F238E27FC236}">
                <a16:creationId xmlns:a16="http://schemas.microsoft.com/office/drawing/2014/main" id="{B8B9CBC4-BDD8-AF44-2C64-4688FC8DADF6}"/>
              </a:ext>
            </a:extLst>
          </p:cNvPr>
          <p:cNvSpPr>
            <a:spLocks noChangeArrowheads="1"/>
          </p:cNvSpPr>
          <p:nvPr/>
        </p:nvSpPr>
        <p:spPr bwMode="gray">
          <a:xfrm rot="5400000">
            <a:off x="-359848" y="5295900"/>
            <a:ext cx="2620962" cy="795337"/>
          </a:xfrm>
          <a:prstGeom prst="homePlate">
            <a:avLst>
              <a:gd name="adj" fmla="val 37302"/>
            </a:avLst>
          </a:prstGeom>
          <a:solidFill>
            <a:srgbClr val="7CB8D1"/>
          </a:solidFill>
          <a:ln>
            <a:noFill/>
          </a:ln>
          <a:extLs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endParaRPr lang="ko-KR" altLang="ko-KR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6" name="Rectangle 249">
            <a:extLst>
              <a:ext uri="{FF2B5EF4-FFF2-40B4-BE49-F238E27FC236}">
                <a16:creationId xmlns:a16="http://schemas.microsoft.com/office/drawing/2014/main" id="{6DE1379E-4A4B-A889-A5A3-30214DF51A94}"/>
              </a:ext>
            </a:extLst>
          </p:cNvPr>
          <p:cNvSpPr>
            <a:spLocks noChangeArrowheads="1"/>
          </p:cNvSpPr>
          <p:nvPr/>
        </p:nvSpPr>
        <p:spPr bwMode="gray">
          <a:xfrm flipV="1">
            <a:off x="514864" y="6467475"/>
            <a:ext cx="795337" cy="466725"/>
          </a:xfrm>
          <a:prstGeom prst="rect">
            <a:avLst/>
          </a:prstGeom>
          <a:gradFill>
            <a:gsLst>
              <a:gs pos="100000">
                <a:srgbClr val="7CB8D1"/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 w="6350" cap="flat" cmpd="sng" algn="ctr">
            <a:noFill/>
            <a:prstDash val="solid"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>
              <a:bevelT w="0" h="12700"/>
            </a:sp3d>
          </a:bodyPr>
          <a:lstStyle/>
          <a:p>
            <a:pPr defTabSz="1067745">
              <a:defRPr/>
            </a:pPr>
            <a:endParaRPr lang="ko-KR" altLang="ko-KR" sz="1100" kern="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397" name="Rectangle 241">
            <a:extLst>
              <a:ext uri="{FF2B5EF4-FFF2-40B4-BE49-F238E27FC236}">
                <a16:creationId xmlns:a16="http://schemas.microsoft.com/office/drawing/2014/main" id="{35BE4A02-155C-B811-A8A4-38AFD516537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56139" y="6854825"/>
            <a:ext cx="90487" cy="1320800"/>
          </a:xfrm>
          <a:prstGeom prst="rect">
            <a:avLst/>
          </a:prstGeom>
          <a:gradFill rotWithShape="1">
            <a:gsLst>
              <a:gs pos="0">
                <a:schemeClr val="bg1">
                  <a:alpha val="0"/>
                </a:schemeClr>
              </a:gs>
              <a:gs pos="100000">
                <a:srgbClr val="CACAC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>
            <a:lvl1pPr defTabSz="1066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1066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1066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1066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1066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1066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1066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1066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1066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endParaRPr lang="ko-KR" altLang="ko-KR" sz="1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398" name="AutoShape 127" descr="버튼_07">
            <a:extLst>
              <a:ext uri="{FF2B5EF4-FFF2-40B4-BE49-F238E27FC236}">
                <a16:creationId xmlns:a16="http://schemas.microsoft.com/office/drawing/2014/main" id="{C5C987B2-4022-2CE3-89C3-4F7C2B144BA3}"/>
              </a:ext>
            </a:extLst>
          </p:cNvPr>
          <p:cNvSpPr>
            <a:spLocks noChangeArrowheads="1"/>
          </p:cNvSpPr>
          <p:nvPr/>
        </p:nvSpPr>
        <p:spPr bwMode="gray">
          <a:xfrm rot="5400000">
            <a:off x="-137598" y="7540625"/>
            <a:ext cx="2271712" cy="795337"/>
          </a:xfrm>
          <a:prstGeom prst="homePlate">
            <a:avLst>
              <a:gd name="adj" fmla="val 37330"/>
            </a:avLst>
          </a:prstGeom>
          <a:solidFill>
            <a:srgbClr val="0079A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endParaRPr lang="ko-KR" altLang="ko-KR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399" name="Rectangle 194">
            <a:extLst>
              <a:ext uri="{FF2B5EF4-FFF2-40B4-BE49-F238E27FC236}">
                <a16:creationId xmlns:a16="http://schemas.microsoft.com/office/drawing/2014/main" id="{51447E62-CD19-171C-61FC-AE955364A8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31035" y="5391736"/>
            <a:ext cx="5979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defRPr/>
            </a:pPr>
            <a:r>
              <a:rPr lang="ko-KR" altLang="en-US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품질 보증</a:t>
            </a:r>
            <a:endParaRPr lang="en-US" altLang="ko-KR" sz="1100" b="1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>
              <a:defRPr/>
            </a:pPr>
            <a:r>
              <a:rPr lang="ko-KR" altLang="en-US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및 통제</a:t>
            </a:r>
          </a:p>
        </p:txBody>
      </p:sp>
      <p:sp>
        <p:nvSpPr>
          <p:cNvPr id="16400" name="Rectangle 194">
            <a:extLst>
              <a:ext uri="{FF2B5EF4-FFF2-40B4-BE49-F238E27FC236}">
                <a16:creationId xmlns:a16="http://schemas.microsoft.com/office/drawing/2014/main" id="{65766C59-3609-7E12-2BC6-4F6719174C4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2791" y="7732513"/>
            <a:ext cx="59792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defRPr/>
            </a:pPr>
            <a:r>
              <a:rPr lang="ko-KR" altLang="en-US" sz="1100" b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품질 개선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DA545AB-17BE-E5AA-AFA5-596A04F23EE1}"/>
              </a:ext>
            </a:extLst>
          </p:cNvPr>
          <p:cNvCxnSpPr/>
          <p:nvPr/>
        </p:nvCxnSpPr>
        <p:spPr>
          <a:xfrm flipV="1">
            <a:off x="1332426" y="4375150"/>
            <a:ext cx="5271575" cy="79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CFA06489-9E68-B284-B76C-ADE17688915D}"/>
              </a:ext>
            </a:extLst>
          </p:cNvPr>
          <p:cNvCxnSpPr/>
          <p:nvPr/>
        </p:nvCxnSpPr>
        <p:spPr>
          <a:xfrm>
            <a:off x="1414487" y="6865580"/>
            <a:ext cx="518951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utoShape 49" descr="현대중공업_템플릿-09">
            <a:extLst>
              <a:ext uri="{FF2B5EF4-FFF2-40B4-BE49-F238E27FC236}">
                <a16:creationId xmlns:a16="http://schemas.microsoft.com/office/drawing/2014/main" id="{BE848849-AB00-48A7-D0CF-B1DA68E0EAA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25588" y="2508250"/>
            <a:ext cx="1463675" cy="239713"/>
          </a:xfrm>
          <a:prstGeom prst="snip1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 w="6350">
            <a:solidFill>
              <a:srgbClr val="CDD1CF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lang="ko-KR" altLang="en-US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착수시점</a:t>
            </a:r>
          </a:p>
        </p:txBody>
      </p:sp>
      <p:sp>
        <p:nvSpPr>
          <p:cNvPr id="36" name="AutoShape 49" descr="현대중공업_템플릿-09">
            <a:extLst>
              <a:ext uri="{FF2B5EF4-FFF2-40B4-BE49-F238E27FC236}">
                <a16:creationId xmlns:a16="http://schemas.microsoft.com/office/drawing/2014/main" id="{E4FE5EDB-7E3F-A649-AE28-C627B8424C6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72139" y="4498975"/>
            <a:ext cx="1463675" cy="239713"/>
          </a:xfrm>
          <a:prstGeom prst="snip1Rect">
            <a:avLst/>
          </a:prstGeom>
          <a:blipFill dpi="0" rotWithShape="1">
            <a:blip r:embed="rId6" cstate="print"/>
            <a:srcRect/>
            <a:stretch>
              <a:fillRect/>
            </a:stretch>
          </a:blipFill>
          <a:ln w="6350">
            <a:solidFill>
              <a:srgbClr val="7CB8D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lang="ko-KR" altLang="en-US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품질보증 활동 시점</a:t>
            </a:r>
          </a:p>
        </p:txBody>
      </p:sp>
      <p:sp>
        <p:nvSpPr>
          <p:cNvPr id="37" name="AutoShape 49" descr="현대중공업_템플릿-09">
            <a:extLst>
              <a:ext uri="{FF2B5EF4-FFF2-40B4-BE49-F238E27FC236}">
                <a16:creationId xmlns:a16="http://schemas.microsoft.com/office/drawing/2014/main" id="{E4EA3763-9C23-BDEF-CBA3-45BF86A6EE4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80089" y="7004050"/>
            <a:ext cx="1463675" cy="239713"/>
          </a:xfrm>
          <a:prstGeom prst="snip1Rect">
            <a:avLst/>
          </a:prstGeom>
          <a:blipFill dpi="0" rotWithShape="1">
            <a:blip r:embed="rId7" cstate="print"/>
            <a:srcRect/>
            <a:stretch>
              <a:fillRect/>
            </a:stretch>
          </a:blipFill>
          <a:ln w="6350">
            <a:solidFill>
              <a:srgbClr val="0079A8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lang="ko-KR" altLang="en-US" sz="1100" b="1">
                <a:latin typeface="HY신명조" panose="02030600000101010101" pitchFamily="18" charset="-127"/>
                <a:ea typeface="HY신명조" panose="02030600000101010101" pitchFamily="18" charset="-127"/>
              </a:rPr>
              <a:t>품질보증 검토시점</a:t>
            </a:r>
          </a:p>
        </p:txBody>
      </p:sp>
      <p:graphicFrame>
        <p:nvGraphicFramePr>
          <p:cNvPr id="38" name="Group 59">
            <a:extLst>
              <a:ext uri="{FF2B5EF4-FFF2-40B4-BE49-F238E27FC236}">
                <a16:creationId xmlns:a16="http://schemas.microsoft.com/office/drawing/2014/main" id="{8E503C65-9ADB-CBBD-FEF0-D5BB09992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88901"/>
              </p:ext>
            </p:extLst>
          </p:nvPr>
        </p:nvGraphicFramePr>
        <p:xfrm>
          <a:off x="1535113" y="2835275"/>
          <a:ext cx="5106987" cy="1446214"/>
        </p:xfrm>
        <a:graphic>
          <a:graphicData uri="http://schemas.openxmlformats.org/drawingml/2006/table">
            <a:tbl>
              <a:tblPr/>
              <a:tblGrid>
                <a:gridCol w="1474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30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품질활동</a:t>
                      </a:r>
                      <a:endParaRPr kumimoji="1" lang="ko-KR" altLang="en-US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6" marR="35996" marT="36020" marB="355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세 부 활 동</a:t>
                      </a:r>
                    </a:p>
                  </a:txBody>
                  <a:tcPr marL="35996" marR="35996" marT="36020" marB="355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 목표 수립</a:t>
                      </a:r>
                    </a:p>
                  </a:txBody>
                  <a:tcPr marL="35996" marR="35996" marT="36020" marB="355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 목표 검토</a:t>
                      </a:r>
                    </a:p>
                  </a:txBody>
                  <a:tcPr marL="35996" marR="35996" marT="36020" marB="355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 전략 정의</a:t>
                      </a:r>
                    </a:p>
                  </a:txBody>
                  <a:tcPr marL="35996" marR="35996" marT="36020" marB="355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품질관리 전략 수립 및 타당성 검토</a:t>
                      </a:r>
                    </a:p>
                  </a:txBody>
                  <a:tcPr marL="35996" marR="35996" marT="36020" marB="355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 목표 선정</a:t>
                      </a:r>
                    </a:p>
                  </a:txBody>
                  <a:tcPr marL="35996" marR="35996" marT="36020" marB="355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품질활동</a:t>
                      </a:r>
                      <a:r>
                        <a:rPr kumimoji="1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가이드라인 및 교육</a:t>
                      </a:r>
                    </a:p>
                  </a:txBody>
                  <a:tcPr marL="35996" marR="35996" marT="36020" marB="355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 기준 수립</a:t>
                      </a:r>
                    </a:p>
                  </a:txBody>
                  <a:tcPr marL="35996" marR="35996" marT="36020" marB="355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5725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endParaRPr lang="ko-KR" altLang="en-US" sz="1000" kern="1200" spc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itchFamily="18" charset="-127"/>
                        <a:ea typeface="HY신명조" pitchFamily="18" charset="-127"/>
                        <a:cs typeface="+mn-cs"/>
                      </a:endParaRPr>
                    </a:p>
                  </a:txBody>
                  <a:tcPr marL="36000" marR="36000" marT="36000" marB="3553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" name="Group 59">
            <a:extLst>
              <a:ext uri="{FF2B5EF4-FFF2-40B4-BE49-F238E27FC236}">
                <a16:creationId xmlns:a16="http://schemas.microsoft.com/office/drawing/2014/main" id="{7D037A81-3BF1-0B6E-F587-A73925A19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941270"/>
              </p:ext>
            </p:extLst>
          </p:nvPr>
        </p:nvGraphicFramePr>
        <p:xfrm>
          <a:off x="1572139" y="4840288"/>
          <a:ext cx="4992687" cy="1706563"/>
        </p:xfrm>
        <a:graphic>
          <a:graphicData uri="http://schemas.openxmlformats.org/drawingml/2006/table">
            <a:tbl>
              <a:tblPr/>
              <a:tblGrid>
                <a:gridCol w="1441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1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38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품질활동</a:t>
                      </a:r>
                      <a:endParaRPr kumimoji="1" lang="ko-KR" altLang="en-US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6001" marR="36001" marT="35999" marB="3552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세 부 활 동</a:t>
                      </a:r>
                    </a:p>
                  </a:txBody>
                  <a:tcPr marL="36001" marR="36001" marT="35999" marB="35529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0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자체 검토</a:t>
                      </a:r>
                    </a:p>
                  </a:txBody>
                  <a:tcPr marL="36001" marR="36001" marT="35999" marB="3552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7175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동료 검토</a:t>
                      </a:r>
                    </a:p>
                  </a:txBody>
                  <a:tcPr marL="36001" marR="36001" marT="35999" marB="35529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0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팀 내부검토</a:t>
                      </a:r>
                    </a:p>
                  </a:txBody>
                  <a:tcPr marL="36001" marR="36001" marT="35999" marB="3552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7175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워크스루</a:t>
                      </a:r>
                      <a:r>
                        <a:rPr kumimoji="1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실시</a:t>
                      </a:r>
                    </a:p>
                  </a:txBody>
                  <a:tcPr marL="36001" marR="36001" marT="35999" marB="35529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0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공식검토</a:t>
                      </a:r>
                      <a:endParaRPr kumimoji="1" lang="ko-KR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6001" marR="36001" marT="35999" marB="3552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7175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고객이 참여하는 </a:t>
                      </a:r>
                      <a:r>
                        <a:rPr kumimoji="1" lang="ko-KR" altLang="en-US" sz="9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인스펙션</a:t>
                      </a:r>
                      <a:r>
                        <a:rPr kumimoji="1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실시</a:t>
                      </a:r>
                    </a:p>
                  </a:txBody>
                  <a:tcPr marL="36001" marR="36001" marT="35999" marB="35529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0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도구검증</a:t>
                      </a:r>
                      <a:endParaRPr kumimoji="1" lang="ko-KR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6001" marR="36001" marT="35999" marB="3552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7175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전문도구를</a:t>
                      </a:r>
                      <a:r>
                        <a:rPr kumimoji="1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활용한 품질보증 활동</a:t>
                      </a:r>
                    </a:p>
                  </a:txBody>
                  <a:tcPr marL="36001" marR="36001" marT="35999" marB="35529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0" name="Group 59">
            <a:extLst>
              <a:ext uri="{FF2B5EF4-FFF2-40B4-BE49-F238E27FC236}">
                <a16:creationId xmlns:a16="http://schemas.microsoft.com/office/drawing/2014/main" id="{6366A6FA-D147-97E0-CA6F-6F53956A6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399499"/>
              </p:ext>
            </p:extLst>
          </p:nvPr>
        </p:nvGraphicFramePr>
        <p:xfrm>
          <a:off x="1680089" y="7323138"/>
          <a:ext cx="4884737" cy="1562099"/>
        </p:xfrm>
        <a:graphic>
          <a:graphicData uri="http://schemas.openxmlformats.org/drawingml/2006/table">
            <a:tbl>
              <a:tblPr/>
              <a:tblGrid>
                <a:gridCol w="141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6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품질활동</a:t>
                      </a:r>
                      <a:endParaRPr kumimoji="1" lang="ko-KR" altLang="en-US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4" marR="35994" marT="36030" marB="355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세 부 활 동</a:t>
                      </a:r>
                    </a:p>
                  </a:txBody>
                  <a:tcPr marL="35994" marR="35994" marT="36030" marB="3556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8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피드백</a:t>
                      </a:r>
                    </a:p>
                  </a:txBody>
                  <a:tcPr marL="35994" marR="35994" marT="36030" marB="355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7175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결과물에 대한 요구사항 </a:t>
                      </a:r>
                      <a:r>
                        <a:rPr kumimoji="1" lang="ko-KR" altLang="en-US" sz="9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충족여부</a:t>
                      </a:r>
                      <a:r>
                        <a:rPr kumimoji="1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확인</a:t>
                      </a:r>
                    </a:p>
                  </a:txBody>
                  <a:tcPr marL="35994" marR="35994" marT="36030" marB="3556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8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시정조치</a:t>
                      </a:r>
                    </a:p>
                  </a:txBody>
                  <a:tcPr marL="35994" marR="35994" marT="36030" marB="355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7175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피드백 결과 미비한 사항에 대한 보완</a:t>
                      </a:r>
                    </a:p>
                  </a:txBody>
                  <a:tcPr marL="35994" marR="35994" marT="36030" marB="3556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8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고객만족도 조사</a:t>
                      </a:r>
                    </a:p>
                  </a:txBody>
                  <a:tcPr marL="35994" marR="35994" marT="36030" marB="355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7175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산출물 품질수준 및 활동에 대한 고객만족도 확인</a:t>
                      </a:r>
                    </a:p>
                  </a:txBody>
                  <a:tcPr marL="35994" marR="35994" marT="36030" marB="3556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Rectangle 182">
            <a:extLst>
              <a:ext uri="{FF2B5EF4-FFF2-40B4-BE49-F238E27FC236}">
                <a16:creationId xmlns:a16="http://schemas.microsoft.com/office/drawing/2014/main" id="{14500404-990D-53BF-133A-6161325E6C5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Ⅴ - 3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그룹 70">
            <a:extLst>
              <a:ext uri="{FF2B5EF4-FFF2-40B4-BE49-F238E27FC236}">
                <a16:creationId xmlns:a16="http://schemas.microsoft.com/office/drawing/2014/main" id="{E1B4289A-ABAE-51B1-A14C-B718F41F218E}"/>
              </a:ext>
            </a:extLst>
          </p:cNvPr>
          <p:cNvGrpSpPr>
            <a:grpSpLocks/>
          </p:cNvGrpSpPr>
          <p:nvPr/>
        </p:nvGrpSpPr>
        <p:grpSpPr bwMode="auto">
          <a:xfrm>
            <a:off x="725488" y="2514600"/>
            <a:ext cx="5403850" cy="1682750"/>
            <a:chOff x="1187450" y="5126652"/>
            <a:chExt cx="5403850" cy="1682864"/>
          </a:xfrm>
        </p:grpSpPr>
        <p:pic>
          <p:nvPicPr>
            <p:cNvPr id="18469" name="Picture 188" descr="강조5">
              <a:extLst>
                <a:ext uri="{FF2B5EF4-FFF2-40B4-BE49-F238E27FC236}">
                  <a16:creationId xmlns:a16="http://schemas.microsoft.com/office/drawing/2014/main" id="{9AFCB164-ECE6-2678-4880-EAA1AC5F65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99" b="25565"/>
            <a:stretch>
              <a:fillRect/>
            </a:stretch>
          </p:blipFill>
          <p:spPr bwMode="auto">
            <a:xfrm>
              <a:off x="1187450" y="5126652"/>
              <a:ext cx="5403850" cy="1682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470" name="그룹 64">
              <a:extLst>
                <a:ext uri="{FF2B5EF4-FFF2-40B4-BE49-F238E27FC236}">
                  <a16:creationId xmlns:a16="http://schemas.microsoft.com/office/drawing/2014/main" id="{B75D592B-1669-4833-8D85-B77D95569D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5550" y="5725180"/>
              <a:ext cx="5327650" cy="431829"/>
              <a:chOff x="-2988009" y="3681049"/>
              <a:chExt cx="5327650" cy="431829"/>
            </a:xfrm>
          </p:grpSpPr>
          <p:sp>
            <p:nvSpPr>
              <p:cNvPr id="39" name="모서리가 둥근 직사각형 38">
                <a:extLst>
                  <a:ext uri="{FF2B5EF4-FFF2-40B4-BE49-F238E27FC236}">
                    <a16:creationId xmlns:a16="http://schemas.microsoft.com/office/drawing/2014/main" id="{1AFEAC91-1F1C-7C8C-8A1A-77D2CD272513}"/>
                  </a:ext>
                </a:extLst>
              </p:cNvPr>
              <p:cNvSpPr/>
              <p:nvPr/>
            </p:nvSpPr>
            <p:spPr bwMode="auto">
              <a:xfrm>
                <a:off x="-2988009" y="3681049"/>
                <a:ext cx="5327650" cy="43182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38100" algn="ctr">
                <a:solidFill>
                  <a:srgbClr val="006EBE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1pPr>
                <a:lvl2pPr marL="517505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2pPr>
                <a:lvl3pPr marL="1035009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3pPr>
                <a:lvl4pPr marL="1552514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4pPr>
                <a:lvl5pPr marL="2070019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5pPr>
                <a:lvl6pPr marL="2587523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6pPr>
                <a:lvl7pPr marL="3105028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7pPr>
                <a:lvl8pPr marL="3622533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8pPr>
                <a:lvl9pPr marL="4140037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9pPr>
              </a:lstStyle>
              <a:p>
                <a:pPr latinLnBrk="0">
                  <a:defRPr/>
                </a:pPr>
                <a:endParaRPr lang="ko-KR" altLang="en-US" sz="1000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18472" name="그룹 155">
                <a:extLst>
                  <a:ext uri="{FF2B5EF4-FFF2-40B4-BE49-F238E27FC236}">
                    <a16:creationId xmlns:a16="http://schemas.microsoft.com/office/drawing/2014/main" id="{9E352378-6858-1096-3BBC-1FF750B8D8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819734" y="3744131"/>
                <a:ext cx="4991100" cy="292823"/>
                <a:chOff x="-2850307" y="3744131"/>
                <a:chExt cx="4991100" cy="292823"/>
              </a:xfrm>
            </p:grpSpPr>
            <p:sp>
              <p:nvSpPr>
                <p:cNvPr id="42" name="Freeform 33">
                  <a:extLst>
                    <a:ext uri="{FF2B5EF4-FFF2-40B4-BE49-F238E27FC236}">
                      <a16:creationId xmlns:a16="http://schemas.microsoft.com/office/drawing/2014/main" id="{608E850A-119A-A7DC-9A1E-0CB8D0DB5E6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961405" y="3857554"/>
                  <a:ext cx="179388" cy="179400"/>
                </a:xfrm>
                <a:custGeom>
                  <a:avLst/>
                  <a:gdLst>
                    <a:gd name="T0" fmla="*/ 58 w 141"/>
                    <a:gd name="T1" fmla="*/ 0 h 124"/>
                    <a:gd name="T2" fmla="*/ 0 w 141"/>
                    <a:gd name="T3" fmla="*/ 0 h 124"/>
                    <a:gd name="T4" fmla="*/ 0 w 141"/>
                    <a:gd name="T5" fmla="*/ 58 h 124"/>
                    <a:gd name="T6" fmla="*/ 30 w 141"/>
                    <a:gd name="T7" fmla="*/ 58 h 124"/>
                    <a:gd name="T8" fmla="*/ 22 w 141"/>
                    <a:gd name="T9" fmla="*/ 88 h 124"/>
                    <a:gd name="T10" fmla="*/ 0 w 141"/>
                    <a:gd name="T11" fmla="*/ 103 h 124"/>
                    <a:gd name="T12" fmla="*/ 16 w 141"/>
                    <a:gd name="T13" fmla="*/ 124 h 124"/>
                    <a:gd name="T14" fmla="*/ 47 w 141"/>
                    <a:gd name="T15" fmla="*/ 98 h 124"/>
                    <a:gd name="T16" fmla="*/ 58 w 141"/>
                    <a:gd name="T17" fmla="*/ 42 h 124"/>
                    <a:gd name="T18" fmla="*/ 58 w 141"/>
                    <a:gd name="T19" fmla="*/ 0 h 124"/>
                    <a:gd name="T20" fmla="*/ 141 w 141"/>
                    <a:gd name="T21" fmla="*/ 0 h 124"/>
                    <a:gd name="T22" fmla="*/ 82 w 141"/>
                    <a:gd name="T23" fmla="*/ 0 h 124"/>
                    <a:gd name="T24" fmla="*/ 82 w 141"/>
                    <a:gd name="T25" fmla="*/ 58 h 124"/>
                    <a:gd name="T26" fmla="*/ 113 w 141"/>
                    <a:gd name="T27" fmla="*/ 58 h 124"/>
                    <a:gd name="T28" fmla="*/ 105 w 141"/>
                    <a:gd name="T29" fmla="*/ 88 h 124"/>
                    <a:gd name="T30" fmla="*/ 82 w 141"/>
                    <a:gd name="T31" fmla="*/ 104 h 124"/>
                    <a:gd name="T32" fmla="*/ 98 w 141"/>
                    <a:gd name="T33" fmla="*/ 123 h 124"/>
                    <a:gd name="T34" fmla="*/ 130 w 141"/>
                    <a:gd name="T35" fmla="*/ 97 h 124"/>
                    <a:gd name="T36" fmla="*/ 141 w 141"/>
                    <a:gd name="T37" fmla="*/ 42 h 124"/>
                    <a:gd name="T38" fmla="*/ 141 w 141"/>
                    <a:gd name="T39" fmla="*/ 0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1" h="124">
                      <a:moveTo>
                        <a:pt x="58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8"/>
                        <a:pt x="0" y="58"/>
                        <a:pt x="0" y="58"/>
                      </a:cubicBezTo>
                      <a:cubicBezTo>
                        <a:pt x="30" y="58"/>
                        <a:pt x="30" y="58"/>
                        <a:pt x="30" y="58"/>
                      </a:cubicBezTo>
                      <a:cubicBezTo>
                        <a:pt x="30" y="65"/>
                        <a:pt x="30" y="78"/>
                        <a:pt x="22" y="88"/>
                      </a:cubicBezTo>
                      <a:cubicBezTo>
                        <a:pt x="15" y="96"/>
                        <a:pt x="7" y="102"/>
                        <a:pt x="0" y="103"/>
                      </a:cubicBezTo>
                      <a:cubicBezTo>
                        <a:pt x="16" y="124"/>
                        <a:pt x="16" y="124"/>
                        <a:pt x="16" y="124"/>
                      </a:cubicBezTo>
                      <a:cubicBezTo>
                        <a:pt x="25" y="120"/>
                        <a:pt x="38" y="111"/>
                        <a:pt x="47" y="98"/>
                      </a:cubicBezTo>
                      <a:cubicBezTo>
                        <a:pt x="57" y="84"/>
                        <a:pt x="58" y="66"/>
                        <a:pt x="58" y="42"/>
                      </a:cubicBezTo>
                      <a:cubicBezTo>
                        <a:pt x="58" y="0"/>
                        <a:pt x="58" y="0"/>
                        <a:pt x="58" y="0"/>
                      </a:cubicBezTo>
                      <a:moveTo>
                        <a:pt x="141" y="0"/>
                      </a:moveTo>
                      <a:cubicBezTo>
                        <a:pt x="82" y="0"/>
                        <a:pt x="82" y="0"/>
                        <a:pt x="82" y="0"/>
                      </a:cubicBezTo>
                      <a:cubicBezTo>
                        <a:pt x="82" y="58"/>
                        <a:pt x="82" y="58"/>
                        <a:pt x="82" y="58"/>
                      </a:cubicBezTo>
                      <a:cubicBezTo>
                        <a:pt x="113" y="58"/>
                        <a:pt x="113" y="58"/>
                        <a:pt x="113" y="58"/>
                      </a:cubicBezTo>
                      <a:cubicBezTo>
                        <a:pt x="113" y="65"/>
                        <a:pt x="113" y="80"/>
                        <a:pt x="105" y="88"/>
                      </a:cubicBezTo>
                      <a:cubicBezTo>
                        <a:pt x="98" y="96"/>
                        <a:pt x="89" y="102"/>
                        <a:pt x="82" y="104"/>
                      </a:cubicBezTo>
                      <a:cubicBezTo>
                        <a:pt x="98" y="123"/>
                        <a:pt x="98" y="123"/>
                        <a:pt x="98" y="123"/>
                      </a:cubicBezTo>
                      <a:cubicBezTo>
                        <a:pt x="108" y="120"/>
                        <a:pt x="121" y="111"/>
                        <a:pt x="130" y="97"/>
                      </a:cubicBezTo>
                      <a:cubicBezTo>
                        <a:pt x="139" y="83"/>
                        <a:pt x="141" y="66"/>
                        <a:pt x="141" y="42"/>
                      </a:cubicBezTo>
                      <a:cubicBezTo>
                        <a:pt x="141" y="0"/>
                        <a:pt x="141" y="0"/>
                        <a:pt x="141" y="0"/>
                      </a:cubicBezTo>
                    </a:path>
                  </a:pathLst>
                </a:custGeom>
                <a:gradFill rotWithShape="1">
                  <a:gsLst>
                    <a:gs pos="0">
                      <a:srgbClr val="FFFFFF">
                        <a:gamma/>
                        <a:shade val="94118"/>
                        <a:invGamma/>
                      </a:srgb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 cap="flat" cmpd="sng">
                  <a:solidFill>
                    <a:srgbClr val="006EB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1pPr>
                  <a:lvl2pPr marL="517505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2pPr>
                  <a:lvl3pPr marL="1035009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3pPr>
                  <a:lvl4pPr marL="1552514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4pPr>
                  <a:lvl5pPr marL="2070019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5pPr>
                  <a:lvl6pPr marL="2587523" algn="l" defTabSz="1035009" rtl="0" eaLnBrk="1" latinLnBrk="1" hangingPunct="1"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6pPr>
                  <a:lvl7pPr marL="3105028" algn="l" defTabSz="1035009" rtl="0" eaLnBrk="1" latinLnBrk="1" hangingPunct="1"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7pPr>
                  <a:lvl8pPr marL="3622533" algn="l" defTabSz="1035009" rtl="0" eaLnBrk="1" latinLnBrk="1" hangingPunct="1"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8pPr>
                  <a:lvl9pPr marL="4140037" algn="l" defTabSz="1035009" rtl="0" eaLnBrk="1" latinLnBrk="1" hangingPunct="1"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9pPr>
                </a:lstStyle>
                <a:p>
                  <a:pPr fontAlgn="auto" latinLnBrk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ko-KR" altLang="en-US" kern="0">
                    <a:solidFill>
                      <a:sysClr val="windowText" lastClr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43" name="Freeform 34">
                  <a:extLst>
                    <a:ext uri="{FF2B5EF4-FFF2-40B4-BE49-F238E27FC236}">
                      <a16:creationId xmlns:a16="http://schemas.microsoft.com/office/drawing/2014/main" id="{B5946E71-B1B8-4781-C74F-21DB1939E54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-2850307" y="3744131"/>
                  <a:ext cx="179387" cy="179400"/>
                </a:xfrm>
                <a:custGeom>
                  <a:avLst/>
                  <a:gdLst>
                    <a:gd name="T0" fmla="*/ 43 w 141"/>
                    <a:gd name="T1" fmla="*/ 0 h 124"/>
                    <a:gd name="T2" fmla="*/ 11 w 141"/>
                    <a:gd name="T3" fmla="*/ 26 h 124"/>
                    <a:gd name="T4" fmla="*/ 0 w 141"/>
                    <a:gd name="T5" fmla="*/ 81 h 124"/>
                    <a:gd name="T6" fmla="*/ 0 w 141"/>
                    <a:gd name="T7" fmla="*/ 124 h 124"/>
                    <a:gd name="T8" fmla="*/ 59 w 141"/>
                    <a:gd name="T9" fmla="*/ 124 h 124"/>
                    <a:gd name="T10" fmla="*/ 59 w 141"/>
                    <a:gd name="T11" fmla="*/ 66 h 124"/>
                    <a:gd name="T12" fmla="*/ 28 w 141"/>
                    <a:gd name="T13" fmla="*/ 66 h 124"/>
                    <a:gd name="T14" fmla="*/ 36 w 141"/>
                    <a:gd name="T15" fmla="*/ 35 h 124"/>
                    <a:gd name="T16" fmla="*/ 59 w 141"/>
                    <a:gd name="T17" fmla="*/ 20 h 124"/>
                    <a:gd name="T18" fmla="*/ 43 w 141"/>
                    <a:gd name="T19" fmla="*/ 0 h 124"/>
                    <a:gd name="T20" fmla="*/ 125 w 141"/>
                    <a:gd name="T21" fmla="*/ 0 h 124"/>
                    <a:gd name="T22" fmla="*/ 94 w 141"/>
                    <a:gd name="T23" fmla="*/ 26 h 124"/>
                    <a:gd name="T24" fmla="*/ 83 w 141"/>
                    <a:gd name="T25" fmla="*/ 81 h 124"/>
                    <a:gd name="T26" fmla="*/ 83 w 141"/>
                    <a:gd name="T27" fmla="*/ 124 h 124"/>
                    <a:gd name="T28" fmla="*/ 141 w 141"/>
                    <a:gd name="T29" fmla="*/ 124 h 124"/>
                    <a:gd name="T30" fmla="*/ 141 w 141"/>
                    <a:gd name="T31" fmla="*/ 66 h 124"/>
                    <a:gd name="T32" fmla="*/ 111 w 141"/>
                    <a:gd name="T33" fmla="*/ 66 h 124"/>
                    <a:gd name="T34" fmla="*/ 119 w 141"/>
                    <a:gd name="T35" fmla="*/ 36 h 124"/>
                    <a:gd name="T36" fmla="*/ 141 w 141"/>
                    <a:gd name="T37" fmla="*/ 20 h 124"/>
                    <a:gd name="T38" fmla="*/ 125 w 141"/>
                    <a:gd name="T39" fmla="*/ 0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1" h="124">
                      <a:moveTo>
                        <a:pt x="43" y="0"/>
                      </a:moveTo>
                      <a:cubicBezTo>
                        <a:pt x="33" y="3"/>
                        <a:pt x="20" y="12"/>
                        <a:pt x="11" y="26"/>
                      </a:cubicBezTo>
                      <a:cubicBezTo>
                        <a:pt x="2" y="40"/>
                        <a:pt x="0" y="58"/>
                        <a:pt x="0" y="81"/>
                      </a:cubicBezTo>
                      <a:cubicBezTo>
                        <a:pt x="0" y="124"/>
                        <a:pt x="0" y="124"/>
                        <a:pt x="0" y="124"/>
                      </a:cubicBezTo>
                      <a:cubicBezTo>
                        <a:pt x="59" y="124"/>
                        <a:pt x="59" y="124"/>
                        <a:pt x="59" y="124"/>
                      </a:cubicBezTo>
                      <a:cubicBezTo>
                        <a:pt x="59" y="66"/>
                        <a:pt x="59" y="66"/>
                        <a:pt x="59" y="66"/>
                      </a:cubicBezTo>
                      <a:cubicBezTo>
                        <a:pt x="28" y="66"/>
                        <a:pt x="28" y="66"/>
                        <a:pt x="28" y="66"/>
                      </a:cubicBezTo>
                      <a:cubicBezTo>
                        <a:pt x="28" y="58"/>
                        <a:pt x="28" y="44"/>
                        <a:pt x="36" y="35"/>
                      </a:cubicBezTo>
                      <a:cubicBezTo>
                        <a:pt x="43" y="28"/>
                        <a:pt x="52" y="22"/>
                        <a:pt x="59" y="20"/>
                      </a:cubicBezTo>
                      <a:cubicBezTo>
                        <a:pt x="43" y="0"/>
                        <a:pt x="43" y="0"/>
                        <a:pt x="43" y="0"/>
                      </a:cubicBezTo>
                      <a:moveTo>
                        <a:pt x="125" y="0"/>
                      </a:moveTo>
                      <a:cubicBezTo>
                        <a:pt x="116" y="3"/>
                        <a:pt x="103" y="12"/>
                        <a:pt x="94" y="26"/>
                      </a:cubicBezTo>
                      <a:cubicBezTo>
                        <a:pt x="84" y="40"/>
                        <a:pt x="83" y="58"/>
                        <a:pt x="83" y="81"/>
                      </a:cubicBezTo>
                      <a:cubicBezTo>
                        <a:pt x="83" y="124"/>
                        <a:pt x="83" y="124"/>
                        <a:pt x="83" y="124"/>
                      </a:cubicBezTo>
                      <a:cubicBezTo>
                        <a:pt x="141" y="124"/>
                        <a:pt x="141" y="124"/>
                        <a:pt x="141" y="124"/>
                      </a:cubicBezTo>
                      <a:cubicBezTo>
                        <a:pt x="141" y="66"/>
                        <a:pt x="141" y="66"/>
                        <a:pt x="141" y="66"/>
                      </a:cubicBezTo>
                      <a:cubicBezTo>
                        <a:pt x="111" y="66"/>
                        <a:pt x="111" y="66"/>
                        <a:pt x="111" y="66"/>
                      </a:cubicBezTo>
                      <a:cubicBezTo>
                        <a:pt x="111" y="58"/>
                        <a:pt x="111" y="45"/>
                        <a:pt x="119" y="36"/>
                      </a:cubicBezTo>
                      <a:cubicBezTo>
                        <a:pt x="126" y="28"/>
                        <a:pt x="134" y="22"/>
                        <a:pt x="141" y="20"/>
                      </a:cubicBezTo>
                      <a:cubicBezTo>
                        <a:pt x="125" y="0"/>
                        <a:pt x="125" y="0"/>
                        <a:pt x="125" y="0"/>
                      </a:cubicBezTo>
                    </a:path>
                  </a:pathLst>
                </a:custGeom>
                <a:gradFill rotWithShape="1">
                  <a:gsLst>
                    <a:gs pos="0">
                      <a:srgbClr val="FFFFFF">
                        <a:gamma/>
                        <a:shade val="94118"/>
                        <a:invGamma/>
                      </a:srgb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 cap="flat" cmpd="sng">
                  <a:solidFill>
                    <a:srgbClr val="006EB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1pPr>
                  <a:lvl2pPr marL="517505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2pPr>
                  <a:lvl3pPr marL="1035009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3pPr>
                  <a:lvl4pPr marL="1552514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4pPr>
                  <a:lvl5pPr marL="2070019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5pPr>
                  <a:lvl6pPr marL="2587523" algn="l" defTabSz="1035009" rtl="0" eaLnBrk="1" latinLnBrk="1" hangingPunct="1"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6pPr>
                  <a:lvl7pPr marL="3105028" algn="l" defTabSz="1035009" rtl="0" eaLnBrk="1" latinLnBrk="1" hangingPunct="1"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7pPr>
                  <a:lvl8pPr marL="3622533" algn="l" defTabSz="1035009" rtl="0" eaLnBrk="1" latinLnBrk="1" hangingPunct="1"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8pPr>
                  <a:lvl9pPr marL="4140037" algn="l" defTabSz="1035009" rtl="0" eaLnBrk="1" latinLnBrk="1" hangingPunct="1">
                    <a:defRPr kumimoji="1" kern="1200">
                      <a:solidFill>
                        <a:schemeClr val="tx1"/>
                      </a:solidFill>
                      <a:latin typeface="맑은 고딕" pitchFamily="50" charset="-127"/>
                      <a:ea typeface="굴림" pitchFamily="50" charset="-127"/>
                      <a:cs typeface="+mn-cs"/>
                    </a:defRPr>
                  </a:lvl9pPr>
                </a:lstStyle>
                <a:p>
                  <a:pPr fontAlgn="auto" latinLnBrk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ko-KR" altLang="en-US" kern="0">
                    <a:solidFill>
                      <a:sysClr val="windowText" lastClr="000000"/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41" name="Text Box 40">
                <a:extLst>
                  <a:ext uri="{FF2B5EF4-FFF2-40B4-BE49-F238E27FC236}">
                    <a16:creationId xmlns:a16="http://schemas.microsoft.com/office/drawing/2014/main" id="{15B6D6DA-912B-D36B-1FD7-A713EED85E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19709" y="3773130"/>
                <a:ext cx="4591050" cy="2460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defTabSz="1019175">
                  <a:defRPr/>
                </a:pPr>
                <a:r>
                  <a:rPr lang="ko-KR" altLang="en-US" sz="1600">
                    <a:solidFill>
                      <a:srgbClr val="14288C"/>
                    </a:solidFill>
                    <a:latin typeface="+mj-ea"/>
                    <a:ea typeface="+mj-ea"/>
                  </a:rPr>
                  <a:t>군 보안업무 준수</a:t>
                </a:r>
              </a:p>
            </p:txBody>
          </p:sp>
        </p:grpSp>
      </p:grpSp>
      <p:sp>
        <p:nvSpPr>
          <p:cNvPr id="18436" name="Text Box 81">
            <a:extLst>
              <a:ext uri="{FF2B5EF4-FFF2-40B4-BE49-F238E27FC236}">
                <a16:creationId xmlns:a16="http://schemas.microsoft.com/office/drawing/2014/main" id="{66C0E1F6-EA62-ED5E-865D-4452EF37D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1265238"/>
            <a:ext cx="6165850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군 보안업무 준수 방안</a:t>
            </a:r>
            <a:endParaRPr lang="ko-KR" altLang="en-US" sz="150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0000"/>
              </a:lnSpc>
            </a:pP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군사기밀의 유출을 방지하고 보안업무를 효율적으로 관리 및 통제하기 위한 군사보안업무훈령 준수방안을 수립하겠습니다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또한 사업기간 동안 사업 참여자들의 보안의식 고취와 보안사고 예방을 위한 전략을 수립하여 신뢰성 있는 보안 관리 활동을 수행하겠습니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다.</a:t>
            </a:r>
            <a:endParaRPr lang="en-US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437" name="Text Box 1086">
            <a:extLst>
              <a:ext uri="{FF2B5EF4-FFF2-40B4-BE49-F238E27FC236}">
                <a16:creationId xmlns:a16="http://schemas.microsoft.com/office/drawing/2014/main" id="{EDDCE3E5-3AF8-9BC0-D41E-0E27A92F4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07988"/>
            <a:ext cx="2092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3.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기밀보안관리</a:t>
            </a:r>
          </a:p>
        </p:txBody>
      </p:sp>
      <p:sp>
        <p:nvSpPr>
          <p:cNvPr id="18438" name="Text Box 63">
            <a:extLst>
              <a:ext uri="{FF2B5EF4-FFF2-40B4-BE49-F238E27FC236}">
                <a16:creationId xmlns:a16="http://schemas.microsoft.com/office/drawing/2014/main" id="{736DFAEA-C984-9BBE-7528-671216910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831850"/>
            <a:ext cx="6242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kumimoji="0" lang="ko-KR" altLang="en-US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기밀보안관리</a:t>
            </a:r>
          </a:p>
        </p:txBody>
      </p:sp>
      <p:grpSp>
        <p:nvGrpSpPr>
          <p:cNvPr id="18439" name="Group 5">
            <a:extLst>
              <a:ext uri="{FF2B5EF4-FFF2-40B4-BE49-F238E27FC236}">
                <a16:creationId xmlns:a16="http://schemas.microsoft.com/office/drawing/2014/main" id="{13161FCD-1340-1183-0CFF-44A40E02520B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2667000"/>
            <a:ext cx="6116638" cy="357188"/>
            <a:chOff x="236" y="2167"/>
            <a:chExt cx="3853" cy="225"/>
          </a:xfrm>
        </p:grpSpPr>
        <p:grpSp>
          <p:nvGrpSpPr>
            <p:cNvPr id="18465" name="Group 6">
              <a:extLst>
                <a:ext uri="{FF2B5EF4-FFF2-40B4-BE49-F238E27FC236}">
                  <a16:creationId xmlns:a16="http://schemas.microsoft.com/office/drawing/2014/main" id="{07791F73-8D80-1519-8C36-0A04AE030C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8467" name="Picture 7" descr="Magazine temp08_A4">
                <a:extLst>
                  <a:ext uri="{FF2B5EF4-FFF2-40B4-BE49-F238E27FC236}">
                    <a16:creationId xmlns:a16="http://schemas.microsoft.com/office/drawing/2014/main" id="{62FA7CB5-6132-1D24-BBA9-E53280A830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468" name="Picture 8" descr="Magazine temp08_A4">
                <a:extLst>
                  <a:ext uri="{FF2B5EF4-FFF2-40B4-BE49-F238E27FC236}">
                    <a16:creationId xmlns:a16="http://schemas.microsoft.com/office/drawing/2014/main" id="{AF105056-2F91-C680-3C3C-9D204545EF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8466" name="Text Box 9">
              <a:extLst>
                <a:ext uri="{FF2B5EF4-FFF2-40B4-BE49-F238E27FC236}">
                  <a16:creationId xmlns:a16="http://schemas.microsoft.com/office/drawing/2014/main" id="{29EBBC5F-BC6B-544C-2C0C-73E4814BE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세부수행방안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18440" name="그룹 10">
            <a:extLst>
              <a:ext uri="{FF2B5EF4-FFF2-40B4-BE49-F238E27FC236}">
                <a16:creationId xmlns:a16="http://schemas.microsoft.com/office/drawing/2014/main" id="{D5B10AF3-B878-0B64-580A-9E13A614F3D9}"/>
              </a:ext>
            </a:extLst>
          </p:cNvPr>
          <p:cNvGrpSpPr>
            <a:grpSpLocks/>
          </p:cNvGrpSpPr>
          <p:nvPr/>
        </p:nvGrpSpPr>
        <p:grpSpPr bwMode="auto">
          <a:xfrm>
            <a:off x="452438" y="3616327"/>
            <a:ext cx="5964237" cy="5495924"/>
            <a:chOff x="707981" y="4338651"/>
            <a:chExt cx="6313394" cy="5777808"/>
          </a:xfrm>
        </p:grpSpPr>
        <p:grpSp>
          <p:nvGrpSpPr>
            <p:cNvPr id="18441" name="그룹 91">
              <a:extLst>
                <a:ext uri="{FF2B5EF4-FFF2-40B4-BE49-F238E27FC236}">
                  <a16:creationId xmlns:a16="http://schemas.microsoft.com/office/drawing/2014/main" id="{791D1EDC-3375-08B4-C404-C94814035E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713" y="4338651"/>
              <a:ext cx="1008261" cy="1098664"/>
              <a:chOff x="756713" y="4338650"/>
              <a:chExt cx="1008261" cy="1148697"/>
            </a:xfrm>
          </p:grpSpPr>
          <p:sp>
            <p:nvSpPr>
              <p:cNvPr id="34" name="양쪽 모서리가 둥근 사각형 33">
                <a:extLst>
                  <a:ext uri="{FF2B5EF4-FFF2-40B4-BE49-F238E27FC236}">
                    <a16:creationId xmlns:a16="http://schemas.microsoft.com/office/drawing/2014/main" id="{10A4BED0-8A05-8269-64DF-88839975F02E}"/>
                  </a:ext>
                </a:extLst>
              </p:cNvPr>
              <p:cNvSpPr/>
              <p:nvPr/>
            </p:nvSpPr>
            <p:spPr bwMode="auto">
              <a:xfrm rot="5400000">
                <a:off x="686495" y="4408868"/>
                <a:ext cx="1148697" cy="1008261"/>
              </a:xfrm>
              <a:prstGeom prst="round2SameRect">
                <a:avLst/>
              </a:prstGeom>
              <a:pattFill prst="smGrid">
                <a:fgClr>
                  <a:srgbClr val="F9F9F9"/>
                </a:fgClr>
                <a:bgClr>
                  <a:schemeClr val="bg1"/>
                </a:bgClr>
              </a:pattFill>
              <a:ln w="6350">
                <a:solidFill>
                  <a:schemeClr val="accent1">
                    <a:lumMod val="20000"/>
                    <a:lumOff val="8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1pPr>
                <a:lvl2pPr marL="517505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2pPr>
                <a:lvl3pPr marL="1035009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3pPr>
                <a:lvl4pPr marL="1552514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4pPr>
                <a:lvl5pPr marL="2070019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5pPr>
                <a:lvl6pPr marL="2587523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6pPr>
                <a:lvl7pPr marL="3105028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7pPr>
                <a:lvl8pPr marL="3622533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8pPr>
                <a:lvl9pPr marL="4140037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2400">
                  <a:ln>
                    <a:solidFill>
                      <a:schemeClr val="bg1">
                        <a:alpha val="4000"/>
                      </a:schemeClr>
                    </a:solidFill>
                  </a:ln>
                  <a:solidFill>
                    <a:schemeClr val="lt1"/>
                  </a:solidFill>
                  <a:latin typeface="HY신명조" pitchFamily="18" charset="-127"/>
                  <a:ea typeface="HY신명조" pitchFamily="18" charset="-127"/>
                </a:endParaRPr>
              </a:p>
            </p:txBody>
          </p:sp>
          <p:sp>
            <p:nvSpPr>
              <p:cNvPr id="18464" name="Rectangle 56">
                <a:extLst>
                  <a:ext uri="{FF2B5EF4-FFF2-40B4-BE49-F238E27FC236}">
                    <a16:creationId xmlns:a16="http://schemas.microsoft.com/office/drawing/2014/main" id="{05EFB675-C723-9B55-B845-B049A8C9AE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185" y="4562211"/>
                <a:ext cx="844352" cy="7009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군사보안</a:t>
                </a:r>
                <a:endParaRPr lang="en-US" altLang="ko-KR" sz="1100" b="1">
                  <a:solidFill>
                    <a:srgbClr val="00206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algn="ctr"/>
                <a:r>
                  <a:rPr lang="ko-KR" altLang="en-US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업무훈령에 충실한 보안관리</a:t>
                </a:r>
              </a:p>
            </p:txBody>
          </p:sp>
        </p:grpSp>
        <p:grpSp>
          <p:nvGrpSpPr>
            <p:cNvPr id="18442" name="그룹 90">
              <a:extLst>
                <a:ext uri="{FF2B5EF4-FFF2-40B4-BE49-F238E27FC236}">
                  <a16:creationId xmlns:a16="http://schemas.microsoft.com/office/drawing/2014/main" id="{8409B98B-18C4-46A6-8967-E7F6DD6B68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7981" y="5508044"/>
              <a:ext cx="1062762" cy="1098664"/>
              <a:chOff x="707981" y="5545339"/>
              <a:chExt cx="1062762" cy="1148697"/>
            </a:xfrm>
          </p:grpSpPr>
          <p:sp>
            <p:nvSpPr>
              <p:cNvPr id="32" name="양쪽 모서리가 둥근 사각형 31">
                <a:extLst>
                  <a:ext uri="{FF2B5EF4-FFF2-40B4-BE49-F238E27FC236}">
                    <a16:creationId xmlns:a16="http://schemas.microsoft.com/office/drawing/2014/main" id="{D8EBC3D5-31D9-3452-4A62-1AF10F9F33C5}"/>
                  </a:ext>
                </a:extLst>
              </p:cNvPr>
              <p:cNvSpPr/>
              <p:nvPr/>
            </p:nvSpPr>
            <p:spPr bwMode="auto">
              <a:xfrm rot="5400000">
                <a:off x="686494" y="5615557"/>
                <a:ext cx="1148697" cy="1008261"/>
              </a:xfrm>
              <a:prstGeom prst="round2SameRect">
                <a:avLst/>
              </a:prstGeom>
              <a:pattFill prst="smGrid">
                <a:fgClr>
                  <a:srgbClr val="F9F9F9"/>
                </a:fgClr>
                <a:bgClr>
                  <a:schemeClr val="bg1"/>
                </a:bgClr>
              </a:pattFill>
              <a:ln w="6350">
                <a:solidFill>
                  <a:schemeClr val="accent1">
                    <a:lumMod val="20000"/>
                    <a:lumOff val="8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1pPr>
                <a:lvl2pPr marL="517505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2pPr>
                <a:lvl3pPr marL="1035009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3pPr>
                <a:lvl4pPr marL="1552514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4pPr>
                <a:lvl5pPr marL="2070019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5pPr>
                <a:lvl6pPr marL="2587523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6pPr>
                <a:lvl7pPr marL="3105028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7pPr>
                <a:lvl8pPr marL="3622533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8pPr>
                <a:lvl9pPr marL="4140037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2400">
                  <a:ln>
                    <a:solidFill>
                      <a:schemeClr val="bg1">
                        <a:alpha val="4000"/>
                      </a:schemeClr>
                    </a:solidFill>
                  </a:ln>
                  <a:solidFill>
                    <a:schemeClr val="lt1"/>
                  </a:solidFill>
                  <a:latin typeface="HY신명조" pitchFamily="18" charset="-127"/>
                  <a:ea typeface="HY신명조" pitchFamily="18" charset="-127"/>
                </a:endParaRPr>
              </a:p>
            </p:txBody>
          </p:sp>
          <p:sp>
            <p:nvSpPr>
              <p:cNvPr id="18462" name="Rectangle 56">
                <a:extLst>
                  <a:ext uri="{FF2B5EF4-FFF2-40B4-BE49-F238E27FC236}">
                    <a16:creationId xmlns:a16="http://schemas.microsoft.com/office/drawing/2014/main" id="{FD7CF513-A3C0-78F2-E87E-BDABB7E059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981" y="5769471"/>
                <a:ext cx="1062762" cy="7009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국방</a:t>
                </a:r>
                <a:r>
                  <a:rPr lang="en-US" altLang="ko-KR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/</a:t>
                </a:r>
                <a:r>
                  <a:rPr lang="ko-KR" altLang="en-US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공공</a:t>
                </a:r>
                <a:endParaRPr lang="en-US" altLang="ko-KR" sz="1100" b="1">
                  <a:solidFill>
                    <a:srgbClr val="00206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algn="ctr"/>
                <a:r>
                  <a:rPr lang="ko-KR" altLang="en-US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 사업 수행에서 </a:t>
                </a:r>
                <a:br>
                  <a:rPr lang="en-US" altLang="ko-KR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</a:br>
                <a:r>
                  <a:rPr lang="ko-KR" altLang="en-US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검증된 기밀보안체계</a:t>
                </a:r>
              </a:p>
            </p:txBody>
          </p:sp>
        </p:grpSp>
        <p:grpSp>
          <p:nvGrpSpPr>
            <p:cNvPr id="18443" name="그룹 89">
              <a:extLst>
                <a:ext uri="{FF2B5EF4-FFF2-40B4-BE49-F238E27FC236}">
                  <a16:creationId xmlns:a16="http://schemas.microsoft.com/office/drawing/2014/main" id="{F08242D0-E4D2-ABD1-97EA-5117031827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713" y="6679006"/>
              <a:ext cx="1008261" cy="1097091"/>
              <a:chOff x="756713" y="6774674"/>
              <a:chExt cx="1008261" cy="1147053"/>
            </a:xfrm>
          </p:grpSpPr>
          <p:sp>
            <p:nvSpPr>
              <p:cNvPr id="30" name="양쪽 모서리가 둥근 사각형 29">
                <a:extLst>
                  <a:ext uri="{FF2B5EF4-FFF2-40B4-BE49-F238E27FC236}">
                    <a16:creationId xmlns:a16="http://schemas.microsoft.com/office/drawing/2014/main" id="{1BAB7AF4-59D3-4338-B442-36A1255113E8}"/>
                  </a:ext>
                </a:extLst>
              </p:cNvPr>
              <p:cNvSpPr/>
              <p:nvPr/>
            </p:nvSpPr>
            <p:spPr bwMode="auto">
              <a:xfrm rot="5400000">
                <a:off x="687317" y="6844070"/>
                <a:ext cx="1147053" cy="1008261"/>
              </a:xfrm>
              <a:prstGeom prst="round2SameRect">
                <a:avLst/>
              </a:prstGeom>
              <a:pattFill prst="smGrid">
                <a:fgClr>
                  <a:srgbClr val="F9F9F9"/>
                </a:fgClr>
                <a:bgClr>
                  <a:schemeClr val="bg1"/>
                </a:bgClr>
              </a:pattFill>
              <a:ln w="6350">
                <a:solidFill>
                  <a:schemeClr val="accent1">
                    <a:lumMod val="20000"/>
                    <a:lumOff val="8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1pPr>
                <a:lvl2pPr marL="517505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2pPr>
                <a:lvl3pPr marL="1035009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3pPr>
                <a:lvl4pPr marL="1552514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4pPr>
                <a:lvl5pPr marL="2070019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5pPr>
                <a:lvl6pPr marL="2587523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6pPr>
                <a:lvl7pPr marL="3105028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7pPr>
                <a:lvl8pPr marL="3622533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8pPr>
                <a:lvl9pPr marL="4140037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2400">
                  <a:ln>
                    <a:solidFill>
                      <a:schemeClr val="bg1">
                        <a:alpha val="4000"/>
                      </a:schemeClr>
                    </a:solidFill>
                  </a:ln>
                  <a:solidFill>
                    <a:schemeClr val="lt1"/>
                  </a:solidFill>
                  <a:latin typeface="HY신명조" pitchFamily="18" charset="-127"/>
                  <a:ea typeface="HY신명조" pitchFamily="18" charset="-127"/>
                </a:endParaRPr>
              </a:p>
            </p:txBody>
          </p:sp>
          <p:sp>
            <p:nvSpPr>
              <p:cNvPr id="18460" name="Rectangle 56">
                <a:extLst>
                  <a:ext uri="{FF2B5EF4-FFF2-40B4-BE49-F238E27FC236}">
                    <a16:creationId xmlns:a16="http://schemas.microsoft.com/office/drawing/2014/main" id="{09B2472D-6810-94D6-1667-7327BACC7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7361" y="6997735"/>
                <a:ext cx="684000" cy="7009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물리적</a:t>
                </a:r>
                <a:r>
                  <a:rPr lang="en-US" altLang="ko-KR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,</a:t>
                </a:r>
                <a:br>
                  <a:rPr lang="en-US" altLang="ko-KR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</a:br>
                <a:r>
                  <a:rPr lang="ko-KR" altLang="en-US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기술적 보안환경의 구성</a:t>
                </a:r>
              </a:p>
            </p:txBody>
          </p:sp>
        </p:grpSp>
        <p:grpSp>
          <p:nvGrpSpPr>
            <p:cNvPr id="18444" name="그룹 85">
              <a:extLst>
                <a:ext uri="{FF2B5EF4-FFF2-40B4-BE49-F238E27FC236}">
                  <a16:creationId xmlns:a16="http://schemas.microsoft.com/office/drawing/2014/main" id="{BBFF730D-BAD3-D86F-862C-ED8736E714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7009" y="7848403"/>
              <a:ext cx="1027964" cy="1098663"/>
              <a:chOff x="737009" y="7981364"/>
              <a:chExt cx="1027964" cy="1148696"/>
            </a:xfrm>
          </p:grpSpPr>
          <p:sp>
            <p:nvSpPr>
              <p:cNvPr id="28" name="양쪽 모서리가 둥근 사각형 27">
                <a:extLst>
                  <a:ext uri="{FF2B5EF4-FFF2-40B4-BE49-F238E27FC236}">
                    <a16:creationId xmlns:a16="http://schemas.microsoft.com/office/drawing/2014/main" id="{A7D1AF08-9738-DE88-BD41-0C2324BC30ED}"/>
                  </a:ext>
                </a:extLst>
              </p:cNvPr>
              <p:cNvSpPr/>
              <p:nvPr/>
            </p:nvSpPr>
            <p:spPr bwMode="auto">
              <a:xfrm rot="5400000">
                <a:off x="686495" y="8051581"/>
                <a:ext cx="1148696" cy="1008261"/>
              </a:xfrm>
              <a:prstGeom prst="round2SameRect">
                <a:avLst/>
              </a:prstGeom>
              <a:pattFill prst="smGrid">
                <a:fgClr>
                  <a:srgbClr val="F9F9F9"/>
                </a:fgClr>
                <a:bgClr>
                  <a:schemeClr val="bg1"/>
                </a:bgClr>
              </a:pattFill>
              <a:ln w="6350">
                <a:solidFill>
                  <a:schemeClr val="accent1">
                    <a:lumMod val="20000"/>
                    <a:lumOff val="8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1pPr>
                <a:lvl2pPr marL="517505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2pPr>
                <a:lvl3pPr marL="1035009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3pPr>
                <a:lvl4pPr marL="1552514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4pPr>
                <a:lvl5pPr marL="2070019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5pPr>
                <a:lvl6pPr marL="2587523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6pPr>
                <a:lvl7pPr marL="3105028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7pPr>
                <a:lvl8pPr marL="3622533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8pPr>
                <a:lvl9pPr marL="4140037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2400">
                  <a:ln>
                    <a:solidFill>
                      <a:schemeClr val="bg1">
                        <a:alpha val="4000"/>
                      </a:schemeClr>
                    </a:solidFill>
                  </a:ln>
                  <a:solidFill>
                    <a:schemeClr val="lt1"/>
                  </a:solidFill>
                  <a:latin typeface="HY신명조" pitchFamily="18" charset="-127"/>
                  <a:ea typeface="HY신명조" pitchFamily="18" charset="-127"/>
                </a:endParaRPr>
              </a:p>
            </p:txBody>
          </p:sp>
          <p:sp>
            <p:nvSpPr>
              <p:cNvPr id="18458" name="Rectangle 56">
                <a:extLst>
                  <a:ext uri="{FF2B5EF4-FFF2-40B4-BE49-F238E27FC236}">
                    <a16:creationId xmlns:a16="http://schemas.microsoft.com/office/drawing/2014/main" id="{31B7293C-6272-6DDC-5660-8B474E0460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009" y="8205001"/>
                <a:ext cx="1004704" cy="7009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사업수행</a:t>
                </a:r>
                <a:br>
                  <a:rPr lang="en-US" altLang="ko-KR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</a:br>
                <a:r>
                  <a:rPr lang="ko-KR" altLang="en-US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조직 안정을 위한 이직률 최소화</a:t>
                </a:r>
              </a:p>
            </p:txBody>
          </p:sp>
        </p:grpSp>
        <p:grpSp>
          <p:nvGrpSpPr>
            <p:cNvPr id="18445" name="그룹 86">
              <a:extLst>
                <a:ext uri="{FF2B5EF4-FFF2-40B4-BE49-F238E27FC236}">
                  <a16:creationId xmlns:a16="http://schemas.microsoft.com/office/drawing/2014/main" id="{52B37685-CD34-E668-35F2-7080C03071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713" y="9017796"/>
              <a:ext cx="1008261" cy="1098663"/>
              <a:chOff x="756713" y="7980790"/>
              <a:chExt cx="1008261" cy="1148696"/>
            </a:xfrm>
          </p:grpSpPr>
          <p:sp>
            <p:nvSpPr>
              <p:cNvPr id="26" name="양쪽 모서리가 둥근 사각형 25">
                <a:extLst>
                  <a:ext uri="{FF2B5EF4-FFF2-40B4-BE49-F238E27FC236}">
                    <a16:creationId xmlns:a16="http://schemas.microsoft.com/office/drawing/2014/main" id="{3718762D-ABD2-0028-A5C5-448BB5110E5E}"/>
                  </a:ext>
                </a:extLst>
              </p:cNvPr>
              <p:cNvSpPr/>
              <p:nvPr/>
            </p:nvSpPr>
            <p:spPr bwMode="auto">
              <a:xfrm rot="5400000">
                <a:off x="686496" y="8051007"/>
                <a:ext cx="1148696" cy="1008261"/>
              </a:xfrm>
              <a:prstGeom prst="round2SameRect">
                <a:avLst/>
              </a:prstGeom>
              <a:pattFill prst="smGrid">
                <a:fgClr>
                  <a:srgbClr val="F9F9F9"/>
                </a:fgClr>
                <a:bgClr>
                  <a:schemeClr val="bg1"/>
                </a:bgClr>
              </a:pattFill>
              <a:ln w="6350">
                <a:solidFill>
                  <a:schemeClr val="accent1">
                    <a:lumMod val="20000"/>
                    <a:lumOff val="8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1pPr>
                <a:lvl2pPr marL="517505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2pPr>
                <a:lvl3pPr marL="1035009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3pPr>
                <a:lvl4pPr marL="1552514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4pPr>
                <a:lvl5pPr marL="2070019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5pPr>
                <a:lvl6pPr marL="2587523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6pPr>
                <a:lvl7pPr marL="3105028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7pPr>
                <a:lvl8pPr marL="3622533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8pPr>
                <a:lvl9pPr marL="4140037" algn="l" defTabSz="1035009" rtl="0" eaLnBrk="1" latinLnBrk="1" hangingPunct="1">
                  <a:defRPr kumimoji="1" kern="1200">
                    <a:solidFill>
                      <a:schemeClr val="tx1"/>
                    </a:solidFill>
                    <a:latin typeface="맑은 고딕" pitchFamily="50" charset="-127"/>
                    <a:ea typeface="굴림" pitchFamily="50" charset="-127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2400">
                  <a:ln>
                    <a:solidFill>
                      <a:schemeClr val="bg1">
                        <a:alpha val="4000"/>
                      </a:schemeClr>
                    </a:solidFill>
                  </a:ln>
                  <a:solidFill>
                    <a:schemeClr val="lt1"/>
                  </a:solidFill>
                  <a:latin typeface="HY신명조" pitchFamily="18" charset="-127"/>
                  <a:ea typeface="HY신명조" pitchFamily="18" charset="-127"/>
                </a:endParaRPr>
              </a:p>
            </p:txBody>
          </p:sp>
          <p:sp>
            <p:nvSpPr>
              <p:cNvPr id="18456" name="Rectangle 56">
                <a:extLst>
                  <a:ext uri="{FF2B5EF4-FFF2-40B4-BE49-F238E27FC236}">
                    <a16:creationId xmlns:a16="http://schemas.microsoft.com/office/drawing/2014/main" id="{6008663D-3949-F833-7837-C2F8119E4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7362" y="8292616"/>
                <a:ext cx="684000" cy="5256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10191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1100" b="1" err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보안결산을</a:t>
                </a:r>
                <a:r>
                  <a:rPr lang="ko-KR" altLang="en-US" sz="1100" b="1">
                    <a:solidFill>
                      <a:srgbClr val="00206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 통한 예방조치</a:t>
                </a:r>
              </a:p>
            </p:txBody>
          </p:sp>
        </p:grpSp>
        <p:cxnSp>
          <p:nvCxnSpPr>
            <p:cNvPr id="17" name="직선 연결선 11">
              <a:extLst>
                <a:ext uri="{FF2B5EF4-FFF2-40B4-BE49-F238E27FC236}">
                  <a16:creationId xmlns:a16="http://schemas.microsoft.com/office/drawing/2014/main" id="{B9822388-D0AC-2E65-8DDD-DAEB561C1E06}"/>
                </a:ext>
              </a:extLst>
            </p:cNvPr>
            <p:cNvCxnSpPr/>
            <p:nvPr/>
          </p:nvCxnSpPr>
          <p:spPr>
            <a:xfrm>
              <a:off x="756713" y="5468749"/>
              <a:ext cx="6264662" cy="0"/>
            </a:xfrm>
            <a:prstGeom prst="straightConnector1">
              <a:avLst/>
            </a:prstGeom>
            <a:ln w="6350" cap="rnd">
              <a:solidFill>
                <a:srgbClr val="969696"/>
              </a:solidFill>
              <a:prstDash val="sysDash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1">
              <a:extLst>
                <a:ext uri="{FF2B5EF4-FFF2-40B4-BE49-F238E27FC236}">
                  <a16:creationId xmlns:a16="http://schemas.microsoft.com/office/drawing/2014/main" id="{C7565E0D-FF67-E8F4-CCB7-84ADFB426003}"/>
                </a:ext>
              </a:extLst>
            </p:cNvPr>
            <p:cNvCxnSpPr/>
            <p:nvPr/>
          </p:nvCxnSpPr>
          <p:spPr>
            <a:xfrm>
              <a:off x="756713" y="6633426"/>
              <a:ext cx="6264662" cy="0"/>
            </a:xfrm>
            <a:prstGeom prst="straightConnector1">
              <a:avLst/>
            </a:prstGeom>
            <a:ln w="6350" cap="rnd">
              <a:solidFill>
                <a:srgbClr val="969696"/>
              </a:solidFill>
              <a:prstDash val="sysDash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1">
              <a:extLst>
                <a:ext uri="{FF2B5EF4-FFF2-40B4-BE49-F238E27FC236}">
                  <a16:creationId xmlns:a16="http://schemas.microsoft.com/office/drawing/2014/main" id="{E46BD3A5-5E6B-F695-7583-45FE3465B674}"/>
                </a:ext>
              </a:extLst>
            </p:cNvPr>
            <p:cNvCxnSpPr/>
            <p:nvPr/>
          </p:nvCxnSpPr>
          <p:spPr>
            <a:xfrm>
              <a:off x="756713" y="7805963"/>
              <a:ext cx="6264662" cy="0"/>
            </a:xfrm>
            <a:prstGeom prst="straightConnector1">
              <a:avLst/>
            </a:prstGeom>
            <a:ln w="6350" cap="rnd">
              <a:solidFill>
                <a:srgbClr val="969696"/>
              </a:solidFill>
              <a:prstDash val="sysDash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1">
              <a:extLst>
                <a:ext uri="{FF2B5EF4-FFF2-40B4-BE49-F238E27FC236}">
                  <a16:creationId xmlns:a16="http://schemas.microsoft.com/office/drawing/2014/main" id="{347BF113-241A-DC09-7040-61BFC06A212A}"/>
                </a:ext>
              </a:extLst>
            </p:cNvPr>
            <p:cNvCxnSpPr/>
            <p:nvPr/>
          </p:nvCxnSpPr>
          <p:spPr>
            <a:xfrm>
              <a:off x="756713" y="8980072"/>
              <a:ext cx="6264662" cy="0"/>
            </a:xfrm>
            <a:prstGeom prst="straightConnector1">
              <a:avLst/>
            </a:prstGeom>
            <a:ln w="6350" cap="rnd">
              <a:solidFill>
                <a:srgbClr val="969696"/>
              </a:solidFill>
              <a:prstDash val="sysDash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 Box 4">
              <a:extLst>
                <a:ext uri="{FF2B5EF4-FFF2-40B4-BE49-F238E27FC236}">
                  <a16:creationId xmlns:a16="http://schemas.microsoft.com/office/drawing/2014/main" id="{F3EAF370-954B-D69F-0EB7-0649A4DEF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751" y="4511817"/>
              <a:ext cx="4967366" cy="512395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>
              <a:lvl1pPr marL="88900" indent="-889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144000" indent="-144000" eaLnBrk="1" hangingPunct="1">
                <a:lnSpc>
                  <a:spcPct val="150000"/>
                </a:lnSpc>
                <a:buClr>
                  <a:srgbClr val="008CC8"/>
                </a:buClr>
                <a:buFont typeface="Wingdings" pitchFamily="2" charset="2"/>
                <a:buChar char=""/>
                <a:defRPr/>
              </a:pP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군사보안업무훈령을 세부적으로 반영한 보안관리계획의 수립</a:t>
              </a:r>
            </a:p>
            <a:p>
              <a:pPr marL="144000" indent="-144000" eaLnBrk="1" hangingPunct="1">
                <a:lnSpc>
                  <a:spcPct val="150000"/>
                </a:lnSpc>
                <a:buClr>
                  <a:srgbClr val="008CC8"/>
                </a:buClr>
                <a:buFont typeface="Wingdings" pitchFamily="2" charset="2"/>
                <a:buChar char=""/>
                <a:defRPr/>
              </a:pP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신원조사 및 비밀취급 인가를 통한 개발인력에 대한 보안통제 실시</a:t>
              </a:r>
            </a:p>
            <a:p>
              <a:pPr marL="144000" indent="-144000" eaLnBrk="1" hangingPunct="1">
                <a:lnSpc>
                  <a:spcPct val="150000"/>
                </a:lnSpc>
                <a:buClr>
                  <a:srgbClr val="008CC8"/>
                </a:buClr>
                <a:buFont typeface="Wingdings" pitchFamily="2" charset="2"/>
                <a:buChar char=""/>
                <a:defRPr/>
              </a:pP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군사보안업무훈령에 따른 비밀자료의 생산</a:t>
              </a:r>
              <a:r>
                <a:rPr kumimoji="0" lang="en-US" altLang="ko-KR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, </a:t>
              </a: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관리</a:t>
              </a:r>
              <a:r>
                <a:rPr kumimoji="0" lang="en-US" altLang="ko-KR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, </a:t>
              </a: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절차의 시행</a:t>
              </a:r>
            </a:p>
          </p:txBody>
        </p:sp>
        <p:sp>
          <p:nvSpPr>
            <p:cNvPr id="22" name="Text Box 4">
              <a:extLst>
                <a:ext uri="{FF2B5EF4-FFF2-40B4-BE49-F238E27FC236}">
                  <a16:creationId xmlns:a16="http://schemas.microsoft.com/office/drawing/2014/main" id="{3ADA9D62-51B8-677B-B4E9-D56D9F7A27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751" y="5698227"/>
              <a:ext cx="4967366" cy="512395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>
              <a:lvl1pPr marL="88900" indent="-889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144000" indent="-144000" eaLnBrk="1" hangingPunct="1">
                <a:lnSpc>
                  <a:spcPct val="150000"/>
                </a:lnSpc>
                <a:buClr>
                  <a:srgbClr val="008CC8"/>
                </a:buClr>
                <a:buFont typeface="Wingdings" pitchFamily="2" charset="2"/>
                <a:buChar char=""/>
                <a:defRPr/>
              </a:pP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기밀보안의 최고 수준을 요하는 대규모 국방사업을 체계적으로 수행함으로써 보안 활동 및 경험을 기 입증</a:t>
              </a:r>
            </a:p>
            <a:p>
              <a:pPr marL="144000" indent="-144000" eaLnBrk="1" hangingPunct="1">
                <a:lnSpc>
                  <a:spcPct val="150000"/>
                </a:lnSpc>
                <a:buClr>
                  <a:srgbClr val="008CC8"/>
                </a:buClr>
                <a:buFont typeface="Wingdings" pitchFamily="2" charset="2"/>
                <a:buChar char=""/>
                <a:defRPr/>
              </a:pP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정부기관이 발주한 대규모 공공사업 수행경험을 활용</a:t>
              </a:r>
            </a:p>
          </p:txBody>
        </p:sp>
        <p:sp>
          <p:nvSpPr>
            <p:cNvPr id="23" name="Text Box 4">
              <a:extLst>
                <a:ext uri="{FF2B5EF4-FFF2-40B4-BE49-F238E27FC236}">
                  <a16:creationId xmlns:a16="http://schemas.microsoft.com/office/drawing/2014/main" id="{702C9CF0-D4DA-E4EB-1F9F-BBAAE04D19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751" y="6896458"/>
              <a:ext cx="4967366" cy="51396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>
              <a:lvl1pPr marL="88900" indent="-889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144000" indent="-144000" eaLnBrk="1" hangingPunct="1">
                <a:lnSpc>
                  <a:spcPct val="150000"/>
                </a:lnSpc>
                <a:buClr>
                  <a:srgbClr val="008CC8"/>
                </a:buClr>
                <a:buFont typeface="Wingdings" pitchFamily="2" charset="2"/>
                <a:buChar char=""/>
                <a:defRPr/>
              </a:pP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물리적인 시설보안 환경 구축으로 불의의 사고 또는 불법침입차단</a:t>
              </a:r>
            </a:p>
            <a:p>
              <a:pPr marL="144000" indent="-144000" eaLnBrk="1" hangingPunct="1">
                <a:lnSpc>
                  <a:spcPct val="150000"/>
                </a:lnSpc>
                <a:buClr>
                  <a:srgbClr val="008CC8"/>
                </a:buClr>
                <a:buFont typeface="Wingdings" pitchFamily="2" charset="2"/>
                <a:buChar char=""/>
                <a:defRPr/>
              </a:pP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기술적인 보안 통제 방안을 통해 시스템 개발 중</a:t>
              </a:r>
              <a:r>
                <a:rPr kumimoji="0" lang="en-US" altLang="ko-KR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, </a:t>
              </a: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업무상 관련 없는 </a:t>
              </a:r>
              <a:endParaRPr kumimoji="0" lang="en-US" altLang="ko-KR" sz="1100" kern="0">
                <a:solidFill>
                  <a:schemeClr val="tx1">
                    <a:lumMod val="85000"/>
                    <a:lumOff val="1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marL="0" indent="0" eaLnBrk="1" hangingPunct="1">
                <a:lnSpc>
                  <a:spcPct val="150000"/>
                </a:lnSpc>
                <a:buClr>
                  <a:srgbClr val="008CC8"/>
                </a:buClr>
                <a:defRPr/>
              </a:pPr>
              <a:r>
                <a:rPr kumimoji="0" lang="en-US" altLang="ko-KR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   </a:t>
              </a: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자의 엄격한 접근 통제</a:t>
              </a:r>
            </a:p>
          </p:txBody>
        </p:sp>
        <p:sp>
          <p:nvSpPr>
            <p:cNvPr id="24" name="Text Box 4">
              <a:extLst>
                <a:ext uri="{FF2B5EF4-FFF2-40B4-BE49-F238E27FC236}">
                  <a16:creationId xmlns:a16="http://schemas.microsoft.com/office/drawing/2014/main" id="{6BC49CA0-7762-A23D-8CBE-A2F9362D9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751" y="7890058"/>
              <a:ext cx="4967366" cy="513967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>
              <a:lvl1pPr marL="88900" indent="-889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144000" indent="-144000" eaLnBrk="1" hangingPunct="1">
                <a:lnSpc>
                  <a:spcPct val="150000"/>
                </a:lnSpc>
                <a:buClr>
                  <a:srgbClr val="008CC8"/>
                </a:buClr>
                <a:buFont typeface="Wingdings" pitchFamily="2" charset="2"/>
                <a:buChar char=""/>
                <a:defRPr/>
              </a:pP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엄선된 전문인력을 희망자 위주로 우선 선발</a:t>
              </a:r>
            </a:p>
            <a:p>
              <a:pPr marL="144000" indent="-144000" eaLnBrk="1" hangingPunct="1">
                <a:lnSpc>
                  <a:spcPct val="150000"/>
                </a:lnSpc>
                <a:buClr>
                  <a:srgbClr val="008CC8"/>
                </a:buClr>
                <a:buFont typeface="Wingdings" pitchFamily="2" charset="2"/>
                <a:buChar char=""/>
                <a:defRPr/>
              </a:pP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인센티브 제도를 통한 업무 동기부여로 성취감 고취</a:t>
              </a:r>
            </a:p>
            <a:p>
              <a:pPr marL="144000" indent="-144000" eaLnBrk="1" hangingPunct="1">
                <a:lnSpc>
                  <a:spcPct val="150000"/>
                </a:lnSpc>
                <a:buClr>
                  <a:srgbClr val="008CC8"/>
                </a:buClr>
                <a:buFont typeface="Wingdings" pitchFamily="2" charset="2"/>
                <a:buChar char=""/>
                <a:defRPr/>
              </a:pP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표준화된 업무 절차를 개발 적용하여 이직 발생 방지 및 이직에 따른 보안 문제 최소화</a:t>
              </a:r>
            </a:p>
          </p:txBody>
        </p:sp>
        <p:sp>
          <p:nvSpPr>
            <p:cNvPr id="25" name="Text Box 4">
              <a:extLst>
                <a:ext uri="{FF2B5EF4-FFF2-40B4-BE49-F238E27FC236}">
                  <a16:creationId xmlns:a16="http://schemas.microsoft.com/office/drawing/2014/main" id="{6E03E453-BA79-41F8-2819-3C5CF5877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751" y="9161866"/>
              <a:ext cx="4967366" cy="513967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>
              <a:lvl1pPr marL="88900" indent="-889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144000" indent="-144000" eaLnBrk="1" hangingPunct="1">
                <a:lnSpc>
                  <a:spcPct val="150000"/>
                </a:lnSpc>
                <a:buClr>
                  <a:srgbClr val="008CC8"/>
                </a:buClr>
                <a:buFont typeface="Wingdings" pitchFamily="2" charset="2"/>
                <a:buChar char=""/>
                <a:defRPr/>
              </a:pPr>
              <a:r>
                <a:rPr kumimoji="0" lang="ko-KR" altLang="en-US" sz="1100" kern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일일보안결산을</a:t>
              </a: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 통한 보안유지 상태 확인</a:t>
              </a:r>
            </a:p>
            <a:p>
              <a:pPr marL="144000" indent="-144000" eaLnBrk="1" hangingPunct="1">
                <a:lnSpc>
                  <a:spcPct val="150000"/>
                </a:lnSpc>
                <a:buClr>
                  <a:srgbClr val="008CC8"/>
                </a:buClr>
                <a:buFont typeface="Wingdings" pitchFamily="2" charset="2"/>
                <a:buChar char=""/>
                <a:defRPr/>
              </a:pP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개발인력의 불가피한 이동 또는 사업의 종료 시</a:t>
              </a:r>
              <a:r>
                <a:rPr kumimoji="0" lang="en-US" altLang="ko-KR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, </a:t>
              </a:r>
              <a:r>
                <a:rPr kumimoji="0" lang="ko-KR" altLang="en-US" sz="1100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비밀의 관리 및 보안책임자의 재확인을 통한 사전 보안관리</a:t>
              </a:r>
            </a:p>
          </p:txBody>
        </p:sp>
      </p:grpSp>
      <p:sp>
        <p:nvSpPr>
          <p:cNvPr id="44" name="Rectangle 182">
            <a:extLst>
              <a:ext uri="{FF2B5EF4-FFF2-40B4-BE49-F238E27FC236}">
                <a16:creationId xmlns:a16="http://schemas.microsoft.com/office/drawing/2014/main" id="{14500404-990D-53BF-133A-6161325E6C5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Ⅴ - 4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1086">
            <a:extLst>
              <a:ext uri="{FF2B5EF4-FFF2-40B4-BE49-F238E27FC236}">
                <a16:creationId xmlns:a16="http://schemas.microsoft.com/office/drawing/2014/main" id="{F65B549A-8ACA-1AA0-EE92-B71AF6604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07988"/>
            <a:ext cx="2092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3.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기밀보안관리</a:t>
            </a:r>
          </a:p>
        </p:txBody>
      </p:sp>
      <p:sp>
        <p:nvSpPr>
          <p:cNvPr id="20484" name="Text Box 81">
            <a:extLst>
              <a:ext uri="{FF2B5EF4-FFF2-40B4-BE49-F238E27FC236}">
                <a16:creationId xmlns:a16="http://schemas.microsoft.com/office/drawing/2014/main" id="{4A6CBEA6-F90C-71A6-0767-915094DE4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869950"/>
            <a:ext cx="616585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나</a:t>
            </a:r>
            <a:r>
              <a:rPr kumimoji="0"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인원보안</a:t>
            </a:r>
            <a:endParaRPr lang="ko-KR" altLang="en-US" sz="150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0000"/>
              </a:lnSpc>
            </a:pP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사업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참여인력에 대한 주기적인 보안교육을 실시하고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,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신원조사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,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서약서 집행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,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비밀취급인가 등 인원보안 규정을 준수하겠습니다</a:t>
            </a:r>
            <a:r>
              <a:rPr lang="ko-KR" altLang="ko-KR" sz="120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20485" name="Group 5">
            <a:extLst>
              <a:ext uri="{FF2B5EF4-FFF2-40B4-BE49-F238E27FC236}">
                <a16:creationId xmlns:a16="http://schemas.microsoft.com/office/drawing/2014/main" id="{8820EACD-0C02-F2E9-6B60-8AA5EACCEC5F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1852613"/>
            <a:ext cx="6116638" cy="357187"/>
            <a:chOff x="236" y="2167"/>
            <a:chExt cx="3853" cy="225"/>
          </a:xfrm>
        </p:grpSpPr>
        <p:grpSp>
          <p:nvGrpSpPr>
            <p:cNvPr id="20557" name="Group 6">
              <a:extLst>
                <a:ext uri="{FF2B5EF4-FFF2-40B4-BE49-F238E27FC236}">
                  <a16:creationId xmlns:a16="http://schemas.microsoft.com/office/drawing/2014/main" id="{2E06D7B4-3E46-990B-4AD3-E8DBFBE67D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20559" name="Picture 7" descr="Magazine temp08_A4">
                <a:extLst>
                  <a:ext uri="{FF2B5EF4-FFF2-40B4-BE49-F238E27FC236}">
                    <a16:creationId xmlns:a16="http://schemas.microsoft.com/office/drawing/2014/main" id="{83ED9CBB-AF2D-E5E4-FB04-9A55F79EF4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560" name="Picture 8" descr="Magazine temp08_A4">
                <a:extLst>
                  <a:ext uri="{FF2B5EF4-FFF2-40B4-BE49-F238E27FC236}">
                    <a16:creationId xmlns:a16="http://schemas.microsoft.com/office/drawing/2014/main" id="{BAA19467-1EDB-2618-9B4E-8076AFD079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0558" name="Text Box 9">
              <a:extLst>
                <a:ext uri="{FF2B5EF4-FFF2-40B4-BE49-F238E27FC236}">
                  <a16:creationId xmlns:a16="http://schemas.microsoft.com/office/drawing/2014/main" id="{1B53EBAA-F050-671E-A11F-BD7E79F4D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세부수행방안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aphicFrame>
        <p:nvGraphicFramePr>
          <p:cNvPr id="70" name="Group 59">
            <a:extLst>
              <a:ext uri="{FF2B5EF4-FFF2-40B4-BE49-F238E27FC236}">
                <a16:creationId xmlns:a16="http://schemas.microsoft.com/office/drawing/2014/main" id="{135820DF-D213-970D-06FA-3D1D86535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632581"/>
              </p:ext>
            </p:extLst>
          </p:nvPr>
        </p:nvGraphicFramePr>
        <p:xfrm>
          <a:off x="452438" y="4954588"/>
          <a:ext cx="6081712" cy="4157663"/>
        </p:xfrm>
        <a:graphic>
          <a:graphicData uri="http://schemas.openxmlformats.org/drawingml/2006/table">
            <a:tbl>
              <a:tblPr/>
              <a:tblGrid>
                <a:gridCol w="912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4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5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정책구분</a:t>
                      </a:r>
                    </a:p>
                  </a:txBody>
                  <a:tcPr marL="35998" marR="35998" marT="36005" marB="3553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세부사항</a:t>
                      </a:r>
                    </a:p>
                  </a:txBody>
                  <a:tcPr marL="35998" marR="35998" marT="36005" marB="3553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 안 대 책</a:t>
                      </a:r>
                    </a:p>
                  </a:txBody>
                  <a:tcPr marL="35998" marR="35998" marT="36005" marB="3553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4106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사업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인원관리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marT="45732" marB="457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신규 투입</a:t>
                      </a:r>
                    </a:p>
                  </a:txBody>
                  <a:tcPr marL="45718" marR="45718" marT="45732" marB="457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투입인력 은 사전에 개인정보활용 동의서 작성 후 신원조사 의뢰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보안서약서 집행 후 군사 및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방위산업보안업무훈령 주요내용 보안교육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사업추진에 필요한 적정 등급수준을 가진 인력 유지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불가피한 인원교체 시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승인하에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교체투입하며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,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통합사업관리팀에서 인원교체 요구 시 즉시 인원교체  투입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marT="45732" marB="45732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474">
                <a:tc rowSpan="2"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사업진행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marT="45732" marB="457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프로젝트 투입인력</a:t>
                      </a:r>
                    </a:p>
                  </a:txBody>
                  <a:tcPr marL="45718" marR="45718" marT="45732" marB="457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주기적이고 시사성 있는 현장 보안교육으로 보안의식 함양고취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업무관련 적합성 사전판단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II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급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비밀급인가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,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출입증 발급 의뢰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보안관계관 및 일일 보안당직 근무 편성 운용하여 보안사고 예방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지속적인 보안점검 및 보안 일일 결산제도 시행 보안태세 확립 </a:t>
                      </a:r>
                    </a:p>
                  </a:txBody>
                  <a:tcPr marL="45718" marR="45718" marT="45732" marB="457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76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윤고딕140" pitchFamily="18" charset="-127"/>
                        <a:ea typeface="-윤고딕140" pitchFamily="18" charset="-127"/>
                      </a:endParaRPr>
                    </a:p>
                  </a:txBody>
                  <a:tcPr marL="82935" marR="82935" marT="42353" marB="42353" anchor="ctr" horzOverflow="overflow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외부인원</a:t>
                      </a:r>
                    </a:p>
                  </a:txBody>
                  <a:tcPr marL="45718" marR="45718" marT="45732" marB="457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일과시간에만 외부인 방문시간 선정 통제 및 별도 장소 이용 권장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업무 목적으로 개발사무실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출입시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외부인 출입대장에 기록</a:t>
                      </a:r>
                    </a:p>
                  </a:txBody>
                  <a:tcPr marL="45718" marR="45718" marT="45732" marB="457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761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사업완료 </a:t>
                      </a:r>
                    </a:p>
                  </a:txBody>
                  <a:tcPr marL="45718" marR="45718" marT="45732" marB="457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0" marR="0" lvl="2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철수인원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marT="45732" marB="457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Yoon 윤명조 520_TT"/>
                          <a:ea typeface="Yoon 윤명조 520_TT"/>
                        </a:defRPr>
                      </a:lvl9pPr>
                    </a:lstStyle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철수인력 보안 서약서 집행 후 보안교육 시행 보안준수 강조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출입증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/ II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급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비밀취급증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반납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45718" marR="45718" marT="45732" marB="457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510" name="그룹 271">
            <a:extLst>
              <a:ext uri="{FF2B5EF4-FFF2-40B4-BE49-F238E27FC236}">
                <a16:creationId xmlns:a16="http://schemas.microsoft.com/office/drawing/2014/main" id="{611D89EE-8CC0-2946-546A-3D192053DA6A}"/>
              </a:ext>
            </a:extLst>
          </p:cNvPr>
          <p:cNvGrpSpPr>
            <a:grpSpLocks/>
          </p:cNvGrpSpPr>
          <p:nvPr/>
        </p:nvGrpSpPr>
        <p:grpSpPr bwMode="auto">
          <a:xfrm>
            <a:off x="2328863" y="6180195"/>
            <a:ext cx="3949700" cy="1003300"/>
            <a:chOff x="2988543" y="7080147"/>
            <a:chExt cx="3739166" cy="1002860"/>
          </a:xfrm>
        </p:grpSpPr>
        <p:grpSp>
          <p:nvGrpSpPr>
            <p:cNvPr id="20536" name="그룹 153">
              <a:extLst>
                <a:ext uri="{FF2B5EF4-FFF2-40B4-BE49-F238E27FC236}">
                  <a16:creationId xmlns:a16="http://schemas.microsoft.com/office/drawing/2014/main" id="{15F4A0D6-E977-6901-362C-2020783F16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8543" y="7103949"/>
              <a:ext cx="992348" cy="979058"/>
              <a:chOff x="600890" y="5667353"/>
              <a:chExt cx="1951759" cy="979058"/>
            </a:xfrm>
          </p:grpSpPr>
          <p:grpSp>
            <p:nvGrpSpPr>
              <p:cNvPr id="20549" name="그룹 393">
                <a:extLst>
                  <a:ext uri="{FF2B5EF4-FFF2-40B4-BE49-F238E27FC236}">
                    <a16:creationId xmlns:a16="http://schemas.microsoft.com/office/drawing/2014/main" id="{CAF68009-6751-C8B3-9334-F7650F6B31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0890" y="5667353"/>
                <a:ext cx="1951759" cy="979058"/>
                <a:chOff x="4524217" y="3626048"/>
                <a:chExt cx="2369482" cy="1208813"/>
              </a:xfrm>
            </p:grpSpPr>
            <p:sp>
              <p:nvSpPr>
                <p:cNvPr id="92" name="Rectangle 60">
                  <a:extLst>
                    <a:ext uri="{FF2B5EF4-FFF2-40B4-BE49-F238E27FC236}">
                      <a16:creationId xmlns:a16="http://schemas.microsoft.com/office/drawing/2014/main" id="{EDC94DF0-226B-DD07-FFEC-6DC71C379A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24217" y="3757313"/>
                  <a:ext cx="2368415" cy="1077548"/>
                </a:xfrm>
                <a:prstGeom prst="roundRect">
                  <a:avLst>
                    <a:gd name="adj" fmla="val 857"/>
                  </a:avLst>
                </a:prstGeom>
                <a:solidFill>
                  <a:schemeClr val="bg1">
                    <a:lumMod val="95000"/>
                  </a:schemeClr>
                </a:solidFill>
                <a:ln w="12700" algn="ctr">
                  <a:noFill/>
                  <a:round/>
                  <a:headEnd/>
                  <a:tailEnd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defRPr/>
                  </a:pPr>
                  <a:endParaRPr lang="en-US" altLang="ko-KR" err="1">
                    <a:latin typeface="산돌고딕B" pitchFamily="18" charset="-127"/>
                    <a:ea typeface="산돌고딕B" pitchFamily="18" charset="-127"/>
                    <a:sym typeface="Monotype Sorts"/>
                  </a:endParaRPr>
                </a:p>
              </p:txBody>
            </p:sp>
            <p:sp>
              <p:nvSpPr>
                <p:cNvPr id="93" name="양쪽 모서리가 둥근 사각형 92">
                  <a:extLst>
                    <a:ext uri="{FF2B5EF4-FFF2-40B4-BE49-F238E27FC236}">
                      <a16:creationId xmlns:a16="http://schemas.microsoft.com/office/drawing/2014/main" id="{553D83BD-A050-02B6-DD55-D376DAF26824}"/>
                    </a:ext>
                  </a:extLst>
                </p:cNvPr>
                <p:cNvSpPr/>
                <p:nvPr/>
              </p:nvSpPr>
              <p:spPr bwMode="auto">
                <a:xfrm>
                  <a:off x="4527804" y="3626049"/>
                  <a:ext cx="2364828" cy="266448"/>
                </a:xfrm>
                <a:prstGeom prst="round2SameRect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  <a:ln w="6350" algn="ctr">
                  <a:noFill/>
                  <a:round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marL="0" lvl="1" indent="-180975" algn="ctr">
                    <a:lnSpc>
                      <a:spcPct val="90000"/>
                    </a:lnSpc>
                    <a:buClr>
                      <a:schemeClr val="bg1">
                        <a:lumMod val="65000"/>
                      </a:schemeClr>
                    </a:buClr>
                    <a:buSzPct val="80000"/>
                    <a:tabLst>
                      <a:tab pos="5648325" algn="l"/>
                    </a:tabLst>
                    <a:defRPr/>
                  </a:pPr>
                  <a:r>
                    <a:rPr lang="ko-KR" altLang="en-US" sz="1000" b="1" kern="0">
                      <a:latin typeface="HY신명조" panose="02030600000101010101" pitchFamily="18" charset="-127"/>
                      <a:ea typeface="HY신명조" panose="02030600000101010101" pitchFamily="18" charset="-127"/>
                      <a:sym typeface="Monotype Sorts"/>
                    </a:rPr>
                    <a:t>투입인력 확인</a:t>
                  </a:r>
                </a:p>
              </p:txBody>
            </p:sp>
          </p:grpSp>
          <p:sp>
            <p:nvSpPr>
              <p:cNvPr id="20550" name="직사각형 90">
                <a:extLst>
                  <a:ext uri="{FF2B5EF4-FFF2-40B4-BE49-F238E27FC236}">
                    <a16:creationId xmlns:a16="http://schemas.microsoft.com/office/drawing/2014/main" id="{7FA92AA4-CA9B-42BE-085C-51129EC4A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1406" y="5940284"/>
                <a:ext cx="1780527" cy="417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90488" indent="-90488" defTabSz="1042988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1042988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1042988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1042988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1042988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1042988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1042988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1042988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1042988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>
                  <a:spcBef>
                    <a:spcPts val="300"/>
                  </a:spcBef>
                  <a:buClr>
                    <a:srgbClr val="262626"/>
                  </a:buClr>
                  <a:buSzPct val="80000"/>
                  <a:buFont typeface="Arial" panose="020B0604020202020204" pitchFamily="34" charset="0"/>
                  <a:buChar char="•"/>
                </a:pP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투입 </a:t>
                </a:r>
                <a:r>
                  <a:rPr kumimoji="0" lang="en-US" altLang="ko-KR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1</a:t>
                </a: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개월 전 투입인력 확인</a:t>
                </a:r>
              </a:p>
              <a:p>
                <a:pPr>
                  <a:spcBef>
                    <a:spcPts val="300"/>
                  </a:spcBef>
                  <a:buClr>
                    <a:srgbClr val="262626"/>
                  </a:buClr>
                  <a:buSzPct val="80000"/>
                  <a:buFont typeface="Arial" panose="020B0604020202020204" pitchFamily="34" charset="0"/>
                  <a:buChar char="•"/>
                </a:pP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상주 </a:t>
                </a:r>
                <a:r>
                  <a:rPr kumimoji="0" lang="en-US" altLang="ko-KR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/ </a:t>
                </a:r>
                <a:r>
                  <a:rPr kumimoji="0" lang="ko-KR" altLang="en-US" sz="800" err="1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비상주</a:t>
                </a:r>
                <a:r>
                  <a:rPr kumimoji="0" lang="en-US" altLang="ko-KR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, </a:t>
                </a: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업무별 출입 및 접근권한 식별</a:t>
                </a:r>
              </a:p>
            </p:txBody>
          </p:sp>
        </p:grpSp>
        <p:grpSp>
          <p:nvGrpSpPr>
            <p:cNvPr id="20537" name="그룹 158">
              <a:extLst>
                <a:ext uri="{FF2B5EF4-FFF2-40B4-BE49-F238E27FC236}">
                  <a16:creationId xmlns:a16="http://schemas.microsoft.com/office/drawing/2014/main" id="{DA26BEBE-486F-CE36-9F4B-59C41B006A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0839" y="7080147"/>
              <a:ext cx="1003462" cy="1002859"/>
              <a:chOff x="2737621" y="5643550"/>
              <a:chExt cx="1975240" cy="1002859"/>
            </a:xfrm>
          </p:grpSpPr>
          <p:grpSp>
            <p:nvGrpSpPr>
              <p:cNvPr id="20545" name="그룹 393">
                <a:extLst>
                  <a:ext uri="{FF2B5EF4-FFF2-40B4-BE49-F238E27FC236}">
                    <a16:creationId xmlns:a16="http://schemas.microsoft.com/office/drawing/2014/main" id="{8CA4F15B-0F8D-AF74-EFE4-FDDC986A62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7621" y="5643550"/>
                <a:ext cx="1975240" cy="1002859"/>
                <a:chOff x="4522771" y="3626062"/>
                <a:chExt cx="2370960" cy="1238200"/>
              </a:xfrm>
            </p:grpSpPr>
            <p:sp>
              <p:nvSpPr>
                <p:cNvPr id="88" name="Rectangle 60">
                  <a:extLst>
                    <a:ext uri="{FF2B5EF4-FFF2-40B4-BE49-F238E27FC236}">
                      <a16:creationId xmlns:a16="http://schemas.microsoft.com/office/drawing/2014/main" id="{4F0B54E7-5C8D-5EDB-E9F1-4482E1FB6E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21149" y="3761246"/>
                  <a:ext cx="2372052" cy="1103017"/>
                </a:xfrm>
                <a:prstGeom prst="roundRect">
                  <a:avLst>
                    <a:gd name="adj" fmla="val 857"/>
                  </a:avLst>
                </a:prstGeom>
                <a:solidFill>
                  <a:schemeClr val="bg1">
                    <a:lumMod val="95000"/>
                  </a:schemeClr>
                </a:solidFill>
                <a:ln w="12700" algn="ctr">
                  <a:noFill/>
                  <a:round/>
                  <a:headEnd/>
                  <a:tailEnd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defRPr/>
                  </a:pPr>
                  <a:endParaRPr lang="en-US" altLang="ko-KR" err="1">
                    <a:latin typeface="산돌고딕B" pitchFamily="18" charset="-127"/>
                    <a:ea typeface="산돌고딕B" pitchFamily="18" charset="-127"/>
                    <a:sym typeface="Monotype Sorts"/>
                  </a:endParaRPr>
                </a:p>
              </p:txBody>
            </p:sp>
            <p:sp>
              <p:nvSpPr>
                <p:cNvPr id="89" name="양쪽 모서리가 둥근 사각형 88">
                  <a:extLst>
                    <a:ext uri="{FF2B5EF4-FFF2-40B4-BE49-F238E27FC236}">
                      <a16:creationId xmlns:a16="http://schemas.microsoft.com/office/drawing/2014/main" id="{0B78281E-88CB-0EF2-A25B-1263A19C1C1B}"/>
                    </a:ext>
                  </a:extLst>
                </p:cNvPr>
                <p:cNvSpPr/>
                <p:nvPr/>
              </p:nvSpPr>
              <p:spPr bwMode="auto">
                <a:xfrm>
                  <a:off x="4524699" y="3626062"/>
                  <a:ext cx="2368502" cy="266448"/>
                </a:xfrm>
                <a:prstGeom prst="round2SameRect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  <a:ln w="6350" algn="ctr">
                  <a:noFill/>
                  <a:round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marL="0" lvl="1" indent="-180975" algn="ctr">
                    <a:lnSpc>
                      <a:spcPct val="90000"/>
                    </a:lnSpc>
                    <a:buClr>
                      <a:schemeClr val="bg1">
                        <a:lumMod val="65000"/>
                      </a:schemeClr>
                    </a:buClr>
                    <a:buSzPct val="80000"/>
                    <a:tabLst>
                      <a:tab pos="5648325" algn="l"/>
                    </a:tabLst>
                    <a:defRPr/>
                  </a:pPr>
                  <a:r>
                    <a:rPr lang="ko-KR" altLang="en-US" sz="1000" b="1" kern="0">
                      <a:latin typeface="HY신명조" panose="02030600000101010101" pitchFamily="18" charset="-127"/>
                      <a:ea typeface="HY신명조" panose="02030600000101010101" pitchFamily="18" charset="-127"/>
                      <a:sym typeface="Monotype Sorts"/>
                    </a:rPr>
                    <a:t>보안서약서 집행</a:t>
                  </a:r>
                </a:p>
              </p:txBody>
            </p:sp>
          </p:grpSp>
          <p:sp>
            <p:nvSpPr>
              <p:cNvPr id="20546" name="직사각형 86">
                <a:extLst>
                  <a:ext uri="{FF2B5EF4-FFF2-40B4-BE49-F238E27FC236}">
                    <a16:creationId xmlns:a16="http://schemas.microsoft.com/office/drawing/2014/main" id="{9F10A3CB-F78B-BD2A-F920-B8F993719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4306" y="5940283"/>
                <a:ext cx="1781990" cy="417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90488" indent="-90488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>
                  <a:spcBef>
                    <a:spcPts val="300"/>
                  </a:spcBef>
                  <a:buClr>
                    <a:srgbClr val="262626"/>
                  </a:buClr>
                  <a:buSzPct val="80000"/>
                  <a:buFont typeface="Arial" panose="020B0604020202020204" pitchFamily="34" charset="0"/>
                  <a:buChar char="•"/>
                </a:pP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보안서약서 집행                 </a:t>
                </a:r>
                <a:r>
                  <a:rPr kumimoji="0" lang="en-US" altLang="ko-KR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(</a:t>
                </a: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보안담당관</a:t>
                </a:r>
                <a:r>
                  <a:rPr kumimoji="0" lang="en-US" altLang="ko-KR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)</a:t>
                </a:r>
              </a:p>
              <a:p>
                <a:pPr>
                  <a:spcBef>
                    <a:spcPts val="300"/>
                  </a:spcBef>
                  <a:buClr>
                    <a:srgbClr val="262626"/>
                  </a:buClr>
                  <a:buSzPct val="80000"/>
                  <a:buFont typeface="Arial" panose="020B0604020202020204" pitchFamily="34" charset="0"/>
                  <a:buChar char="•"/>
                </a:pP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군사 </a:t>
                </a:r>
                <a:r>
                  <a:rPr kumimoji="0" lang="en-US" altLang="ko-KR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/ </a:t>
                </a: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방위산업</a:t>
                </a:r>
                <a:br>
                  <a:rPr kumimoji="0" lang="en-US" altLang="ko-KR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</a:b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보안업무훈령 주요내용 교육</a:t>
                </a:r>
              </a:p>
            </p:txBody>
          </p:sp>
        </p:grpSp>
        <p:grpSp>
          <p:nvGrpSpPr>
            <p:cNvPr id="20538" name="그룹 163">
              <a:extLst>
                <a:ext uri="{FF2B5EF4-FFF2-40B4-BE49-F238E27FC236}">
                  <a16:creationId xmlns:a16="http://schemas.microsoft.com/office/drawing/2014/main" id="{688C9259-D18E-067F-0362-109EA84A3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24247" y="7080147"/>
              <a:ext cx="1003462" cy="1002859"/>
              <a:chOff x="4897831" y="5643550"/>
              <a:chExt cx="1975240" cy="1002859"/>
            </a:xfrm>
          </p:grpSpPr>
          <p:grpSp>
            <p:nvGrpSpPr>
              <p:cNvPr id="20541" name="그룹 393">
                <a:extLst>
                  <a:ext uri="{FF2B5EF4-FFF2-40B4-BE49-F238E27FC236}">
                    <a16:creationId xmlns:a16="http://schemas.microsoft.com/office/drawing/2014/main" id="{502ADCF8-1D37-5869-502C-5737E61084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7831" y="5643550"/>
                <a:ext cx="1975240" cy="1002859"/>
                <a:chOff x="4522801" y="3626062"/>
                <a:chExt cx="2370960" cy="1238200"/>
              </a:xfrm>
            </p:grpSpPr>
            <p:sp>
              <p:nvSpPr>
                <p:cNvPr id="84" name="Rectangle 60">
                  <a:extLst>
                    <a:ext uri="{FF2B5EF4-FFF2-40B4-BE49-F238E27FC236}">
                      <a16:creationId xmlns:a16="http://schemas.microsoft.com/office/drawing/2014/main" id="{CBDC93C3-2790-277A-B2DF-6D9C27CECF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21709" y="3761246"/>
                  <a:ext cx="2372052" cy="1103017"/>
                </a:xfrm>
                <a:prstGeom prst="roundRect">
                  <a:avLst>
                    <a:gd name="adj" fmla="val 857"/>
                  </a:avLst>
                </a:prstGeom>
                <a:solidFill>
                  <a:schemeClr val="bg1">
                    <a:lumMod val="95000"/>
                  </a:schemeClr>
                </a:solidFill>
                <a:ln w="12700" algn="ctr">
                  <a:noFill/>
                  <a:round/>
                  <a:headEnd/>
                  <a:tailEnd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defRPr/>
                  </a:pPr>
                  <a:endParaRPr lang="en-US" altLang="ko-KR" err="1">
                    <a:latin typeface="산돌고딕B" pitchFamily="18" charset="-127"/>
                    <a:ea typeface="산돌고딕B" pitchFamily="18" charset="-127"/>
                    <a:sym typeface="Monotype Sorts"/>
                  </a:endParaRPr>
                </a:p>
              </p:txBody>
            </p:sp>
            <p:sp>
              <p:nvSpPr>
                <p:cNvPr id="85" name="양쪽 모서리가 둥근 사각형 84">
                  <a:extLst>
                    <a:ext uri="{FF2B5EF4-FFF2-40B4-BE49-F238E27FC236}">
                      <a16:creationId xmlns:a16="http://schemas.microsoft.com/office/drawing/2014/main" id="{70595594-38F8-4CAE-0015-F3BCEC40D765}"/>
                    </a:ext>
                  </a:extLst>
                </p:cNvPr>
                <p:cNvSpPr/>
                <p:nvPr/>
              </p:nvSpPr>
              <p:spPr bwMode="auto">
                <a:xfrm>
                  <a:off x="4525259" y="3626062"/>
                  <a:ext cx="2368502" cy="266448"/>
                </a:xfrm>
                <a:prstGeom prst="round2SameRect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  <a:ln w="6350" algn="ctr">
                  <a:noFill/>
                  <a:round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marL="0" lvl="1" indent="-180975" algn="ctr">
                    <a:lnSpc>
                      <a:spcPct val="90000"/>
                    </a:lnSpc>
                    <a:buClr>
                      <a:schemeClr val="bg1">
                        <a:lumMod val="65000"/>
                      </a:schemeClr>
                    </a:buClr>
                    <a:buSzPct val="80000"/>
                    <a:tabLst>
                      <a:tab pos="5648325" algn="l"/>
                    </a:tabLst>
                    <a:defRPr/>
                  </a:pPr>
                  <a:r>
                    <a:rPr lang="ko-KR" altLang="en-US" sz="1000" b="1" kern="0">
                      <a:solidFill>
                        <a:sysClr val="window" lastClr="FFFFFF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  <a:sym typeface="Monotype Sorts"/>
                    </a:rPr>
                    <a:t>취급인가 의뢰</a:t>
                  </a:r>
                  <a:endParaRPr lang="en-US" altLang="ko-KR" sz="1000" b="1" kern="0" err="1">
                    <a:solidFill>
                      <a:sysClr val="window" lastClr="FFFFFF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endParaRPr>
                </a:p>
              </p:txBody>
            </p:sp>
          </p:grpSp>
          <p:sp>
            <p:nvSpPr>
              <p:cNvPr id="20542" name="직사각형 82">
                <a:extLst>
                  <a:ext uri="{FF2B5EF4-FFF2-40B4-BE49-F238E27FC236}">
                    <a16:creationId xmlns:a16="http://schemas.microsoft.com/office/drawing/2014/main" id="{AC8F9B07-7906-6DEA-A85A-33E2A97EF9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5220" y="5940283"/>
                <a:ext cx="1781990" cy="417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90488" indent="-90488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>
                  <a:spcBef>
                    <a:spcPts val="300"/>
                  </a:spcBef>
                  <a:buClr>
                    <a:srgbClr val="262626"/>
                  </a:buClr>
                  <a:buSzPct val="80000"/>
                  <a:buFont typeface="Arial" panose="020B0604020202020204" pitchFamily="34" charset="0"/>
                  <a:buChar char="•"/>
                </a:pP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투입 전 개인정보</a:t>
                </a:r>
                <a:br>
                  <a:rPr kumimoji="0" lang="en-US" altLang="ko-KR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</a:b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활용 동의서 작성</a:t>
                </a:r>
                <a:br>
                  <a:rPr kumimoji="0" lang="en-US" altLang="ko-KR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</a:b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신원조사 의뢰</a:t>
                </a:r>
              </a:p>
              <a:p>
                <a:pPr>
                  <a:spcBef>
                    <a:spcPts val="300"/>
                  </a:spcBef>
                  <a:buClr>
                    <a:srgbClr val="262626"/>
                  </a:buClr>
                  <a:buSzPct val="80000"/>
                  <a:buFont typeface="Arial" panose="020B0604020202020204" pitchFamily="34" charset="0"/>
                  <a:buChar char="•"/>
                </a:pPr>
                <a:r>
                  <a:rPr kumimoji="0" lang="en-US" altLang="ko-KR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II</a:t>
                </a: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급 비밀 </a:t>
                </a:r>
                <a:r>
                  <a:rPr kumimoji="0" lang="en-US" altLang="ko-KR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/ SI </a:t>
                </a:r>
                <a:r>
                  <a:rPr kumimoji="0" lang="ko-KR" altLang="en-US" sz="8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인가</a:t>
                </a:r>
              </a:p>
            </p:txBody>
          </p:sp>
        </p:grpSp>
        <p:pic>
          <p:nvPicPr>
            <p:cNvPr id="80" name="Picture 8" descr="C:\Users\강세환\Desktop\img\ar.png">
              <a:extLst>
                <a:ext uri="{FF2B5EF4-FFF2-40B4-BE49-F238E27FC236}">
                  <a16:creationId xmlns:a16="http://schemas.microsoft.com/office/drawing/2014/main" id="{07BBD0EA-1CB2-16D2-DFC9-9A73E9BFFC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rgbClr val="BBE0E3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 bwMode="auto">
            <a:xfrm rot="5400000">
              <a:off x="5372892" y="7443016"/>
              <a:ext cx="307866" cy="324036"/>
            </a:xfrm>
            <a:prstGeom prst="rect">
              <a:avLst/>
            </a:prstGeom>
            <a:noFill/>
          </p:spPr>
        </p:pic>
        <p:pic>
          <p:nvPicPr>
            <p:cNvPr id="81" name="Picture 8" descr="C:\Users\강세환\Desktop\img\ar.png">
              <a:extLst>
                <a:ext uri="{FF2B5EF4-FFF2-40B4-BE49-F238E27FC236}">
                  <a16:creationId xmlns:a16="http://schemas.microsoft.com/office/drawing/2014/main" id="{8B3E5A24-FF9E-9ADC-2246-D3AC4AF48B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rgbClr val="BBE0E3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 bwMode="auto">
            <a:xfrm rot="5400000">
              <a:off x="4004740" y="7443016"/>
              <a:ext cx="307866" cy="324036"/>
            </a:xfrm>
            <a:prstGeom prst="rect">
              <a:avLst/>
            </a:prstGeom>
            <a:noFill/>
          </p:spPr>
        </p:pic>
      </p:grpSp>
      <p:graphicFrame>
        <p:nvGraphicFramePr>
          <p:cNvPr id="94" name="Group 53">
            <a:extLst>
              <a:ext uri="{FF2B5EF4-FFF2-40B4-BE49-F238E27FC236}">
                <a16:creationId xmlns:a16="http://schemas.microsoft.com/office/drawing/2014/main" id="{3D3D8E88-3A23-E8E5-C5E6-DC5E59F88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724558"/>
              </p:ext>
            </p:extLst>
          </p:nvPr>
        </p:nvGraphicFramePr>
        <p:xfrm>
          <a:off x="409575" y="2509838"/>
          <a:ext cx="6080125" cy="2043112"/>
        </p:xfrm>
        <a:graphic>
          <a:graphicData uri="http://schemas.openxmlformats.org/drawingml/2006/table">
            <a:tbl>
              <a:tblPr/>
              <a:tblGrid>
                <a:gridCol w="89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구 분</a:t>
                      </a:r>
                    </a:p>
                  </a:txBody>
                  <a:tcPr marL="70699" marR="70699" marT="35532" marB="35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 행 방 안</a:t>
                      </a:r>
                    </a:p>
                  </a:txBody>
                  <a:tcPr marL="70699" marR="70699" marT="35532" marB="35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6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인원보안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활동</a:t>
                      </a:r>
                    </a:p>
                  </a:txBody>
                  <a:tcPr marL="70699" marR="70699" marT="35532" marB="35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endParaRPr lang="ko-KR" altLang="en-US" sz="10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itchFamily="18" charset="-127"/>
                        <a:ea typeface="HY신명조" pitchFamily="18" charset="-127"/>
                        <a:cs typeface="+mn-cs"/>
                      </a:endParaRPr>
                    </a:p>
                  </a:txBody>
                  <a:tcPr marL="70699" marR="70699" marT="35532" marB="35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68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보안서약서</a:t>
                      </a:r>
                      <a:endParaRPr kumimoji="1" lang="ko-KR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70699" marR="70699" marT="35532" marB="35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사업에 참여하는 모든 인력은 투입 당일 보안서약서를 집행 후 보안교육 실시</a:t>
                      </a:r>
                      <a:endParaRPr lang="en-US" altLang="ko-KR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9525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보안서약서는 군사 및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방위산업보안업무훈령 양식을 적용</a:t>
                      </a:r>
                    </a:p>
                  </a:txBody>
                  <a:tcPr marL="70699" marR="70699" marT="35532" marB="35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0524" name="그룹 99">
            <a:extLst>
              <a:ext uri="{FF2B5EF4-FFF2-40B4-BE49-F238E27FC236}">
                <a16:creationId xmlns:a16="http://schemas.microsoft.com/office/drawing/2014/main" id="{B827EB69-D7FC-EF92-0D18-7A208DF150EB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2949575"/>
            <a:ext cx="4752975" cy="936625"/>
            <a:chOff x="1576388" y="2768600"/>
            <a:chExt cx="4479664" cy="936625"/>
          </a:xfrm>
        </p:grpSpPr>
        <p:sp>
          <p:nvSpPr>
            <p:cNvPr id="101" name="모서리가 둥근 직사각형 73">
              <a:extLst>
                <a:ext uri="{FF2B5EF4-FFF2-40B4-BE49-F238E27FC236}">
                  <a16:creationId xmlns:a16="http://schemas.microsoft.com/office/drawing/2014/main" id="{0CCB599D-ABF1-2364-6827-A8F3631FD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6388" y="2768600"/>
              <a:ext cx="2160533" cy="261938"/>
            </a:xfrm>
            <a:prstGeom prst="roundRect">
              <a:avLst/>
            </a:prstGeom>
            <a:blipFill>
              <a:blip r:embed="rId4" cstate="print"/>
              <a:stretch>
                <a:fillRect/>
              </a:stretch>
            </a:blipFill>
            <a:ln w="6350" algn="ctr">
              <a:noFill/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lvl="1" indent="-180975" algn="ctr">
                <a:lnSpc>
                  <a:spcPct val="90000"/>
                </a:lnSpc>
                <a:buClr>
                  <a:schemeClr val="bg1">
                    <a:lumMod val="65000"/>
                  </a:schemeClr>
                </a:buClr>
                <a:buSzPct val="80000"/>
                <a:tabLst>
                  <a:tab pos="5648325" algn="l"/>
                </a:tabLst>
                <a:defRPr/>
              </a:pPr>
              <a:r>
                <a:rPr lang="ko-KR" altLang="en-US" sz="900" kern="0" err="1">
                  <a:latin typeface="HY신명조" panose="02030600000101010101" pitchFamily="18" charset="-127"/>
                  <a:ea typeface="HY신명조" panose="02030600000101010101" pitchFamily="18" charset="-127"/>
                  <a:sym typeface="Monotype Sorts"/>
                </a:rPr>
                <a:t>주기적이고 시사성 있는 보안교육</a:t>
              </a:r>
            </a:p>
          </p:txBody>
        </p:sp>
        <p:sp>
          <p:nvSpPr>
            <p:cNvPr id="102" name="모서리가 둥근 직사각형 73">
              <a:extLst>
                <a:ext uri="{FF2B5EF4-FFF2-40B4-BE49-F238E27FC236}">
                  <a16:creationId xmlns:a16="http://schemas.microsoft.com/office/drawing/2014/main" id="{360D0661-B4B0-4892-3A11-9476CF4D4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015" y="2768600"/>
              <a:ext cx="2159037" cy="261938"/>
            </a:xfrm>
            <a:prstGeom prst="roundRect">
              <a:avLst/>
            </a:prstGeom>
            <a:blipFill>
              <a:blip r:embed="rId4" cstate="print"/>
              <a:stretch>
                <a:fillRect/>
              </a:stretch>
            </a:blipFill>
            <a:ln w="6350" algn="ctr">
              <a:noFill/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lvl="1" indent="-180975" algn="ctr">
                <a:lnSpc>
                  <a:spcPct val="90000"/>
                </a:lnSpc>
                <a:buClr>
                  <a:schemeClr val="bg1">
                    <a:lumMod val="65000"/>
                  </a:schemeClr>
                </a:buClr>
                <a:buSzPct val="80000"/>
                <a:tabLst>
                  <a:tab pos="5648325" algn="l"/>
                </a:tabLst>
                <a:defRPr/>
              </a:pPr>
              <a:r>
                <a:rPr lang="ko-KR" altLang="en-US" sz="900" kern="0">
                  <a:latin typeface="HY신명조" panose="02030600000101010101" pitchFamily="18" charset="-127"/>
                  <a:ea typeface="HY신명조" panose="02030600000101010101" pitchFamily="18" charset="-127"/>
                  <a:sym typeface="Monotype Sorts"/>
                </a:rPr>
                <a:t>비밀취급인가</a:t>
              </a:r>
            </a:p>
          </p:txBody>
        </p:sp>
        <p:sp>
          <p:nvSpPr>
            <p:cNvPr id="103" name="모서리가 둥근 직사각형 73">
              <a:extLst>
                <a:ext uri="{FF2B5EF4-FFF2-40B4-BE49-F238E27FC236}">
                  <a16:creationId xmlns:a16="http://schemas.microsoft.com/office/drawing/2014/main" id="{05FD21CA-4E57-5702-DAA7-2B6E039B5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6388" y="3106738"/>
              <a:ext cx="2160533" cy="260350"/>
            </a:xfrm>
            <a:prstGeom prst="roundRect">
              <a:avLst/>
            </a:prstGeom>
            <a:blipFill>
              <a:blip r:embed="rId4" cstate="print"/>
              <a:stretch>
                <a:fillRect/>
              </a:stretch>
            </a:blipFill>
            <a:ln w="6350" algn="ctr">
              <a:noFill/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lvl="1" indent="-180975" algn="ctr">
                <a:lnSpc>
                  <a:spcPct val="90000"/>
                </a:lnSpc>
                <a:buClr>
                  <a:schemeClr val="bg1">
                    <a:lumMod val="65000"/>
                  </a:schemeClr>
                </a:buClr>
                <a:buSzPct val="80000"/>
                <a:tabLst>
                  <a:tab pos="5648325" algn="l"/>
                </a:tabLst>
                <a:defRPr/>
              </a:pPr>
              <a:r>
                <a:rPr lang="ko-KR" altLang="en-US" sz="900" kern="0">
                  <a:latin typeface="HY신명조" panose="02030600000101010101" pitchFamily="18" charset="-127"/>
                  <a:ea typeface="HY신명조" panose="02030600000101010101" pitchFamily="18" charset="-127"/>
                  <a:sym typeface="Monotype Sorts"/>
                </a:rPr>
                <a:t>일일보안결산 생활화</a:t>
              </a:r>
            </a:p>
          </p:txBody>
        </p:sp>
        <p:sp>
          <p:nvSpPr>
            <p:cNvPr id="104" name="모서리가 둥근 직사각형 73">
              <a:extLst>
                <a:ext uri="{FF2B5EF4-FFF2-40B4-BE49-F238E27FC236}">
                  <a16:creationId xmlns:a16="http://schemas.microsoft.com/office/drawing/2014/main" id="{C52C5688-BD88-8968-7BE3-B537E4B15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015" y="3106738"/>
              <a:ext cx="2159037" cy="260350"/>
            </a:xfrm>
            <a:prstGeom prst="roundRect">
              <a:avLst/>
            </a:prstGeom>
            <a:blipFill>
              <a:blip r:embed="rId4" cstate="print"/>
              <a:stretch>
                <a:fillRect/>
              </a:stretch>
            </a:blipFill>
            <a:ln w="6350" algn="ctr">
              <a:noFill/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lvl="1" indent="-180975" algn="ctr">
                <a:lnSpc>
                  <a:spcPct val="90000"/>
                </a:lnSpc>
                <a:buClr>
                  <a:schemeClr val="bg1">
                    <a:lumMod val="65000"/>
                  </a:schemeClr>
                </a:buClr>
                <a:buSzPct val="80000"/>
                <a:tabLst>
                  <a:tab pos="5648325" algn="l"/>
                </a:tabLst>
                <a:defRPr/>
              </a:pPr>
              <a:r>
                <a:rPr lang="ko-KR" altLang="en-US" sz="900" kern="0">
                  <a:latin typeface="HY신명조" panose="02030600000101010101" pitchFamily="18" charset="-127"/>
                  <a:ea typeface="HY신명조" panose="02030600000101010101" pitchFamily="18" charset="-127"/>
                  <a:sym typeface="Monotype Sorts"/>
                </a:rPr>
                <a:t>자료 밀반출 차단</a:t>
              </a:r>
            </a:p>
          </p:txBody>
        </p:sp>
        <p:sp>
          <p:nvSpPr>
            <p:cNvPr id="105" name="모서리가 둥근 직사각형 73">
              <a:extLst>
                <a:ext uri="{FF2B5EF4-FFF2-40B4-BE49-F238E27FC236}">
                  <a16:creationId xmlns:a16="http://schemas.microsoft.com/office/drawing/2014/main" id="{73CB6CA6-45DC-4615-9679-42FFEAC24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6388" y="3443288"/>
              <a:ext cx="2160533" cy="261937"/>
            </a:xfrm>
            <a:prstGeom prst="roundRect">
              <a:avLst/>
            </a:prstGeom>
            <a:blipFill>
              <a:blip r:embed="rId4" cstate="print"/>
              <a:stretch>
                <a:fillRect/>
              </a:stretch>
            </a:blipFill>
            <a:ln w="6350" algn="ctr">
              <a:noFill/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lvl="1" indent="-180975" algn="ctr">
                <a:lnSpc>
                  <a:spcPct val="90000"/>
                </a:lnSpc>
                <a:buClr>
                  <a:schemeClr val="bg1">
                    <a:lumMod val="65000"/>
                  </a:schemeClr>
                </a:buClr>
                <a:buSzPct val="80000"/>
                <a:tabLst>
                  <a:tab pos="5648325" algn="l"/>
                </a:tabLst>
                <a:defRPr/>
              </a:pPr>
              <a:r>
                <a:rPr lang="ko-KR" altLang="en-US" sz="900" kern="0" err="1">
                  <a:latin typeface="HY신명조" panose="02030600000101010101" pitchFamily="18" charset="-127"/>
                  <a:ea typeface="HY신명조" panose="02030600000101010101" pitchFamily="18" charset="-127"/>
                  <a:sym typeface="Monotype Sorts"/>
                </a:rPr>
                <a:t>출입증 발급</a:t>
              </a:r>
            </a:p>
          </p:txBody>
        </p:sp>
        <p:sp>
          <p:nvSpPr>
            <p:cNvPr id="106" name="모서리가 둥근 직사각형 73">
              <a:extLst>
                <a:ext uri="{FF2B5EF4-FFF2-40B4-BE49-F238E27FC236}">
                  <a16:creationId xmlns:a16="http://schemas.microsoft.com/office/drawing/2014/main" id="{8FA8633F-E273-F2B1-8512-FA33DA4D3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015" y="3443288"/>
              <a:ext cx="2159037" cy="261937"/>
            </a:xfrm>
            <a:prstGeom prst="roundRect">
              <a:avLst/>
            </a:prstGeom>
            <a:blipFill>
              <a:blip r:embed="rId4" cstate="print"/>
              <a:stretch>
                <a:fillRect/>
              </a:stretch>
            </a:blipFill>
            <a:ln w="6350" algn="ctr">
              <a:noFill/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marL="0" lvl="1" indent="-180975" algn="ctr">
                <a:lnSpc>
                  <a:spcPct val="90000"/>
                </a:lnSpc>
                <a:buClr>
                  <a:schemeClr val="bg1">
                    <a:lumMod val="65000"/>
                  </a:schemeClr>
                </a:buClr>
                <a:buSzPct val="80000"/>
                <a:tabLst>
                  <a:tab pos="5648325" algn="l"/>
                </a:tabLst>
                <a:defRPr/>
              </a:pPr>
              <a:r>
                <a:rPr lang="ko-KR" altLang="en-US" sz="900" kern="0" err="1">
                  <a:latin typeface="HY신명조" panose="02030600000101010101" pitchFamily="18" charset="-127"/>
                  <a:ea typeface="HY신명조" panose="02030600000101010101" pitchFamily="18" charset="-127"/>
                  <a:sym typeface="Monotype Sorts"/>
                </a:rPr>
                <a:t>지속적인 보안 점검</a:t>
              </a:r>
            </a:p>
          </p:txBody>
        </p:sp>
      </p:grpSp>
      <p:sp>
        <p:nvSpPr>
          <p:cNvPr id="49" name="Rectangle 182">
            <a:extLst>
              <a:ext uri="{FF2B5EF4-FFF2-40B4-BE49-F238E27FC236}">
                <a16:creationId xmlns:a16="http://schemas.microsoft.com/office/drawing/2014/main" id="{14500404-990D-53BF-133A-6161325E6C5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Ⅴ - 5</a:t>
            </a:r>
          </a:p>
        </p:txBody>
      </p:sp>
      <p:grpSp>
        <p:nvGrpSpPr>
          <p:cNvPr id="48" name="Group 4"/>
          <p:cNvGrpSpPr>
            <a:grpSpLocks/>
          </p:cNvGrpSpPr>
          <p:nvPr/>
        </p:nvGrpSpPr>
        <p:grpSpPr bwMode="auto">
          <a:xfrm>
            <a:off x="487363" y="4688365"/>
            <a:ext cx="1916144" cy="204788"/>
            <a:chOff x="326" y="2072"/>
            <a:chExt cx="1206" cy="129"/>
          </a:xfrm>
        </p:grpSpPr>
        <p:sp>
          <p:nvSpPr>
            <p:cNvPr id="50" name="Text Box 5"/>
            <p:cNvSpPr txBox="1">
              <a:spLocks noChangeArrowheads="1"/>
            </p:cNvSpPr>
            <p:nvPr/>
          </p:nvSpPr>
          <p:spPr bwMode="auto">
            <a:xfrm>
              <a:off x="434" y="2072"/>
              <a:ext cx="1098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eaLnBrk="1" latinLnBrk="1" hangingPunct="1"/>
              <a:r>
                <a:rPr lang="ko-KR" altLang="en-US" sz="120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사업단계별</a:t>
              </a:r>
              <a:r>
                <a:rPr lang="ko-KR" altLang="en-US" sz="1200">
                  <a:latin typeface="HY신명조" panose="02030600000101010101" pitchFamily="18" charset="-127"/>
                  <a:ea typeface="HY신명조" panose="02030600000101010101" pitchFamily="18" charset="-127"/>
                </a:rPr>
                <a:t> 인원보안대책</a:t>
              </a:r>
            </a:p>
          </p:txBody>
        </p:sp>
        <p:grpSp>
          <p:nvGrpSpPr>
            <p:cNvPr id="51" name="Group 6"/>
            <p:cNvGrpSpPr>
              <a:grpSpLocks/>
            </p:cNvGrpSpPr>
            <p:nvPr/>
          </p:nvGrpSpPr>
          <p:grpSpPr bwMode="auto">
            <a:xfrm>
              <a:off x="326" y="2093"/>
              <a:ext cx="1182" cy="108"/>
              <a:chOff x="397" y="2298"/>
              <a:chExt cx="1182" cy="108"/>
            </a:xfrm>
          </p:grpSpPr>
          <p:sp>
            <p:nvSpPr>
              <p:cNvPr id="52" name="Freeform 7"/>
              <p:cNvSpPr>
                <a:spLocks/>
              </p:cNvSpPr>
              <p:nvPr/>
            </p:nvSpPr>
            <p:spPr bwMode="auto">
              <a:xfrm>
                <a:off x="436" y="2358"/>
                <a:ext cx="1143" cy="48"/>
              </a:xfrm>
              <a:custGeom>
                <a:avLst/>
                <a:gdLst>
                  <a:gd name="T0" fmla="*/ 0 w 1143"/>
                  <a:gd name="T1" fmla="*/ 0 h 48"/>
                  <a:gd name="T2" fmla="*/ 0 w 1143"/>
                  <a:gd name="T3" fmla="*/ 48 h 48"/>
                  <a:gd name="T4" fmla="*/ 1143 w 1143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1143"/>
                  <a:gd name="T10" fmla="*/ 0 h 48"/>
                  <a:gd name="T11" fmla="*/ 1143 w 1143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43" h="48">
                    <a:moveTo>
                      <a:pt x="0" y="0"/>
                    </a:moveTo>
                    <a:lnTo>
                      <a:pt x="0" y="48"/>
                    </a:lnTo>
                    <a:lnTo>
                      <a:pt x="1143" y="48"/>
                    </a:lnTo>
                  </a:path>
                </a:pathLst>
              </a:custGeom>
              <a:noFill/>
              <a:ln w="9525">
                <a:solidFill>
                  <a:srgbClr val="8FC2E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3" name="Oval 8"/>
              <p:cNvSpPr>
                <a:spLocks noChangeArrowheads="1"/>
              </p:cNvSpPr>
              <p:nvPr/>
            </p:nvSpPr>
            <p:spPr bwMode="auto">
              <a:xfrm>
                <a:off x="397" y="2298"/>
                <a:ext cx="72" cy="72"/>
              </a:xfrm>
              <a:prstGeom prst="ellipse">
                <a:avLst/>
              </a:prstGeom>
              <a:solidFill>
                <a:srgbClr val="3385C2"/>
              </a:solidFill>
              <a:ln w="19050" algn="ctr">
                <a:solidFill>
                  <a:srgbClr val="EAEAEA"/>
                </a:solidFill>
                <a:round/>
                <a:headEnd/>
                <a:tailEnd/>
              </a:ln>
              <a:effectLst>
                <a:outerShdw dist="12700" dir="54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1pPr>
                <a:lvl2pPr marL="742950" indent="-28575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2pPr>
                <a:lvl3pPr marL="11430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3pPr>
                <a:lvl4pPr marL="16002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4pPr>
                <a:lvl5pPr marL="20574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9pPr>
              </a:lstStyle>
              <a:p>
                <a:pPr algn="r" latinLnBrk="1"/>
                <a:endParaRPr lang="ko-KR" altLang="ko-KR" sz="1200"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</p:grpSp>
      <p:grpSp>
        <p:nvGrpSpPr>
          <p:cNvPr id="54" name="Group 4"/>
          <p:cNvGrpSpPr>
            <a:grpSpLocks/>
          </p:cNvGrpSpPr>
          <p:nvPr/>
        </p:nvGrpSpPr>
        <p:grpSpPr bwMode="auto">
          <a:xfrm>
            <a:off x="487363" y="2253082"/>
            <a:ext cx="1878012" cy="204788"/>
            <a:chOff x="326" y="2072"/>
            <a:chExt cx="1182" cy="129"/>
          </a:xfrm>
        </p:grpSpPr>
        <p:sp>
          <p:nvSpPr>
            <p:cNvPr id="55" name="Text Box 5"/>
            <p:cNvSpPr txBox="1">
              <a:spLocks noChangeArrowheads="1"/>
            </p:cNvSpPr>
            <p:nvPr/>
          </p:nvSpPr>
          <p:spPr bwMode="auto">
            <a:xfrm>
              <a:off x="434" y="2072"/>
              <a:ext cx="100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latin typeface="HY신명조" panose="02030600000101010101" pitchFamily="18" charset="-127"/>
                  <a:ea typeface="HY신명조" panose="02030600000101010101" pitchFamily="18" charset="-127"/>
                </a:rPr>
                <a:t>인원보안대책 시행방안</a:t>
              </a:r>
            </a:p>
          </p:txBody>
        </p:sp>
        <p:grpSp>
          <p:nvGrpSpPr>
            <p:cNvPr id="56" name="Group 6"/>
            <p:cNvGrpSpPr>
              <a:grpSpLocks/>
            </p:cNvGrpSpPr>
            <p:nvPr/>
          </p:nvGrpSpPr>
          <p:grpSpPr bwMode="auto">
            <a:xfrm>
              <a:off x="326" y="2093"/>
              <a:ext cx="1182" cy="108"/>
              <a:chOff x="397" y="2298"/>
              <a:chExt cx="1182" cy="108"/>
            </a:xfrm>
          </p:grpSpPr>
          <p:sp>
            <p:nvSpPr>
              <p:cNvPr id="57" name="Freeform 7"/>
              <p:cNvSpPr>
                <a:spLocks/>
              </p:cNvSpPr>
              <p:nvPr/>
            </p:nvSpPr>
            <p:spPr bwMode="auto">
              <a:xfrm>
                <a:off x="436" y="2358"/>
                <a:ext cx="1143" cy="48"/>
              </a:xfrm>
              <a:custGeom>
                <a:avLst/>
                <a:gdLst>
                  <a:gd name="T0" fmla="*/ 0 w 1143"/>
                  <a:gd name="T1" fmla="*/ 0 h 48"/>
                  <a:gd name="T2" fmla="*/ 0 w 1143"/>
                  <a:gd name="T3" fmla="*/ 48 h 48"/>
                  <a:gd name="T4" fmla="*/ 1143 w 1143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1143"/>
                  <a:gd name="T10" fmla="*/ 0 h 48"/>
                  <a:gd name="T11" fmla="*/ 1143 w 1143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43" h="48">
                    <a:moveTo>
                      <a:pt x="0" y="0"/>
                    </a:moveTo>
                    <a:lnTo>
                      <a:pt x="0" y="48"/>
                    </a:lnTo>
                    <a:lnTo>
                      <a:pt x="1143" y="48"/>
                    </a:lnTo>
                  </a:path>
                </a:pathLst>
              </a:custGeom>
              <a:noFill/>
              <a:ln w="9525">
                <a:solidFill>
                  <a:srgbClr val="8FC2E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8" name="Oval 8"/>
              <p:cNvSpPr>
                <a:spLocks noChangeArrowheads="1"/>
              </p:cNvSpPr>
              <p:nvPr/>
            </p:nvSpPr>
            <p:spPr bwMode="auto">
              <a:xfrm>
                <a:off x="397" y="2298"/>
                <a:ext cx="72" cy="72"/>
              </a:xfrm>
              <a:prstGeom prst="ellipse">
                <a:avLst/>
              </a:prstGeom>
              <a:solidFill>
                <a:srgbClr val="3385C2"/>
              </a:solidFill>
              <a:ln w="19050" algn="ctr">
                <a:solidFill>
                  <a:srgbClr val="EAEAEA"/>
                </a:solidFill>
                <a:round/>
                <a:headEnd/>
                <a:tailEnd/>
              </a:ln>
              <a:effectLst>
                <a:outerShdw dist="12700" dir="54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1pPr>
                <a:lvl2pPr marL="742950" indent="-28575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2pPr>
                <a:lvl3pPr marL="11430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3pPr>
                <a:lvl4pPr marL="16002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4pPr>
                <a:lvl5pPr marL="20574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9pPr>
              </a:lstStyle>
              <a:p>
                <a:pPr algn="r" latinLnBrk="1"/>
                <a:endParaRPr lang="ko-KR" altLang="ko-KR" sz="1200"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82">
            <a:extLst>
              <a:ext uri="{FF2B5EF4-FFF2-40B4-BE49-F238E27FC236}">
                <a16:creationId xmlns:a16="http://schemas.microsoft.com/office/drawing/2014/main" id="{C151B7D0-8B8D-A3C7-6416-3879B387831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267898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Ⅴ - 6</a:t>
            </a:r>
          </a:p>
        </p:txBody>
      </p:sp>
      <p:sp>
        <p:nvSpPr>
          <p:cNvPr id="22531" name="Text Box 1086">
            <a:extLst>
              <a:ext uri="{FF2B5EF4-FFF2-40B4-BE49-F238E27FC236}">
                <a16:creationId xmlns:a16="http://schemas.microsoft.com/office/drawing/2014/main" id="{2A44500E-64B7-2B26-C537-FA2E984DA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07988"/>
            <a:ext cx="2092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3.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기밀보안관리</a:t>
            </a:r>
          </a:p>
        </p:txBody>
      </p:sp>
      <p:sp>
        <p:nvSpPr>
          <p:cNvPr id="22532" name="Text Box 81">
            <a:extLst>
              <a:ext uri="{FF2B5EF4-FFF2-40B4-BE49-F238E27FC236}">
                <a16:creationId xmlns:a16="http://schemas.microsoft.com/office/drawing/2014/main" id="{D08DB2B7-24A1-3F21-D2EA-D85E20AB1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869950"/>
            <a:ext cx="6165850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다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정보통신보안</a:t>
            </a:r>
            <a:endParaRPr lang="ko-KR" altLang="en-US" sz="150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0000"/>
              </a:lnSpc>
            </a:pP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정보통신기술의 발달 및 해킹 위협 증가로 기업이 보유한 핵심기술에 대한 유출가능성이 날로 증대되고 있는 현실에서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개발사가 기 보유 또는 사업 수행간 확보한 기술을 보호하기 위한 보안 대책을 수립하여 체계개발과 관련된 핵심기술의 유출을 사전에 원천 차단하겠습니다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22533" name="Group 5">
            <a:extLst>
              <a:ext uri="{FF2B5EF4-FFF2-40B4-BE49-F238E27FC236}">
                <a16:creationId xmlns:a16="http://schemas.microsoft.com/office/drawing/2014/main" id="{3E58A54B-B8C8-2BBF-65E9-285B65C8568D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2306638"/>
            <a:ext cx="6116638" cy="357187"/>
            <a:chOff x="236" y="2167"/>
            <a:chExt cx="3853" cy="225"/>
          </a:xfrm>
        </p:grpSpPr>
        <p:grpSp>
          <p:nvGrpSpPr>
            <p:cNvPr id="22582" name="Group 6">
              <a:extLst>
                <a:ext uri="{FF2B5EF4-FFF2-40B4-BE49-F238E27FC236}">
                  <a16:creationId xmlns:a16="http://schemas.microsoft.com/office/drawing/2014/main" id="{B7AD4828-4BB5-7D5D-F9D3-213D743BDF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22584" name="Picture 7" descr="Magazine temp08_A4">
                <a:extLst>
                  <a:ext uri="{FF2B5EF4-FFF2-40B4-BE49-F238E27FC236}">
                    <a16:creationId xmlns:a16="http://schemas.microsoft.com/office/drawing/2014/main" id="{16F8C03C-843B-F957-7954-9ECCAFAF54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585" name="Picture 8" descr="Magazine temp08_A4">
                <a:extLst>
                  <a:ext uri="{FF2B5EF4-FFF2-40B4-BE49-F238E27FC236}">
                    <a16:creationId xmlns:a16="http://schemas.microsoft.com/office/drawing/2014/main" id="{A1AE0E08-11A4-614F-D436-C4A9C12815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2583" name="Text Box 9">
              <a:extLst>
                <a:ext uri="{FF2B5EF4-FFF2-40B4-BE49-F238E27FC236}">
                  <a16:creationId xmlns:a16="http://schemas.microsoft.com/office/drawing/2014/main" id="{7ED5A163-DEFD-398F-9E30-16360B9BFD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세부수행방안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aphicFrame>
        <p:nvGraphicFramePr>
          <p:cNvPr id="17" name="Group 59">
            <a:extLst>
              <a:ext uri="{FF2B5EF4-FFF2-40B4-BE49-F238E27FC236}">
                <a16:creationId xmlns:a16="http://schemas.microsoft.com/office/drawing/2014/main" id="{451AA979-D7A7-DAE9-7241-ADBEB5B22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154812"/>
              </p:ext>
            </p:extLst>
          </p:nvPr>
        </p:nvGraphicFramePr>
        <p:xfrm>
          <a:off x="452438" y="3114673"/>
          <a:ext cx="6037262" cy="2288686"/>
        </p:xfrm>
        <a:graphic>
          <a:graphicData uri="http://schemas.openxmlformats.org/drawingml/2006/table">
            <a:tbl>
              <a:tblPr/>
              <a:tblGrid>
                <a:gridCol w="867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4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49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정책구분</a:t>
                      </a:r>
                    </a:p>
                  </a:txBody>
                  <a:tcPr marL="36001" marR="36001" marT="36019" marB="3554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세부사항</a:t>
                      </a:r>
                    </a:p>
                  </a:txBody>
                  <a:tcPr marL="36001" marR="36001" marT="36019" marB="35549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 안 정 책</a:t>
                      </a:r>
                    </a:p>
                  </a:txBody>
                  <a:tcPr marL="36001" marR="36001" marT="36019" marB="35549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49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공통</a:t>
                      </a:r>
                    </a:p>
                  </a:txBody>
                  <a:tcPr marL="36001" marR="36001" marT="36019" marB="3554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사업참여요원에 대하여 보안 프로그램 필수 설치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외부 방문객의 경우에도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사용을 위해 보안 프로그램 필수 설치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 프로그램을 설치하지 않은 경우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네트워크 접속 통제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 동향 모니터링 후 보안 정책 변경 시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즉각조치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및 전파</a:t>
                      </a:r>
                    </a:p>
                  </a:txBody>
                  <a:tcPr marL="36001" marR="36001" marT="36019" marB="35549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198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매체</a:t>
                      </a:r>
                    </a:p>
                  </a:txBody>
                  <a:tcPr marL="36001" marR="36001" marT="36019" marB="3554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저장 매체</a:t>
                      </a:r>
                    </a:p>
                  </a:txBody>
                  <a:tcPr marL="36001" marR="36001" marT="36019" marB="35549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USB,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이동식 저장매체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CD/DVD-RW :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읽기 허용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쓰기 차단</a:t>
                      </a:r>
                    </a:p>
                  </a:txBody>
                  <a:tcPr marL="36001" marR="36001" marT="36019" marB="35549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498">
                <a:tc vMerge="1">
                  <a:txBody>
                    <a:bodyPr/>
                    <a:lstStyle/>
                    <a:p>
                      <a:pPr marL="0" marR="0" indent="0" algn="ctr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i="0" u="none" strike="noStrike" dirty="0">
                        <a:latin typeface="산돌고딕 M" pitchFamily="18" charset="-127"/>
                        <a:ea typeface="산돌고딕 M" pitchFamily="18" charset="-12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네트워크 매체</a:t>
                      </a:r>
                    </a:p>
                  </a:txBody>
                  <a:tcPr marL="36001" marR="36001" marT="36019" marB="35549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이동식 저장매체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Writing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차단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Reading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허용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CD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레코딩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복사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Access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차단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Serial Port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접근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Access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허용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블루투스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적외선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Port /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무선랜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접근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Access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차단</a:t>
                      </a:r>
                    </a:p>
                  </a:txBody>
                  <a:tcPr marL="36001" marR="36001" marT="36019" marB="35549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Group 59">
            <a:extLst>
              <a:ext uri="{FF2B5EF4-FFF2-40B4-BE49-F238E27FC236}">
                <a16:creationId xmlns:a16="http://schemas.microsoft.com/office/drawing/2014/main" id="{239EAE85-E35D-8511-B93D-F32E36E9B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058926"/>
              </p:ext>
            </p:extLst>
          </p:nvPr>
        </p:nvGraphicFramePr>
        <p:xfrm>
          <a:off x="452438" y="5926911"/>
          <a:ext cx="6037262" cy="3185338"/>
        </p:xfrm>
        <a:graphic>
          <a:graphicData uri="http://schemas.openxmlformats.org/drawingml/2006/table">
            <a:tbl>
              <a:tblPr/>
              <a:tblGrid>
                <a:gridCol w="1673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3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구 분</a:t>
                      </a:r>
                    </a:p>
                  </a:txBody>
                  <a:tcPr marL="89774" marR="89774" marT="35533" marB="35533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 안 대 책</a:t>
                      </a:r>
                    </a:p>
                  </a:txBody>
                  <a:tcPr marL="89774" marR="89774" marT="35533" marB="3553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4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데이터 보안</a:t>
                      </a:r>
                    </a:p>
                  </a:txBody>
                  <a:tcPr marL="89774" marR="89774" marT="35533" marB="3553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접근 통제를 위한 사용자 권한관리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ID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및 패스워드 부여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테이블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뷰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저장프로시저 등 객체에 대한 권한 관리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일정 횟수 이상의 로그인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시도시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해당 계정을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록킹</a:t>
                      </a:r>
                      <a:endParaRPr lang="ko-KR" altLang="en-US" sz="900" kern="1200" spc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89774" marR="89774" marT="35533" marB="35533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4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응용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 시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endParaRPr kumimoji="1" lang="ko-KR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89774" marR="89774" marT="35533" marB="3553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모든 응용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는 업무별 사용자 및 그룹을 분류하여 계정 설정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중요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는 소스코드와 분리하여 암호화된 형태로 관리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핵심 응용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는 시스템 접근에 대한 로그 정보 별도 관리</a:t>
                      </a:r>
                    </a:p>
                  </a:txBody>
                  <a:tcPr marL="89774" marR="89774" marT="35533" marB="35533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7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응용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운용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관리 시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endParaRPr kumimoji="1" lang="ko-KR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89774" marR="89774" marT="35533" marB="3553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응용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 패스워드는 최소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개월에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회 이상 변경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 로그정보 주기적 분석으로 자료의 불법접근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변조 방지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응용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복제는 시스템 담당자의 사전 양해와 입회 하에 실시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운용 시스템에는 소스 프로그램 설치하지 않고 운용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 패스워드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설정시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특수문자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 등 포함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자이상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설정</a:t>
                      </a:r>
                    </a:p>
                  </a:txBody>
                  <a:tcPr marL="89774" marR="89774" marT="35533" marB="35533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네트워크 보안</a:t>
                      </a:r>
                    </a:p>
                  </a:txBody>
                  <a:tcPr marL="89774" marR="89774" marT="35533" marB="3553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네트워크 시스템 설치 지역 보안구역 지정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외부인 통제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85725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허가된 등급의 서비스에만 접근할 수 있도록 통제</a:t>
                      </a:r>
                    </a:p>
                  </a:txBody>
                  <a:tcPr marL="89774" marR="89774" marT="35533" marB="35533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4" name="Group 4"/>
          <p:cNvGrpSpPr>
            <a:grpSpLocks/>
          </p:cNvGrpSpPr>
          <p:nvPr/>
        </p:nvGrpSpPr>
        <p:grpSpPr bwMode="auto">
          <a:xfrm>
            <a:off x="487363" y="5595685"/>
            <a:ext cx="1878012" cy="204788"/>
            <a:chOff x="326" y="2072"/>
            <a:chExt cx="1182" cy="129"/>
          </a:xfrm>
        </p:grpSpPr>
        <p:sp>
          <p:nvSpPr>
            <p:cNvPr id="25" name="Text Box 5"/>
            <p:cNvSpPr txBox="1">
              <a:spLocks noChangeArrowheads="1"/>
            </p:cNvSpPr>
            <p:nvPr/>
          </p:nvSpPr>
          <p:spPr bwMode="auto">
            <a:xfrm>
              <a:off x="434" y="2072"/>
              <a:ext cx="38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eaLnBrk="1" latinLnBrk="1" hangingPunct="1"/>
              <a:r>
                <a:rPr lang="ko-KR" altLang="en-US" sz="120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세부활동</a:t>
              </a:r>
              <a:endPara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grpSp>
          <p:nvGrpSpPr>
            <p:cNvPr id="26" name="Group 6"/>
            <p:cNvGrpSpPr>
              <a:grpSpLocks/>
            </p:cNvGrpSpPr>
            <p:nvPr/>
          </p:nvGrpSpPr>
          <p:grpSpPr bwMode="auto">
            <a:xfrm>
              <a:off x="326" y="2093"/>
              <a:ext cx="1182" cy="108"/>
              <a:chOff x="397" y="2298"/>
              <a:chExt cx="1182" cy="108"/>
            </a:xfrm>
          </p:grpSpPr>
          <p:sp>
            <p:nvSpPr>
              <p:cNvPr id="27" name="Freeform 7"/>
              <p:cNvSpPr>
                <a:spLocks/>
              </p:cNvSpPr>
              <p:nvPr/>
            </p:nvSpPr>
            <p:spPr bwMode="auto">
              <a:xfrm>
                <a:off x="436" y="2358"/>
                <a:ext cx="1143" cy="48"/>
              </a:xfrm>
              <a:custGeom>
                <a:avLst/>
                <a:gdLst>
                  <a:gd name="T0" fmla="*/ 0 w 1143"/>
                  <a:gd name="T1" fmla="*/ 0 h 48"/>
                  <a:gd name="T2" fmla="*/ 0 w 1143"/>
                  <a:gd name="T3" fmla="*/ 48 h 48"/>
                  <a:gd name="T4" fmla="*/ 1143 w 1143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1143"/>
                  <a:gd name="T10" fmla="*/ 0 h 48"/>
                  <a:gd name="T11" fmla="*/ 1143 w 1143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43" h="48">
                    <a:moveTo>
                      <a:pt x="0" y="0"/>
                    </a:moveTo>
                    <a:lnTo>
                      <a:pt x="0" y="48"/>
                    </a:lnTo>
                    <a:lnTo>
                      <a:pt x="1143" y="48"/>
                    </a:lnTo>
                  </a:path>
                </a:pathLst>
              </a:custGeom>
              <a:noFill/>
              <a:ln w="9525">
                <a:solidFill>
                  <a:srgbClr val="8FC2E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8" name="Oval 8"/>
              <p:cNvSpPr>
                <a:spLocks noChangeArrowheads="1"/>
              </p:cNvSpPr>
              <p:nvPr/>
            </p:nvSpPr>
            <p:spPr bwMode="auto">
              <a:xfrm>
                <a:off x="397" y="2298"/>
                <a:ext cx="72" cy="72"/>
              </a:xfrm>
              <a:prstGeom prst="ellipse">
                <a:avLst/>
              </a:prstGeom>
              <a:solidFill>
                <a:srgbClr val="3385C2"/>
              </a:solidFill>
              <a:ln w="19050" algn="ctr">
                <a:solidFill>
                  <a:srgbClr val="EAEAEA"/>
                </a:solidFill>
                <a:round/>
                <a:headEnd/>
                <a:tailEnd/>
              </a:ln>
              <a:effectLst>
                <a:outerShdw dist="12700" dir="54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1pPr>
                <a:lvl2pPr marL="742950" indent="-28575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2pPr>
                <a:lvl3pPr marL="11430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3pPr>
                <a:lvl4pPr marL="16002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4pPr>
                <a:lvl5pPr marL="20574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9pPr>
              </a:lstStyle>
              <a:p>
                <a:pPr algn="r" latinLnBrk="1"/>
                <a:endParaRPr lang="ko-KR" altLang="ko-KR" sz="1200"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</p:grpSp>
      <p:grpSp>
        <p:nvGrpSpPr>
          <p:cNvPr id="29" name="Group 4"/>
          <p:cNvGrpSpPr>
            <a:grpSpLocks/>
          </p:cNvGrpSpPr>
          <p:nvPr/>
        </p:nvGrpSpPr>
        <p:grpSpPr bwMode="auto">
          <a:xfrm>
            <a:off x="487363" y="2782352"/>
            <a:ext cx="1878012" cy="204788"/>
            <a:chOff x="326" y="2072"/>
            <a:chExt cx="1182" cy="129"/>
          </a:xfrm>
        </p:grpSpPr>
        <p:sp>
          <p:nvSpPr>
            <p:cNvPr id="30" name="Text Box 5"/>
            <p:cNvSpPr txBox="1">
              <a:spLocks noChangeArrowheads="1"/>
            </p:cNvSpPr>
            <p:nvPr/>
          </p:nvSpPr>
          <p:spPr bwMode="auto">
            <a:xfrm>
              <a:off x="434" y="2072"/>
              <a:ext cx="38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latin typeface="HY신명조" panose="02030600000101010101" pitchFamily="18" charset="-127"/>
                  <a:ea typeface="HY신명조" panose="02030600000101010101" pitchFamily="18" charset="-127"/>
                </a:rPr>
                <a:t>보안정책</a:t>
              </a:r>
            </a:p>
          </p:txBody>
        </p:sp>
        <p:grpSp>
          <p:nvGrpSpPr>
            <p:cNvPr id="31" name="Group 6"/>
            <p:cNvGrpSpPr>
              <a:grpSpLocks/>
            </p:cNvGrpSpPr>
            <p:nvPr/>
          </p:nvGrpSpPr>
          <p:grpSpPr bwMode="auto">
            <a:xfrm>
              <a:off x="326" y="2093"/>
              <a:ext cx="1182" cy="108"/>
              <a:chOff x="397" y="2298"/>
              <a:chExt cx="1182" cy="108"/>
            </a:xfrm>
          </p:grpSpPr>
          <p:sp>
            <p:nvSpPr>
              <p:cNvPr id="32" name="Freeform 7"/>
              <p:cNvSpPr>
                <a:spLocks/>
              </p:cNvSpPr>
              <p:nvPr/>
            </p:nvSpPr>
            <p:spPr bwMode="auto">
              <a:xfrm>
                <a:off x="436" y="2358"/>
                <a:ext cx="1143" cy="48"/>
              </a:xfrm>
              <a:custGeom>
                <a:avLst/>
                <a:gdLst>
                  <a:gd name="T0" fmla="*/ 0 w 1143"/>
                  <a:gd name="T1" fmla="*/ 0 h 48"/>
                  <a:gd name="T2" fmla="*/ 0 w 1143"/>
                  <a:gd name="T3" fmla="*/ 48 h 48"/>
                  <a:gd name="T4" fmla="*/ 1143 w 1143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1143"/>
                  <a:gd name="T10" fmla="*/ 0 h 48"/>
                  <a:gd name="T11" fmla="*/ 1143 w 1143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43" h="48">
                    <a:moveTo>
                      <a:pt x="0" y="0"/>
                    </a:moveTo>
                    <a:lnTo>
                      <a:pt x="0" y="48"/>
                    </a:lnTo>
                    <a:lnTo>
                      <a:pt x="1143" y="48"/>
                    </a:lnTo>
                  </a:path>
                </a:pathLst>
              </a:custGeom>
              <a:noFill/>
              <a:ln w="9525">
                <a:solidFill>
                  <a:srgbClr val="8FC2E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3" name="Oval 8"/>
              <p:cNvSpPr>
                <a:spLocks noChangeArrowheads="1"/>
              </p:cNvSpPr>
              <p:nvPr/>
            </p:nvSpPr>
            <p:spPr bwMode="auto">
              <a:xfrm>
                <a:off x="397" y="2298"/>
                <a:ext cx="72" cy="72"/>
              </a:xfrm>
              <a:prstGeom prst="ellipse">
                <a:avLst/>
              </a:prstGeom>
              <a:solidFill>
                <a:srgbClr val="3385C2"/>
              </a:solidFill>
              <a:ln w="19050" algn="ctr">
                <a:solidFill>
                  <a:srgbClr val="EAEAEA"/>
                </a:solidFill>
                <a:round/>
                <a:headEnd/>
                <a:tailEnd/>
              </a:ln>
              <a:effectLst>
                <a:outerShdw dist="12700" dir="54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1pPr>
                <a:lvl2pPr marL="742950" indent="-28575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2pPr>
                <a:lvl3pPr marL="11430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3pPr>
                <a:lvl4pPr marL="16002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4pPr>
                <a:lvl5pPr marL="20574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9pPr>
              </a:lstStyle>
              <a:p>
                <a:pPr algn="r" latinLnBrk="1"/>
                <a:endParaRPr lang="ko-KR" altLang="ko-KR" sz="1200"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1086">
            <a:extLst>
              <a:ext uri="{FF2B5EF4-FFF2-40B4-BE49-F238E27FC236}">
                <a16:creationId xmlns:a16="http://schemas.microsoft.com/office/drawing/2014/main" id="{A2384999-111C-4FC1-4E02-E1C6C191F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07988"/>
            <a:ext cx="2092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3.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기밀보안관리</a:t>
            </a:r>
          </a:p>
        </p:txBody>
      </p:sp>
      <p:sp>
        <p:nvSpPr>
          <p:cNvPr id="24580" name="Text Box 81">
            <a:extLst>
              <a:ext uri="{FF2B5EF4-FFF2-40B4-BE49-F238E27FC236}">
                <a16:creationId xmlns:a16="http://schemas.microsoft.com/office/drawing/2014/main" id="{250C49BA-4AA6-BCE2-0AD7-FF2302B51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869950"/>
            <a:ext cx="616585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라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문서보안</a:t>
            </a:r>
          </a:p>
          <a:p>
            <a:pPr algn="just" eaLnBrk="1" latinLnBrk="1" hangingPunct="1">
              <a:lnSpc>
                <a:spcPct val="120000"/>
              </a:lnSpc>
            </a:pP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사업수행간 발생하는 모든 자료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종이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전자파일 등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대한 보안유지를 위해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비인가자의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자료에 대한 접근을 통제하고 문서 유출 방지를 위한 주기적인 보안점검을 실시하며 보안 규정에 의한 문서관리를 통해 외부 반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출입을 철저하게 통제하겠습니다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24581" name="Group 5">
            <a:extLst>
              <a:ext uri="{FF2B5EF4-FFF2-40B4-BE49-F238E27FC236}">
                <a16:creationId xmlns:a16="http://schemas.microsoft.com/office/drawing/2014/main" id="{9EE4BEEC-51BF-8E3B-799C-6568100235B2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2079625"/>
            <a:ext cx="6116638" cy="357188"/>
            <a:chOff x="236" y="2167"/>
            <a:chExt cx="3853" cy="225"/>
          </a:xfrm>
        </p:grpSpPr>
        <p:grpSp>
          <p:nvGrpSpPr>
            <p:cNvPr id="24625" name="Group 6">
              <a:extLst>
                <a:ext uri="{FF2B5EF4-FFF2-40B4-BE49-F238E27FC236}">
                  <a16:creationId xmlns:a16="http://schemas.microsoft.com/office/drawing/2014/main" id="{DDB8893E-DE95-7E61-A75F-B53C5BDEBB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24627" name="Picture 7" descr="Magazine temp08_A4">
                <a:extLst>
                  <a:ext uri="{FF2B5EF4-FFF2-40B4-BE49-F238E27FC236}">
                    <a16:creationId xmlns:a16="http://schemas.microsoft.com/office/drawing/2014/main" id="{AFDF5688-7EE6-5912-24DF-E05D5E42A8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628" name="Picture 8" descr="Magazine temp08_A4">
                <a:extLst>
                  <a:ext uri="{FF2B5EF4-FFF2-40B4-BE49-F238E27FC236}">
                    <a16:creationId xmlns:a16="http://schemas.microsoft.com/office/drawing/2014/main" id="{069D9B55-1B30-2776-381D-6335CD5D78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4626" name="Text Box 9">
              <a:extLst>
                <a:ext uri="{FF2B5EF4-FFF2-40B4-BE49-F238E27FC236}">
                  <a16:creationId xmlns:a16="http://schemas.microsoft.com/office/drawing/2014/main" id="{2D9BBF77-0D08-26A8-F5FE-EB4E8063B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세부수행방안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aphicFrame>
        <p:nvGraphicFramePr>
          <p:cNvPr id="17" name="Group 53">
            <a:extLst>
              <a:ext uri="{FF2B5EF4-FFF2-40B4-BE49-F238E27FC236}">
                <a16:creationId xmlns:a16="http://schemas.microsoft.com/office/drawing/2014/main" id="{4EBF84B1-6698-404A-B584-8AEC84784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326931"/>
              </p:ext>
            </p:extLst>
          </p:nvPr>
        </p:nvGraphicFramePr>
        <p:xfrm>
          <a:off x="409575" y="2840348"/>
          <a:ext cx="6080125" cy="3927686"/>
        </p:xfrm>
        <a:graphic>
          <a:graphicData uri="http://schemas.openxmlformats.org/drawingml/2006/table">
            <a:tbl>
              <a:tblPr/>
              <a:tblGrid>
                <a:gridCol w="89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6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구 분</a:t>
                      </a:r>
                    </a:p>
                  </a:txBody>
                  <a:tcPr marL="70699" marR="70699" marT="35530" marB="3553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 안 대 책</a:t>
                      </a:r>
                    </a:p>
                  </a:txBody>
                  <a:tcPr marL="70699" marR="70699" marT="35530" marB="3553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8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 산출물</a:t>
                      </a:r>
                    </a:p>
                  </a:txBody>
                  <a:tcPr marL="70699" marR="70699" marT="35530" marB="3553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 중 발생하는 모든 중간 및 최종 산출물에 대해서는 분야별 관리대장에 기록유지</a:t>
                      </a:r>
                    </a:p>
                    <a:p>
                      <a:pPr marL="95250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산출물 무단 폐기를 금하며 개발사무실 보안담당관의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참여하에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파기</a:t>
                      </a:r>
                    </a:p>
                    <a:p>
                      <a:pPr marL="95250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모든 개발 산출물은 임의 복제 금지</a:t>
                      </a:r>
                    </a:p>
                    <a:p>
                      <a:pPr marL="95250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재해 및 재난 등 비상시에 대비한 주기적인 서버 백업 실시</a:t>
                      </a:r>
                    </a:p>
                  </a:txBody>
                  <a:tcPr marL="70699" marR="70699" marT="35530" marB="3553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46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공용 및 개인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자료 접근</a:t>
                      </a:r>
                    </a:p>
                  </a:txBody>
                  <a:tcPr marL="70699" marR="70699" marT="35530" marB="3553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파일서버 운용 시 각 분야별 전용폴더를 생성하고 각 폴더에 대한 업무 관련자에 한하여 폴더 접근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수정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삭제 권한 부여</a:t>
                      </a:r>
                    </a:p>
                    <a:p>
                      <a:pPr marL="95250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개발사무실 자체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LAN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구축 시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외부망과의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연결을 차단하여 외부인원의 임의 접근을 방지</a:t>
                      </a:r>
                    </a:p>
                    <a:p>
                      <a:pPr marL="95250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비인가자의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개발체계 접근 방지를 위해 개발서버 임의접근 방지 프로그램 설치</a:t>
                      </a:r>
                    </a:p>
                    <a:p>
                      <a:pPr marL="95250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파일서버는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접근자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및 사용 자료에 관한 로그를 기록하여 보관</a:t>
                      </a:r>
                    </a:p>
                    <a:p>
                      <a:pPr marL="95250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및 파일서버에 부팅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로그온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화면보호기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(5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분 이상 사용 중단 시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암호 부여</a:t>
                      </a:r>
                    </a:p>
                  </a:txBody>
                  <a:tcPr marL="70699" marR="70699" marT="35530" marB="3553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87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보조기억</a:t>
                      </a:r>
                      <a:b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매체</a:t>
                      </a:r>
                    </a:p>
                  </a:txBody>
                  <a:tcPr marL="70699" marR="70699" marT="35530" marB="3553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CD,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이동용 하드디스크드라이브 등 비인가 기록 매체의 반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․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출입을 통제하며 디스크 드라이브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CD Reader/Writer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등을 이용한 자료의 임의 저장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개인 보관 및 유출을 금함</a:t>
                      </a:r>
                    </a:p>
                    <a:p>
                      <a:pPr marL="95250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각종 기록매체에 의한 자료 반출입시 군사보안업무 훈령의 정보통신체계 </a:t>
                      </a:r>
                      <a:r>
                        <a:rPr lang="ko-KR" altLang="en-US" sz="900" kern="1200" spc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반출입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승인절차에 의거 보안담당관이 보안 조치</a:t>
                      </a:r>
                    </a:p>
                  </a:txBody>
                  <a:tcPr marL="70699" marR="70699" marT="35530" marB="3553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7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바이러스</a:t>
                      </a:r>
                      <a:b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대책</a:t>
                      </a:r>
                    </a:p>
                  </a:txBody>
                  <a:tcPr marL="70699" marR="70699" marT="35530" marB="3553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2" indent="-9000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 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 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및 파일서버에 바이러스 방지 프로그램을 운용하며 정기</a:t>
                      </a:r>
                      <a:r>
                        <a:rPr lang="en-US" altLang="ko-KR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수시 업데이트 실시</a:t>
                      </a:r>
                    </a:p>
                  </a:txBody>
                  <a:tcPr marL="70699" marR="70699" marT="35530" marB="3553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" name="Group 54">
            <a:extLst>
              <a:ext uri="{FF2B5EF4-FFF2-40B4-BE49-F238E27FC236}">
                <a16:creationId xmlns:a16="http://schemas.microsoft.com/office/drawing/2014/main" id="{2BEACC7B-9F6B-77F6-3EC5-0D1B60234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498706"/>
              </p:ext>
            </p:extLst>
          </p:nvPr>
        </p:nvGraphicFramePr>
        <p:xfrm>
          <a:off x="422275" y="7221300"/>
          <a:ext cx="6067425" cy="1886224"/>
        </p:xfrm>
        <a:graphic>
          <a:graphicData uri="http://schemas.openxmlformats.org/drawingml/2006/table">
            <a:tbl>
              <a:tblPr/>
              <a:tblGrid>
                <a:gridCol w="913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3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6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구 분</a:t>
                      </a:r>
                    </a:p>
                  </a:txBody>
                  <a:tcPr marL="36001" marR="36001" marT="36001" marB="36001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 안 대 책</a:t>
                      </a:r>
                    </a:p>
                  </a:txBody>
                  <a:tcPr marL="36001" marR="36001" marT="36001" marB="36001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53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사고사례 전파</a:t>
                      </a:r>
                    </a:p>
                  </a:txBody>
                  <a:tcPr marL="36001" marR="36001" marT="36001" marB="36001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 중 획득한 자료 및 결과의 군사기밀 유지에 대한 보안규정 교육 및 관련사고 사례 교육</a:t>
                      </a:r>
                    </a:p>
                  </a:txBody>
                  <a:tcPr marL="36001" marR="36001" marT="36001" marB="36001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53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개발장비</a:t>
                      </a:r>
                    </a:p>
                  </a:txBody>
                  <a:tcPr marL="36001" marR="36001" marT="36001" marB="36001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철수 전 모든 개발장비에 대하여 보안담당관에 의한 보안점검을 실시</a:t>
                      </a:r>
                    </a:p>
                  </a:txBody>
                  <a:tcPr marL="36001" marR="36001" marT="36001" marB="36001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53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 산출물</a:t>
                      </a:r>
                    </a:p>
                  </a:txBody>
                  <a:tcPr marL="36001" marR="36001" marT="36001" marB="36001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900" kern="1200" spc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향후 기술이전 및 유지보수를 위하여 사업관리단과 협의 후 별도의 산출물 관리방안 수립</a:t>
                      </a:r>
                    </a:p>
                  </a:txBody>
                  <a:tcPr marL="36001" marR="36001" marT="36001" marB="36001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Rectangle 182">
            <a:extLst>
              <a:ext uri="{FF2B5EF4-FFF2-40B4-BE49-F238E27FC236}">
                <a16:creationId xmlns:a16="http://schemas.microsoft.com/office/drawing/2014/main" id="{14500404-990D-53BF-133A-6161325E6C5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Ⅴ - 7</a:t>
            </a:r>
          </a:p>
        </p:txBody>
      </p:sp>
      <p:grpSp>
        <p:nvGrpSpPr>
          <p:cNvPr id="24" name="Group 4"/>
          <p:cNvGrpSpPr>
            <a:grpSpLocks/>
          </p:cNvGrpSpPr>
          <p:nvPr/>
        </p:nvGrpSpPr>
        <p:grpSpPr bwMode="auto">
          <a:xfrm>
            <a:off x="487363" y="6940902"/>
            <a:ext cx="2017830" cy="204788"/>
            <a:chOff x="326" y="2072"/>
            <a:chExt cx="1270" cy="129"/>
          </a:xfrm>
        </p:grpSpPr>
        <p:sp>
          <p:nvSpPr>
            <p:cNvPr id="26" name="Text Box 5"/>
            <p:cNvSpPr txBox="1">
              <a:spLocks noChangeArrowheads="1"/>
            </p:cNvSpPr>
            <p:nvPr/>
          </p:nvSpPr>
          <p:spPr bwMode="auto">
            <a:xfrm>
              <a:off x="434" y="2072"/>
              <a:ext cx="11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latin typeface="HY신명조" panose="02030600000101010101" pitchFamily="18" charset="-127"/>
                  <a:ea typeface="HY신명조" panose="02030600000101010101" pitchFamily="18" charset="-127"/>
                </a:rPr>
                <a:t>사업 </a:t>
              </a:r>
              <a:r>
                <a:rPr lang="ko-KR" altLang="en-US" sz="120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완료후</a:t>
              </a:r>
              <a:r>
                <a:rPr lang="ko-KR" altLang="en-US" sz="1200">
                  <a:latin typeface="HY신명조" panose="02030600000101010101" pitchFamily="18" charset="-127"/>
                  <a:ea typeface="HY신명조" panose="02030600000101010101" pitchFamily="18" charset="-127"/>
                </a:rPr>
                <a:t> 문서보안 활동</a:t>
              </a:r>
            </a:p>
          </p:txBody>
        </p:sp>
        <p:grpSp>
          <p:nvGrpSpPr>
            <p:cNvPr id="27" name="Group 6"/>
            <p:cNvGrpSpPr>
              <a:grpSpLocks/>
            </p:cNvGrpSpPr>
            <p:nvPr/>
          </p:nvGrpSpPr>
          <p:grpSpPr bwMode="auto">
            <a:xfrm>
              <a:off x="326" y="2093"/>
              <a:ext cx="1182" cy="108"/>
              <a:chOff x="397" y="2298"/>
              <a:chExt cx="1182" cy="108"/>
            </a:xfrm>
          </p:grpSpPr>
          <p:sp>
            <p:nvSpPr>
              <p:cNvPr id="28" name="Freeform 7"/>
              <p:cNvSpPr>
                <a:spLocks/>
              </p:cNvSpPr>
              <p:nvPr/>
            </p:nvSpPr>
            <p:spPr bwMode="auto">
              <a:xfrm>
                <a:off x="436" y="2358"/>
                <a:ext cx="1143" cy="48"/>
              </a:xfrm>
              <a:custGeom>
                <a:avLst/>
                <a:gdLst>
                  <a:gd name="T0" fmla="*/ 0 w 1143"/>
                  <a:gd name="T1" fmla="*/ 0 h 48"/>
                  <a:gd name="T2" fmla="*/ 0 w 1143"/>
                  <a:gd name="T3" fmla="*/ 48 h 48"/>
                  <a:gd name="T4" fmla="*/ 1143 w 1143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1143"/>
                  <a:gd name="T10" fmla="*/ 0 h 48"/>
                  <a:gd name="T11" fmla="*/ 1143 w 1143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43" h="48">
                    <a:moveTo>
                      <a:pt x="0" y="0"/>
                    </a:moveTo>
                    <a:lnTo>
                      <a:pt x="0" y="48"/>
                    </a:lnTo>
                    <a:lnTo>
                      <a:pt x="1143" y="48"/>
                    </a:lnTo>
                  </a:path>
                </a:pathLst>
              </a:custGeom>
              <a:noFill/>
              <a:ln w="9525">
                <a:solidFill>
                  <a:srgbClr val="8FC2E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9" name="Oval 8"/>
              <p:cNvSpPr>
                <a:spLocks noChangeArrowheads="1"/>
              </p:cNvSpPr>
              <p:nvPr/>
            </p:nvSpPr>
            <p:spPr bwMode="auto">
              <a:xfrm>
                <a:off x="397" y="2298"/>
                <a:ext cx="72" cy="72"/>
              </a:xfrm>
              <a:prstGeom prst="ellipse">
                <a:avLst/>
              </a:prstGeom>
              <a:solidFill>
                <a:srgbClr val="3385C2"/>
              </a:solidFill>
              <a:ln w="19050" algn="ctr">
                <a:solidFill>
                  <a:srgbClr val="EAEAEA"/>
                </a:solidFill>
                <a:round/>
                <a:headEnd/>
                <a:tailEnd/>
              </a:ln>
              <a:effectLst>
                <a:outerShdw dist="12700" dir="54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1pPr>
                <a:lvl2pPr marL="742950" indent="-28575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2pPr>
                <a:lvl3pPr marL="11430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3pPr>
                <a:lvl4pPr marL="16002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4pPr>
                <a:lvl5pPr marL="20574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9pPr>
              </a:lstStyle>
              <a:p>
                <a:pPr algn="r" latinLnBrk="1"/>
                <a:endParaRPr lang="ko-KR" altLang="ko-KR" sz="1200"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</p:grpSp>
      <p:grpSp>
        <p:nvGrpSpPr>
          <p:cNvPr id="30" name="Group 4"/>
          <p:cNvGrpSpPr>
            <a:grpSpLocks/>
          </p:cNvGrpSpPr>
          <p:nvPr/>
        </p:nvGrpSpPr>
        <p:grpSpPr bwMode="auto">
          <a:xfrm>
            <a:off x="487363" y="2533480"/>
            <a:ext cx="2017830" cy="204788"/>
            <a:chOff x="326" y="2072"/>
            <a:chExt cx="1270" cy="129"/>
          </a:xfrm>
        </p:grpSpPr>
        <p:sp>
          <p:nvSpPr>
            <p:cNvPr id="31" name="Text Box 5"/>
            <p:cNvSpPr txBox="1">
              <a:spLocks noChangeArrowheads="1"/>
            </p:cNvSpPr>
            <p:nvPr/>
          </p:nvSpPr>
          <p:spPr bwMode="auto">
            <a:xfrm>
              <a:off x="434" y="2072"/>
              <a:ext cx="11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latin typeface="HY신명조" panose="02030600000101010101" pitchFamily="18" charset="-127"/>
                  <a:ea typeface="HY신명조" panose="02030600000101010101" pitchFamily="18" charset="-127"/>
                </a:rPr>
                <a:t>사업 </a:t>
              </a:r>
              <a:r>
                <a:rPr lang="ko-KR" altLang="en-US" sz="120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수행간</a:t>
              </a:r>
              <a:r>
                <a:rPr lang="ko-KR" altLang="en-US" sz="1200">
                  <a:latin typeface="HY신명조" panose="02030600000101010101" pitchFamily="18" charset="-127"/>
                  <a:ea typeface="HY신명조" panose="02030600000101010101" pitchFamily="18" charset="-127"/>
                </a:rPr>
                <a:t> 문서보안 활동</a:t>
              </a:r>
            </a:p>
          </p:txBody>
        </p:sp>
        <p:grpSp>
          <p:nvGrpSpPr>
            <p:cNvPr id="32" name="Group 6"/>
            <p:cNvGrpSpPr>
              <a:grpSpLocks/>
            </p:cNvGrpSpPr>
            <p:nvPr/>
          </p:nvGrpSpPr>
          <p:grpSpPr bwMode="auto">
            <a:xfrm>
              <a:off x="326" y="2093"/>
              <a:ext cx="1182" cy="108"/>
              <a:chOff x="397" y="2298"/>
              <a:chExt cx="1182" cy="108"/>
            </a:xfrm>
          </p:grpSpPr>
          <p:sp>
            <p:nvSpPr>
              <p:cNvPr id="33" name="Freeform 7"/>
              <p:cNvSpPr>
                <a:spLocks/>
              </p:cNvSpPr>
              <p:nvPr/>
            </p:nvSpPr>
            <p:spPr bwMode="auto">
              <a:xfrm>
                <a:off x="436" y="2358"/>
                <a:ext cx="1143" cy="48"/>
              </a:xfrm>
              <a:custGeom>
                <a:avLst/>
                <a:gdLst>
                  <a:gd name="T0" fmla="*/ 0 w 1143"/>
                  <a:gd name="T1" fmla="*/ 0 h 48"/>
                  <a:gd name="T2" fmla="*/ 0 w 1143"/>
                  <a:gd name="T3" fmla="*/ 48 h 48"/>
                  <a:gd name="T4" fmla="*/ 1143 w 1143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1143"/>
                  <a:gd name="T10" fmla="*/ 0 h 48"/>
                  <a:gd name="T11" fmla="*/ 1143 w 1143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43" h="48">
                    <a:moveTo>
                      <a:pt x="0" y="0"/>
                    </a:moveTo>
                    <a:lnTo>
                      <a:pt x="0" y="48"/>
                    </a:lnTo>
                    <a:lnTo>
                      <a:pt x="1143" y="48"/>
                    </a:lnTo>
                  </a:path>
                </a:pathLst>
              </a:custGeom>
              <a:noFill/>
              <a:ln w="9525">
                <a:solidFill>
                  <a:srgbClr val="8FC2E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4" name="Oval 8"/>
              <p:cNvSpPr>
                <a:spLocks noChangeArrowheads="1"/>
              </p:cNvSpPr>
              <p:nvPr/>
            </p:nvSpPr>
            <p:spPr bwMode="auto">
              <a:xfrm>
                <a:off x="397" y="2298"/>
                <a:ext cx="72" cy="72"/>
              </a:xfrm>
              <a:prstGeom prst="ellipse">
                <a:avLst/>
              </a:prstGeom>
              <a:solidFill>
                <a:srgbClr val="3385C2"/>
              </a:solidFill>
              <a:ln w="19050" algn="ctr">
                <a:solidFill>
                  <a:srgbClr val="EAEAEA"/>
                </a:solidFill>
                <a:round/>
                <a:headEnd/>
                <a:tailEnd/>
              </a:ln>
              <a:effectLst>
                <a:outerShdw dist="12700" dir="54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1pPr>
                <a:lvl2pPr marL="742950" indent="-28575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2pPr>
                <a:lvl3pPr marL="11430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3pPr>
                <a:lvl4pPr marL="16002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4pPr>
                <a:lvl5pPr marL="20574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9pPr>
              </a:lstStyle>
              <a:p>
                <a:pPr algn="r" latinLnBrk="1"/>
                <a:endParaRPr lang="ko-KR" altLang="ko-KR" sz="1200"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AutoShape 248">
            <a:extLst>
              <a:ext uri="{FF2B5EF4-FFF2-40B4-BE49-F238E27FC236}">
                <a16:creationId xmlns:a16="http://schemas.microsoft.com/office/drawing/2014/main" id="{D67C3FD1-DD56-A590-482B-90954C52327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41300" y="8762725"/>
            <a:ext cx="1073037" cy="456322"/>
          </a:xfrm>
          <a:prstGeom prst="chevron">
            <a:avLst>
              <a:gd name="adj" fmla="val 34112"/>
            </a:avLst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rgbClr val="4F81BD">
                  <a:tint val="23500"/>
                  <a:satMod val="160000"/>
                  <a:alpha val="0"/>
                </a:srgbClr>
              </a:gs>
            </a:gsLst>
            <a:lin ang="13500000" scaled="1"/>
            <a:tileRect/>
          </a:gradFill>
          <a:ln w="6350" cap="flat" cmpd="sng" algn="ctr">
            <a:gradFill flip="none"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3500000" scaled="1"/>
              <a:tileRect/>
            </a:gradFill>
            <a:prstDash val="solid"/>
          </a:ln>
          <a:effectLst>
            <a:innerShdw dist="88900" dir="3600000">
              <a:sysClr val="window" lastClr="FFFFFF"/>
            </a:innerShdw>
          </a:effec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buSzPct val="140000"/>
              <a:defRPr/>
            </a:pPr>
            <a:endParaRPr lang="ko-KR" altLang="en-US" sz="1000" kern="0">
              <a:solidFill>
                <a:sysClr val="windowText" lastClr="000000">
                  <a:lumMod val="75000"/>
                  <a:lumOff val="25000"/>
                </a:sys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5126" name="Text Box 81">
            <a:extLst>
              <a:ext uri="{FF2B5EF4-FFF2-40B4-BE49-F238E27FC236}">
                <a16:creationId xmlns:a16="http://schemas.microsoft.com/office/drawing/2014/main" id="{BCE43581-FFCA-5A4E-7C2F-077CF7A7C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1265238"/>
            <a:ext cx="6165850" cy="13779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위험관리</a:t>
            </a:r>
            <a:endParaRPr lang="ko-KR" altLang="en-US" sz="150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0000"/>
              </a:lnSpc>
              <a:defRPr/>
            </a:pP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사업 수행 시 발생할 수 있는 위험 요소</a:t>
            </a:r>
            <a:r>
              <a:rPr lang="en-US" altLang="ko-KR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(</a:t>
            </a:r>
            <a:r>
              <a:rPr lang="ko-KR" altLang="en-US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기술</a:t>
            </a:r>
            <a:r>
              <a:rPr lang="en-US" altLang="ko-KR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, </a:t>
            </a:r>
            <a:r>
              <a:rPr lang="ko-KR" altLang="en-US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비용</a:t>
            </a:r>
            <a:r>
              <a:rPr lang="en-US" altLang="ko-KR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, </a:t>
            </a:r>
            <a:r>
              <a:rPr lang="ko-KR" altLang="en-US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일정</a:t>
            </a:r>
            <a:r>
              <a:rPr lang="en-US" altLang="ko-KR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)</a:t>
            </a:r>
            <a:r>
              <a:rPr lang="ko-KR" altLang="en-US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를 조기 식별하고</a:t>
            </a:r>
            <a:r>
              <a:rPr lang="en-US" altLang="ko-KR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, </a:t>
            </a:r>
            <a:r>
              <a:rPr lang="ko-KR" altLang="en-US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위험 요소에 대하여 위험관리 대장에 등록함으로써 프로젝트 전 단계에서 위험요소를 식별 및 관리합니다</a:t>
            </a:r>
            <a:r>
              <a:rPr lang="en-US" altLang="ko-KR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. </a:t>
            </a:r>
            <a:r>
              <a:rPr lang="ko-KR" altLang="en-US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또한 영향도 분석에 따른 위험 등급 </a:t>
            </a:r>
            <a:r>
              <a:rPr lang="en-US" altLang="ko-KR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9</a:t>
            </a:r>
            <a:r>
              <a:rPr lang="ko-KR" altLang="en-US" sz="1200" spc="-10" dirty="0" err="1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분법</a:t>
            </a:r>
            <a:r>
              <a:rPr lang="ko-KR" altLang="en-US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 기법을 활용하여 우선순위를 분석</a:t>
            </a:r>
            <a:r>
              <a:rPr lang="en-US" altLang="ko-KR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. </a:t>
            </a:r>
            <a:r>
              <a:rPr lang="ko-KR" altLang="en-US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위험을 관리하겠습니</a:t>
            </a: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다.</a:t>
            </a:r>
            <a:endParaRPr lang="en-US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6631" name="Text Box 1086">
            <a:extLst>
              <a:ext uri="{FF2B5EF4-FFF2-40B4-BE49-F238E27FC236}">
                <a16:creationId xmlns:a16="http://schemas.microsoft.com/office/drawing/2014/main" id="{1A99FF1C-1907-22EA-1799-C5480D4F5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07988"/>
            <a:ext cx="2092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4.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위험 및 </a:t>
            </a: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이슈관리</a:t>
            </a:r>
            <a:endParaRPr lang="ko-KR" altLang="en-US" sz="1100">
              <a:latin typeface="HY신명조" panose="02030600000101010101" pitchFamily="18" charset="-127"/>
              <a:ea typeface="HY신명조" panose="02030600000101010101" pitchFamily="18" charset="-127"/>
              <a:cs typeface="가는각진제목체"/>
            </a:endParaRPr>
          </a:p>
        </p:txBody>
      </p:sp>
      <p:sp>
        <p:nvSpPr>
          <p:cNvPr id="26632" name="Text Box 63">
            <a:extLst>
              <a:ext uri="{FF2B5EF4-FFF2-40B4-BE49-F238E27FC236}">
                <a16:creationId xmlns:a16="http://schemas.microsoft.com/office/drawing/2014/main" id="{A8A05F5E-C8E8-1292-0E0B-9DCA98288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831850"/>
            <a:ext cx="6242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kumimoji="0" lang="ko-KR" altLang="en-US" sz="1600">
                <a:latin typeface="HY헤드라인M" panose="02030600000101010101" pitchFamily="18" charset="-127"/>
                <a:ea typeface="HY헤드라인M" panose="02030600000101010101" pitchFamily="18" charset="-127"/>
              </a:rPr>
              <a:t>위험 및 이슈관리</a:t>
            </a:r>
          </a:p>
        </p:txBody>
      </p:sp>
      <p:grpSp>
        <p:nvGrpSpPr>
          <p:cNvPr id="26633" name="Group 5">
            <a:extLst>
              <a:ext uri="{FF2B5EF4-FFF2-40B4-BE49-F238E27FC236}">
                <a16:creationId xmlns:a16="http://schemas.microsoft.com/office/drawing/2014/main" id="{7C6B71AB-A111-46A9-9648-AB40250C12AF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2705100"/>
            <a:ext cx="6116638" cy="357188"/>
            <a:chOff x="236" y="2167"/>
            <a:chExt cx="3853" cy="225"/>
          </a:xfrm>
        </p:grpSpPr>
        <p:grpSp>
          <p:nvGrpSpPr>
            <p:cNvPr id="26860" name="Group 6">
              <a:extLst>
                <a:ext uri="{FF2B5EF4-FFF2-40B4-BE49-F238E27FC236}">
                  <a16:creationId xmlns:a16="http://schemas.microsoft.com/office/drawing/2014/main" id="{5373D190-F952-97E3-9410-F53E112EDA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26862" name="Picture 7" descr="Magazine temp08_A4">
                <a:extLst>
                  <a:ext uri="{FF2B5EF4-FFF2-40B4-BE49-F238E27FC236}">
                    <a16:creationId xmlns:a16="http://schemas.microsoft.com/office/drawing/2014/main" id="{143229AE-A907-251F-6F25-5910C13905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863" name="Picture 8" descr="Magazine temp08_A4">
                <a:extLst>
                  <a:ext uri="{FF2B5EF4-FFF2-40B4-BE49-F238E27FC236}">
                    <a16:creationId xmlns:a16="http://schemas.microsoft.com/office/drawing/2014/main" id="{7D3A90ED-ACBD-3C87-E3F1-26383AE250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861" name="Text Box 9">
              <a:extLst>
                <a:ext uri="{FF2B5EF4-FFF2-40B4-BE49-F238E27FC236}">
                  <a16:creationId xmlns:a16="http://schemas.microsoft.com/office/drawing/2014/main" id="{A794B24C-1C07-6C58-9918-ED8BBAADA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위험관리 절차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139335E-48FC-A715-E88A-CA6C351FCFA6}"/>
              </a:ext>
            </a:extLst>
          </p:cNvPr>
          <p:cNvGraphicFramePr>
            <a:graphicFrameLocks noGrp="1"/>
          </p:cNvGraphicFramePr>
          <p:nvPr/>
        </p:nvGraphicFramePr>
        <p:xfrm>
          <a:off x="2284413" y="6753225"/>
          <a:ext cx="977901" cy="882651"/>
        </p:xfrm>
        <a:graphic>
          <a:graphicData uri="http://schemas.openxmlformats.org/drawingml/2006/table">
            <a:tbl>
              <a:tblPr firstRow="1" bandRow="1"/>
              <a:tblGrid>
                <a:gridCol w="325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217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latinLnBrk="1"/>
                      <a:endParaRPr lang="ko-KR" altLang="en-US" sz="1400"/>
                    </a:p>
                  </a:txBody>
                  <a:tcPr marL="72506" marR="72506" marT="36273" marB="36273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latinLnBrk="1"/>
                      <a:endParaRPr lang="ko-KR" altLang="en-US" sz="1400"/>
                    </a:p>
                  </a:txBody>
                  <a:tcPr marL="72506" marR="72506" marT="36273" marB="36273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b="1" kern="1200">
                          <a:solidFill>
                            <a:schemeClr val="lt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latinLnBrk="1"/>
                      <a:endParaRPr lang="ko-KR" altLang="en-US" sz="1400"/>
                    </a:p>
                  </a:txBody>
                  <a:tcPr marL="72506" marR="72506" marT="36273" marB="36273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217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latinLnBrk="1"/>
                      <a:endParaRPr lang="ko-KR" altLang="en-US" sz="1400"/>
                    </a:p>
                  </a:txBody>
                  <a:tcPr marL="72506" marR="72506" marT="36273" marB="36273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latinLnBrk="1"/>
                      <a:endParaRPr lang="ko-KR" altLang="en-US" sz="1400"/>
                    </a:p>
                  </a:txBody>
                  <a:tcPr marL="72506" marR="72506" marT="36273" marB="36273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latinLnBrk="1"/>
                      <a:endParaRPr lang="ko-KR" altLang="en-US" sz="1400"/>
                    </a:p>
                  </a:txBody>
                  <a:tcPr marL="72506" marR="72506" marT="36273" marB="36273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217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latinLnBrk="1"/>
                      <a:endParaRPr lang="ko-KR" altLang="en-US" sz="1400"/>
                    </a:p>
                  </a:txBody>
                  <a:tcPr marL="72506" marR="72506" marT="36273" marB="36273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latinLnBrk="1"/>
                      <a:endParaRPr lang="ko-KR" altLang="en-US" sz="1400"/>
                    </a:p>
                  </a:txBody>
                  <a:tcPr marL="72506" marR="72506" marT="36273" marB="36273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dk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latinLnBrk="1"/>
                      <a:endParaRPr lang="ko-KR" altLang="en-US" sz="1400"/>
                    </a:p>
                  </a:txBody>
                  <a:tcPr marL="72506" marR="72506" marT="36273" marB="36273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AutoShape 243">
            <a:extLst>
              <a:ext uri="{FF2B5EF4-FFF2-40B4-BE49-F238E27FC236}">
                <a16:creationId xmlns:a16="http://schemas.microsoft.com/office/drawing/2014/main" id="{40D45950-A267-DC48-A878-4BBC50063F5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3204" y="3668593"/>
            <a:ext cx="1089228" cy="456322"/>
          </a:xfrm>
          <a:prstGeom prst="homePlate">
            <a:avLst>
              <a:gd name="adj" fmla="val 36157"/>
            </a:avLst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rgbClr val="4F81BD">
                  <a:tint val="23500"/>
                  <a:satMod val="160000"/>
                  <a:alpha val="0"/>
                </a:srgbClr>
              </a:gs>
            </a:gsLst>
            <a:lin ang="13500000" scaled="1"/>
            <a:tileRect/>
          </a:gradFill>
          <a:ln w="6350" cap="flat" cmpd="sng" algn="ctr">
            <a:gradFill flip="none"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3500000" scaled="1"/>
              <a:tileRect/>
            </a:gradFill>
            <a:prstDash val="solid"/>
          </a:ln>
          <a:effectLst>
            <a:innerShdw dist="88900" dir="3600000">
              <a:sysClr val="window" lastClr="FFFFFF"/>
            </a:innerShdw>
          </a:effec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buSzPct val="140000"/>
              <a:defRPr/>
            </a:pPr>
            <a:endParaRPr lang="ko-KR" altLang="en-US" sz="1000" kern="0">
              <a:solidFill>
                <a:sysClr val="windowText" lastClr="000000">
                  <a:lumMod val="75000"/>
                  <a:lumOff val="25000"/>
                </a:sys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13" name="AutoShape 244">
            <a:extLst>
              <a:ext uri="{FF2B5EF4-FFF2-40B4-BE49-F238E27FC236}">
                <a16:creationId xmlns:a16="http://schemas.microsoft.com/office/drawing/2014/main" id="{F58DF6B3-D144-A250-6597-E89EF05E5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2840" y="4612629"/>
            <a:ext cx="1029957" cy="456322"/>
          </a:xfrm>
          <a:prstGeom prst="chevron">
            <a:avLst>
              <a:gd name="adj" fmla="val 38016"/>
            </a:avLst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rgbClr val="4F81BD">
                  <a:tint val="23500"/>
                  <a:satMod val="160000"/>
                  <a:alpha val="0"/>
                </a:srgbClr>
              </a:gs>
            </a:gsLst>
            <a:lin ang="13500000" scaled="1"/>
            <a:tileRect/>
          </a:gradFill>
          <a:ln w="6350" cap="flat" cmpd="sng" algn="ctr">
            <a:gradFill flip="none"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3500000" scaled="1"/>
              <a:tileRect/>
            </a:gradFill>
            <a:prstDash val="solid"/>
          </a:ln>
          <a:effectLst>
            <a:innerShdw dist="88900" dir="3600000">
              <a:sysClr val="window" lastClr="FFFFFF"/>
            </a:innerShdw>
          </a:effec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buSzPct val="140000"/>
              <a:defRPr/>
            </a:pPr>
            <a:endParaRPr lang="ko-KR" altLang="en-US" sz="1000" kern="0">
              <a:solidFill>
                <a:sysClr val="windowText" lastClr="000000">
                  <a:lumMod val="75000"/>
                  <a:lumOff val="25000"/>
                </a:sys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14" name="AutoShape 245">
            <a:extLst>
              <a:ext uri="{FF2B5EF4-FFF2-40B4-BE49-F238E27FC236}">
                <a16:creationId xmlns:a16="http://schemas.microsoft.com/office/drawing/2014/main" id="{5A86EDED-A98A-E30F-582A-F72E9DEC5C1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0526" y="5699263"/>
            <a:ext cx="1396687" cy="456322"/>
          </a:xfrm>
          <a:prstGeom prst="chevron">
            <a:avLst>
              <a:gd name="adj" fmla="val 38084"/>
            </a:avLst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rgbClr val="4F81BD">
                  <a:tint val="23500"/>
                  <a:satMod val="160000"/>
                  <a:alpha val="0"/>
                </a:srgbClr>
              </a:gs>
            </a:gsLst>
            <a:lin ang="13500000" scaled="1"/>
            <a:tileRect/>
          </a:gradFill>
          <a:ln w="6350" cap="flat" cmpd="sng" algn="ctr">
            <a:gradFill flip="none"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3500000" scaled="1"/>
              <a:tileRect/>
            </a:gradFill>
            <a:prstDash val="solid"/>
          </a:ln>
          <a:effectLst>
            <a:innerShdw dist="88900" dir="3600000">
              <a:sysClr val="window" lastClr="FFFFFF"/>
            </a:innerShdw>
          </a:effec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buSzPct val="140000"/>
              <a:defRPr/>
            </a:pPr>
            <a:r>
              <a:rPr lang="en-US" altLang="ko-KR" sz="10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    </a:t>
            </a:r>
            <a:endParaRPr lang="ko-KR" altLang="en-US" sz="1000" kern="0">
              <a:solidFill>
                <a:sysClr val="windowText" lastClr="000000">
                  <a:lumMod val="75000"/>
                  <a:lumOff val="25000"/>
                </a:sys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15" name="AutoShape 246">
            <a:extLst>
              <a:ext uri="{FF2B5EF4-FFF2-40B4-BE49-F238E27FC236}">
                <a16:creationId xmlns:a16="http://schemas.microsoft.com/office/drawing/2014/main" id="{229F2C82-A9C5-677C-A57C-7F4900B5B3E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39816" y="7310374"/>
            <a:ext cx="2035265" cy="456322"/>
          </a:xfrm>
          <a:prstGeom prst="chevron">
            <a:avLst>
              <a:gd name="adj" fmla="val 36098"/>
            </a:avLst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rgbClr val="4F81BD">
                  <a:tint val="23500"/>
                  <a:satMod val="160000"/>
                  <a:alpha val="0"/>
                </a:srgbClr>
              </a:gs>
            </a:gsLst>
            <a:lin ang="13500000" scaled="1"/>
            <a:tileRect/>
          </a:gradFill>
          <a:ln w="6350" cap="flat" cmpd="sng" algn="ctr">
            <a:gradFill flip="none"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3500000" scaled="1"/>
              <a:tileRect/>
            </a:gradFill>
            <a:prstDash val="solid"/>
          </a:ln>
          <a:effectLst>
            <a:innerShdw dist="88900" dir="3600000">
              <a:sysClr val="window" lastClr="FFFFFF"/>
            </a:innerShdw>
          </a:effec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buSzPct val="140000"/>
              <a:defRPr/>
            </a:pPr>
            <a:r>
              <a:rPr lang="en-US" altLang="ko-KR" sz="10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   </a:t>
            </a:r>
            <a:endParaRPr lang="ko-KR" altLang="en-US" sz="1000" kern="0">
              <a:solidFill>
                <a:sysClr val="windowText" lastClr="000000">
                  <a:lumMod val="75000"/>
                  <a:lumOff val="25000"/>
                </a:sys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26664" name="TextBox 26">
            <a:extLst>
              <a:ext uri="{FF2B5EF4-FFF2-40B4-BE49-F238E27FC236}">
                <a16:creationId xmlns:a16="http://schemas.microsoft.com/office/drawing/2014/main" id="{6DE0FE60-BC20-DD30-EA0E-3A3C18793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3" y="3551238"/>
            <a:ext cx="64928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41" tIns="45020" rIns="90041" bIns="4502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위험</a:t>
            </a:r>
            <a:endParaRPr lang="en-US" altLang="ko-KR" sz="900">
              <a:solidFill>
                <a:srgbClr val="262626"/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요소</a:t>
            </a:r>
            <a:endParaRPr lang="en-US" altLang="ko-KR" sz="900">
              <a:solidFill>
                <a:srgbClr val="262626"/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식별</a:t>
            </a: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98898500-5B6C-F365-C477-062419C35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75" y="3362325"/>
            <a:ext cx="5065713" cy="846138"/>
          </a:xfrm>
          <a:prstGeom prst="rect">
            <a:avLst/>
          </a:prstGeom>
          <a:noFill/>
          <a:ln>
            <a:noFill/>
          </a:ln>
        </p:spPr>
        <p:txBody>
          <a:bodyPr lIns="54000" tIns="36000" rIns="54000" bIns="36000" anchor="ctr"/>
          <a:lstStyle/>
          <a:p>
            <a:pPr marL="90000" lvl="1" indent="-90000" eaLnBrk="1" fontAlgn="auto" hangingPunct="1">
              <a:spcBef>
                <a:spcPts val="295"/>
              </a:spcBef>
              <a:spcAft>
                <a:spcPts val="0"/>
              </a:spcAft>
              <a:buClr>
                <a:sysClr val="window" lastClr="FFFFFF">
                  <a:lumMod val="75000"/>
                </a:sysClr>
              </a:buClr>
              <a:buSzPct val="80000"/>
              <a:buFont typeface="Wingdings" panose="05000000000000000000" pitchFamily="2" charset="2"/>
              <a:buChar char="§"/>
              <a:tabLst>
                <a:tab pos="5561906" algn="l"/>
              </a:tabLst>
              <a:defRPr/>
            </a:pPr>
            <a:r>
              <a:rPr kumimoji="0" lang="ko-KR" altLang="en-US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위험요소는 프로젝트 전 단계를 통하여 식별하되</a:t>
            </a:r>
            <a:r>
              <a:rPr kumimoji="0" lang="en-US" altLang="ko-KR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, </a:t>
            </a:r>
            <a:r>
              <a:rPr kumimoji="0" lang="ko-KR" altLang="en-US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착수단계에 특히 중점을 두어 식별</a:t>
            </a:r>
            <a:endParaRPr kumimoji="0" lang="en-US" altLang="ko-KR" sz="900" kern="0">
              <a:solidFill>
                <a:sysClr val="windowText" lastClr="000000">
                  <a:lumMod val="75000"/>
                  <a:lumOff val="25000"/>
                </a:sys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marL="90000" lvl="1" indent="-90000" eaLnBrk="1" fontAlgn="auto" hangingPunct="1">
              <a:spcBef>
                <a:spcPts val="295"/>
              </a:spcBef>
              <a:spcAft>
                <a:spcPts val="0"/>
              </a:spcAft>
              <a:buClr>
                <a:sysClr val="window" lastClr="FFFFFF">
                  <a:lumMod val="75000"/>
                </a:sysClr>
              </a:buClr>
              <a:buSzPct val="80000"/>
              <a:buFont typeface="Wingdings" panose="05000000000000000000" pitchFamily="2" charset="2"/>
              <a:buChar char="§"/>
              <a:tabLst>
                <a:tab pos="5561906" algn="l"/>
              </a:tabLst>
              <a:defRPr/>
            </a:pPr>
            <a:r>
              <a:rPr kumimoji="0" lang="ko-KR" altLang="en-US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프로젝트 위험식별은 프로젝트 전체 팀원 및 사업관리기관</a:t>
            </a:r>
            <a:r>
              <a:rPr kumimoji="0" lang="en-US" altLang="ko-KR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, </a:t>
            </a:r>
            <a:r>
              <a:rPr kumimoji="0" lang="ko-KR" altLang="en-US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소요관리기관 등과 함께 수행</a:t>
            </a:r>
            <a:endParaRPr kumimoji="0" lang="en-US" altLang="ko-KR" sz="900" kern="0">
              <a:solidFill>
                <a:sysClr val="windowText" lastClr="000000">
                  <a:lumMod val="75000"/>
                  <a:lumOff val="25000"/>
                </a:sys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marL="90000" lvl="1" indent="-90000" eaLnBrk="1" fontAlgn="auto" hangingPunct="1">
              <a:spcBef>
                <a:spcPts val="295"/>
              </a:spcBef>
              <a:spcAft>
                <a:spcPts val="0"/>
              </a:spcAft>
              <a:buClr>
                <a:sysClr val="window" lastClr="FFFFFF">
                  <a:lumMod val="75000"/>
                </a:sysClr>
              </a:buClr>
              <a:buSzPct val="80000"/>
              <a:buFont typeface="Wingdings" panose="05000000000000000000" pitchFamily="2" charset="2"/>
              <a:buChar char="§"/>
              <a:tabLst>
                <a:tab pos="5561906" algn="l"/>
              </a:tabLst>
              <a:defRPr/>
            </a:pPr>
            <a:r>
              <a:rPr kumimoji="0" lang="ko-KR" altLang="en-US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식별된 위험은 </a:t>
            </a:r>
            <a:r>
              <a:rPr kumimoji="0" lang="ko-KR" altLang="en-US" sz="900" kern="0">
                <a:solidFill>
                  <a:sysClr val="windowText" lastClr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위험관리대장</a:t>
            </a:r>
            <a:r>
              <a:rPr kumimoji="0" lang="ko-KR" altLang="en-US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에 등록하고</a:t>
            </a:r>
            <a:r>
              <a:rPr kumimoji="0" lang="en-US" altLang="ko-KR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kumimoji="0" lang="ko-KR" altLang="en-US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고유한 </a:t>
            </a:r>
            <a:r>
              <a:rPr kumimoji="0" lang="ko-KR" altLang="en-US" sz="900" kern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식별자를</a:t>
            </a:r>
            <a:r>
              <a:rPr kumimoji="0" lang="ko-KR" altLang="en-US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부여하여 추적관리</a:t>
            </a:r>
            <a:endParaRPr kumimoji="0" lang="en-US" altLang="ko-KR" sz="900" kern="0">
              <a:solidFill>
                <a:sysClr val="windowText" lastClr="000000">
                  <a:lumMod val="75000"/>
                  <a:lumOff val="25000"/>
                </a:sys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marL="90000" lvl="1" indent="-90000" eaLnBrk="1" fontAlgn="auto" hangingPunct="1">
              <a:spcBef>
                <a:spcPts val="295"/>
              </a:spcBef>
              <a:spcAft>
                <a:spcPts val="0"/>
              </a:spcAft>
              <a:buClr>
                <a:sysClr val="window" lastClr="FFFFFF">
                  <a:lumMod val="75000"/>
                </a:sysClr>
              </a:buClr>
              <a:buSzPct val="80000"/>
              <a:buFont typeface="Wingdings" panose="05000000000000000000" pitchFamily="2" charset="2"/>
              <a:buChar char="§"/>
              <a:tabLst>
                <a:tab pos="5561906" algn="l"/>
              </a:tabLst>
              <a:defRPr/>
            </a:pPr>
            <a:r>
              <a:rPr kumimoji="0" lang="ko-KR" altLang="en-US" sz="900" kern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위험 식별 체크리스트는 제안사의 고유 체크리스트 활용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C1494B3D-AE0D-E708-7B34-93EC6BC29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663" y="4378325"/>
            <a:ext cx="5065712" cy="846138"/>
          </a:xfrm>
          <a:prstGeom prst="rect">
            <a:avLst/>
          </a:prstGeom>
          <a:noFill/>
          <a:ln>
            <a:noFill/>
          </a:ln>
        </p:spPr>
        <p:txBody>
          <a:bodyPr lIns="54000" tIns="36000" rIns="54000" bIns="36000" anchor="ctr"/>
          <a:lstStyle/>
          <a:p>
            <a:pPr marL="225102" lvl="1" indent="-225102" defTabSz="1027030" eaLnBrk="1" fontAlgn="auto" hangingPunct="1">
              <a:spcBef>
                <a:spcPts val="295"/>
              </a:spcBef>
              <a:spcAft>
                <a:spcPts val="0"/>
              </a:spcAft>
              <a:buClr>
                <a:sysClr val="windowText" lastClr="000000">
                  <a:lumMod val="85000"/>
                  <a:lumOff val="15000"/>
                </a:sysClr>
              </a:buClr>
              <a:buSzPct val="80000"/>
              <a:buFont typeface="+mj-ea"/>
              <a:buAutoNum type="circleNumDbPlain"/>
              <a:tabLst>
                <a:tab pos="5561906" algn="l"/>
              </a:tabLst>
              <a:defRPr/>
            </a:pPr>
            <a:endParaRPr kumimoji="0" lang="ko-KR" altLang="en-US" sz="1000" kern="0">
              <a:solidFill>
                <a:sysClr val="windowText" lastClr="000000">
                  <a:lumMod val="85000"/>
                  <a:lumOff val="15000"/>
                </a:sys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26667" name="TextBox 26">
            <a:extLst>
              <a:ext uri="{FF2B5EF4-FFF2-40B4-BE49-F238E27FC236}">
                <a16:creationId xmlns:a16="http://schemas.microsoft.com/office/drawing/2014/main" id="{CA0944F0-9D62-D4E2-F4E2-600DFC300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4603750"/>
            <a:ext cx="64928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41" tIns="45020" rIns="90041" bIns="4502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발생</a:t>
            </a:r>
            <a:endParaRPr lang="en-US" altLang="ko-KR" sz="900">
              <a:solidFill>
                <a:srgbClr val="262626"/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확률</a:t>
            </a:r>
            <a:endParaRPr lang="en-US" altLang="ko-KR" sz="900">
              <a:solidFill>
                <a:srgbClr val="262626"/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분석</a:t>
            </a:r>
          </a:p>
        </p:txBody>
      </p:sp>
      <p:sp>
        <p:nvSpPr>
          <p:cNvPr id="26668" name="TextBox 26">
            <a:extLst>
              <a:ext uri="{FF2B5EF4-FFF2-40B4-BE49-F238E27FC236}">
                <a16:creationId xmlns:a16="http://schemas.microsoft.com/office/drawing/2014/main" id="{E6AF8789-B568-2CD8-3580-790A72F37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5726113"/>
            <a:ext cx="6492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41" tIns="45020" rIns="90041" bIns="4502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영향</a:t>
            </a:r>
            <a:endParaRPr lang="en-US" altLang="ko-KR" sz="900">
              <a:solidFill>
                <a:srgbClr val="262626"/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분석</a:t>
            </a:r>
          </a:p>
        </p:txBody>
      </p:sp>
      <p:sp>
        <p:nvSpPr>
          <p:cNvPr id="26669" name="TextBox 26">
            <a:extLst>
              <a:ext uri="{FF2B5EF4-FFF2-40B4-BE49-F238E27FC236}">
                <a16:creationId xmlns:a16="http://schemas.microsoft.com/office/drawing/2014/main" id="{A923E2A3-1868-2239-A00C-DB5DF41CB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7188200"/>
            <a:ext cx="6492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41" tIns="45020" rIns="90041" bIns="4502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위험등급</a:t>
            </a:r>
            <a:endParaRPr lang="en-US" altLang="ko-KR" sz="900">
              <a:solidFill>
                <a:srgbClr val="262626"/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및</a:t>
            </a:r>
            <a:endParaRPr lang="en-US" altLang="ko-KR" sz="900">
              <a:solidFill>
                <a:srgbClr val="262626"/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우선순위</a:t>
            </a:r>
            <a:endParaRPr lang="en-US" altLang="ko-KR" sz="900">
              <a:solidFill>
                <a:srgbClr val="262626"/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결정</a:t>
            </a:r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2A3287C4-6C64-D08C-78FE-7C60354A6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663" y="5340350"/>
            <a:ext cx="5065712" cy="1143000"/>
          </a:xfrm>
          <a:prstGeom prst="rect">
            <a:avLst/>
          </a:prstGeom>
          <a:noFill/>
          <a:ln>
            <a:noFill/>
          </a:ln>
        </p:spPr>
        <p:txBody>
          <a:bodyPr lIns="54000" tIns="36000" rIns="54000" bIns="36000" anchor="ctr"/>
          <a:lstStyle/>
          <a:p>
            <a:pPr marL="225102" lvl="1" indent="-225102" defTabSz="1027030" eaLnBrk="1" fontAlgn="auto" hangingPunct="1">
              <a:spcBef>
                <a:spcPts val="295"/>
              </a:spcBef>
              <a:spcAft>
                <a:spcPts val="0"/>
              </a:spcAft>
              <a:buClr>
                <a:sysClr val="windowText" lastClr="000000">
                  <a:lumMod val="85000"/>
                  <a:lumOff val="15000"/>
                </a:sysClr>
              </a:buClr>
              <a:buSzPct val="80000"/>
              <a:buFont typeface="+mj-ea"/>
              <a:buAutoNum type="circleNumDbPlain"/>
              <a:tabLst>
                <a:tab pos="5561906" algn="l"/>
              </a:tabLst>
              <a:defRPr/>
            </a:pPr>
            <a:endParaRPr kumimoji="0" lang="ko-KR" altLang="en-US" sz="1000" kern="0">
              <a:solidFill>
                <a:sysClr val="windowText" lastClr="000000">
                  <a:lumMod val="85000"/>
                  <a:lumOff val="15000"/>
                </a:sys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B0AA60F2-C30B-E773-54D5-100348FBE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663" y="8405813"/>
            <a:ext cx="5065712" cy="1038225"/>
          </a:xfrm>
          <a:prstGeom prst="rect">
            <a:avLst/>
          </a:prstGeom>
          <a:noFill/>
          <a:ln>
            <a:noFill/>
          </a:ln>
        </p:spPr>
        <p:txBody>
          <a:bodyPr lIns="54000" tIns="36000" rIns="54000" bIns="36000" anchor="ctr"/>
          <a:lstStyle/>
          <a:p>
            <a:pPr marL="225102" lvl="1" indent="-225102" defTabSz="1027030" eaLnBrk="1" fontAlgn="auto" hangingPunct="1">
              <a:spcBef>
                <a:spcPts val="295"/>
              </a:spcBef>
              <a:spcAft>
                <a:spcPts val="0"/>
              </a:spcAft>
              <a:buClr>
                <a:sysClr val="windowText" lastClr="000000">
                  <a:lumMod val="85000"/>
                  <a:lumOff val="15000"/>
                </a:sysClr>
              </a:buClr>
              <a:buSzPct val="80000"/>
              <a:buFont typeface="+mj-ea"/>
              <a:buAutoNum type="circleNumDbPlain"/>
              <a:tabLst>
                <a:tab pos="5561906" algn="l"/>
              </a:tabLst>
              <a:defRPr/>
            </a:pPr>
            <a:endParaRPr kumimoji="0" lang="ko-KR" altLang="en-US" sz="1000" kern="0">
              <a:solidFill>
                <a:sysClr val="windowText" lastClr="000000">
                  <a:lumMod val="85000"/>
                  <a:lumOff val="15000"/>
                </a:sys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26672" name="TextBox 26">
            <a:extLst>
              <a:ext uri="{FF2B5EF4-FFF2-40B4-BE49-F238E27FC236}">
                <a16:creationId xmlns:a16="http://schemas.microsoft.com/office/drawing/2014/main" id="{D11F57DE-CCDD-C137-0FB1-90AE86A33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8753475"/>
            <a:ext cx="64928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41" tIns="45020" rIns="90041" bIns="4502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목록작성</a:t>
            </a:r>
            <a:endParaRPr lang="en-US" altLang="ko-KR" sz="900">
              <a:solidFill>
                <a:srgbClr val="262626"/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및</a:t>
            </a:r>
            <a:endParaRPr lang="en-US" altLang="ko-KR" sz="900">
              <a:solidFill>
                <a:srgbClr val="262626"/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eaLnBrk="1" hangingPunct="1"/>
            <a:r>
              <a:rPr lang="ko-KR" altLang="en-US" sz="900">
                <a:solidFill>
                  <a:srgbClr val="262626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대책수립</a:t>
            </a:r>
          </a:p>
        </p:txBody>
      </p:sp>
      <p:cxnSp>
        <p:nvCxnSpPr>
          <p:cNvPr id="26673" name="직선 연결선 11">
            <a:extLst>
              <a:ext uri="{FF2B5EF4-FFF2-40B4-BE49-F238E27FC236}">
                <a16:creationId xmlns:a16="http://schemas.microsoft.com/office/drawing/2014/main" id="{465B74DB-CC33-68A4-1FFE-8BC7F774030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4650" y="4173538"/>
            <a:ext cx="4760913" cy="0"/>
          </a:xfrm>
          <a:prstGeom prst="straightConnector1">
            <a:avLst/>
          </a:prstGeom>
          <a:noFill/>
          <a:ln w="6350" cap="rnd" algn="ctr">
            <a:solidFill>
              <a:srgbClr val="969696"/>
            </a:solidFill>
            <a:prstDash val="dash"/>
            <a:round/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4" name="직선 연결선 11">
            <a:extLst>
              <a:ext uri="{FF2B5EF4-FFF2-40B4-BE49-F238E27FC236}">
                <a16:creationId xmlns:a16="http://schemas.microsoft.com/office/drawing/2014/main" id="{0C8DD93E-367B-C650-502E-928E89E9971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4650" y="5297488"/>
            <a:ext cx="4760913" cy="0"/>
          </a:xfrm>
          <a:prstGeom prst="straightConnector1">
            <a:avLst/>
          </a:prstGeom>
          <a:noFill/>
          <a:ln w="6350" cap="rnd" algn="ctr">
            <a:solidFill>
              <a:srgbClr val="969696"/>
            </a:solidFill>
            <a:prstDash val="dash"/>
            <a:round/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대각선 방향의 모서리가 둥근 사각형 26">
            <a:extLst>
              <a:ext uri="{FF2B5EF4-FFF2-40B4-BE49-F238E27FC236}">
                <a16:creationId xmlns:a16="http://schemas.microsoft.com/office/drawing/2014/main" id="{BAF24396-8D20-F42D-74F0-8F690C686720}"/>
              </a:ext>
            </a:extLst>
          </p:cNvPr>
          <p:cNvSpPr/>
          <p:nvPr/>
        </p:nvSpPr>
        <p:spPr bwMode="auto">
          <a:xfrm>
            <a:off x="1006475" y="4187825"/>
            <a:ext cx="590550" cy="1092200"/>
          </a:xfrm>
          <a:prstGeom prst="round2DiagRect">
            <a:avLst/>
          </a:prstGeom>
          <a:pattFill prst="smGrid">
            <a:fgClr>
              <a:srgbClr val="F9F9F9"/>
            </a:fgClr>
            <a:bgClr>
              <a:sysClr val="window" lastClr="FFFFFF"/>
            </a:bgClr>
          </a:pattFill>
          <a:ln w="6350" cap="flat" cmpd="sng" algn="ctr">
            <a:solidFill>
              <a:srgbClr val="4F81BD">
                <a:lumMod val="20000"/>
                <a:lumOff val="80000"/>
              </a:srgbClr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19175" latinLnBrk="0">
              <a:buClr>
                <a:sysClr val="window" lastClr="FFFFFF">
                  <a:lumMod val="65000"/>
                </a:sysClr>
              </a:buClr>
              <a:buSzPct val="80000"/>
              <a:defRPr/>
            </a:pPr>
            <a:r>
              <a:rPr kumimoji="0" lang="ko-KR" altLang="en-US" sz="900">
                <a:solidFill>
                  <a:srgbClr val="008CC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등급에</a:t>
            </a:r>
            <a:endParaRPr kumimoji="0" lang="en-US" altLang="ko-KR" sz="900">
              <a:solidFill>
                <a:srgbClr val="008CC8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1019175" latinLnBrk="0">
              <a:buClr>
                <a:sysClr val="window" lastClr="FFFFFF">
                  <a:lumMod val="65000"/>
                </a:sysClr>
              </a:buClr>
              <a:buSzPct val="80000"/>
              <a:defRPr/>
            </a:pPr>
            <a:r>
              <a:rPr kumimoji="0" lang="ko-KR" altLang="en-US" sz="900" err="1">
                <a:solidFill>
                  <a:srgbClr val="008CC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따른발생</a:t>
            </a:r>
            <a:r>
              <a:rPr kumimoji="0" lang="ko-KR" altLang="en-US" sz="900">
                <a:solidFill>
                  <a:srgbClr val="008CC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확률분석</a:t>
            </a:r>
          </a:p>
        </p:txBody>
      </p:sp>
      <p:graphicFrame>
        <p:nvGraphicFramePr>
          <p:cNvPr id="28" name="Group 166">
            <a:extLst>
              <a:ext uri="{FF2B5EF4-FFF2-40B4-BE49-F238E27FC236}">
                <a16:creationId xmlns:a16="http://schemas.microsoft.com/office/drawing/2014/main" id="{0EDE696D-59C1-1897-0773-6AE8F2E98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902967"/>
              </p:ext>
            </p:extLst>
          </p:nvPr>
        </p:nvGraphicFramePr>
        <p:xfrm>
          <a:off x="1670050" y="4232275"/>
          <a:ext cx="4722813" cy="922338"/>
        </p:xfrm>
        <a:graphic>
          <a:graphicData uri="http://schemas.openxmlformats.org/drawingml/2006/table">
            <a:tbl>
              <a:tblPr/>
              <a:tblGrid>
                <a:gridCol w="666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506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구분</a:t>
                      </a:r>
                    </a:p>
                  </a:txBody>
                  <a:tcPr marL="35994" marR="35994" marT="36017" marB="36017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상</a:t>
                      </a:r>
                    </a:p>
                  </a:txBody>
                  <a:tcPr marL="35994" marR="35994" marT="36017" marB="36017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중</a:t>
                      </a:r>
                    </a:p>
                  </a:txBody>
                  <a:tcPr marL="35994" marR="35994" marT="36017" marB="36017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하</a:t>
                      </a:r>
                    </a:p>
                  </a:txBody>
                  <a:tcPr marL="35994" marR="35994" marT="36017" marB="36017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16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발생가능성</a:t>
                      </a:r>
                    </a:p>
                  </a:txBody>
                  <a:tcPr marL="35994" marR="35994" marT="36017" marB="36017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70%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이상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빈번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)</a:t>
                      </a:r>
                      <a:endParaRPr kumimoji="1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"/>
                        <a:sym typeface="Monotype Sorts"/>
                      </a:endParaRPr>
                    </a:p>
                  </a:txBody>
                  <a:tcPr marL="35994" marR="35994" marT="36017" marB="36017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10%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이상 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30%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미만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보통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)</a:t>
                      </a:r>
                      <a:endParaRPr kumimoji="1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"/>
                        <a:sym typeface="Monotype Sorts"/>
                      </a:endParaRPr>
                    </a:p>
                  </a:txBody>
                  <a:tcPr marL="35994" marR="35994" marT="36017" marB="36017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10%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이하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희박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)</a:t>
                      </a:r>
                      <a:endParaRPr kumimoji="1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"/>
                        <a:sym typeface="Monotype Sorts"/>
                      </a:endParaRPr>
                    </a:p>
                  </a:txBody>
                  <a:tcPr marL="35994" marR="35994" marT="36017" marB="36017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9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위험요소</a:t>
                      </a:r>
                    </a:p>
                  </a:txBody>
                  <a:tcPr marL="35994" marR="35994" marT="36017" marB="36017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60</a:t>
                      </a:r>
                      <a:endParaRPr kumimoji="1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"/>
                        <a:sym typeface="Monotype Sorts"/>
                      </a:endParaRPr>
                    </a:p>
                  </a:txBody>
                  <a:tcPr marL="35994" marR="35994" marT="36017" marB="36017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30</a:t>
                      </a:r>
                      <a:endParaRPr kumimoji="1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"/>
                        <a:sym typeface="Monotype Sorts"/>
                      </a:endParaRPr>
                    </a:p>
                  </a:txBody>
                  <a:tcPr marL="35994" marR="35994" marT="36017" marB="36017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10</a:t>
                      </a:r>
                      <a:endParaRPr kumimoji="1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"/>
                        <a:sym typeface="Monotype Sorts"/>
                      </a:endParaRPr>
                    </a:p>
                  </a:txBody>
                  <a:tcPr marL="35994" marR="35994" marT="36017" marB="36017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대각선 방향의 모서리가 둥근 사각형 28">
            <a:extLst>
              <a:ext uri="{FF2B5EF4-FFF2-40B4-BE49-F238E27FC236}">
                <a16:creationId xmlns:a16="http://schemas.microsoft.com/office/drawing/2014/main" id="{9E0BBC26-3E19-5D33-8E9E-E5B35968248F}"/>
              </a:ext>
            </a:extLst>
          </p:cNvPr>
          <p:cNvSpPr/>
          <p:nvPr/>
        </p:nvSpPr>
        <p:spPr bwMode="auto">
          <a:xfrm>
            <a:off x="1006475" y="5327650"/>
            <a:ext cx="590550" cy="1152525"/>
          </a:xfrm>
          <a:prstGeom prst="round2DiagRect">
            <a:avLst/>
          </a:prstGeom>
          <a:pattFill prst="smGrid">
            <a:fgClr>
              <a:srgbClr val="F9F9F9"/>
            </a:fgClr>
            <a:bgClr>
              <a:sysClr val="window" lastClr="FFFFFF"/>
            </a:bgClr>
          </a:pattFill>
          <a:ln w="6350" cap="flat" cmpd="sng" algn="ctr">
            <a:solidFill>
              <a:srgbClr val="4F81BD">
                <a:lumMod val="20000"/>
                <a:lumOff val="80000"/>
              </a:srgbClr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19175" latinLnBrk="0">
              <a:buClr>
                <a:sysClr val="window" lastClr="FFFFFF">
                  <a:lumMod val="65000"/>
                </a:sysClr>
              </a:buClr>
              <a:buSzPct val="80000"/>
              <a:defRPr/>
            </a:pPr>
            <a:r>
              <a:rPr kumimoji="0" lang="ko-KR" altLang="en-US" sz="900">
                <a:solidFill>
                  <a:srgbClr val="008CC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영향도 </a:t>
            </a:r>
            <a:endParaRPr kumimoji="0" lang="en-US" altLang="ko-KR" sz="900">
              <a:solidFill>
                <a:srgbClr val="008CC8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1019175" latinLnBrk="0">
              <a:buClr>
                <a:sysClr val="window" lastClr="FFFFFF">
                  <a:lumMod val="65000"/>
                </a:sysClr>
              </a:buClr>
              <a:buSzPct val="80000"/>
              <a:defRPr/>
            </a:pPr>
            <a:r>
              <a:rPr kumimoji="0" lang="ko-KR" altLang="en-US" sz="900">
                <a:solidFill>
                  <a:srgbClr val="008CC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</a:t>
            </a:r>
          </a:p>
        </p:txBody>
      </p:sp>
      <p:grpSp>
        <p:nvGrpSpPr>
          <p:cNvPr id="26697" name="그룹 291">
            <a:extLst>
              <a:ext uri="{FF2B5EF4-FFF2-40B4-BE49-F238E27FC236}">
                <a16:creationId xmlns:a16="http://schemas.microsoft.com/office/drawing/2014/main" id="{87F2316B-8D70-7D47-C72B-0E99DF9C4824}"/>
              </a:ext>
            </a:extLst>
          </p:cNvPr>
          <p:cNvGrpSpPr>
            <a:grpSpLocks/>
          </p:cNvGrpSpPr>
          <p:nvPr/>
        </p:nvGrpSpPr>
        <p:grpSpPr bwMode="auto">
          <a:xfrm>
            <a:off x="1158875" y="3459163"/>
            <a:ext cx="138113" cy="138112"/>
            <a:chOff x="1313969" y="1153426"/>
            <a:chExt cx="360000" cy="342000"/>
          </a:xfrm>
        </p:grpSpPr>
        <p:pic>
          <p:nvPicPr>
            <p:cNvPr id="26858" name="Picture 27" descr="ball_br">
              <a:extLst>
                <a:ext uri="{FF2B5EF4-FFF2-40B4-BE49-F238E27FC236}">
                  <a16:creationId xmlns:a16="http://schemas.microsoft.com/office/drawing/2014/main" id="{DEBC1CCD-8C47-7C7F-5E51-003A2361FF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969" y="1153426"/>
              <a:ext cx="360000" cy="34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859" name="모서리가 둥근 직사각형 31">
              <a:extLst>
                <a:ext uri="{FF2B5EF4-FFF2-40B4-BE49-F238E27FC236}">
                  <a16:creationId xmlns:a16="http://schemas.microsoft.com/office/drawing/2014/main" id="{A76ADB43-05DF-46C3-60FF-B94A9485A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414" y="1162778"/>
              <a:ext cx="255113" cy="282132"/>
            </a:xfrm>
            <a:prstGeom prst="roundRect">
              <a:avLst>
                <a:gd name="adj" fmla="val 12222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buSzPct val="140000"/>
              </a:pPr>
              <a:r>
                <a:rPr kumimoji="0" lang="en-US" altLang="ko-KR" sz="7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rPr>
                <a:t>1</a:t>
              </a:r>
              <a:endParaRPr kumimoji="0" lang="ko-KR" altLang="en-US" sz="7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6698" name="그룹 303">
            <a:extLst>
              <a:ext uri="{FF2B5EF4-FFF2-40B4-BE49-F238E27FC236}">
                <a16:creationId xmlns:a16="http://schemas.microsoft.com/office/drawing/2014/main" id="{1503C7E8-9AB0-70E3-6471-D1704686A36D}"/>
              </a:ext>
            </a:extLst>
          </p:cNvPr>
          <p:cNvGrpSpPr>
            <a:grpSpLocks/>
          </p:cNvGrpSpPr>
          <p:nvPr/>
        </p:nvGrpSpPr>
        <p:grpSpPr bwMode="auto">
          <a:xfrm>
            <a:off x="1158875" y="3632200"/>
            <a:ext cx="138113" cy="138113"/>
            <a:chOff x="1313969" y="1153426"/>
            <a:chExt cx="360000" cy="342000"/>
          </a:xfrm>
        </p:grpSpPr>
        <p:pic>
          <p:nvPicPr>
            <p:cNvPr id="26856" name="Picture 27" descr="ball_br">
              <a:extLst>
                <a:ext uri="{FF2B5EF4-FFF2-40B4-BE49-F238E27FC236}">
                  <a16:creationId xmlns:a16="http://schemas.microsoft.com/office/drawing/2014/main" id="{6FC43C5E-A534-9DE7-D90C-444453D8F5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969" y="1153426"/>
              <a:ext cx="360000" cy="34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857" name="모서리가 둥근 직사각형 34">
              <a:extLst>
                <a:ext uri="{FF2B5EF4-FFF2-40B4-BE49-F238E27FC236}">
                  <a16:creationId xmlns:a16="http://schemas.microsoft.com/office/drawing/2014/main" id="{DDC7A1C6-4AF8-8784-094E-4A298BE48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414" y="1162778"/>
              <a:ext cx="255113" cy="282132"/>
            </a:xfrm>
            <a:prstGeom prst="roundRect">
              <a:avLst>
                <a:gd name="adj" fmla="val 12222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buSzPct val="140000"/>
              </a:pPr>
              <a:r>
                <a:rPr kumimoji="0" lang="en-US" altLang="ko-KR" sz="7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rPr>
                <a:t>2</a:t>
              </a:r>
              <a:endParaRPr kumimoji="0" lang="ko-KR" altLang="en-US" sz="7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6699" name="그룹 306">
            <a:extLst>
              <a:ext uri="{FF2B5EF4-FFF2-40B4-BE49-F238E27FC236}">
                <a16:creationId xmlns:a16="http://schemas.microsoft.com/office/drawing/2014/main" id="{BD5C43FA-36BA-4173-5774-98E0D188A75F}"/>
              </a:ext>
            </a:extLst>
          </p:cNvPr>
          <p:cNvGrpSpPr>
            <a:grpSpLocks/>
          </p:cNvGrpSpPr>
          <p:nvPr/>
        </p:nvGrpSpPr>
        <p:grpSpPr bwMode="auto">
          <a:xfrm>
            <a:off x="1158875" y="3811588"/>
            <a:ext cx="138113" cy="138112"/>
            <a:chOff x="1313969" y="1153426"/>
            <a:chExt cx="360000" cy="342000"/>
          </a:xfrm>
        </p:grpSpPr>
        <p:pic>
          <p:nvPicPr>
            <p:cNvPr id="26854" name="Picture 27" descr="ball_br">
              <a:extLst>
                <a:ext uri="{FF2B5EF4-FFF2-40B4-BE49-F238E27FC236}">
                  <a16:creationId xmlns:a16="http://schemas.microsoft.com/office/drawing/2014/main" id="{AA6CFA33-41C2-3D1D-C046-76C397A295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969" y="1153426"/>
              <a:ext cx="360000" cy="34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855" name="모서리가 둥근 직사각형 37">
              <a:extLst>
                <a:ext uri="{FF2B5EF4-FFF2-40B4-BE49-F238E27FC236}">
                  <a16:creationId xmlns:a16="http://schemas.microsoft.com/office/drawing/2014/main" id="{8FF285AC-F408-1CF2-01FB-B44FC09B2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414" y="1162778"/>
              <a:ext cx="255113" cy="282132"/>
            </a:xfrm>
            <a:prstGeom prst="roundRect">
              <a:avLst>
                <a:gd name="adj" fmla="val 12222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buSzPct val="140000"/>
              </a:pPr>
              <a:r>
                <a:rPr kumimoji="0" lang="en-US" altLang="ko-KR" sz="7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rPr>
                <a:t>3</a:t>
              </a:r>
              <a:endParaRPr kumimoji="0" lang="ko-KR" altLang="en-US" sz="7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6700" name="그룹 309">
            <a:extLst>
              <a:ext uri="{FF2B5EF4-FFF2-40B4-BE49-F238E27FC236}">
                <a16:creationId xmlns:a16="http://schemas.microsoft.com/office/drawing/2014/main" id="{1442E576-305E-534B-74C5-9F458953E213}"/>
              </a:ext>
            </a:extLst>
          </p:cNvPr>
          <p:cNvGrpSpPr>
            <a:grpSpLocks/>
          </p:cNvGrpSpPr>
          <p:nvPr/>
        </p:nvGrpSpPr>
        <p:grpSpPr bwMode="auto">
          <a:xfrm>
            <a:off x="1158875" y="3986213"/>
            <a:ext cx="138113" cy="138112"/>
            <a:chOff x="1313969" y="1153426"/>
            <a:chExt cx="360000" cy="342000"/>
          </a:xfrm>
        </p:grpSpPr>
        <p:pic>
          <p:nvPicPr>
            <p:cNvPr id="26852" name="Picture 27" descr="ball_br">
              <a:extLst>
                <a:ext uri="{FF2B5EF4-FFF2-40B4-BE49-F238E27FC236}">
                  <a16:creationId xmlns:a16="http://schemas.microsoft.com/office/drawing/2014/main" id="{D96BCAC2-99D0-0B99-D791-814338EA9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969" y="1153426"/>
              <a:ext cx="360000" cy="34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853" name="모서리가 둥근 직사각형 40">
              <a:extLst>
                <a:ext uri="{FF2B5EF4-FFF2-40B4-BE49-F238E27FC236}">
                  <a16:creationId xmlns:a16="http://schemas.microsoft.com/office/drawing/2014/main" id="{A414F5A1-3E57-BF87-7D8E-D4E3D6877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414" y="1162778"/>
              <a:ext cx="255113" cy="282132"/>
            </a:xfrm>
            <a:prstGeom prst="roundRect">
              <a:avLst>
                <a:gd name="adj" fmla="val 12222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buSzPct val="140000"/>
              </a:pPr>
              <a:r>
                <a:rPr kumimoji="0" lang="en-US" altLang="ko-KR" sz="7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rPr>
                <a:t>4</a:t>
              </a:r>
              <a:endParaRPr kumimoji="0" lang="ko-KR" altLang="en-US" sz="7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42" name="양쪽 모서리가 둥근 사각형 41">
            <a:extLst>
              <a:ext uri="{FF2B5EF4-FFF2-40B4-BE49-F238E27FC236}">
                <a16:creationId xmlns:a16="http://schemas.microsoft.com/office/drawing/2014/main" id="{19FB1347-A6F2-6D8A-6F0A-A81EF7CC8FEC}"/>
              </a:ext>
            </a:extLst>
          </p:cNvPr>
          <p:cNvSpPr/>
          <p:nvPr/>
        </p:nvSpPr>
        <p:spPr bwMode="auto">
          <a:xfrm>
            <a:off x="1044575" y="3100388"/>
            <a:ext cx="5164138" cy="288925"/>
          </a:xfrm>
          <a:prstGeom prst="round2SameRect">
            <a:avLst/>
          </a:prstGeom>
          <a:gradFill flip="none" rotWithShape="1">
            <a:gsLst>
              <a:gs pos="0">
                <a:srgbClr val="1482AA"/>
              </a:gs>
              <a:gs pos="100000">
                <a:srgbClr val="1E99C5"/>
              </a:gs>
            </a:gsLst>
            <a:lin ang="5400000" scaled="1"/>
            <a:tileRect/>
          </a:gradFill>
          <a:ln w="6350" cap="flat" cmpd="sng" algn="ctr">
            <a:solidFill>
              <a:srgbClr val="008CC8"/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180975" algn="ctr">
              <a:lnSpc>
                <a:spcPct val="90000"/>
              </a:lnSpc>
              <a:buClr>
                <a:sysClr val="window" lastClr="FFFFFF">
                  <a:lumMod val="65000"/>
                </a:sysClr>
              </a:buClr>
              <a:buSzPct val="80000"/>
              <a:tabLst>
                <a:tab pos="5648325" algn="l"/>
              </a:tabLst>
              <a:defRPr/>
            </a:pPr>
            <a:r>
              <a:rPr kumimoji="0" lang="ko-KR" altLang="en-US" sz="1100">
                <a:solidFill>
                  <a:sysClr val="window" lastClr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위험요소 식별</a:t>
            </a:r>
          </a:p>
        </p:txBody>
      </p:sp>
      <p:graphicFrame>
        <p:nvGraphicFramePr>
          <p:cNvPr id="43" name="Group 166">
            <a:extLst>
              <a:ext uri="{FF2B5EF4-FFF2-40B4-BE49-F238E27FC236}">
                <a16:creationId xmlns:a16="http://schemas.microsoft.com/office/drawing/2014/main" id="{86A05C89-35B0-400D-E1F7-CBCF831BC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864412"/>
              </p:ext>
            </p:extLst>
          </p:nvPr>
        </p:nvGraphicFramePr>
        <p:xfrm>
          <a:off x="1670050" y="5375275"/>
          <a:ext cx="4722812" cy="1171640"/>
        </p:xfrm>
        <a:graphic>
          <a:graphicData uri="http://schemas.openxmlformats.org/drawingml/2006/table">
            <a:tbl>
              <a:tblPr/>
              <a:tblGrid>
                <a:gridCol w="354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3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4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319">
                <a:tc rowSpan="4"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영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향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도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기준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기 술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비 용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일 정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품 질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endParaRPr kumimoji="0" lang="en-US" altLang="ko-KR" sz="800" b="0" kern="1200" spc="-10" dirty="0">
                        <a:solidFill>
                          <a:schemeClr val="tx1"/>
                        </a:solidFill>
                        <a:latin typeface="-윤고딕140" pitchFamily="18" charset="-127"/>
                        <a:ea typeface="-윤고딕140" pitchFamily="18" charset="-127"/>
                        <a:cs typeface="+mn-cs"/>
                        <a:sym typeface="Monotype Sorts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5"/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상 </a:t>
                      </a:r>
                      <a:endParaRPr kumimoji="1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기술적 구현 불가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5%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이상 비용증가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5%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이상 일정지연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또는 일정지연 파악불가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수용 불가한 품질저하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75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endParaRPr kumimoji="0" lang="en-US" altLang="ko-KR" sz="800" b="0" kern="1200" spc="-10" dirty="0">
                        <a:solidFill>
                          <a:schemeClr val="tx1"/>
                        </a:solidFill>
                        <a:latin typeface="-윤고딕140" pitchFamily="18" charset="-127"/>
                        <a:ea typeface="-윤고딕140" pitchFamily="18" charset="-127"/>
                        <a:cs typeface="+mn-cs"/>
                        <a:sym typeface="Monotype Sorts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중</a:t>
                      </a:r>
                      <a:endParaRPr kumimoji="1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납품에 영향이 있음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1% 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이상 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5%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미만 비용증가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1%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이상 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5%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미만 비용증가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승인 필요한 품질저하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하</a:t>
                      </a:r>
                      <a:endParaRPr kumimoji="1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요구사항 충족가능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1%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 미만 비용증가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1%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미만 비용증가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경미한 품질 저하</a:t>
                      </a:r>
                    </a:p>
                  </a:txBody>
                  <a:tcPr marL="0" marR="0" marT="35965" marB="35965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대각선 방향의 모서리가 둥근 사각형 43">
            <a:extLst>
              <a:ext uri="{FF2B5EF4-FFF2-40B4-BE49-F238E27FC236}">
                <a16:creationId xmlns:a16="http://schemas.microsoft.com/office/drawing/2014/main" id="{E4086E4F-E422-F0BE-469B-4AC55A2AFD87}"/>
              </a:ext>
            </a:extLst>
          </p:cNvPr>
          <p:cNvSpPr/>
          <p:nvPr/>
        </p:nvSpPr>
        <p:spPr bwMode="auto">
          <a:xfrm>
            <a:off x="1006475" y="8335963"/>
            <a:ext cx="590550" cy="1122362"/>
          </a:xfrm>
          <a:prstGeom prst="round2DiagRect">
            <a:avLst/>
          </a:prstGeom>
          <a:pattFill prst="smGrid">
            <a:fgClr>
              <a:srgbClr val="F9F9F9"/>
            </a:fgClr>
            <a:bgClr>
              <a:sysClr val="window" lastClr="FFFFFF"/>
            </a:bgClr>
          </a:pattFill>
          <a:ln w="6350" cap="flat" cmpd="sng" algn="ctr">
            <a:solidFill>
              <a:srgbClr val="4F81BD">
                <a:lumMod val="20000"/>
                <a:lumOff val="80000"/>
              </a:srgbClr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19175" latinLnBrk="0">
              <a:buClr>
                <a:sysClr val="window" lastClr="FFFFFF">
                  <a:lumMod val="65000"/>
                </a:sysClr>
              </a:buClr>
              <a:buSzPct val="80000"/>
              <a:defRPr/>
            </a:pPr>
            <a:r>
              <a:rPr kumimoji="0" lang="ko-KR" altLang="en-US" sz="900">
                <a:solidFill>
                  <a:srgbClr val="008CC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영향도 </a:t>
            </a:r>
            <a:endParaRPr kumimoji="0" lang="en-US" altLang="ko-KR" sz="900">
              <a:solidFill>
                <a:srgbClr val="008CC8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1019175" latinLnBrk="0">
              <a:buClr>
                <a:sysClr val="window" lastClr="FFFFFF">
                  <a:lumMod val="65000"/>
                </a:sysClr>
              </a:buClr>
              <a:buSzPct val="80000"/>
              <a:defRPr/>
            </a:pPr>
            <a:r>
              <a:rPr kumimoji="0" lang="ko-KR" altLang="en-US" sz="900">
                <a:solidFill>
                  <a:srgbClr val="008CC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</a:t>
            </a:r>
          </a:p>
        </p:txBody>
      </p:sp>
      <p:graphicFrame>
        <p:nvGraphicFramePr>
          <p:cNvPr id="45" name="Group 166">
            <a:extLst>
              <a:ext uri="{FF2B5EF4-FFF2-40B4-BE49-F238E27FC236}">
                <a16:creationId xmlns:a16="http://schemas.microsoft.com/office/drawing/2014/main" id="{E288D434-9A8B-3F27-5FE6-89FA6D4B5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113022"/>
              </p:ext>
            </p:extLst>
          </p:nvPr>
        </p:nvGraphicFramePr>
        <p:xfrm>
          <a:off x="1670050" y="8429625"/>
          <a:ext cx="4749801" cy="1022350"/>
        </p:xfrm>
        <a:graphic>
          <a:graphicData uri="http://schemas.openxmlformats.org/drawingml/2006/table">
            <a:tbl>
              <a:tblPr/>
              <a:tblGrid>
                <a:gridCol w="672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2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396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구 분</a:t>
                      </a:r>
                    </a:p>
                  </a:txBody>
                  <a:tcPr marL="35992" marR="35992" marT="35998" marB="359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상</a:t>
                      </a:r>
                    </a:p>
                  </a:txBody>
                  <a:tcPr marL="35992" marR="35992" marT="35998" marB="35998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중</a:t>
                      </a:r>
                    </a:p>
                  </a:txBody>
                  <a:tcPr marL="35992" marR="35992" marT="35998" marB="35998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하</a:t>
                      </a:r>
                    </a:p>
                  </a:txBody>
                  <a:tcPr marL="35992" marR="35992" marT="35998" marB="35998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977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기 준</a:t>
                      </a:r>
                    </a:p>
                  </a:txBody>
                  <a:tcPr marL="35992" marR="35992" marT="35998" marB="359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9000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위험도＞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250</a:t>
                      </a:r>
                      <a:endParaRPr kumimoji="1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"/>
                        <a:sym typeface="Monotype Sorts"/>
                      </a:endParaRPr>
                    </a:p>
                  </a:txBody>
                  <a:tcPr marL="35992" marR="35992" marT="35998" marB="35998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9000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50&lt;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위험도＜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250</a:t>
                      </a:r>
                      <a:endParaRPr kumimoji="1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"/>
                        <a:sym typeface="Monotype Sorts"/>
                      </a:endParaRPr>
                    </a:p>
                  </a:txBody>
                  <a:tcPr marL="35992" marR="35992" marT="35998" marB="35998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9000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위험도＜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50</a:t>
                      </a:r>
                      <a:endParaRPr kumimoji="1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"/>
                        <a:sym typeface="Monotype Sorts"/>
                      </a:endParaRPr>
                    </a:p>
                  </a:txBody>
                  <a:tcPr marL="35992" marR="35992" marT="35998" marB="35998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977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대 책</a:t>
                      </a:r>
                    </a:p>
                  </a:txBody>
                  <a:tcPr marL="35992" marR="35992" marT="35998" marB="359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9000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지속적인 감시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통제 및 별도의 대책</a:t>
                      </a:r>
                    </a:p>
                  </a:txBody>
                  <a:tcPr marL="35992" marR="35992" marT="35998" marB="35998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9000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지속적인 감시 및 통제</a:t>
                      </a:r>
                    </a:p>
                  </a:txBody>
                  <a:tcPr marL="35992" marR="35992" marT="35998" marB="35998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9000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상시 감시 및 통제</a:t>
                      </a:r>
                    </a:p>
                  </a:txBody>
                  <a:tcPr marL="35992" marR="35992" marT="35998" marB="35998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6755" name="직선 연결선 11">
            <a:extLst>
              <a:ext uri="{FF2B5EF4-FFF2-40B4-BE49-F238E27FC236}">
                <a16:creationId xmlns:a16="http://schemas.microsoft.com/office/drawing/2014/main" id="{02A26B6C-DF85-E261-9D9F-45C500E068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4650" y="6491288"/>
            <a:ext cx="4760913" cy="0"/>
          </a:xfrm>
          <a:prstGeom prst="straightConnector1">
            <a:avLst/>
          </a:prstGeom>
          <a:noFill/>
          <a:ln w="6350" cap="rnd" algn="ctr">
            <a:solidFill>
              <a:srgbClr val="969696"/>
            </a:solidFill>
            <a:prstDash val="dash"/>
            <a:round/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756" name="직선 연결선 11">
            <a:extLst>
              <a:ext uri="{FF2B5EF4-FFF2-40B4-BE49-F238E27FC236}">
                <a16:creationId xmlns:a16="http://schemas.microsoft.com/office/drawing/2014/main" id="{7AB7F818-8B41-3B84-8855-134C7AFE6A8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4650" y="8316913"/>
            <a:ext cx="4760913" cy="0"/>
          </a:xfrm>
          <a:prstGeom prst="straightConnector1">
            <a:avLst/>
          </a:prstGeom>
          <a:noFill/>
          <a:ln w="6350" cap="rnd" algn="ctr">
            <a:solidFill>
              <a:srgbClr val="969696"/>
            </a:solidFill>
            <a:prstDash val="dash"/>
            <a:round/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대각선 방향의 모서리가 둥근 사각형 47">
            <a:extLst>
              <a:ext uri="{FF2B5EF4-FFF2-40B4-BE49-F238E27FC236}">
                <a16:creationId xmlns:a16="http://schemas.microsoft.com/office/drawing/2014/main" id="{D68262D7-C1EE-7725-E60A-7335641C3CA9}"/>
              </a:ext>
            </a:extLst>
          </p:cNvPr>
          <p:cNvSpPr/>
          <p:nvPr/>
        </p:nvSpPr>
        <p:spPr bwMode="auto">
          <a:xfrm>
            <a:off x="1006475" y="6523038"/>
            <a:ext cx="590550" cy="1766887"/>
          </a:xfrm>
          <a:prstGeom prst="round2DiagRect">
            <a:avLst/>
          </a:prstGeom>
          <a:pattFill prst="smGrid">
            <a:fgClr>
              <a:srgbClr val="F9F9F9"/>
            </a:fgClr>
            <a:bgClr>
              <a:sysClr val="window" lastClr="FFFFFF"/>
            </a:bgClr>
          </a:pattFill>
          <a:ln w="6350" cap="flat" cmpd="sng" algn="ctr">
            <a:solidFill>
              <a:srgbClr val="4F81BD">
                <a:lumMod val="20000"/>
                <a:lumOff val="80000"/>
              </a:srgbClr>
            </a:solidFill>
            <a:prstDash val="solid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19175" latinLnBrk="0">
              <a:buClr>
                <a:sysClr val="window" lastClr="FFFFFF">
                  <a:lumMod val="65000"/>
                </a:sysClr>
              </a:buClr>
              <a:buSzPct val="80000"/>
              <a:defRPr/>
            </a:pPr>
            <a:r>
              <a:rPr kumimoji="0" lang="en-US" altLang="ko-KR" sz="900">
                <a:solidFill>
                  <a:srgbClr val="008CC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9</a:t>
            </a:r>
            <a:r>
              <a:rPr kumimoji="0" lang="ko-KR" altLang="en-US" sz="900" err="1">
                <a:solidFill>
                  <a:srgbClr val="008CC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분법</a:t>
            </a:r>
            <a:br>
              <a:rPr kumimoji="0" lang="en-US" altLang="ko-KR" sz="900">
                <a:solidFill>
                  <a:srgbClr val="008CC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kumimoji="0" lang="ko-KR" altLang="en-US" sz="900">
                <a:solidFill>
                  <a:srgbClr val="008CC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기법을 활용한 위험등급 결정</a:t>
            </a:r>
          </a:p>
        </p:txBody>
      </p:sp>
      <p:graphicFrame>
        <p:nvGraphicFramePr>
          <p:cNvPr id="49" name="Group 1300">
            <a:extLst>
              <a:ext uri="{FF2B5EF4-FFF2-40B4-BE49-F238E27FC236}">
                <a16:creationId xmlns:a16="http://schemas.microsoft.com/office/drawing/2014/main" id="{B899B24D-D3A7-DAE0-7AFF-B6200CA58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758024"/>
              </p:ext>
            </p:extLst>
          </p:nvPr>
        </p:nvGraphicFramePr>
        <p:xfrm>
          <a:off x="3402013" y="6599238"/>
          <a:ext cx="3071813" cy="1516062"/>
        </p:xfrm>
        <a:graphic>
          <a:graphicData uri="http://schemas.openxmlformats.org/drawingml/2006/table">
            <a:tbl>
              <a:tblPr/>
              <a:tblGrid>
                <a:gridCol w="466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458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등급</a:t>
                      </a:r>
                    </a:p>
                  </a:txBody>
                  <a:tcPr marL="70682" marR="35997" marT="35529" marB="35529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영역</a:t>
                      </a:r>
                    </a:p>
                  </a:txBody>
                  <a:tcPr marL="70682" marR="35997" marT="35529" marB="35529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위험 조치 조직</a:t>
                      </a:r>
                    </a:p>
                  </a:txBody>
                  <a:tcPr marL="70682" marR="35997" marT="35529" marB="35529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17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Ⅰ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급</a:t>
                      </a:r>
                    </a:p>
                  </a:txBody>
                  <a:tcPr marL="70682" marR="35997" marT="35529" marB="35529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953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95959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endParaRPr>
                    </a:p>
                  </a:txBody>
                  <a:tcPr marL="70682" marR="35997" marT="35529" marB="35529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9000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전사적 지원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협조 및 사업관리기관</a:t>
                      </a:r>
                      <a:r>
                        <a:rPr kumimoji="1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소요관리기관 협의 조치</a:t>
                      </a:r>
                    </a:p>
                  </a:txBody>
                  <a:tcPr marL="70682" marR="35997" marT="35529" marB="35529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893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Ⅱ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급</a:t>
                      </a:r>
                    </a:p>
                  </a:txBody>
                  <a:tcPr marL="70682" marR="35997" marT="35529" marB="35529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953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95959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endParaRPr>
                    </a:p>
                  </a:txBody>
                  <a:tcPr marL="70682" marR="35997" marT="35529" marB="35529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9000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프로젝트 및 사업관리기관과 협의 조치</a:t>
                      </a:r>
                    </a:p>
                  </a:txBody>
                  <a:tcPr marL="70682" marR="35997" marT="35529" marB="35529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893"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Ⅲ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급</a:t>
                      </a:r>
                    </a:p>
                  </a:txBody>
                  <a:tcPr marL="70682" marR="35997" marT="35529" marB="35529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0" marR="0" lvl="0" indent="0" algn="ctr" defTabSz="9953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95959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endParaRPr>
                    </a:p>
                  </a:txBody>
                  <a:tcPr marL="70682" marR="35997" marT="35529" marB="35529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67729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135459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2031890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270918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338648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4063781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4741077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5418374" algn="l" defTabSz="1354594" rtl="0" eaLnBrk="1" latinLnBrk="1" hangingPunct="1">
                        <a:defRPr sz="27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90000" marR="0" lvl="2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10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"/>
                          <a:sym typeface="Monotype Sorts"/>
                        </a:rPr>
                        <a:t>프로젝트 내 해당 팀 조치</a:t>
                      </a:r>
                    </a:p>
                  </a:txBody>
                  <a:tcPr marL="70682" marR="35997" marT="35529" marB="35529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6778" name="그룹 325">
            <a:extLst>
              <a:ext uri="{FF2B5EF4-FFF2-40B4-BE49-F238E27FC236}">
                <a16:creationId xmlns:a16="http://schemas.microsoft.com/office/drawing/2014/main" id="{291F639C-1002-96F3-6E5E-D82A9BB60124}"/>
              </a:ext>
            </a:extLst>
          </p:cNvPr>
          <p:cNvGrpSpPr>
            <a:grpSpLocks/>
          </p:cNvGrpSpPr>
          <p:nvPr/>
        </p:nvGrpSpPr>
        <p:grpSpPr bwMode="auto">
          <a:xfrm>
            <a:off x="1728788" y="6746875"/>
            <a:ext cx="1427162" cy="1487488"/>
            <a:chOff x="9039951" y="7685568"/>
            <a:chExt cx="1256409" cy="1204973"/>
          </a:xfrm>
        </p:grpSpPr>
        <p:sp>
          <p:nvSpPr>
            <p:cNvPr id="51" name="TextBox 5">
              <a:extLst>
                <a:ext uri="{FF2B5EF4-FFF2-40B4-BE49-F238E27FC236}">
                  <a16:creationId xmlns:a16="http://schemas.microsoft.com/office/drawing/2014/main" id="{36DC0BE6-3969-2A1A-26B7-52A32FA75E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39951" y="7882325"/>
              <a:ext cx="240381" cy="646853"/>
            </a:xfrm>
            <a:prstGeom prst="rect">
              <a:avLst/>
            </a:prstGeom>
            <a:noFill/>
            <a:ln>
              <a:noFill/>
            </a:ln>
          </p:spPr>
          <p:txBody>
            <a:bodyPr lIns="70898" tIns="35449" rIns="70898" bIns="35449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Font typeface="Wingdings" pitchFamily="2" charset="2"/>
                <a:buNone/>
                <a:defRPr/>
              </a:pPr>
              <a:r>
                <a:rPr lang="ko-KR" altLang="en-US" sz="900" kern="0"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발생가능성</a:t>
              </a:r>
            </a:p>
          </p:txBody>
        </p:sp>
        <p:grpSp>
          <p:nvGrpSpPr>
            <p:cNvPr id="26838" name="Group 1360">
              <a:extLst>
                <a:ext uri="{FF2B5EF4-FFF2-40B4-BE49-F238E27FC236}">
                  <a16:creationId xmlns:a16="http://schemas.microsoft.com/office/drawing/2014/main" id="{7C50C468-988A-7743-8A2E-AC6549DD79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84345" y="7685568"/>
              <a:ext cx="1012015" cy="970176"/>
              <a:chOff x="1622" y="4898"/>
              <a:chExt cx="695" cy="662"/>
            </a:xfrm>
          </p:grpSpPr>
          <p:sp>
            <p:nvSpPr>
              <p:cNvPr id="55" name="AutoShape 1367" descr="노랑">
                <a:extLst>
                  <a:ext uri="{FF2B5EF4-FFF2-40B4-BE49-F238E27FC236}">
                    <a16:creationId xmlns:a16="http://schemas.microsoft.com/office/drawing/2014/main" id="{BE467A91-01DF-7582-3A3C-28ECFDA1FF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2" y="4898"/>
                <a:ext cx="131" cy="141"/>
              </a:xfrm>
              <a:prstGeom prst="roundRect">
                <a:avLst>
                  <a:gd name="adj" fmla="val 16667"/>
                </a:avLst>
              </a:prstGeom>
              <a:blipFill dpi="0" rotWithShape="1">
                <a:blip r:embed="rId6" cstate="print"/>
                <a:srcRect/>
                <a:stretch>
                  <a:fillRect/>
                </a:stretch>
              </a:blipFill>
              <a:ln w="6350" algn="ctr">
                <a:solidFill>
                  <a:srgbClr val="64C8FA"/>
                </a:solidFill>
                <a:round/>
                <a:headEnd/>
                <a:tailEnd/>
              </a:ln>
              <a:effectLst/>
            </p:spPr>
            <p:txBody>
              <a:bodyPr lIns="36000" tIns="0" rIns="36000" bIns="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0" lvl="1" indent="-180975" algn="ctr" eaLnBrk="1" hangingPunct="1">
                  <a:lnSpc>
                    <a:spcPct val="90000"/>
                  </a:lnSpc>
                  <a:buClr>
                    <a:sysClr val="window" lastClr="FFFFFF">
                      <a:lumMod val="65000"/>
                    </a:sysClr>
                  </a:buClr>
                  <a:buSzPct val="80000"/>
                  <a:tabLst>
                    <a:tab pos="5648325" algn="l"/>
                  </a:tabLst>
                  <a:defRPr/>
                </a:pPr>
                <a:r>
                  <a:rPr lang="ko-KR" altLang="en-US" sz="1000" kern="0">
                    <a:solidFill>
                      <a:sysClr val="windowText" lastClr="000000">
                        <a:lumMod val="85000"/>
                        <a:lumOff val="15000"/>
                      </a:sysClr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상</a:t>
                </a:r>
              </a:p>
            </p:txBody>
          </p:sp>
          <p:sp>
            <p:nvSpPr>
              <p:cNvPr id="56" name="AutoShape 1368" descr="노랑">
                <a:extLst>
                  <a:ext uri="{FF2B5EF4-FFF2-40B4-BE49-F238E27FC236}">
                    <a16:creationId xmlns:a16="http://schemas.microsoft.com/office/drawing/2014/main" id="{0C2E3750-8D94-661A-5B3E-9601EE7CF0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2" y="5069"/>
                <a:ext cx="131" cy="140"/>
              </a:xfrm>
              <a:prstGeom prst="roundRect">
                <a:avLst>
                  <a:gd name="adj" fmla="val 16667"/>
                </a:avLst>
              </a:prstGeom>
              <a:blipFill dpi="0" rotWithShape="1">
                <a:blip r:embed="rId6" cstate="print"/>
                <a:srcRect/>
                <a:stretch>
                  <a:fillRect/>
                </a:stretch>
              </a:blipFill>
              <a:ln w="6350" algn="ctr">
                <a:solidFill>
                  <a:srgbClr val="64C8FA"/>
                </a:solidFill>
                <a:round/>
                <a:headEnd/>
                <a:tailEnd/>
              </a:ln>
              <a:effectLst/>
            </p:spPr>
            <p:txBody>
              <a:bodyPr lIns="36000" tIns="0" rIns="36000" bIns="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0" lvl="1" indent="-180975" algn="ctr" eaLnBrk="1" hangingPunct="1">
                  <a:lnSpc>
                    <a:spcPct val="90000"/>
                  </a:lnSpc>
                  <a:buClr>
                    <a:sysClr val="window" lastClr="FFFFFF">
                      <a:lumMod val="65000"/>
                    </a:sysClr>
                  </a:buClr>
                  <a:buSzPct val="80000"/>
                  <a:tabLst>
                    <a:tab pos="5648325" algn="l"/>
                  </a:tabLst>
                  <a:defRPr/>
                </a:pPr>
                <a:r>
                  <a:rPr lang="ko-KR" altLang="en-US" sz="1000" kern="0">
                    <a:solidFill>
                      <a:sysClr val="windowText" lastClr="000000">
                        <a:lumMod val="85000"/>
                        <a:lumOff val="15000"/>
                      </a:sysClr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중</a:t>
                </a:r>
              </a:p>
            </p:txBody>
          </p:sp>
          <p:sp>
            <p:nvSpPr>
              <p:cNvPr id="57" name="AutoShape 1369" descr="노랑">
                <a:extLst>
                  <a:ext uri="{FF2B5EF4-FFF2-40B4-BE49-F238E27FC236}">
                    <a16:creationId xmlns:a16="http://schemas.microsoft.com/office/drawing/2014/main" id="{A007E3F9-B022-17DB-92C1-96D8ADFC25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2" y="5240"/>
                <a:ext cx="131" cy="140"/>
              </a:xfrm>
              <a:prstGeom prst="roundRect">
                <a:avLst>
                  <a:gd name="adj" fmla="val 16667"/>
                </a:avLst>
              </a:prstGeom>
              <a:blipFill dpi="0" rotWithShape="1">
                <a:blip r:embed="rId6" cstate="print"/>
                <a:srcRect/>
                <a:stretch>
                  <a:fillRect/>
                </a:stretch>
              </a:blipFill>
              <a:ln w="6350" algn="ctr">
                <a:solidFill>
                  <a:srgbClr val="64C8FA"/>
                </a:solidFill>
                <a:round/>
                <a:headEnd/>
                <a:tailEnd/>
              </a:ln>
              <a:effectLst/>
            </p:spPr>
            <p:txBody>
              <a:bodyPr lIns="36000" tIns="0" rIns="36000" bIns="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0" lvl="1" indent="-180975" algn="ctr" eaLnBrk="1" hangingPunct="1">
                  <a:lnSpc>
                    <a:spcPct val="90000"/>
                  </a:lnSpc>
                  <a:buClr>
                    <a:sysClr val="window" lastClr="FFFFFF">
                      <a:lumMod val="65000"/>
                    </a:sysClr>
                  </a:buClr>
                  <a:buSzPct val="80000"/>
                  <a:tabLst>
                    <a:tab pos="5648325" algn="l"/>
                  </a:tabLst>
                  <a:defRPr/>
                </a:pPr>
                <a:r>
                  <a:rPr lang="ko-KR" altLang="en-US" sz="1000" kern="0">
                    <a:solidFill>
                      <a:sysClr val="windowText" lastClr="000000">
                        <a:lumMod val="85000"/>
                        <a:lumOff val="15000"/>
                      </a:sysClr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하</a:t>
                </a:r>
              </a:p>
            </p:txBody>
          </p:sp>
          <p:sp>
            <p:nvSpPr>
              <p:cNvPr id="58" name="AutoShape 1370" descr="노랑">
                <a:extLst>
                  <a:ext uri="{FF2B5EF4-FFF2-40B4-BE49-F238E27FC236}">
                    <a16:creationId xmlns:a16="http://schemas.microsoft.com/office/drawing/2014/main" id="{CE637072-B9F2-E038-3B42-8F62C63482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8" y="5417"/>
                <a:ext cx="131" cy="141"/>
              </a:xfrm>
              <a:prstGeom prst="roundRect">
                <a:avLst>
                  <a:gd name="adj" fmla="val 16667"/>
                </a:avLst>
              </a:prstGeom>
              <a:blipFill dpi="0" rotWithShape="1">
                <a:blip r:embed="rId6" cstate="print"/>
                <a:srcRect/>
                <a:stretch>
                  <a:fillRect/>
                </a:stretch>
              </a:blipFill>
              <a:ln w="6350" algn="ctr">
                <a:solidFill>
                  <a:srgbClr val="64C8FA"/>
                </a:solidFill>
                <a:round/>
                <a:headEnd/>
                <a:tailEnd/>
              </a:ln>
              <a:effectLst/>
            </p:spPr>
            <p:txBody>
              <a:bodyPr lIns="36000" tIns="0" rIns="36000" bIns="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0" lvl="1" indent="-180975" algn="ctr" eaLnBrk="1" hangingPunct="1">
                  <a:lnSpc>
                    <a:spcPct val="90000"/>
                  </a:lnSpc>
                  <a:buClr>
                    <a:sysClr val="window" lastClr="FFFFFF">
                      <a:lumMod val="65000"/>
                    </a:sysClr>
                  </a:buClr>
                  <a:buSzPct val="80000"/>
                  <a:tabLst>
                    <a:tab pos="5648325" algn="l"/>
                  </a:tabLst>
                  <a:defRPr/>
                </a:pPr>
                <a:r>
                  <a:rPr lang="ko-KR" altLang="en-US" sz="1000" kern="0">
                    <a:solidFill>
                      <a:sysClr val="windowText" lastClr="000000">
                        <a:lumMod val="85000"/>
                        <a:lumOff val="15000"/>
                      </a:sysClr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하</a:t>
                </a:r>
              </a:p>
            </p:txBody>
          </p:sp>
          <p:sp>
            <p:nvSpPr>
              <p:cNvPr id="59" name="AutoShape 1371" descr="노랑">
                <a:extLst>
                  <a:ext uri="{FF2B5EF4-FFF2-40B4-BE49-F238E27FC236}">
                    <a16:creationId xmlns:a16="http://schemas.microsoft.com/office/drawing/2014/main" id="{F74FF5F3-21C7-1ED4-1B35-43F92F99E6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9" y="5417"/>
                <a:ext cx="131" cy="141"/>
              </a:xfrm>
              <a:prstGeom prst="roundRect">
                <a:avLst>
                  <a:gd name="adj" fmla="val 16667"/>
                </a:avLst>
              </a:prstGeom>
              <a:blipFill dpi="0" rotWithShape="1">
                <a:blip r:embed="rId6" cstate="print"/>
                <a:srcRect/>
                <a:stretch>
                  <a:fillRect/>
                </a:stretch>
              </a:blipFill>
              <a:ln w="6350" algn="ctr">
                <a:solidFill>
                  <a:srgbClr val="64C8FA"/>
                </a:solidFill>
                <a:round/>
                <a:headEnd/>
                <a:tailEnd/>
              </a:ln>
              <a:effectLst/>
            </p:spPr>
            <p:txBody>
              <a:bodyPr lIns="36000" tIns="0" rIns="36000" bIns="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0" lvl="1" indent="-180975" algn="ctr" eaLnBrk="1" hangingPunct="1">
                  <a:lnSpc>
                    <a:spcPct val="90000"/>
                  </a:lnSpc>
                  <a:buClr>
                    <a:sysClr val="window" lastClr="FFFFFF">
                      <a:lumMod val="65000"/>
                    </a:sysClr>
                  </a:buClr>
                  <a:buSzPct val="80000"/>
                  <a:tabLst>
                    <a:tab pos="5648325" algn="l"/>
                  </a:tabLst>
                  <a:defRPr/>
                </a:pPr>
                <a:r>
                  <a:rPr lang="ko-KR" altLang="en-US" sz="1000" kern="0">
                    <a:solidFill>
                      <a:sysClr val="windowText" lastClr="000000">
                        <a:lumMod val="85000"/>
                        <a:lumOff val="15000"/>
                      </a:sysClr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중</a:t>
                </a:r>
              </a:p>
            </p:txBody>
          </p:sp>
          <p:sp>
            <p:nvSpPr>
              <p:cNvPr id="60" name="AutoShape 1372" descr="노랑">
                <a:extLst>
                  <a:ext uri="{FF2B5EF4-FFF2-40B4-BE49-F238E27FC236}">
                    <a16:creationId xmlns:a16="http://schemas.microsoft.com/office/drawing/2014/main" id="{911AB4D8-56E7-23AE-354B-391A08BA5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6" y="5417"/>
                <a:ext cx="131" cy="141"/>
              </a:xfrm>
              <a:prstGeom prst="roundRect">
                <a:avLst>
                  <a:gd name="adj" fmla="val 16667"/>
                </a:avLst>
              </a:prstGeom>
              <a:blipFill dpi="0" rotWithShape="1">
                <a:blip r:embed="rId6" cstate="print"/>
                <a:srcRect/>
                <a:stretch>
                  <a:fillRect/>
                </a:stretch>
              </a:blipFill>
              <a:ln w="6350" algn="ctr">
                <a:solidFill>
                  <a:srgbClr val="64C8FA"/>
                </a:solidFill>
                <a:round/>
                <a:headEnd/>
                <a:tailEnd/>
              </a:ln>
              <a:effectLst/>
            </p:spPr>
            <p:txBody>
              <a:bodyPr lIns="36000" tIns="0" rIns="36000" bIns="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0" lvl="1" indent="-180975" algn="ctr" eaLnBrk="1" hangingPunct="1">
                  <a:lnSpc>
                    <a:spcPct val="90000"/>
                  </a:lnSpc>
                  <a:buClr>
                    <a:sysClr val="window" lastClr="FFFFFF">
                      <a:lumMod val="65000"/>
                    </a:sysClr>
                  </a:buClr>
                  <a:buSzPct val="80000"/>
                  <a:tabLst>
                    <a:tab pos="5648325" algn="l"/>
                  </a:tabLst>
                  <a:defRPr/>
                </a:pPr>
                <a:r>
                  <a:rPr lang="ko-KR" altLang="en-US" sz="1000" kern="0">
                    <a:solidFill>
                      <a:sysClr val="windowText" lastClr="000000">
                        <a:lumMod val="85000"/>
                        <a:lumOff val="15000"/>
                      </a:sysClr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상</a:t>
                </a:r>
              </a:p>
            </p:txBody>
          </p:sp>
          <p:grpSp>
            <p:nvGrpSpPr>
              <p:cNvPr id="26847" name="Group 1373">
                <a:extLst>
                  <a:ext uri="{FF2B5EF4-FFF2-40B4-BE49-F238E27FC236}">
                    <a16:creationId xmlns:a16="http://schemas.microsoft.com/office/drawing/2014/main" id="{5ECB083F-12AA-2857-CD50-A09AF15340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0" y="4916"/>
                <a:ext cx="311" cy="418"/>
                <a:chOff x="2948" y="5086"/>
                <a:chExt cx="372" cy="500"/>
              </a:xfrm>
            </p:grpSpPr>
            <p:grpSp>
              <p:nvGrpSpPr>
                <p:cNvPr id="26848" name="Group 1374">
                  <a:extLst>
                    <a:ext uri="{FF2B5EF4-FFF2-40B4-BE49-F238E27FC236}">
                      <a16:creationId xmlns:a16="http://schemas.microsoft.com/office/drawing/2014/main" id="{CB8648BA-6BB1-BECF-E80F-3D3D499B7B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48" y="5086"/>
                  <a:ext cx="165" cy="299"/>
                  <a:chOff x="2948" y="5086"/>
                  <a:chExt cx="165" cy="299"/>
                </a:xfrm>
              </p:grpSpPr>
              <p:sp>
                <p:nvSpPr>
                  <p:cNvPr id="64" name="Text Box 1380">
                    <a:extLst>
                      <a:ext uri="{FF2B5EF4-FFF2-40B4-BE49-F238E27FC236}">
                        <a16:creationId xmlns:a16="http://schemas.microsoft.com/office/drawing/2014/main" id="{ACB14D7A-8ECD-C89C-2B66-02491DC68E2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2" y="5092"/>
                    <a:ext cx="161" cy="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0" tIns="0" rIns="0" bIns="0" anchor="ctr"/>
                  <a:lstStyle>
                    <a:lvl1pPr eaLnBrk="0" hangingPunct="0"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1pPr>
                    <a:lvl2pPr marL="742950" indent="-285750" eaLnBrk="0" hangingPunct="0"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2pPr>
                    <a:lvl3pPr marL="1143000" indent="-228600" eaLnBrk="0" hangingPunct="0"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3pPr>
                    <a:lvl4pPr marL="1600200" indent="-228600" eaLnBrk="0" hangingPunct="0"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4pPr>
                    <a:lvl5pPr marL="2057400" indent="-228600" eaLnBrk="0" hangingPunct="0"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9pPr>
                  </a:lstStyle>
                  <a:p>
                    <a:pPr algn="ctr" eaLnBrk="1" fontAlgn="auto" hangingPunct="1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1200" kern="0" baseline="-25000">
                        <a:solidFill>
                          <a:sysClr val="window" lastClr="FFFFFF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rPr>
                      <a:t>2</a:t>
                    </a:r>
                  </a:p>
                </p:txBody>
              </p:sp>
              <p:sp>
                <p:nvSpPr>
                  <p:cNvPr id="65" name="Text Box 1389">
                    <a:extLst>
                      <a:ext uri="{FF2B5EF4-FFF2-40B4-BE49-F238E27FC236}">
                        <a16:creationId xmlns:a16="http://schemas.microsoft.com/office/drawing/2014/main" id="{1A8B60D2-2E1F-04A9-4C30-2F608ECE9D3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2" y="5289"/>
                    <a:ext cx="161" cy="10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0" tIns="0" rIns="0" bIns="0" anchor="ctr"/>
                  <a:lstStyle>
                    <a:lvl1pPr eaLnBrk="0" hangingPunct="0"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1pPr>
                    <a:lvl2pPr marL="742950" indent="-285750" eaLnBrk="0" hangingPunct="0"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2pPr>
                    <a:lvl3pPr marL="1143000" indent="-228600" eaLnBrk="0" hangingPunct="0"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3pPr>
                    <a:lvl4pPr marL="1600200" indent="-228600" eaLnBrk="0" hangingPunct="0"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4pPr>
                    <a:lvl5pPr marL="2057400" indent="-228600" eaLnBrk="0" hangingPunct="0"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defRPr>
                    </a:lvl9pPr>
                  </a:lstStyle>
                  <a:p>
                    <a:pPr algn="ctr" eaLnBrk="1" fontAlgn="auto" hangingPunct="1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1200" kern="0" baseline="-25000">
                        <a:solidFill>
                          <a:sysClr val="window" lastClr="FFFFFF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rPr>
                      <a:t>5</a:t>
                    </a:r>
                  </a:p>
                </p:txBody>
              </p:sp>
            </p:grpSp>
            <p:sp>
              <p:nvSpPr>
                <p:cNvPr id="63" name="Text Box 1401">
                  <a:extLst>
                    <a:ext uri="{FF2B5EF4-FFF2-40B4-BE49-F238E27FC236}">
                      <a16:creationId xmlns:a16="http://schemas.microsoft.com/office/drawing/2014/main" id="{694BBF4E-9885-134D-9D50-922732EF6B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55" y="5486"/>
                  <a:ext cx="161" cy="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algn="ctr" eaLnBrk="1" fontAlgn="auto" hangingPunct="1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altLang="ko-KR" sz="1200" kern="0" baseline="-25000">
                      <a:solidFill>
                        <a:sysClr val="window" lastClr="FFFFFF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6</a:t>
                  </a:r>
                </a:p>
              </p:txBody>
            </p:sp>
          </p:grpSp>
        </p:grpSp>
        <p:cxnSp>
          <p:nvCxnSpPr>
            <p:cNvPr id="26839" name="직선 화살표 연결선 52">
              <a:extLst>
                <a:ext uri="{FF2B5EF4-FFF2-40B4-BE49-F238E27FC236}">
                  <a16:creationId xmlns:a16="http://schemas.microsoft.com/office/drawing/2014/main" id="{9D06FA19-943E-D398-866C-BF8AF58F75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310349" y="8890541"/>
              <a:ext cx="982941" cy="0"/>
            </a:xfrm>
            <a:prstGeom prst="straightConnector1">
              <a:avLst/>
            </a:prstGeom>
            <a:noFill/>
            <a:ln w="6350" cap="rnd" algn="ctr">
              <a:solidFill>
                <a:srgbClr val="96969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840" name="직선 화살표 연결선 53">
              <a:extLst>
                <a:ext uri="{FF2B5EF4-FFF2-40B4-BE49-F238E27FC236}">
                  <a16:creationId xmlns:a16="http://schemas.microsoft.com/office/drawing/2014/main" id="{177F955C-6E6B-B230-9D7E-D47EF9B0D9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8545893" y="8229670"/>
              <a:ext cx="988115" cy="0"/>
            </a:xfrm>
            <a:prstGeom prst="straightConnector1">
              <a:avLst/>
            </a:prstGeom>
            <a:noFill/>
            <a:ln w="6350" cap="rnd" algn="ctr">
              <a:solidFill>
                <a:srgbClr val="96969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779" name="그룹 407">
            <a:extLst>
              <a:ext uri="{FF2B5EF4-FFF2-40B4-BE49-F238E27FC236}">
                <a16:creationId xmlns:a16="http://schemas.microsoft.com/office/drawing/2014/main" id="{0A3E6E40-93C7-031A-AF40-47F75F6AC5EC}"/>
              </a:ext>
            </a:extLst>
          </p:cNvPr>
          <p:cNvGrpSpPr>
            <a:grpSpLocks/>
          </p:cNvGrpSpPr>
          <p:nvPr/>
        </p:nvGrpSpPr>
        <p:grpSpPr bwMode="auto">
          <a:xfrm>
            <a:off x="2308225" y="6772275"/>
            <a:ext cx="919163" cy="850900"/>
            <a:chOff x="2608498" y="7398866"/>
            <a:chExt cx="965573" cy="849457"/>
          </a:xfrm>
        </p:grpSpPr>
        <p:grpSp>
          <p:nvGrpSpPr>
            <p:cNvPr id="26809" name="그룹 384">
              <a:extLst>
                <a:ext uri="{FF2B5EF4-FFF2-40B4-BE49-F238E27FC236}">
                  <a16:creationId xmlns:a16="http://schemas.microsoft.com/office/drawing/2014/main" id="{B4C3E844-DE94-BA17-A5F8-63BA4F8863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9279" y="7707357"/>
              <a:ext cx="274792" cy="261052"/>
              <a:chOff x="1313969" y="1153426"/>
              <a:chExt cx="360000" cy="342000"/>
            </a:xfrm>
          </p:grpSpPr>
          <p:pic>
            <p:nvPicPr>
              <p:cNvPr id="26835" name="Picture 27" descr="ball_br">
                <a:extLst>
                  <a:ext uri="{FF2B5EF4-FFF2-40B4-BE49-F238E27FC236}">
                    <a16:creationId xmlns:a16="http://schemas.microsoft.com/office/drawing/2014/main" id="{4BFC6ED7-D496-BD73-965C-75E6BD4627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13969" y="1153426"/>
                <a:ext cx="360000" cy="34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836" name="모서리가 둥근 직사각형 93">
                <a:extLst>
                  <a:ext uri="{FF2B5EF4-FFF2-40B4-BE49-F238E27FC236}">
                    <a16:creationId xmlns:a16="http://schemas.microsoft.com/office/drawing/2014/main" id="{BF91F762-4F31-C490-6A4F-731B31A868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6414" y="1174691"/>
                <a:ext cx="255111" cy="258307"/>
              </a:xfrm>
              <a:prstGeom prst="roundRect">
                <a:avLst>
                  <a:gd name="adj" fmla="val 12222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0668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10668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10668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10668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10668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1066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1066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1066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1066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1">
                  <a:buSzPct val="140000"/>
                </a:pPr>
                <a:r>
                  <a:rPr kumimoji="0" lang="en-US" altLang="ko-KR" sz="1200">
                    <a:solidFill>
                      <a:srgbClr val="FFFFFF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cs typeface="Arial" panose="020B0604020202020204" pitchFamily="34" charset="0"/>
                  </a:rPr>
                  <a:t>3</a:t>
                </a:r>
                <a:endParaRPr kumimoji="0" lang="ko-KR" altLang="en-US" sz="12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810" name="그룹 393">
              <a:extLst>
                <a:ext uri="{FF2B5EF4-FFF2-40B4-BE49-F238E27FC236}">
                  <a16:creationId xmlns:a16="http://schemas.microsoft.com/office/drawing/2014/main" id="{20265579-1BB0-0491-5757-A4F8209C13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5514" y="7987271"/>
              <a:ext cx="274792" cy="261052"/>
              <a:chOff x="1313969" y="1153426"/>
              <a:chExt cx="360000" cy="342000"/>
            </a:xfrm>
          </p:grpSpPr>
          <p:pic>
            <p:nvPicPr>
              <p:cNvPr id="26833" name="Picture 27" descr="ball_br">
                <a:extLst>
                  <a:ext uri="{FF2B5EF4-FFF2-40B4-BE49-F238E27FC236}">
                    <a16:creationId xmlns:a16="http://schemas.microsoft.com/office/drawing/2014/main" id="{56A4B6D5-0D6F-B9AD-38ED-CB80852083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13969" y="1153426"/>
                <a:ext cx="360000" cy="34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834" name="모서리가 둥근 직사각형 91">
                <a:extLst>
                  <a:ext uri="{FF2B5EF4-FFF2-40B4-BE49-F238E27FC236}">
                    <a16:creationId xmlns:a16="http://schemas.microsoft.com/office/drawing/2014/main" id="{B117410E-1F1B-47E4-76A1-B5EE660921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6414" y="1174691"/>
                <a:ext cx="255111" cy="258307"/>
              </a:xfrm>
              <a:prstGeom prst="roundRect">
                <a:avLst>
                  <a:gd name="adj" fmla="val 12222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0668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10668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10668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10668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1066800"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1066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1066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1066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1066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648325" algn="l"/>
                  </a:tabLs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1">
                  <a:buSzPct val="140000"/>
                </a:pPr>
                <a:r>
                  <a:rPr kumimoji="0" lang="en-US" altLang="ko-KR" sz="1200">
                    <a:solidFill>
                      <a:srgbClr val="FFFFFF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cs typeface="Arial" panose="020B0604020202020204" pitchFamily="34" charset="0"/>
                  </a:rPr>
                  <a:t>8</a:t>
                </a:r>
                <a:endParaRPr kumimoji="0" lang="ko-KR" altLang="en-US" sz="12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811" name="그룹 406">
              <a:extLst>
                <a:ext uri="{FF2B5EF4-FFF2-40B4-BE49-F238E27FC236}">
                  <a16:creationId xmlns:a16="http://schemas.microsoft.com/office/drawing/2014/main" id="{C26A28A7-CAB9-EE86-B84F-2DC87D68EB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498" y="7398866"/>
              <a:ext cx="965573" cy="849457"/>
              <a:chOff x="2608498" y="7398866"/>
              <a:chExt cx="965573" cy="849457"/>
            </a:xfrm>
          </p:grpSpPr>
          <p:grpSp>
            <p:nvGrpSpPr>
              <p:cNvPr id="26812" name="그룹 371">
                <a:extLst>
                  <a:ext uri="{FF2B5EF4-FFF2-40B4-BE49-F238E27FC236}">
                    <a16:creationId xmlns:a16="http://schemas.microsoft.com/office/drawing/2014/main" id="{2D207968-95B9-C4C5-4401-24F617A95C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8498" y="7398866"/>
                <a:ext cx="274792" cy="261052"/>
                <a:chOff x="1313969" y="1153426"/>
                <a:chExt cx="360000" cy="342000"/>
              </a:xfrm>
            </p:grpSpPr>
            <p:pic>
              <p:nvPicPr>
                <p:cNvPr id="26831" name="Picture 27" descr="ball_br">
                  <a:extLst>
                    <a:ext uri="{FF2B5EF4-FFF2-40B4-BE49-F238E27FC236}">
                      <a16:creationId xmlns:a16="http://schemas.microsoft.com/office/drawing/2014/main" id="{17E441E1-F0A0-4640-5742-181590824B0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13969" y="1153426"/>
                  <a:ext cx="360000" cy="34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832" name="모서리가 둥근 직사각형 89">
                  <a:extLst>
                    <a:ext uri="{FF2B5EF4-FFF2-40B4-BE49-F238E27FC236}">
                      <a16:creationId xmlns:a16="http://schemas.microsoft.com/office/drawing/2014/main" id="{D2186E0D-908A-53E6-EDE5-67608353E9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6414" y="1174691"/>
                  <a:ext cx="255111" cy="258307"/>
                </a:xfrm>
                <a:prstGeom prst="roundRect">
                  <a:avLst>
                    <a:gd name="adj" fmla="val 1222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</a:bodyPr>
                <a:lstStyle>
                  <a:lvl1pPr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algn="ctr" latinLnBrk="1">
                    <a:buSzPct val="140000"/>
                  </a:pPr>
                  <a:r>
                    <a:rPr kumimoji="0" lang="en-US" altLang="ko-KR" sz="1200">
                      <a:solidFill>
                        <a:srgbClr val="FFFFFF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  <a:cs typeface="Arial" panose="020B0604020202020204" pitchFamily="34" charset="0"/>
                    </a:rPr>
                    <a:t>4</a:t>
                  </a:r>
                  <a:endParaRPr kumimoji="0" lang="ko-KR" altLang="en-US" sz="1200">
                    <a:solidFill>
                      <a:srgbClr val="FFFFFF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6813" name="그룹 374">
                <a:extLst>
                  <a:ext uri="{FF2B5EF4-FFF2-40B4-BE49-F238E27FC236}">
                    <a16:creationId xmlns:a16="http://schemas.microsoft.com/office/drawing/2014/main" id="{6AFCA6E9-6A7D-4804-F7C6-C0E1285823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5514" y="7398866"/>
                <a:ext cx="274792" cy="261052"/>
                <a:chOff x="1313969" y="1153426"/>
                <a:chExt cx="360000" cy="342000"/>
              </a:xfrm>
            </p:grpSpPr>
            <p:pic>
              <p:nvPicPr>
                <p:cNvPr id="26829" name="Picture 27" descr="ball_br">
                  <a:extLst>
                    <a:ext uri="{FF2B5EF4-FFF2-40B4-BE49-F238E27FC236}">
                      <a16:creationId xmlns:a16="http://schemas.microsoft.com/office/drawing/2014/main" id="{CDDBF6E8-E09D-E4A4-86C9-1BD7DF2217A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13969" y="1153426"/>
                  <a:ext cx="360000" cy="34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830" name="모서리가 둥근 직사각형 87">
                  <a:extLst>
                    <a:ext uri="{FF2B5EF4-FFF2-40B4-BE49-F238E27FC236}">
                      <a16:creationId xmlns:a16="http://schemas.microsoft.com/office/drawing/2014/main" id="{6551E4F0-D243-1E7C-E4A7-2415886DD9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6414" y="1174691"/>
                  <a:ext cx="255111" cy="258307"/>
                </a:xfrm>
                <a:prstGeom prst="roundRect">
                  <a:avLst>
                    <a:gd name="adj" fmla="val 1222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</a:bodyPr>
                <a:lstStyle>
                  <a:lvl1pPr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algn="ctr" latinLnBrk="1">
                    <a:buSzPct val="140000"/>
                  </a:pPr>
                  <a:r>
                    <a:rPr kumimoji="0" lang="en-US" altLang="ko-KR" sz="1200">
                      <a:solidFill>
                        <a:srgbClr val="FFFFFF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  <a:cs typeface="Arial" panose="020B0604020202020204" pitchFamily="34" charset="0"/>
                    </a:rPr>
                    <a:t>2</a:t>
                  </a:r>
                  <a:endParaRPr kumimoji="0" lang="ko-KR" altLang="en-US" sz="1200">
                    <a:solidFill>
                      <a:srgbClr val="FFFFFF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6814" name="그룹 377">
                <a:extLst>
                  <a:ext uri="{FF2B5EF4-FFF2-40B4-BE49-F238E27FC236}">
                    <a16:creationId xmlns:a16="http://schemas.microsoft.com/office/drawing/2014/main" id="{CE671FBD-51D5-E1B2-C913-2F52D6661B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9279" y="7398866"/>
                <a:ext cx="274792" cy="261052"/>
                <a:chOff x="1313969" y="1153426"/>
                <a:chExt cx="360000" cy="342000"/>
              </a:xfrm>
            </p:grpSpPr>
            <p:pic>
              <p:nvPicPr>
                <p:cNvPr id="26827" name="Picture 27" descr="ball_br">
                  <a:extLst>
                    <a:ext uri="{FF2B5EF4-FFF2-40B4-BE49-F238E27FC236}">
                      <a16:creationId xmlns:a16="http://schemas.microsoft.com/office/drawing/2014/main" id="{2377AD47-38C6-0257-A89B-074EBEFF8FC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13969" y="1153426"/>
                  <a:ext cx="360000" cy="34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828" name="모서리가 둥근 직사각형 85">
                  <a:extLst>
                    <a:ext uri="{FF2B5EF4-FFF2-40B4-BE49-F238E27FC236}">
                      <a16:creationId xmlns:a16="http://schemas.microsoft.com/office/drawing/2014/main" id="{AC52FCB5-AE58-D7AB-85DA-88CA0D4413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6414" y="1174691"/>
                  <a:ext cx="255111" cy="258307"/>
                </a:xfrm>
                <a:prstGeom prst="roundRect">
                  <a:avLst>
                    <a:gd name="adj" fmla="val 1222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</a:bodyPr>
                <a:lstStyle>
                  <a:lvl1pPr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algn="ctr" latinLnBrk="1">
                    <a:buSzPct val="140000"/>
                  </a:pPr>
                  <a:r>
                    <a:rPr kumimoji="0" lang="en-US" altLang="ko-KR" sz="1200">
                      <a:solidFill>
                        <a:srgbClr val="FFFFFF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  <a:cs typeface="Arial" panose="020B0604020202020204" pitchFamily="34" charset="0"/>
                    </a:rPr>
                    <a:t>1</a:t>
                  </a:r>
                  <a:endParaRPr kumimoji="0" lang="ko-KR" altLang="en-US" sz="1200">
                    <a:solidFill>
                      <a:srgbClr val="FFFFFF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6815" name="그룹 382">
                <a:extLst>
                  <a:ext uri="{FF2B5EF4-FFF2-40B4-BE49-F238E27FC236}">
                    <a16:creationId xmlns:a16="http://schemas.microsoft.com/office/drawing/2014/main" id="{0ED44FD8-A5DA-A550-1E7B-CE61CF9474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8498" y="7707357"/>
                <a:ext cx="274792" cy="261052"/>
                <a:chOff x="1313969" y="1153426"/>
                <a:chExt cx="360000" cy="342000"/>
              </a:xfrm>
            </p:grpSpPr>
            <p:pic>
              <p:nvPicPr>
                <p:cNvPr id="26825" name="Picture 27" descr="ball_br">
                  <a:extLst>
                    <a:ext uri="{FF2B5EF4-FFF2-40B4-BE49-F238E27FC236}">
                      <a16:creationId xmlns:a16="http://schemas.microsoft.com/office/drawing/2014/main" id="{B1AFCA25-A8F6-F8D2-0DC7-057A085056E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13969" y="1153426"/>
                  <a:ext cx="360000" cy="34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826" name="모서리가 둥근 직사각형 83">
                  <a:extLst>
                    <a:ext uri="{FF2B5EF4-FFF2-40B4-BE49-F238E27FC236}">
                      <a16:creationId xmlns:a16="http://schemas.microsoft.com/office/drawing/2014/main" id="{2BD0B6D0-F3A5-C9F4-1462-671EB75B1E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6414" y="1174691"/>
                  <a:ext cx="255111" cy="258307"/>
                </a:xfrm>
                <a:prstGeom prst="roundRect">
                  <a:avLst>
                    <a:gd name="adj" fmla="val 1222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</a:bodyPr>
                <a:lstStyle>
                  <a:lvl1pPr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algn="ctr" latinLnBrk="1">
                    <a:buSzPct val="140000"/>
                  </a:pPr>
                  <a:r>
                    <a:rPr kumimoji="0" lang="en-US" altLang="ko-KR" sz="1200">
                      <a:solidFill>
                        <a:srgbClr val="FFFFFF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  <a:cs typeface="Arial" panose="020B0604020202020204" pitchFamily="34" charset="0"/>
                    </a:rPr>
                    <a:t>7</a:t>
                  </a:r>
                  <a:endParaRPr kumimoji="0" lang="ko-KR" altLang="en-US" sz="1200">
                    <a:solidFill>
                      <a:srgbClr val="FFFFFF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6816" name="그룹 383">
                <a:extLst>
                  <a:ext uri="{FF2B5EF4-FFF2-40B4-BE49-F238E27FC236}">
                    <a16:creationId xmlns:a16="http://schemas.microsoft.com/office/drawing/2014/main" id="{053B7946-7582-9AB2-6FCA-67CA5C55E6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5514" y="7707357"/>
                <a:ext cx="274792" cy="261052"/>
                <a:chOff x="1313969" y="1153426"/>
                <a:chExt cx="360000" cy="342000"/>
              </a:xfrm>
            </p:grpSpPr>
            <p:pic>
              <p:nvPicPr>
                <p:cNvPr id="26823" name="Picture 27" descr="ball_br">
                  <a:extLst>
                    <a:ext uri="{FF2B5EF4-FFF2-40B4-BE49-F238E27FC236}">
                      <a16:creationId xmlns:a16="http://schemas.microsoft.com/office/drawing/2014/main" id="{D22D6D6A-958F-5387-A9F7-E74D30144F8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13969" y="1153426"/>
                  <a:ext cx="360000" cy="34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824" name="모서리가 둥근 직사각형 81">
                  <a:extLst>
                    <a:ext uri="{FF2B5EF4-FFF2-40B4-BE49-F238E27FC236}">
                      <a16:creationId xmlns:a16="http://schemas.microsoft.com/office/drawing/2014/main" id="{BE9D3438-EE6E-3B4A-14A7-DA8F55B246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6414" y="1174691"/>
                  <a:ext cx="255111" cy="258307"/>
                </a:xfrm>
                <a:prstGeom prst="roundRect">
                  <a:avLst>
                    <a:gd name="adj" fmla="val 1222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</a:bodyPr>
                <a:lstStyle>
                  <a:lvl1pPr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algn="ctr" latinLnBrk="1">
                    <a:buSzPct val="140000"/>
                  </a:pPr>
                  <a:r>
                    <a:rPr kumimoji="0" lang="en-US" altLang="ko-KR" sz="1200">
                      <a:solidFill>
                        <a:srgbClr val="FFFFFF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  <a:cs typeface="Arial" panose="020B0604020202020204" pitchFamily="34" charset="0"/>
                    </a:rPr>
                    <a:t>5</a:t>
                  </a:r>
                  <a:endParaRPr kumimoji="0" lang="ko-KR" altLang="en-US" sz="1200">
                    <a:solidFill>
                      <a:srgbClr val="FFFFFF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6817" name="그룹 392">
                <a:extLst>
                  <a:ext uri="{FF2B5EF4-FFF2-40B4-BE49-F238E27FC236}">
                    <a16:creationId xmlns:a16="http://schemas.microsoft.com/office/drawing/2014/main" id="{F7BFFAD8-13E0-E719-B8FC-F841BEF4A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8498" y="7987271"/>
                <a:ext cx="274792" cy="261052"/>
                <a:chOff x="1313969" y="1153426"/>
                <a:chExt cx="360000" cy="342000"/>
              </a:xfrm>
            </p:grpSpPr>
            <p:pic>
              <p:nvPicPr>
                <p:cNvPr id="26821" name="Picture 27" descr="ball_br">
                  <a:extLst>
                    <a:ext uri="{FF2B5EF4-FFF2-40B4-BE49-F238E27FC236}">
                      <a16:creationId xmlns:a16="http://schemas.microsoft.com/office/drawing/2014/main" id="{E7ACFC0D-4CD1-658D-34D8-8D535F8EE0D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13969" y="1153426"/>
                  <a:ext cx="360000" cy="34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822" name="모서리가 둥근 직사각형 79">
                  <a:extLst>
                    <a:ext uri="{FF2B5EF4-FFF2-40B4-BE49-F238E27FC236}">
                      <a16:creationId xmlns:a16="http://schemas.microsoft.com/office/drawing/2014/main" id="{E3805572-7EFB-1167-C908-D400217B0F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6414" y="1174691"/>
                  <a:ext cx="255111" cy="258307"/>
                </a:xfrm>
                <a:prstGeom prst="roundRect">
                  <a:avLst>
                    <a:gd name="adj" fmla="val 1222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</a:bodyPr>
                <a:lstStyle>
                  <a:lvl1pPr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algn="ctr" latinLnBrk="1">
                    <a:buSzPct val="140000"/>
                  </a:pPr>
                  <a:r>
                    <a:rPr kumimoji="0" lang="en-US" altLang="ko-KR" sz="1200">
                      <a:solidFill>
                        <a:srgbClr val="FFFFFF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  <a:cs typeface="Arial" panose="020B0604020202020204" pitchFamily="34" charset="0"/>
                    </a:rPr>
                    <a:t>9</a:t>
                  </a:r>
                  <a:endParaRPr kumimoji="0" lang="ko-KR" altLang="en-US" sz="1200">
                    <a:solidFill>
                      <a:srgbClr val="FFFFFF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6818" name="그룹 394">
                <a:extLst>
                  <a:ext uri="{FF2B5EF4-FFF2-40B4-BE49-F238E27FC236}">
                    <a16:creationId xmlns:a16="http://schemas.microsoft.com/office/drawing/2014/main" id="{86996232-13C7-D50F-A832-45A1586D1F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9279" y="7987271"/>
                <a:ext cx="274792" cy="261052"/>
                <a:chOff x="1313969" y="1153426"/>
                <a:chExt cx="360000" cy="342000"/>
              </a:xfrm>
            </p:grpSpPr>
            <p:pic>
              <p:nvPicPr>
                <p:cNvPr id="26819" name="Picture 27" descr="ball_br">
                  <a:extLst>
                    <a:ext uri="{FF2B5EF4-FFF2-40B4-BE49-F238E27FC236}">
                      <a16:creationId xmlns:a16="http://schemas.microsoft.com/office/drawing/2014/main" id="{8992A97C-608B-67AD-72F6-1F761A36197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13969" y="1153426"/>
                  <a:ext cx="360000" cy="34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820" name="모서리가 둥근 직사각형 77">
                  <a:extLst>
                    <a:ext uri="{FF2B5EF4-FFF2-40B4-BE49-F238E27FC236}">
                      <a16:creationId xmlns:a16="http://schemas.microsoft.com/office/drawing/2014/main" id="{ABF90F80-F55F-D83D-F39A-69021F8047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6414" y="1174691"/>
                  <a:ext cx="255111" cy="258307"/>
                </a:xfrm>
                <a:prstGeom prst="roundRect">
                  <a:avLst>
                    <a:gd name="adj" fmla="val 1222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</a:bodyPr>
                <a:lstStyle>
                  <a:lvl1pPr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defTabSz="1066800"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1066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5648325" algn="l"/>
                    </a:tabLs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algn="ctr" latinLnBrk="1">
                    <a:buSzPct val="140000"/>
                  </a:pPr>
                  <a:r>
                    <a:rPr kumimoji="0" lang="en-US" altLang="ko-KR" sz="1200">
                      <a:solidFill>
                        <a:srgbClr val="FFFFFF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  <a:cs typeface="Arial" panose="020B0604020202020204" pitchFamily="34" charset="0"/>
                    </a:rPr>
                    <a:t>6</a:t>
                  </a:r>
                  <a:endParaRPr kumimoji="0" lang="ko-KR" altLang="en-US" sz="1200">
                    <a:solidFill>
                      <a:srgbClr val="FFFFFF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26780" name="TextBox 52">
            <a:extLst>
              <a:ext uri="{FF2B5EF4-FFF2-40B4-BE49-F238E27FC236}">
                <a16:creationId xmlns:a16="http://schemas.microsoft.com/office/drawing/2014/main" id="{C8EE596B-6BAC-47FD-96BF-8408A3C08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8158163"/>
            <a:ext cx="207645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898" tIns="35449" rIns="70898" bIns="35449"/>
          <a:lstStyle>
            <a:lvl1pPr marL="85725" indent="-85725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ko-KR" sz="800">
                <a:latin typeface="HY신명조" panose="02030600000101010101" pitchFamily="18" charset="-127"/>
                <a:ea typeface="HY신명조" panose="02030600000101010101" pitchFamily="18" charset="-127"/>
              </a:rPr>
              <a:t>※ </a:t>
            </a:r>
            <a:r>
              <a:rPr lang="ko-KR" altLang="en-US" sz="800">
                <a:latin typeface="HY신명조" panose="02030600000101010101" pitchFamily="18" charset="-127"/>
                <a:ea typeface="HY신명조" panose="02030600000101010101" pitchFamily="18" charset="-127"/>
              </a:rPr>
              <a:t>위험도 </a:t>
            </a:r>
            <a:r>
              <a:rPr lang="en-US" altLang="ko-KR" sz="800">
                <a:latin typeface="HY신명조" panose="02030600000101010101" pitchFamily="18" charset="-127"/>
                <a:ea typeface="HY신명조" panose="02030600000101010101" pitchFamily="18" charset="-127"/>
              </a:rPr>
              <a:t>= </a:t>
            </a:r>
            <a:r>
              <a:rPr lang="ko-KR" altLang="en-US" sz="800">
                <a:latin typeface="HY신명조" panose="02030600000101010101" pitchFamily="18" charset="-127"/>
                <a:ea typeface="HY신명조" panose="02030600000101010101" pitchFamily="18" charset="-127"/>
              </a:rPr>
              <a:t>영향도 </a:t>
            </a:r>
            <a:r>
              <a:rPr lang="en-US" altLang="ko-KR" sz="800">
                <a:latin typeface="HY신명조" panose="02030600000101010101" pitchFamily="18" charset="-127"/>
                <a:ea typeface="HY신명조" panose="02030600000101010101" pitchFamily="18" charset="-127"/>
              </a:rPr>
              <a:t>X </a:t>
            </a:r>
            <a:r>
              <a:rPr lang="ko-KR" altLang="en-US" sz="800">
                <a:latin typeface="HY신명조" panose="02030600000101010101" pitchFamily="18" charset="-127"/>
                <a:ea typeface="HY신명조" panose="02030600000101010101" pitchFamily="18" charset="-127"/>
              </a:rPr>
              <a:t>위험요소 발생가능성</a:t>
            </a:r>
          </a:p>
        </p:txBody>
      </p:sp>
      <p:grpSp>
        <p:nvGrpSpPr>
          <p:cNvPr id="26781" name="그룹 409">
            <a:extLst>
              <a:ext uri="{FF2B5EF4-FFF2-40B4-BE49-F238E27FC236}">
                <a16:creationId xmlns:a16="http://schemas.microsoft.com/office/drawing/2014/main" id="{5FD35FCC-0CE5-F700-144C-4EC587EA6A99}"/>
              </a:ext>
            </a:extLst>
          </p:cNvPr>
          <p:cNvGrpSpPr>
            <a:grpSpLocks/>
          </p:cNvGrpSpPr>
          <p:nvPr/>
        </p:nvGrpSpPr>
        <p:grpSpPr bwMode="auto">
          <a:xfrm>
            <a:off x="4702175" y="7340600"/>
            <a:ext cx="261938" cy="260350"/>
            <a:chOff x="1313969" y="1153426"/>
            <a:chExt cx="360000" cy="342000"/>
          </a:xfrm>
        </p:grpSpPr>
        <p:pic>
          <p:nvPicPr>
            <p:cNvPr id="26807" name="Picture 27" descr="ball_br">
              <a:extLst>
                <a:ext uri="{FF2B5EF4-FFF2-40B4-BE49-F238E27FC236}">
                  <a16:creationId xmlns:a16="http://schemas.microsoft.com/office/drawing/2014/main" id="{A4AFB738-2B07-7F5F-5664-C4BAEFD3EA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969" y="1153426"/>
              <a:ext cx="360000" cy="34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808" name="모서리가 둥근 직사각형 97">
              <a:extLst>
                <a:ext uri="{FF2B5EF4-FFF2-40B4-BE49-F238E27FC236}">
                  <a16:creationId xmlns:a16="http://schemas.microsoft.com/office/drawing/2014/main" id="{65BAD85C-C886-08FD-B122-9BC9DF299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414" y="1174691"/>
              <a:ext cx="255111" cy="258307"/>
            </a:xfrm>
            <a:prstGeom prst="roundRect">
              <a:avLst>
                <a:gd name="adj" fmla="val 12222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buSzPct val="140000"/>
              </a:pPr>
              <a:r>
                <a:rPr kumimoji="0" lang="en-US" altLang="ko-KR" sz="12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rPr>
                <a:t>6</a:t>
              </a:r>
              <a:endParaRPr kumimoji="0" lang="ko-KR" altLang="en-US" sz="12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6782" name="그룹 410">
            <a:extLst>
              <a:ext uri="{FF2B5EF4-FFF2-40B4-BE49-F238E27FC236}">
                <a16:creationId xmlns:a16="http://schemas.microsoft.com/office/drawing/2014/main" id="{8FF9CB46-2141-8A1E-C61B-9D033E30333C}"/>
              </a:ext>
            </a:extLst>
          </p:cNvPr>
          <p:cNvGrpSpPr>
            <a:grpSpLocks/>
          </p:cNvGrpSpPr>
          <p:nvPr/>
        </p:nvGrpSpPr>
        <p:grpSpPr bwMode="auto">
          <a:xfrm>
            <a:off x="4368800" y="7772400"/>
            <a:ext cx="261938" cy="260350"/>
            <a:chOff x="1313969" y="1153427"/>
            <a:chExt cx="360000" cy="342000"/>
          </a:xfrm>
        </p:grpSpPr>
        <p:pic>
          <p:nvPicPr>
            <p:cNvPr id="26805" name="Picture 27" descr="ball_br">
              <a:extLst>
                <a:ext uri="{FF2B5EF4-FFF2-40B4-BE49-F238E27FC236}">
                  <a16:creationId xmlns:a16="http://schemas.microsoft.com/office/drawing/2014/main" id="{300C42A2-8BCD-A737-1E3D-A7824C6C95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969" y="1153427"/>
              <a:ext cx="360000" cy="34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806" name="모서리가 둥근 직사각형 100">
              <a:extLst>
                <a:ext uri="{FF2B5EF4-FFF2-40B4-BE49-F238E27FC236}">
                  <a16:creationId xmlns:a16="http://schemas.microsoft.com/office/drawing/2014/main" id="{C69F704C-7285-9596-54F9-0AF366DD3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414" y="1174691"/>
              <a:ext cx="255111" cy="258307"/>
            </a:xfrm>
            <a:prstGeom prst="roundRect">
              <a:avLst>
                <a:gd name="adj" fmla="val 12222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buSzPct val="140000"/>
              </a:pPr>
              <a:r>
                <a:rPr kumimoji="0" lang="en-US" altLang="ko-KR" sz="12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rPr>
                <a:t>8</a:t>
              </a:r>
              <a:endParaRPr kumimoji="0" lang="ko-KR" altLang="en-US" sz="12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6783" name="그룹 412">
            <a:extLst>
              <a:ext uri="{FF2B5EF4-FFF2-40B4-BE49-F238E27FC236}">
                <a16:creationId xmlns:a16="http://schemas.microsoft.com/office/drawing/2014/main" id="{B4F8311F-A05A-6B66-7D3F-849E670D338E}"/>
              </a:ext>
            </a:extLst>
          </p:cNvPr>
          <p:cNvGrpSpPr>
            <a:grpSpLocks/>
          </p:cNvGrpSpPr>
          <p:nvPr/>
        </p:nvGrpSpPr>
        <p:grpSpPr bwMode="auto">
          <a:xfrm>
            <a:off x="4011613" y="6915150"/>
            <a:ext cx="261937" cy="260350"/>
            <a:chOff x="1313969" y="1153426"/>
            <a:chExt cx="360000" cy="342000"/>
          </a:xfrm>
        </p:grpSpPr>
        <p:pic>
          <p:nvPicPr>
            <p:cNvPr id="26803" name="Picture 27" descr="ball_br">
              <a:extLst>
                <a:ext uri="{FF2B5EF4-FFF2-40B4-BE49-F238E27FC236}">
                  <a16:creationId xmlns:a16="http://schemas.microsoft.com/office/drawing/2014/main" id="{DA15A57F-4A12-B0C2-DD5E-5CD9E5D2B2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969" y="1153426"/>
              <a:ext cx="360000" cy="34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804" name="모서리가 둥근 직사각형 103">
              <a:extLst>
                <a:ext uri="{FF2B5EF4-FFF2-40B4-BE49-F238E27FC236}">
                  <a16:creationId xmlns:a16="http://schemas.microsoft.com/office/drawing/2014/main" id="{F69801EF-B492-C85A-E812-D96539122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414" y="1174691"/>
              <a:ext cx="255111" cy="258307"/>
            </a:xfrm>
            <a:prstGeom prst="roundRect">
              <a:avLst>
                <a:gd name="adj" fmla="val 12222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buSzPct val="140000"/>
              </a:pPr>
              <a:r>
                <a:rPr kumimoji="0" lang="en-US" altLang="ko-KR" sz="12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rPr>
                <a:t>1</a:t>
              </a:r>
              <a:endParaRPr kumimoji="0" lang="ko-KR" altLang="en-US" sz="12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6784" name="그룹 413">
            <a:extLst>
              <a:ext uri="{FF2B5EF4-FFF2-40B4-BE49-F238E27FC236}">
                <a16:creationId xmlns:a16="http://schemas.microsoft.com/office/drawing/2014/main" id="{EBC0243B-371F-BBD8-EDFC-46829AE505F5}"/>
              </a:ext>
            </a:extLst>
          </p:cNvPr>
          <p:cNvGrpSpPr>
            <a:grpSpLocks/>
          </p:cNvGrpSpPr>
          <p:nvPr/>
        </p:nvGrpSpPr>
        <p:grpSpPr bwMode="auto">
          <a:xfrm>
            <a:off x="4368800" y="6915150"/>
            <a:ext cx="261938" cy="260350"/>
            <a:chOff x="1313969" y="1153426"/>
            <a:chExt cx="360000" cy="342000"/>
          </a:xfrm>
        </p:grpSpPr>
        <p:pic>
          <p:nvPicPr>
            <p:cNvPr id="26801" name="Picture 27" descr="ball_br">
              <a:extLst>
                <a:ext uri="{FF2B5EF4-FFF2-40B4-BE49-F238E27FC236}">
                  <a16:creationId xmlns:a16="http://schemas.microsoft.com/office/drawing/2014/main" id="{D4027204-287D-9F0F-FFDF-8E3F43574E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969" y="1153426"/>
              <a:ext cx="360000" cy="34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802" name="모서리가 둥근 직사각형 106">
              <a:extLst>
                <a:ext uri="{FF2B5EF4-FFF2-40B4-BE49-F238E27FC236}">
                  <a16:creationId xmlns:a16="http://schemas.microsoft.com/office/drawing/2014/main" id="{D316CC5D-5F90-630B-840B-FC28AFA19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414" y="1174691"/>
              <a:ext cx="255111" cy="258307"/>
            </a:xfrm>
            <a:prstGeom prst="roundRect">
              <a:avLst>
                <a:gd name="adj" fmla="val 12222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buSzPct val="140000"/>
              </a:pPr>
              <a:r>
                <a:rPr kumimoji="0" lang="en-US" altLang="ko-KR" sz="12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rPr>
                <a:t>2</a:t>
              </a:r>
              <a:endParaRPr kumimoji="0" lang="ko-KR" altLang="en-US" sz="12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6785" name="그룹 414">
            <a:extLst>
              <a:ext uri="{FF2B5EF4-FFF2-40B4-BE49-F238E27FC236}">
                <a16:creationId xmlns:a16="http://schemas.microsoft.com/office/drawing/2014/main" id="{FF9A8133-7660-73FC-78E1-35E0CE42B307}"/>
              </a:ext>
            </a:extLst>
          </p:cNvPr>
          <p:cNvGrpSpPr>
            <a:grpSpLocks/>
          </p:cNvGrpSpPr>
          <p:nvPr/>
        </p:nvGrpSpPr>
        <p:grpSpPr bwMode="auto">
          <a:xfrm>
            <a:off x="4702175" y="6915150"/>
            <a:ext cx="261938" cy="260350"/>
            <a:chOff x="1313969" y="1153426"/>
            <a:chExt cx="360000" cy="342000"/>
          </a:xfrm>
        </p:grpSpPr>
        <p:pic>
          <p:nvPicPr>
            <p:cNvPr id="26799" name="Picture 27" descr="ball_br">
              <a:extLst>
                <a:ext uri="{FF2B5EF4-FFF2-40B4-BE49-F238E27FC236}">
                  <a16:creationId xmlns:a16="http://schemas.microsoft.com/office/drawing/2014/main" id="{E2AE20AD-DAA5-B593-313A-2914321C03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969" y="1153426"/>
              <a:ext cx="360000" cy="34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800" name="모서리가 둥근 직사각형 109">
              <a:extLst>
                <a:ext uri="{FF2B5EF4-FFF2-40B4-BE49-F238E27FC236}">
                  <a16:creationId xmlns:a16="http://schemas.microsoft.com/office/drawing/2014/main" id="{0BF66F4B-FF45-7895-5481-5979DF539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414" y="1174691"/>
              <a:ext cx="255111" cy="258307"/>
            </a:xfrm>
            <a:prstGeom prst="roundRect">
              <a:avLst>
                <a:gd name="adj" fmla="val 12222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buSzPct val="140000"/>
              </a:pPr>
              <a:r>
                <a:rPr kumimoji="0" lang="en-US" altLang="ko-KR" sz="12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rPr>
                <a:t>3</a:t>
              </a:r>
              <a:endParaRPr kumimoji="0" lang="ko-KR" altLang="en-US" sz="12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6786" name="그룹 415">
            <a:extLst>
              <a:ext uri="{FF2B5EF4-FFF2-40B4-BE49-F238E27FC236}">
                <a16:creationId xmlns:a16="http://schemas.microsoft.com/office/drawing/2014/main" id="{E8C75600-4526-8740-F083-6930340D9939}"/>
              </a:ext>
            </a:extLst>
          </p:cNvPr>
          <p:cNvGrpSpPr>
            <a:grpSpLocks/>
          </p:cNvGrpSpPr>
          <p:nvPr/>
        </p:nvGrpSpPr>
        <p:grpSpPr bwMode="auto">
          <a:xfrm>
            <a:off x="4011613" y="7340600"/>
            <a:ext cx="261937" cy="260350"/>
            <a:chOff x="1313969" y="1153426"/>
            <a:chExt cx="360000" cy="342000"/>
          </a:xfrm>
        </p:grpSpPr>
        <p:pic>
          <p:nvPicPr>
            <p:cNvPr id="26797" name="Picture 27" descr="ball_br">
              <a:extLst>
                <a:ext uri="{FF2B5EF4-FFF2-40B4-BE49-F238E27FC236}">
                  <a16:creationId xmlns:a16="http://schemas.microsoft.com/office/drawing/2014/main" id="{19B64AB0-1644-FEAF-D515-7474C2A11D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969" y="1153426"/>
              <a:ext cx="360000" cy="34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798" name="모서리가 둥근 직사각형 112">
              <a:extLst>
                <a:ext uri="{FF2B5EF4-FFF2-40B4-BE49-F238E27FC236}">
                  <a16:creationId xmlns:a16="http://schemas.microsoft.com/office/drawing/2014/main" id="{2D7B01A7-0EC6-2FFE-CA4C-A67E87A00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414" y="1174691"/>
              <a:ext cx="255111" cy="258307"/>
            </a:xfrm>
            <a:prstGeom prst="roundRect">
              <a:avLst>
                <a:gd name="adj" fmla="val 12222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buSzPct val="140000"/>
              </a:pPr>
              <a:r>
                <a:rPr kumimoji="0" lang="en-US" altLang="ko-KR" sz="12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rPr>
                <a:t>4</a:t>
              </a:r>
              <a:endParaRPr kumimoji="0" lang="ko-KR" altLang="en-US" sz="12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6787" name="그룹 416">
            <a:extLst>
              <a:ext uri="{FF2B5EF4-FFF2-40B4-BE49-F238E27FC236}">
                <a16:creationId xmlns:a16="http://schemas.microsoft.com/office/drawing/2014/main" id="{93C92E0D-C203-1670-9E00-31F9B78705C9}"/>
              </a:ext>
            </a:extLst>
          </p:cNvPr>
          <p:cNvGrpSpPr>
            <a:grpSpLocks/>
          </p:cNvGrpSpPr>
          <p:nvPr/>
        </p:nvGrpSpPr>
        <p:grpSpPr bwMode="auto">
          <a:xfrm>
            <a:off x="4368800" y="7340600"/>
            <a:ext cx="261938" cy="260350"/>
            <a:chOff x="1313969" y="1153426"/>
            <a:chExt cx="360000" cy="342000"/>
          </a:xfrm>
        </p:grpSpPr>
        <p:pic>
          <p:nvPicPr>
            <p:cNvPr id="26795" name="Picture 27" descr="ball_br">
              <a:extLst>
                <a:ext uri="{FF2B5EF4-FFF2-40B4-BE49-F238E27FC236}">
                  <a16:creationId xmlns:a16="http://schemas.microsoft.com/office/drawing/2014/main" id="{358092C1-68F0-1E9E-2285-796104064B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969" y="1153426"/>
              <a:ext cx="360000" cy="34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796" name="모서리가 둥근 직사각형 115">
              <a:extLst>
                <a:ext uri="{FF2B5EF4-FFF2-40B4-BE49-F238E27FC236}">
                  <a16:creationId xmlns:a16="http://schemas.microsoft.com/office/drawing/2014/main" id="{258E2884-F3DB-4F58-0869-BD0849426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414" y="1174691"/>
              <a:ext cx="255111" cy="258307"/>
            </a:xfrm>
            <a:prstGeom prst="roundRect">
              <a:avLst>
                <a:gd name="adj" fmla="val 12222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buSzPct val="140000"/>
              </a:pPr>
              <a:r>
                <a:rPr kumimoji="0" lang="en-US" altLang="ko-KR" sz="12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rPr>
                <a:t>5</a:t>
              </a:r>
              <a:endParaRPr kumimoji="0" lang="ko-KR" altLang="en-US" sz="12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6788" name="그룹 417">
            <a:extLst>
              <a:ext uri="{FF2B5EF4-FFF2-40B4-BE49-F238E27FC236}">
                <a16:creationId xmlns:a16="http://schemas.microsoft.com/office/drawing/2014/main" id="{71F0430B-CAF5-AFD3-1732-CDB4EFD32F13}"/>
              </a:ext>
            </a:extLst>
          </p:cNvPr>
          <p:cNvGrpSpPr>
            <a:grpSpLocks/>
          </p:cNvGrpSpPr>
          <p:nvPr/>
        </p:nvGrpSpPr>
        <p:grpSpPr bwMode="auto">
          <a:xfrm>
            <a:off x="4011613" y="7772400"/>
            <a:ext cx="261937" cy="260350"/>
            <a:chOff x="1313969" y="1153426"/>
            <a:chExt cx="360000" cy="342000"/>
          </a:xfrm>
        </p:grpSpPr>
        <p:pic>
          <p:nvPicPr>
            <p:cNvPr id="26793" name="Picture 27" descr="ball_br">
              <a:extLst>
                <a:ext uri="{FF2B5EF4-FFF2-40B4-BE49-F238E27FC236}">
                  <a16:creationId xmlns:a16="http://schemas.microsoft.com/office/drawing/2014/main" id="{D8878B59-6B02-D09C-7A73-A28F905C26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969" y="1153426"/>
              <a:ext cx="360000" cy="34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794" name="모서리가 둥근 직사각형 118">
              <a:extLst>
                <a:ext uri="{FF2B5EF4-FFF2-40B4-BE49-F238E27FC236}">
                  <a16:creationId xmlns:a16="http://schemas.microsoft.com/office/drawing/2014/main" id="{F55F03DA-B717-722E-AF91-58CEC0275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414" y="1174693"/>
              <a:ext cx="255111" cy="258307"/>
            </a:xfrm>
            <a:prstGeom prst="roundRect">
              <a:avLst>
                <a:gd name="adj" fmla="val 12222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buSzPct val="140000"/>
              </a:pPr>
              <a:r>
                <a:rPr kumimoji="0" lang="en-US" altLang="ko-KR" sz="12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rPr>
                <a:t>7</a:t>
              </a:r>
              <a:endParaRPr kumimoji="0" lang="ko-KR" altLang="en-US" sz="12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6789" name="그룹 418">
            <a:extLst>
              <a:ext uri="{FF2B5EF4-FFF2-40B4-BE49-F238E27FC236}">
                <a16:creationId xmlns:a16="http://schemas.microsoft.com/office/drawing/2014/main" id="{A18AE1D6-45EA-06DC-926A-F99F2FD44C26}"/>
              </a:ext>
            </a:extLst>
          </p:cNvPr>
          <p:cNvGrpSpPr>
            <a:grpSpLocks/>
          </p:cNvGrpSpPr>
          <p:nvPr/>
        </p:nvGrpSpPr>
        <p:grpSpPr bwMode="auto">
          <a:xfrm>
            <a:off x="4702175" y="7772400"/>
            <a:ext cx="261938" cy="260350"/>
            <a:chOff x="1313969" y="1153426"/>
            <a:chExt cx="360000" cy="342000"/>
          </a:xfrm>
        </p:grpSpPr>
        <p:pic>
          <p:nvPicPr>
            <p:cNvPr id="26791" name="Picture 27" descr="ball_br">
              <a:extLst>
                <a:ext uri="{FF2B5EF4-FFF2-40B4-BE49-F238E27FC236}">
                  <a16:creationId xmlns:a16="http://schemas.microsoft.com/office/drawing/2014/main" id="{1B5531CB-019C-5686-6EE8-4B0B4BF1F9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969" y="1153426"/>
              <a:ext cx="360000" cy="34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792" name="모서리가 둥근 직사각형 121">
              <a:extLst>
                <a:ext uri="{FF2B5EF4-FFF2-40B4-BE49-F238E27FC236}">
                  <a16:creationId xmlns:a16="http://schemas.microsoft.com/office/drawing/2014/main" id="{466C7C4D-EDA7-834C-C2BE-236917CE6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414" y="1174693"/>
              <a:ext cx="255111" cy="258307"/>
            </a:xfrm>
            <a:prstGeom prst="roundRect">
              <a:avLst>
                <a:gd name="adj" fmla="val 12222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1066800"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1066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1">
                <a:buSzPct val="140000"/>
              </a:pPr>
              <a:r>
                <a:rPr kumimoji="0" lang="en-US" altLang="ko-KR" sz="120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anose="020B0604020202020204" pitchFamily="34" charset="0"/>
                </a:rPr>
                <a:t>9</a:t>
              </a:r>
              <a:endParaRPr kumimoji="0" lang="ko-KR" altLang="en-US" sz="12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26790" name="TextBox 52">
            <a:extLst>
              <a:ext uri="{FF2B5EF4-FFF2-40B4-BE49-F238E27FC236}">
                <a16:creationId xmlns:a16="http://schemas.microsoft.com/office/drawing/2014/main" id="{04C67865-6235-7D05-BF0B-54A468FEB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0" y="8016875"/>
            <a:ext cx="993463" cy="13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898" tIns="35449" rIns="70898" bIns="35449"/>
          <a:lstStyle>
            <a:lvl1pPr indent="-85725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900" err="1">
                <a:latin typeface="HY신명조" panose="02030600000101010101" pitchFamily="18" charset="-127"/>
                <a:ea typeface="HY신명조" panose="02030600000101010101" pitchFamily="18" charset="-127"/>
              </a:rPr>
              <a:t>프로젝트</a:t>
            </a:r>
            <a:r>
              <a:rPr lang="en-US" altLang="en-US" sz="9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en-US" sz="900" err="1">
                <a:latin typeface="HY신명조" panose="02030600000101010101" pitchFamily="18" charset="-127"/>
                <a:ea typeface="HY신명조" panose="02030600000101010101" pitchFamily="18" charset="-127"/>
              </a:rPr>
              <a:t>영향도</a:t>
            </a:r>
            <a:endParaRPr lang="en-US" altLang="en-US" sz="9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5" name="Rectangle 182">
            <a:extLst>
              <a:ext uri="{FF2B5EF4-FFF2-40B4-BE49-F238E27FC236}">
                <a16:creationId xmlns:a16="http://schemas.microsoft.com/office/drawing/2014/main" id="{14500404-990D-53BF-133A-6161325E6C5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Ⅴ - 8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1086">
            <a:extLst>
              <a:ext uri="{FF2B5EF4-FFF2-40B4-BE49-F238E27FC236}">
                <a16:creationId xmlns:a16="http://schemas.microsoft.com/office/drawing/2014/main" id="{BC7B104E-182B-CED2-2922-4E393DB57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07988"/>
            <a:ext cx="2092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4. 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위험 및 </a:t>
            </a:r>
            <a:r>
              <a:rPr lang="ko-KR" altLang="en-US" sz="1100" err="1">
                <a:latin typeface="HY신명조" panose="02030600000101010101" pitchFamily="18" charset="-127"/>
                <a:ea typeface="HY신명조" panose="02030600000101010101" pitchFamily="18" charset="-127"/>
                <a:cs typeface="가는각진제목체"/>
              </a:rPr>
              <a:t>이슈관리</a:t>
            </a:r>
            <a:endParaRPr lang="ko-KR" altLang="en-US" sz="1100">
              <a:latin typeface="HY신명조" panose="02030600000101010101" pitchFamily="18" charset="-127"/>
              <a:ea typeface="HY신명조" panose="02030600000101010101" pitchFamily="18" charset="-127"/>
              <a:cs typeface="가는각진제목체"/>
            </a:endParaRPr>
          </a:p>
        </p:txBody>
      </p:sp>
      <p:sp>
        <p:nvSpPr>
          <p:cNvPr id="125" name="Text Box 81">
            <a:extLst>
              <a:ext uri="{FF2B5EF4-FFF2-40B4-BE49-F238E27FC236}">
                <a16:creationId xmlns:a16="http://schemas.microsoft.com/office/drawing/2014/main" id="{A2376E27-7E06-D03B-6FCE-7884A9E2C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869950"/>
            <a:ext cx="6165850" cy="971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나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이슈관리</a:t>
            </a:r>
            <a:endParaRPr lang="ko-KR" altLang="en-US" sz="140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0000"/>
              </a:lnSpc>
              <a:defRPr/>
            </a:pPr>
            <a:r>
              <a:rPr lang="ko-KR" altLang="ko-KR" sz="14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-1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z="1200" spc="-1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사업 수행 시 발생할 수 있는 이슈에 대해 아래와 같이 사전에 식별하고 </a:t>
            </a:r>
            <a:r>
              <a:rPr lang="ko-KR" altLang="en-US" sz="1200" spc="-10" dirty="0" err="1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이에대한</a:t>
            </a:r>
            <a:r>
              <a:rPr lang="ko-KR" altLang="en-US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 해소방안을 수립하여 대처함으로써 안정적인 사업수행 체계를 구축하겠습니다</a:t>
            </a:r>
            <a:r>
              <a:rPr lang="en-US" altLang="ko-KR" sz="1200" spc="-10" dirty="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.</a:t>
            </a:r>
            <a:endParaRPr lang="en-US" altLang="ko-KR" sz="1200" spc="-1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B3A08C0-31BD-115C-09FA-B7F3A27D5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230046"/>
              </p:ext>
            </p:extLst>
          </p:nvPr>
        </p:nvGraphicFramePr>
        <p:xfrm>
          <a:off x="366713" y="1901824"/>
          <a:ext cx="5986462" cy="7360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5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구분</a:t>
                      </a:r>
                    </a:p>
                  </a:txBody>
                  <a:tcPr marL="91443" marR="91443" marT="45721" marB="45721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이슈</a:t>
                      </a:r>
                    </a:p>
                  </a:txBody>
                  <a:tcPr marL="91443" marR="91443" marT="45721" marB="45721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관리 및 해소방안</a:t>
                      </a:r>
                    </a:p>
                  </a:txBody>
                  <a:tcPr marL="91443" marR="91443" marT="45721" marB="45721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발생</a:t>
                      </a:r>
                      <a:endParaRPr lang="en-US" altLang="ko-KR" sz="1000" b="1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빈도</a:t>
                      </a:r>
                    </a:p>
                  </a:txBody>
                  <a:tcPr marL="91443" marR="91443" marT="45721" marB="45721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영향력</a:t>
                      </a:r>
                    </a:p>
                  </a:txBody>
                  <a:tcPr marL="91443" marR="91443" marT="45721" marB="45721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일정지연</a:t>
                      </a:r>
                    </a:p>
                  </a:txBody>
                  <a:tcPr marL="91443" marR="91443" marT="45721" marB="4572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900" spc="-100" baseline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추가 소요 발생</a:t>
                      </a:r>
                      <a:endParaRPr lang="en-US" altLang="ko-KR" sz="900" spc="-100" baseline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900" spc="-100" baseline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선행작업 미완료</a:t>
                      </a:r>
                      <a:endParaRPr lang="en-US" altLang="ko-KR" sz="900" spc="-100" baseline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연쇄 지원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일정 지연에 대한 만회 계획을 적기에 수립</a:t>
                      </a:r>
                      <a:r>
                        <a:rPr lang="en-US" altLang="ko-KR" sz="9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/</a:t>
                      </a:r>
                      <a:r>
                        <a:rPr lang="ko-KR" altLang="en-US" sz="9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시행</a:t>
                      </a:r>
                      <a:endParaRPr lang="en-US" altLang="ko-KR" sz="900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인력의 효율적 재배치 또는 업무 조정 검토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</a:t>
                      </a:r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5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품질저하</a:t>
                      </a:r>
                    </a:p>
                  </a:txBody>
                  <a:tcPr marL="91443" marR="91443" marT="45721" marB="4572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900" spc="-100" baseline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품질표준 </a:t>
                      </a:r>
                      <a:r>
                        <a:rPr lang="ko-KR" altLang="en-US" sz="900" spc="-100" baseline="0" err="1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미준수</a:t>
                      </a:r>
                      <a:endParaRPr lang="en-US" altLang="ko-KR" sz="900" spc="-100" baseline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결과물의 품질 </a:t>
                      </a:r>
                      <a:br>
                        <a:rPr lang="en-US" altLang="ko-KR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</a:br>
                      <a:r>
                        <a:rPr lang="ko-KR" altLang="en-US" sz="900" err="1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미달사항</a:t>
                      </a: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발생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표준 및 품질 보증 관련 지침 수립 및 교육 실시</a:t>
                      </a:r>
                      <a:endParaRPr lang="en-US" altLang="ko-KR" sz="90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유지보수책임기관의 품질 저하 요소 식별 및 집중관리</a:t>
                      </a:r>
                      <a:endParaRPr lang="en-US" altLang="ko-KR" sz="90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내부 품질검토회의 및 유지보수책임기관의 실무담당자와 지속적 검토를 통해 품질 수준확인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하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</a:t>
                      </a:r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5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요구사항</a:t>
                      </a:r>
                    </a:p>
                  </a:txBody>
                  <a:tcPr marL="91443" marR="91443" marT="45721" marB="4572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계약 당시와 실제 구현 시 차이발생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사용자 면담을 통해 정확한 요구사항 파악</a:t>
                      </a:r>
                      <a:endParaRPr lang="en-US" altLang="ko-KR" sz="90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관련 요구사항에 대해 대응방안 수립 후 일정계획 조정</a:t>
                      </a:r>
                      <a:endParaRPr lang="en-US" altLang="ko-KR" sz="90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사용자 대표기관 및 유지보수책임기관과 공동협의</a:t>
                      </a:r>
                      <a:endParaRPr lang="en-US" altLang="ko-KR" sz="90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지속적인 면담과 다양한 의사소통 채널 유지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중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</a:t>
                      </a:r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44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인력이탈</a:t>
                      </a:r>
                    </a:p>
                  </a:txBody>
                  <a:tcPr marL="91443" marR="91443" marT="45721" marB="4572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무단결근</a:t>
                      </a:r>
                      <a:endParaRPr lang="en-US" altLang="ko-KR" sz="90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900" err="1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비번한</a:t>
                      </a: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지각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 spc="-100" baseline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이탈 발생 즉시 동일 조건의 인력 채용</a:t>
                      </a:r>
                      <a:endParaRPr lang="en-US" altLang="ko-KR" sz="900" spc="-100" baseline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신규 채용인력에 대해 관리자 책임하에 </a:t>
                      </a:r>
                      <a:br>
                        <a:rPr lang="en-US" altLang="ko-KR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</a:b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오리엔테이션 및 작업 수행 교육을 실시</a:t>
                      </a:r>
                      <a:r>
                        <a:rPr lang="en-US" altLang="ko-KR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즉시 </a:t>
                      </a:r>
                      <a:br>
                        <a:rPr lang="en-US" altLang="ko-KR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</a:b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업무 적응이 가능토록 함</a:t>
                      </a:r>
                      <a:endParaRPr lang="en-US" altLang="ko-KR" sz="90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가능한 한 이탈 인력이 발생하지 않도록 사전에 </a:t>
                      </a:r>
                      <a:br>
                        <a:rPr lang="en-US" altLang="ko-KR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</a:b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작업자들의 고충을 파악하여 대책을 강구하고</a:t>
                      </a:r>
                      <a:r>
                        <a:rPr lang="en-US" altLang="ko-KR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br>
                        <a:rPr lang="en-US" altLang="ko-KR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</a:b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이탈이 부득이한 작업자는 사전에 통보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중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</a:t>
                      </a:r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6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체계운용</a:t>
                      </a:r>
                    </a:p>
                  </a:txBody>
                  <a:tcPr marL="91443" marR="91443" marT="45721" marB="4572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900" spc="-100" baseline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개발체계 적용 시</a:t>
                      </a: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br>
                        <a:rPr lang="en-US" altLang="ko-KR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</a:b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오류 발생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기존 및 신규체계 간 차이점에 대한 충분한 </a:t>
                      </a:r>
                      <a:br>
                        <a:rPr lang="en-US" altLang="ko-KR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</a:b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기술검토</a:t>
                      </a:r>
                      <a:endParaRPr lang="en-US" altLang="ko-KR" sz="90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초기 운용현황 모니터링 강화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중</a:t>
                      </a: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90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</a:t>
                      </a:r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182">
            <a:extLst>
              <a:ext uri="{FF2B5EF4-FFF2-40B4-BE49-F238E27FC236}">
                <a16:creationId xmlns:a16="http://schemas.microsoft.com/office/drawing/2014/main" id="{14500404-990D-53BF-133A-6161325E6C5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248662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Ⅴ - 9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58CD5669-3CF6-A145-8E38-4C9285E15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350" y="1909763"/>
            <a:ext cx="1625600" cy="16319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6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1000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Ⅵ</a:t>
            </a:r>
            <a:endParaRPr lang="en-US" altLang="ko-KR" sz="10000">
              <a:solidFill>
                <a:schemeClr val="bg1"/>
              </a:solidFill>
              <a:latin typeface="Yoon 윤명조 540_TT" pitchFamily="18" charset="-127"/>
              <a:ea typeface="Yoon 윤명조 540_TT" pitchFamily="18" charset="-127"/>
            </a:endParaRPr>
          </a:p>
        </p:txBody>
      </p:sp>
      <p:sp>
        <p:nvSpPr>
          <p:cNvPr id="9219" name="Text Box 4">
            <a:extLst>
              <a:ext uri="{FF2B5EF4-FFF2-40B4-BE49-F238E27FC236}">
                <a16:creationId xmlns:a16="http://schemas.microsoft.com/office/drawing/2014/main" id="{1986023C-7EB5-55D1-C8A9-597B0C390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4130675"/>
            <a:ext cx="3930650" cy="1502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 dirty="0">
                <a:ea typeface="Yoon 윤고딕 530_TT" pitchFamily="18" charset="-127"/>
              </a:rPr>
              <a:t>인수인계</a:t>
            </a:r>
            <a:endParaRPr lang="en-US" altLang="ko-KR" dirty="0">
              <a:ea typeface="Yoon 윤고딕 530_TT" pitchFamily="18" charset="-127"/>
            </a:endParaRPr>
          </a:p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 dirty="0">
                <a:latin typeface="Yoon 윤고딕 530_TT" pitchFamily="18" charset="-127"/>
                <a:ea typeface="Yoon 윤고딕 530_TT" pitchFamily="18" charset="-127"/>
              </a:rPr>
              <a:t>교육훈련</a:t>
            </a:r>
            <a:endParaRPr lang="en-US" altLang="ko-KR" dirty="0">
              <a:latin typeface="Yoon 윤고딕 530_TT" pitchFamily="18" charset="-127"/>
              <a:ea typeface="Yoon 윤고딕 530_TT" pitchFamily="18" charset="-127"/>
            </a:endParaRPr>
          </a:p>
          <a:p>
            <a:pPr eaLnBrk="1" latinLnBrk="1" hangingPunct="1">
              <a:lnSpc>
                <a:spcPct val="180000"/>
              </a:lnSpc>
              <a:buFontTx/>
              <a:buAutoNum type="arabicPeriod"/>
            </a:pPr>
            <a:r>
              <a:rPr lang="ko-KR" altLang="en-US" dirty="0">
                <a:latin typeface="Yoon 윤고딕 530_TT" pitchFamily="18" charset="-127"/>
                <a:ea typeface="Yoon 윤고딕 530_TT" pitchFamily="18" charset="-127"/>
              </a:rPr>
              <a:t>기술지원</a:t>
            </a:r>
          </a:p>
        </p:txBody>
      </p:sp>
      <p:sp>
        <p:nvSpPr>
          <p:cNvPr id="189446" name="Text Box 6">
            <a:extLst>
              <a:ext uri="{FF2B5EF4-FFF2-40B4-BE49-F238E27FC236}">
                <a16:creationId xmlns:a16="http://schemas.microsoft.com/office/drawing/2014/main" id="{EAB2CF4B-78F7-F59F-9989-F977F18E8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75" y="2408238"/>
            <a:ext cx="2949575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프로젝트 지원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82"/>
          <p:cNvSpPr txBox="1">
            <a:spLocks noGrp="1" noChangeArrowheads="1"/>
          </p:cNvSpPr>
          <p:nvPr/>
        </p:nvSpPr>
        <p:spPr bwMode="auto">
          <a:xfrm>
            <a:off x="3200400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 dirty="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Ⅵ - 1</a:t>
            </a:r>
          </a:p>
        </p:txBody>
      </p:sp>
      <p:sp>
        <p:nvSpPr>
          <p:cNvPr id="5126" name="Text Box 81"/>
          <p:cNvSpPr txBox="1">
            <a:spLocks noChangeArrowheads="1"/>
          </p:cNvSpPr>
          <p:nvPr/>
        </p:nvSpPr>
        <p:spPr bwMode="auto">
          <a:xfrm>
            <a:off x="315913" y="1265238"/>
            <a:ext cx="6165850" cy="95256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인수인계 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(MPR-008)</a:t>
            </a:r>
          </a:p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인력의 교체 및 이탈을 최대한 방지하도록 노력하나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부득이 발생되는 인력교체에 다음과 같은 방안으로 운영상 피해를 최소화 하겠습니다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인수인계</a:t>
            </a:r>
          </a:p>
        </p:txBody>
      </p:sp>
      <p:sp>
        <p:nvSpPr>
          <p:cNvPr id="9239" name="Text Box 63"/>
          <p:cNvSpPr txBox="1">
            <a:spLocks noChangeArrowheads="1"/>
          </p:cNvSpPr>
          <p:nvPr/>
        </p:nvSpPr>
        <p:spPr bwMode="auto">
          <a:xfrm>
            <a:off x="290513" y="831850"/>
            <a:ext cx="6242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kumimoji="0"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인수인계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374650" y="2214097"/>
            <a:ext cx="6116638" cy="357188"/>
            <a:chOff x="236" y="2167"/>
            <a:chExt cx="3853" cy="225"/>
          </a:xfrm>
        </p:grpSpPr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9" name="Picture 7" descr="Magazine temp08_A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" name="Picture 8" descr="Magazine temp08_A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인수인계 절차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16" name="Text Box 81"/>
          <p:cNvSpPr txBox="1">
            <a:spLocks noChangeArrowheads="1"/>
          </p:cNvSpPr>
          <p:nvPr/>
        </p:nvSpPr>
        <p:spPr bwMode="auto">
          <a:xfrm>
            <a:off x="310115" y="2563842"/>
            <a:ext cx="6165850" cy="250222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 계획에 의하여 투입된 유지보수 상주인력은 원칙적으로 교체할 수 없다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 algn="just" eaLnBrk="1" latinLnBrk="1" hangingPunct="1">
              <a:lnSpc>
                <a:spcPct val="125000"/>
              </a:lnSpc>
              <a:spcAft>
                <a:spcPct val="60000"/>
              </a:spcAft>
              <a:buFont typeface="Wingdings" pitchFamily="2" charset="2"/>
              <a:buChar char="§"/>
              <a:defRPr/>
            </a:pP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다만 부득이 하게 교체할 경우 기존 인력의 자격 조건 이상을 만족하는 인력으로 선정하여 변경 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개월 전까지 변경 사유와 </a:t>
            </a:r>
            <a:r>
              <a:rPr lang="ko-KR" altLang="en-US" sz="12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인적사항을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제출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승인 받아야 하며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인계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12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인수자는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최소 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주일 이상 공동근무를 수행하고 업무내역 및 양 당사자의 확인 서명이 포함된 인수인계 완료 확인서를 담당자에게 제출하여 승인 처리하여야 한다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 algn="just" eaLnBrk="1" latinLnBrk="1" hangingPunct="1">
              <a:lnSpc>
                <a:spcPct val="125000"/>
              </a:lnSpc>
              <a:spcAft>
                <a:spcPct val="60000"/>
              </a:spcAft>
              <a:buFont typeface="Wingdings" pitchFamily="2" charset="2"/>
              <a:buChar char="§"/>
              <a:defRPr/>
            </a:pPr>
            <a:endParaRPr lang="en-US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 algn="just" eaLnBrk="1" latinLnBrk="1" hangingPunct="1">
              <a:lnSpc>
                <a:spcPct val="125000"/>
              </a:lnSpc>
              <a:spcAft>
                <a:spcPct val="60000"/>
              </a:spcAft>
              <a:buFont typeface="Wingdings" pitchFamily="2" charset="2"/>
              <a:buChar char="§"/>
              <a:defRPr/>
            </a:pP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유지보수전담기관은 유지보수 상주요원이 정당한 업무 시시를 이행하지 아니거나 용역수행능력이 부족하다고 판단되는 경우에 대하여 인원 교체를 요구할 수 있으며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 경우 적정 인력으로 교체하여야 한다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 경우도 위 와 같은 절차로 인원을 교체한다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488113" y="5439381"/>
            <a:ext cx="5897580" cy="2306104"/>
            <a:chOff x="744845" y="5973735"/>
            <a:chExt cx="5897580" cy="2306104"/>
          </a:xfrm>
        </p:grpSpPr>
        <p:sp>
          <p:nvSpPr>
            <p:cNvPr id="2" name="오각형 1"/>
            <p:cNvSpPr/>
            <p:nvPr/>
          </p:nvSpPr>
          <p:spPr bwMode="auto">
            <a:xfrm>
              <a:off x="754700" y="5973735"/>
              <a:ext cx="5179002" cy="484632"/>
            </a:xfrm>
            <a:prstGeom prst="homePlat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reflection blurRad="6350" stA="50000" endA="300" endPos="90000" dir="5400000" sy="-100000" algn="bl" rotWithShape="0"/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" name="갈매기형 수장 2"/>
            <p:cNvSpPr/>
            <p:nvPr/>
          </p:nvSpPr>
          <p:spPr bwMode="auto">
            <a:xfrm>
              <a:off x="3807050" y="5973735"/>
              <a:ext cx="484632" cy="484632"/>
            </a:xfrm>
            <a:prstGeom prst="chevron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cxnSp>
          <p:nvCxnSpPr>
            <p:cNvPr id="5" name="직선 화살표 연결선 4"/>
            <p:cNvCxnSpPr/>
            <p:nvPr/>
          </p:nvCxnSpPr>
          <p:spPr bwMode="auto">
            <a:xfrm flipV="1">
              <a:off x="744845" y="6458367"/>
              <a:ext cx="0" cy="64951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3366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0" name="순서도: 처리 19"/>
            <p:cNvSpPr/>
            <p:nvPr/>
          </p:nvSpPr>
          <p:spPr bwMode="auto">
            <a:xfrm>
              <a:off x="754700" y="7107885"/>
              <a:ext cx="1918200" cy="763868"/>
            </a:xfrm>
            <a:prstGeom prst="flowChartProcess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변경</a:t>
              </a:r>
              <a:r>
                <a:rPr lang="en-US" altLang="ko-KR" sz="1400">
                  <a:latin typeface="HY신명조" panose="02030600000101010101" pitchFamily="18" charset="-127"/>
                  <a:ea typeface="HY신명조" panose="02030600000101010101" pitchFamily="18" charset="-127"/>
                </a:rPr>
                <a:t> 1</a:t>
              </a:r>
              <a:r>
                <a:rPr lang="ko-KR" altLang="en-US" sz="1400">
                  <a:latin typeface="HY신명조" panose="02030600000101010101" pitchFamily="18" charset="-127"/>
                  <a:ea typeface="HY신명조" panose="02030600000101010101" pitchFamily="18" charset="-127"/>
                </a:rPr>
                <a:t>개월 전</a:t>
              </a:r>
              <a:endPara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교체사유와 신규 인력 </a:t>
              </a:r>
              <a:r>
                <a:rPr kumimoji="1" lang="ko-KR" altLang="en-US" sz="1400" b="0" i="0" u="none" strike="noStrike" cap="none" normalizeH="0" baseline="0" err="1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인적사항</a:t>
              </a:r>
              <a:r>
                <a:rPr kumimoji="1" lang="ko-KR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 제출승인</a:t>
              </a:r>
            </a:p>
          </p:txBody>
        </p:sp>
        <p:cxnSp>
          <p:nvCxnSpPr>
            <p:cNvPr id="25" name="직선 화살표 연결선 24"/>
            <p:cNvCxnSpPr/>
            <p:nvPr/>
          </p:nvCxnSpPr>
          <p:spPr bwMode="auto">
            <a:xfrm flipV="1">
              <a:off x="3844855" y="6458367"/>
              <a:ext cx="0" cy="64951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3366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6" name="순서도: 처리 25"/>
            <p:cNvSpPr/>
            <p:nvPr/>
          </p:nvSpPr>
          <p:spPr bwMode="auto">
            <a:xfrm>
              <a:off x="3807051" y="7107884"/>
              <a:ext cx="2835374" cy="1171955"/>
            </a:xfrm>
            <a:prstGeom prst="flowChartProcess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- </a:t>
              </a:r>
              <a:r>
                <a:rPr kumimoji="1" lang="ko-KR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인</a:t>
              </a:r>
              <a:r>
                <a:rPr lang="ko-KR" altLang="en-US" sz="1400">
                  <a:latin typeface="HY신명조" panose="02030600000101010101" pitchFamily="18" charset="-127"/>
                  <a:ea typeface="HY신명조" panose="02030600000101010101" pitchFamily="18" charset="-127"/>
                </a:rPr>
                <a:t>계</a:t>
              </a:r>
              <a:r>
                <a:rPr lang="en-US" altLang="ko-KR" sz="1400">
                  <a:latin typeface="HY신명조" panose="02030600000101010101" pitchFamily="18" charset="-127"/>
                  <a:ea typeface="HY신명조" panose="02030600000101010101" pitchFamily="18" charset="-127"/>
                </a:rPr>
                <a:t>,</a:t>
              </a:r>
              <a:r>
                <a:rPr lang="ko-KR" altLang="en-US" sz="1400">
                  <a:latin typeface="HY신명조" panose="02030600000101010101" pitchFamily="18" charset="-127"/>
                  <a:ea typeface="HY신명조" panose="02030600000101010101" pitchFamily="18" charset="-127"/>
                </a:rPr>
                <a:t>인수자 </a:t>
              </a:r>
              <a:r>
                <a:rPr lang="en-US" altLang="ko-KR" sz="1400">
                  <a:latin typeface="HY신명조" panose="02030600000101010101" pitchFamily="18" charset="-127"/>
                  <a:ea typeface="HY신명조" panose="02030600000101010101" pitchFamily="18" charset="-127"/>
                </a:rPr>
                <a:t>2</a:t>
              </a:r>
              <a:r>
                <a:rPr lang="ko-KR" altLang="en-US" sz="1400">
                  <a:latin typeface="HY신명조" panose="02030600000101010101" pitchFamily="18" charset="-127"/>
                  <a:ea typeface="HY신명조" panose="02030600000101010101" pitchFamily="18" charset="-127"/>
                </a:rPr>
                <a:t>주간 공동근무</a:t>
              </a:r>
              <a:endPara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- </a:t>
              </a:r>
              <a:r>
                <a:rPr kumimoji="1" lang="ko-KR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업무내역 및 인수자료 설명</a:t>
              </a:r>
              <a:endParaRPr kumimoji="1" lang="en-US" altLang="ko-K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- </a:t>
              </a:r>
              <a:r>
                <a:rPr kumimoji="1" lang="ko-KR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양 </a:t>
              </a:r>
              <a:r>
                <a:rPr kumimoji="1" lang="ko-KR" altLang="en-US" sz="1400" b="0" i="0" u="none" strike="noStrike" cap="none" normalizeH="0" baseline="0" err="1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당사자가의</a:t>
              </a:r>
              <a:r>
                <a:rPr kumimoji="1" lang="ko-KR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  <a:r>
                <a:rPr kumimoji="1" lang="ko-KR" altLang="en-US" sz="1400" b="0" i="0" u="none" strike="noStrike" cap="none" normalizeH="0" baseline="0" err="1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확인서명이</a:t>
              </a:r>
              <a:br>
                <a:rPr kumimoji="1" lang="en-US" altLang="ko-KR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</a:br>
              <a:r>
                <a:rPr kumimoji="1" lang="en-US" altLang="ko-KR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  </a:t>
              </a:r>
              <a:r>
                <a:rPr kumimoji="1" lang="ko-KR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포함된 인수인계 완료 확인서를</a:t>
              </a:r>
              <a:br>
                <a:rPr kumimoji="1" lang="en-US" altLang="ko-KR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</a:br>
              <a:r>
                <a:rPr kumimoji="1" lang="en-US" altLang="ko-KR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  <a:r>
                <a:rPr kumimoji="1" lang="ko-KR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Y신명조" panose="02030600000101010101" pitchFamily="18" charset="-127"/>
                  <a:ea typeface="HY신명조" panose="02030600000101010101" pitchFamily="18" charset="-127"/>
                </a:rPr>
                <a:t> 사업 담당자에게 제출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60710" y="6031385"/>
              <a:ext cx="1617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latin typeface="HY신명조" panose="02030600000101010101" pitchFamily="18" charset="-127"/>
                  <a:ea typeface="HY신명조" panose="02030600000101010101" pitchFamily="18" charset="-127"/>
                </a:rPr>
                <a:t>2</a:t>
              </a:r>
              <a:r>
                <a:rPr lang="ko-KR" altLang="en-US" sz="1600">
                  <a:latin typeface="HY신명조" panose="02030600000101010101" pitchFamily="18" charset="-127"/>
                  <a:ea typeface="HY신명조" panose="02030600000101010101" pitchFamily="18" charset="-127"/>
                </a:rPr>
                <a:t>주간 공동근무</a:t>
              </a:r>
            </a:p>
          </p:txBody>
        </p:sp>
        <p:sp>
          <p:nvSpPr>
            <p:cNvPr id="19" name="갈매기형 수장 18"/>
            <p:cNvSpPr/>
            <p:nvPr/>
          </p:nvSpPr>
          <p:spPr bwMode="auto">
            <a:xfrm>
              <a:off x="744845" y="5978650"/>
              <a:ext cx="484632" cy="484632"/>
            </a:xfrm>
            <a:prstGeom prst="chevron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22" name="갈매기형 수장 21"/>
            <p:cNvSpPr/>
            <p:nvPr/>
          </p:nvSpPr>
          <p:spPr bwMode="auto">
            <a:xfrm>
              <a:off x="1047285" y="5978650"/>
              <a:ext cx="484632" cy="484632"/>
            </a:xfrm>
            <a:prstGeom prst="chevron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82"/>
          <p:cNvSpPr txBox="1">
            <a:spLocks noGrp="1" noChangeArrowheads="1"/>
          </p:cNvSpPr>
          <p:nvPr/>
        </p:nvSpPr>
        <p:spPr bwMode="auto">
          <a:xfrm>
            <a:off x="3200400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 dirty="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Ⅵ - 2</a:t>
            </a:r>
          </a:p>
        </p:txBody>
      </p:sp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교육훈련</a:t>
            </a:r>
          </a:p>
        </p:txBody>
      </p:sp>
      <p:sp>
        <p:nvSpPr>
          <p:cNvPr id="9239" name="Text Box 63"/>
          <p:cNvSpPr txBox="1">
            <a:spLocks noChangeArrowheads="1"/>
          </p:cNvSpPr>
          <p:nvPr/>
        </p:nvSpPr>
        <p:spPr bwMode="auto">
          <a:xfrm>
            <a:off x="290513" y="831850"/>
            <a:ext cx="6242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kumimoji="0"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교육훈련</a:t>
            </a:r>
          </a:p>
        </p:txBody>
      </p:sp>
      <p:sp>
        <p:nvSpPr>
          <p:cNvPr id="3" name="Text Box 81">
            <a:extLst>
              <a:ext uri="{FF2B5EF4-FFF2-40B4-BE49-F238E27FC236}">
                <a16:creationId xmlns:a16="http://schemas.microsoft.com/office/drawing/2014/main" id="{A69D84C5-E038-F571-218D-653C7BD14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1265238"/>
            <a:ext cx="6165850" cy="95256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기술지원 및 교육지원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(PSR-001)</a:t>
            </a:r>
          </a:p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 유지보수 및 시스템 개선 시 관련된 기술지원자과 사용자가  교육 요청 시 주기적 또는 수시로 교육을 지원하겠습니다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2F5A8A8-9E4E-809E-8DC1-BE151A3B71C0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2214097"/>
            <a:ext cx="6116638" cy="357188"/>
            <a:chOff x="236" y="2167"/>
            <a:chExt cx="3853" cy="225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BD5E8440-4096-06B2-78BD-EC4826CF5E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8" name="Picture 7" descr="Magazine temp08_A4">
                <a:extLst>
                  <a:ext uri="{FF2B5EF4-FFF2-40B4-BE49-F238E27FC236}">
                    <a16:creationId xmlns:a16="http://schemas.microsoft.com/office/drawing/2014/main" id="{9A49AE77-8B08-8FF0-1BB2-DF565F548C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" name="Picture 8" descr="Magazine temp08_A4">
                <a:extLst>
                  <a:ext uri="{FF2B5EF4-FFF2-40B4-BE49-F238E27FC236}">
                    <a16:creationId xmlns:a16="http://schemas.microsoft.com/office/drawing/2014/main" id="{9256C96F-17AE-DB8B-489C-CFC564265C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" name="Text Box 9">
              <a:extLst>
                <a:ext uri="{FF2B5EF4-FFF2-40B4-BE49-F238E27FC236}">
                  <a16:creationId xmlns:a16="http://schemas.microsoft.com/office/drawing/2014/main" id="{BC9F84D7-2BA5-FED2-4C85-A73C033F8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기술지원 및 교육지원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15" name="Text Box 81">
            <a:extLst>
              <a:ext uri="{FF2B5EF4-FFF2-40B4-BE49-F238E27FC236}">
                <a16:creationId xmlns:a16="http://schemas.microsoft.com/office/drawing/2014/main" id="{6C647F55-27B4-7648-C042-5103AB3C8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15" y="2563842"/>
            <a:ext cx="6165850" cy="51552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 algn="just" eaLnBrk="1" latinLnBrk="1" hangingPunct="1">
              <a:lnSpc>
                <a:spcPct val="125000"/>
              </a:lnSpc>
              <a:spcAft>
                <a:spcPct val="60000"/>
              </a:spcAft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유지보수 및 시스템 개선 시 관련된 기술지원과 사용자 교육 요청 시 적극적으로 실시하겠습니다</a:t>
            </a:r>
            <a:r>
              <a:rPr lang="en-US" altLang="ko-KR" sz="1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aphicFrame>
        <p:nvGraphicFramePr>
          <p:cNvPr id="19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177848"/>
              </p:ext>
            </p:extLst>
          </p:nvPr>
        </p:nvGraphicFramePr>
        <p:xfrm>
          <a:off x="481013" y="4423730"/>
          <a:ext cx="5859462" cy="3552128"/>
        </p:xfrm>
        <a:graphic>
          <a:graphicData uri="http://schemas.openxmlformats.org/drawingml/2006/table">
            <a:tbl>
              <a:tblPr/>
              <a:tblGrid>
                <a:gridCol w="10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21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▪ 유지보수 및 시스템 개선 시 관련된 기술지원과 사용자 교육 요청 시 적극적으로 실시하여야 함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▪ 체계 개발 및 관련 분야의 정보기술에 대한 지속적인 정보제공 및 기술자문을 발주기관에서 요청 시 적극 수행하여야 하며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체계 확장 및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타체계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연계 등 기타 기능향상에 필요한 기술지원을 수행하여야 함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▪ 본 사업수행 간 유지보수책임기관 및 발주기관의 요청 시 체계운영에 필요한 기술교육을 실시 하여야 하며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필요 시 교육계획서를 작성하여 발주기관의 승인을 얻어야 함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▪ 소집 교육 자료는 체계관리자 및 사용자가 쉽게 이해할 수 있는 수준으로 작성 및 현행화하여야 함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▪ 교육서버가 있는 경우 교육서버 응용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패치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오류수정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교육데이터 생성 및 초기화 등의 기술지원을 하여야 함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▪ 교육에 따른 제반 비용은 제안업체에서 부담하여야 함</a:t>
                      </a: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854509"/>
              </p:ext>
            </p:extLst>
          </p:nvPr>
        </p:nvGraphicFramePr>
        <p:xfrm>
          <a:off x="481013" y="3138360"/>
          <a:ext cx="5859463" cy="1122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482">
                  <a:extLst>
                    <a:ext uri="{9D8B030D-6E8A-4147-A177-3AD203B41FA5}">
                      <a16:colId xmlns:a16="http://schemas.microsoft.com/office/drawing/2014/main" val="783295522"/>
                    </a:ext>
                  </a:extLst>
                </a:gridCol>
                <a:gridCol w="2074062">
                  <a:extLst>
                    <a:ext uri="{9D8B030D-6E8A-4147-A177-3AD203B41FA5}">
                      <a16:colId xmlns:a16="http://schemas.microsoft.com/office/drawing/2014/main" val="1955891178"/>
                    </a:ext>
                  </a:extLst>
                </a:gridCol>
                <a:gridCol w="1443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382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식별자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대상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교육내용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0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교육시기</a:t>
                      </a:r>
                      <a:endParaRPr kumimoji="1" lang="ko-KR" altLang="en-US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607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 교육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운용지원관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algn="ctr" latinLnBrk="1"/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기술지원관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전반기 기능개선 사항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후반기 기능개선 사항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모델 배포 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6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수시 교육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기술지원관</a:t>
                      </a:r>
                      <a:endParaRPr kumimoji="1" lang="ko-KR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장애 조치 후 변경사항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체계운용설정 또는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기술지원관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사용형상의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기능 변경사항 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변경 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2" name="Picture 83" descr="박스1"/>
          <p:cNvPicPr>
            <a:picLocks noChangeAspect="1" noChangeArrowheads="1"/>
          </p:cNvPicPr>
          <p:nvPr/>
        </p:nvPicPr>
        <p:blipFill>
          <a:blip r:embed="rId4" cstate="print"/>
          <a:srcRect l="311" t="2850" r="623"/>
          <a:stretch>
            <a:fillRect/>
          </a:stretch>
        </p:blipFill>
        <p:spPr bwMode="gray">
          <a:xfrm>
            <a:off x="330200" y="8041675"/>
            <a:ext cx="6264000" cy="1064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894794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82"/>
          <p:cNvSpPr txBox="1">
            <a:spLocks noGrp="1" noChangeArrowheads="1"/>
          </p:cNvSpPr>
          <p:nvPr/>
        </p:nvSpPr>
        <p:spPr bwMode="auto">
          <a:xfrm>
            <a:off x="3200400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 dirty="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Ⅵ - 3</a:t>
            </a:r>
          </a:p>
        </p:txBody>
      </p:sp>
      <p:sp>
        <p:nvSpPr>
          <p:cNvPr id="5126" name="Text Box 81"/>
          <p:cNvSpPr txBox="1">
            <a:spLocks noChangeArrowheads="1"/>
          </p:cNvSpPr>
          <p:nvPr/>
        </p:nvSpPr>
        <p:spPr bwMode="auto">
          <a:xfrm>
            <a:off x="315913" y="832255"/>
            <a:ext cx="6165850" cy="93410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나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교육훈련 방안</a:t>
            </a:r>
            <a:endParaRPr lang="ko-KR" altLang="en-US" sz="150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0000"/>
              </a:lnSpc>
              <a:defRPr/>
            </a:pPr>
            <a:r>
              <a:rPr lang="ko-KR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태극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JOS(Joint Operations Simulation)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모델 운용에 관한 교육은 유지보수요원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게이머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교관 등 임무와 역할에 따른 업무수행이 가능하도록 구분하여 시행하겠습니다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교육훈련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261955" y="2283327"/>
            <a:ext cx="6343328" cy="6579707"/>
            <a:chOff x="223317" y="2574641"/>
            <a:chExt cx="6456913" cy="6688129"/>
          </a:xfrm>
        </p:grpSpPr>
        <p:sp>
          <p:nvSpPr>
            <p:cNvPr id="6" name="AutoShape 423"/>
            <p:cNvSpPr>
              <a:spLocks noChangeArrowheads="1"/>
            </p:cNvSpPr>
            <p:nvPr/>
          </p:nvSpPr>
          <p:spPr bwMode="gray">
            <a:xfrm rot="10800000">
              <a:off x="224156" y="7469128"/>
              <a:ext cx="6430380" cy="355635"/>
            </a:xfrm>
            <a:custGeom>
              <a:avLst/>
              <a:gdLst>
                <a:gd name="G0" fmla="+- 1140 0 0"/>
                <a:gd name="G1" fmla="+- 21600 0 1140"/>
                <a:gd name="G2" fmla="*/ 1140 1 2"/>
                <a:gd name="G3" fmla="+- 21600 0 G2"/>
                <a:gd name="G4" fmla="+/ 1140 21600 2"/>
                <a:gd name="G5" fmla="+/ G1 0 2"/>
                <a:gd name="G6" fmla="*/ 21600 21600 1140"/>
                <a:gd name="G7" fmla="*/ G6 1 2"/>
                <a:gd name="G8" fmla="+- 21600 0 G7"/>
                <a:gd name="G9" fmla="*/ 21600 1 2"/>
                <a:gd name="G10" fmla="+- 1140 0 G9"/>
                <a:gd name="G11" fmla="?: G10 G8 0"/>
                <a:gd name="G12" fmla="?: G10 G7 21600"/>
                <a:gd name="T0" fmla="*/ 21030 w 21600"/>
                <a:gd name="T1" fmla="*/ 10800 h 21600"/>
                <a:gd name="T2" fmla="*/ 10800 w 21600"/>
                <a:gd name="T3" fmla="*/ 21600 h 21600"/>
                <a:gd name="T4" fmla="*/ 570 w 21600"/>
                <a:gd name="T5" fmla="*/ 10800 h 21600"/>
                <a:gd name="T6" fmla="*/ 10800 w 21600"/>
                <a:gd name="T7" fmla="*/ 0 h 21600"/>
                <a:gd name="T8" fmla="*/ 2370 w 21600"/>
                <a:gd name="T9" fmla="*/ 2370 h 21600"/>
                <a:gd name="T10" fmla="*/ 19230 w 21600"/>
                <a:gd name="T11" fmla="*/ 1923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1140" y="21600"/>
                  </a:lnTo>
                  <a:lnTo>
                    <a:pt x="2046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95B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grpSp>
          <p:nvGrpSpPr>
            <p:cNvPr id="7" name="Group 260"/>
            <p:cNvGrpSpPr>
              <a:grpSpLocks/>
            </p:cNvGrpSpPr>
            <p:nvPr/>
          </p:nvGrpSpPr>
          <p:grpSpPr bwMode="auto">
            <a:xfrm>
              <a:off x="232777" y="5139721"/>
              <a:ext cx="6447453" cy="1043168"/>
              <a:chOff x="862" y="2140"/>
              <a:chExt cx="3176" cy="552"/>
            </a:xfrm>
          </p:grpSpPr>
          <p:grpSp>
            <p:nvGrpSpPr>
              <p:cNvPr id="8" name="Group 4"/>
              <p:cNvGrpSpPr>
                <a:grpSpLocks/>
              </p:cNvGrpSpPr>
              <p:nvPr/>
            </p:nvGrpSpPr>
            <p:grpSpPr bwMode="auto">
              <a:xfrm>
                <a:off x="862" y="2469"/>
                <a:ext cx="3176" cy="223"/>
                <a:chOff x="5307" y="3504"/>
                <a:chExt cx="3661" cy="257"/>
              </a:xfrm>
            </p:grpSpPr>
            <p:sp>
              <p:nvSpPr>
                <p:cNvPr id="12" name="AutoShape 5"/>
                <p:cNvSpPr>
                  <a:spLocks noChangeAspect="1"/>
                </p:cNvSpPr>
                <p:nvPr/>
              </p:nvSpPr>
              <p:spPr bwMode="auto">
                <a:xfrm rot="5400000" flipV="1">
                  <a:off x="7021" y="1790"/>
                  <a:ext cx="234" cy="3661"/>
                </a:xfrm>
                <a:prstGeom prst="leftBracket">
                  <a:avLst>
                    <a:gd name="adj" fmla="val 130377"/>
                  </a:avLst>
                </a:prstGeom>
                <a:solidFill>
                  <a:srgbClr val="C0C0C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26941" dir="2700000" algn="ctr" rotWithShape="0">
                          <a:srgbClr val="88B7C6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latinLnBrk="0"/>
                  <a:endParaRPr lang="ko-KR" altLang="en-US" b="0">
                    <a:latin typeface="HY신명조" panose="02030600000101010101" pitchFamily="18" charset="-127"/>
                    <a:ea typeface="HY신명조" panose="02030600000101010101" pitchFamily="18" charset="-127"/>
                  </a:endParaRPr>
                </a:p>
              </p:txBody>
            </p:sp>
            <p:sp>
              <p:nvSpPr>
                <p:cNvPr id="13" name="AutoShape 6"/>
                <p:cNvSpPr>
                  <a:spLocks noChangeAspect="1"/>
                </p:cNvSpPr>
                <p:nvPr/>
              </p:nvSpPr>
              <p:spPr bwMode="auto">
                <a:xfrm rot="5400000" flipV="1">
                  <a:off x="7021" y="1813"/>
                  <a:ext cx="234" cy="3661"/>
                </a:xfrm>
                <a:prstGeom prst="leftBracket">
                  <a:avLst>
                    <a:gd name="adj" fmla="val 130377"/>
                  </a:avLst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2B7CA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latinLnBrk="0"/>
                  <a:endParaRPr lang="ko-KR" altLang="en-US" b="0">
                    <a:latin typeface="HY신명조" panose="02030600000101010101" pitchFamily="18" charset="-127"/>
                    <a:ea typeface="HY신명조" panose="02030600000101010101" pitchFamily="18" charset="-127"/>
                  </a:endParaRPr>
                </a:p>
              </p:txBody>
            </p:sp>
          </p:grpSp>
          <p:grpSp>
            <p:nvGrpSpPr>
              <p:cNvPr id="9" name="Group 7"/>
              <p:cNvGrpSpPr>
                <a:grpSpLocks/>
              </p:cNvGrpSpPr>
              <p:nvPr/>
            </p:nvGrpSpPr>
            <p:grpSpPr bwMode="auto">
              <a:xfrm flipH="1" flipV="1">
                <a:off x="862" y="2140"/>
                <a:ext cx="3176" cy="223"/>
                <a:chOff x="5307" y="3504"/>
                <a:chExt cx="3661" cy="257"/>
              </a:xfrm>
            </p:grpSpPr>
            <p:sp>
              <p:nvSpPr>
                <p:cNvPr id="10" name="AutoShape 8"/>
                <p:cNvSpPr>
                  <a:spLocks noChangeAspect="1"/>
                </p:cNvSpPr>
                <p:nvPr/>
              </p:nvSpPr>
              <p:spPr bwMode="auto">
                <a:xfrm rot="5400000" flipV="1">
                  <a:off x="7021" y="1790"/>
                  <a:ext cx="234" cy="3661"/>
                </a:xfrm>
                <a:prstGeom prst="leftBracket">
                  <a:avLst>
                    <a:gd name="adj" fmla="val 130377"/>
                  </a:avLst>
                </a:prstGeom>
                <a:solidFill>
                  <a:srgbClr val="C0C0C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26941" dir="2700000" algn="ctr" rotWithShape="0">
                          <a:srgbClr val="88B7C6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latinLnBrk="0"/>
                  <a:endParaRPr lang="ko-KR" altLang="en-US" b="0">
                    <a:latin typeface="HY신명조" panose="02030600000101010101" pitchFamily="18" charset="-127"/>
                    <a:ea typeface="HY신명조" panose="02030600000101010101" pitchFamily="18" charset="-127"/>
                  </a:endParaRPr>
                </a:p>
              </p:txBody>
            </p:sp>
            <p:sp>
              <p:nvSpPr>
                <p:cNvPr id="11" name="AutoShape 9"/>
                <p:cNvSpPr>
                  <a:spLocks noChangeAspect="1"/>
                </p:cNvSpPr>
                <p:nvPr/>
              </p:nvSpPr>
              <p:spPr bwMode="auto">
                <a:xfrm rot="5400000" flipV="1">
                  <a:off x="7021" y="1813"/>
                  <a:ext cx="234" cy="3661"/>
                </a:xfrm>
                <a:prstGeom prst="leftBracket">
                  <a:avLst>
                    <a:gd name="adj" fmla="val 130377"/>
                  </a:avLst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2B7CA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latinLnBrk="0"/>
                  <a:endParaRPr lang="ko-KR" altLang="en-US" b="0">
                    <a:latin typeface="HY신명조" panose="02030600000101010101" pitchFamily="18" charset="-127"/>
                    <a:ea typeface="HY신명조" panose="02030600000101010101" pitchFamily="18" charset="-127"/>
                  </a:endParaRPr>
                </a:p>
              </p:txBody>
            </p:sp>
          </p:grpSp>
        </p:grpSp>
        <p:grpSp>
          <p:nvGrpSpPr>
            <p:cNvPr id="14" name="Group 259"/>
            <p:cNvGrpSpPr>
              <a:grpSpLocks/>
            </p:cNvGrpSpPr>
            <p:nvPr/>
          </p:nvGrpSpPr>
          <p:grpSpPr bwMode="auto">
            <a:xfrm>
              <a:off x="2896209" y="3749364"/>
              <a:ext cx="1120590" cy="3794517"/>
              <a:chOff x="2171" y="995"/>
              <a:chExt cx="552" cy="2841"/>
            </a:xfrm>
          </p:grpSpPr>
          <p:grpSp>
            <p:nvGrpSpPr>
              <p:cNvPr id="15" name="Group 258"/>
              <p:cNvGrpSpPr>
                <a:grpSpLocks/>
              </p:cNvGrpSpPr>
              <p:nvPr/>
            </p:nvGrpSpPr>
            <p:grpSpPr bwMode="auto">
              <a:xfrm>
                <a:off x="2171" y="995"/>
                <a:ext cx="223" cy="2841"/>
                <a:chOff x="2171" y="995"/>
                <a:chExt cx="223" cy="2841"/>
              </a:xfrm>
            </p:grpSpPr>
            <p:sp>
              <p:nvSpPr>
                <p:cNvPr id="19" name="AutoShape 12"/>
                <p:cNvSpPr>
                  <a:spLocks noChangeAspect="1"/>
                </p:cNvSpPr>
                <p:nvPr/>
              </p:nvSpPr>
              <p:spPr bwMode="auto">
                <a:xfrm rot="10800000" flipV="1">
                  <a:off x="2191" y="995"/>
                  <a:ext cx="203" cy="2841"/>
                </a:xfrm>
                <a:prstGeom prst="leftBracket">
                  <a:avLst>
                    <a:gd name="adj" fmla="val 73143"/>
                  </a:avLst>
                </a:prstGeom>
                <a:solidFill>
                  <a:srgbClr val="C0C0C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26941" dir="2700000" algn="ctr" rotWithShape="0">
                          <a:srgbClr val="88B7C6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latinLnBrk="0"/>
                  <a:endParaRPr lang="ko-KR" altLang="en-US" b="0">
                    <a:latin typeface="HY신명조" panose="02030600000101010101" pitchFamily="18" charset="-127"/>
                    <a:ea typeface="HY신명조" panose="02030600000101010101" pitchFamily="18" charset="-127"/>
                  </a:endParaRPr>
                </a:p>
              </p:txBody>
            </p:sp>
            <p:sp>
              <p:nvSpPr>
                <p:cNvPr id="20" name="AutoShape 13"/>
                <p:cNvSpPr>
                  <a:spLocks noChangeAspect="1"/>
                </p:cNvSpPr>
                <p:nvPr/>
              </p:nvSpPr>
              <p:spPr bwMode="auto">
                <a:xfrm rot="10800000" flipV="1">
                  <a:off x="2171" y="995"/>
                  <a:ext cx="203" cy="2841"/>
                </a:xfrm>
                <a:prstGeom prst="leftBracket">
                  <a:avLst>
                    <a:gd name="adj" fmla="val 87768"/>
                  </a:avLst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2B7CA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latinLnBrk="0"/>
                  <a:endParaRPr lang="ko-KR" altLang="en-US" b="0">
                    <a:latin typeface="HY신명조" panose="02030600000101010101" pitchFamily="18" charset="-127"/>
                    <a:ea typeface="HY신명조" panose="02030600000101010101" pitchFamily="18" charset="-127"/>
                  </a:endParaRPr>
                </a:p>
              </p:txBody>
            </p:sp>
          </p:grpSp>
          <p:grpSp>
            <p:nvGrpSpPr>
              <p:cNvPr id="16" name="Group 257"/>
              <p:cNvGrpSpPr>
                <a:grpSpLocks/>
              </p:cNvGrpSpPr>
              <p:nvPr/>
            </p:nvGrpSpPr>
            <p:grpSpPr bwMode="auto">
              <a:xfrm>
                <a:off x="2500" y="995"/>
                <a:ext cx="223" cy="2841"/>
                <a:chOff x="2500" y="995"/>
                <a:chExt cx="223" cy="2841"/>
              </a:xfrm>
            </p:grpSpPr>
            <p:sp>
              <p:nvSpPr>
                <p:cNvPr id="17" name="AutoShape 15"/>
                <p:cNvSpPr>
                  <a:spLocks noChangeAspect="1"/>
                </p:cNvSpPr>
                <p:nvPr/>
              </p:nvSpPr>
              <p:spPr bwMode="auto">
                <a:xfrm rot="10800000" flipH="1">
                  <a:off x="2500" y="995"/>
                  <a:ext cx="203" cy="2841"/>
                </a:xfrm>
                <a:prstGeom prst="leftBracket">
                  <a:avLst>
                    <a:gd name="adj" fmla="val 83229"/>
                  </a:avLst>
                </a:prstGeom>
                <a:solidFill>
                  <a:srgbClr val="C0C0C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26941" dir="2700000" algn="ctr" rotWithShape="0">
                          <a:srgbClr val="88B7C6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latinLnBrk="0"/>
                  <a:endParaRPr lang="ko-KR" altLang="en-US" b="0">
                    <a:latin typeface="HY신명조" panose="02030600000101010101" pitchFamily="18" charset="-127"/>
                    <a:ea typeface="HY신명조" panose="02030600000101010101" pitchFamily="18" charset="-127"/>
                  </a:endParaRPr>
                </a:p>
              </p:txBody>
            </p:sp>
            <p:sp>
              <p:nvSpPr>
                <p:cNvPr id="18" name="AutoShape 16"/>
                <p:cNvSpPr>
                  <a:spLocks noChangeAspect="1"/>
                </p:cNvSpPr>
                <p:nvPr/>
              </p:nvSpPr>
              <p:spPr bwMode="auto">
                <a:xfrm rot="10800000" flipH="1">
                  <a:off x="2520" y="995"/>
                  <a:ext cx="203" cy="2841"/>
                </a:xfrm>
                <a:prstGeom prst="leftBracket">
                  <a:avLst>
                    <a:gd name="adj" fmla="val 91466"/>
                  </a:avLst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2B7CA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latinLnBrk="0"/>
                  <a:endParaRPr lang="ko-KR" altLang="en-US" b="0">
                    <a:latin typeface="HY신명조" panose="02030600000101010101" pitchFamily="18" charset="-127"/>
                    <a:ea typeface="HY신명조" panose="02030600000101010101" pitchFamily="18" charset="-127"/>
                  </a:endParaRPr>
                </a:p>
              </p:txBody>
            </p:sp>
          </p:grpSp>
        </p:grpSp>
        <p:sp>
          <p:nvSpPr>
            <p:cNvPr id="21" name="Rn59"/>
            <p:cNvSpPr txBox="1">
              <a:spLocks noChangeAspect="1" noChangeArrowheads="1"/>
            </p:cNvSpPr>
            <p:nvPr/>
          </p:nvSpPr>
          <p:spPr bwMode="auto">
            <a:xfrm>
              <a:off x="3811764" y="4050398"/>
              <a:ext cx="2843793" cy="9698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88900" indent="-88900" latinLnBrk="0">
                <a:spcBef>
                  <a:spcPct val="10000"/>
                </a:spcBef>
                <a:spcAft>
                  <a:spcPct val="20000"/>
                </a:spcAft>
                <a:buClr>
                  <a:srgbClr val="858F8B"/>
                </a:buClr>
                <a:buFont typeface="Wingdings" pitchFamily="2" charset="2"/>
                <a:buChar char="§"/>
                <a:defRPr kumimoji="1" sz="1000">
                  <a:solidFill>
                    <a:srgbClr val="000000"/>
                  </a:solidFill>
                  <a:latin typeface="Rix모던고딕 L" pitchFamily="18" charset="-127"/>
                  <a:ea typeface="Rix모던고딕 L" pitchFamily="18" charset="-127"/>
                </a:defRPr>
              </a:lvl1pPr>
              <a:lvl2pPr marL="228600" lvl="1" indent="-131763" latinLnBrk="0">
                <a:spcBef>
                  <a:spcPct val="10000"/>
                </a:spcBef>
                <a:spcAft>
                  <a:spcPct val="20000"/>
                </a:spcAft>
                <a:buClr>
                  <a:srgbClr val="858F8B"/>
                </a:buClr>
                <a:buFont typeface="Yoon 윤고딕 520_TT" pitchFamily="18" charset="-127"/>
                <a:buChar char="－"/>
                <a:defRPr kumimoji="1" sz="1000">
                  <a:solidFill>
                    <a:srgbClr val="000000"/>
                  </a:solidFill>
                  <a:latin typeface="Rix모던고딕 L" pitchFamily="18" charset="-127"/>
                  <a:ea typeface="Rix모던고딕 L" pitchFamily="18" charset="-127"/>
                </a:defRPr>
              </a:lvl2pPr>
              <a:lvl3pPr marL="922338">
                <a:defRPr kumimoji="1">
                  <a:latin typeface="굴림" pitchFamily="50" charset="-127"/>
                  <a:ea typeface="굴림" pitchFamily="50" charset="-127"/>
                </a:defRPr>
              </a:lvl3pPr>
              <a:lvl4pPr>
                <a:defRPr kumimoji="1">
                  <a:latin typeface="굴림" pitchFamily="50" charset="-127"/>
                  <a:ea typeface="굴림" pitchFamily="50" charset="-127"/>
                </a:defRPr>
              </a:lvl4pPr>
              <a:lvl5pPr>
                <a:defRPr kumimoji="1"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9pPr>
            </a:lstStyle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교육방법</a:t>
              </a:r>
              <a:r>
                <a:rPr lang="en-US" altLang="ko-KR">
                  <a:latin typeface="HY신명조" panose="02030600000101010101" pitchFamily="18" charset="-127"/>
                  <a:ea typeface="HY신명조" panose="02030600000101010101" pitchFamily="18" charset="-127"/>
                </a:rPr>
                <a:t>, </a:t>
              </a:r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내용 및 일정방안</a:t>
              </a:r>
            </a:p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교육대상자 확정 및 학급편성방안</a:t>
              </a:r>
            </a:p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교육과정 및 차수 확정방안</a:t>
              </a:r>
            </a:p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교육실시 방안</a:t>
              </a:r>
            </a:p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교육자재</a:t>
              </a:r>
              <a:r>
                <a:rPr lang="en-US" altLang="ko-KR">
                  <a:latin typeface="HY신명조" panose="02030600000101010101" pitchFamily="18" charset="-127"/>
                  <a:ea typeface="HY신명조" panose="02030600000101010101" pitchFamily="18" charset="-127"/>
                </a:rPr>
                <a:t>, </a:t>
              </a:r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물자확보 및 활용방안</a:t>
              </a:r>
            </a:p>
          </p:txBody>
        </p:sp>
        <p:sp>
          <p:nvSpPr>
            <p:cNvPr id="22" name="Rn59"/>
            <p:cNvSpPr txBox="1">
              <a:spLocks noChangeAspect="1" noChangeArrowheads="1"/>
            </p:cNvSpPr>
            <p:nvPr/>
          </p:nvSpPr>
          <p:spPr bwMode="auto">
            <a:xfrm>
              <a:off x="417513" y="4050398"/>
              <a:ext cx="2854499" cy="5631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88900" indent="-88900" latinLnBrk="0">
                <a:spcBef>
                  <a:spcPct val="10000"/>
                </a:spcBef>
                <a:spcAft>
                  <a:spcPct val="20000"/>
                </a:spcAft>
                <a:buClr>
                  <a:srgbClr val="858F8B"/>
                </a:buClr>
                <a:buFont typeface="Wingdings" pitchFamily="2" charset="2"/>
                <a:buChar char="§"/>
                <a:defRPr kumimoji="1" sz="1000">
                  <a:solidFill>
                    <a:srgbClr val="000000"/>
                  </a:solidFill>
                  <a:latin typeface="Rix모던고딕 L" pitchFamily="18" charset="-127"/>
                  <a:ea typeface="Rix모던고딕 L" pitchFamily="18" charset="-127"/>
                </a:defRPr>
              </a:lvl1pPr>
              <a:lvl2pPr marL="228600" lvl="1" indent="-131763" latinLnBrk="0">
                <a:spcBef>
                  <a:spcPct val="10000"/>
                </a:spcBef>
                <a:spcAft>
                  <a:spcPct val="20000"/>
                </a:spcAft>
                <a:buClr>
                  <a:srgbClr val="858F8B"/>
                </a:buClr>
                <a:buFont typeface="Yoon 윤고딕 520_TT" pitchFamily="18" charset="-127"/>
                <a:buChar char="－"/>
                <a:defRPr kumimoji="1" sz="1000">
                  <a:solidFill>
                    <a:srgbClr val="000000"/>
                  </a:solidFill>
                  <a:latin typeface="Rix모던고딕 L" pitchFamily="18" charset="-127"/>
                  <a:ea typeface="Rix모던고딕 L" pitchFamily="18" charset="-127"/>
                </a:defRPr>
              </a:lvl2pPr>
              <a:lvl3pPr marL="922338">
                <a:defRPr kumimoji="1">
                  <a:latin typeface="굴림" pitchFamily="50" charset="-127"/>
                  <a:ea typeface="굴림" pitchFamily="50" charset="-127"/>
                </a:defRPr>
              </a:lvl3pPr>
              <a:lvl4pPr>
                <a:defRPr kumimoji="1">
                  <a:latin typeface="굴림" pitchFamily="50" charset="-127"/>
                  <a:ea typeface="굴림" pitchFamily="50" charset="-127"/>
                </a:defRPr>
              </a:lvl4pPr>
              <a:lvl5pPr>
                <a:defRPr kumimoji="1"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9pPr>
            </a:lstStyle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사용자 요구사항 반영</a:t>
              </a:r>
            </a:p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유지보수요원  교육계획</a:t>
              </a:r>
            </a:p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게이머 및 교관 교육계획</a:t>
              </a:r>
            </a:p>
          </p:txBody>
        </p:sp>
        <p:sp>
          <p:nvSpPr>
            <p:cNvPr id="23" name="Rn59"/>
            <p:cNvSpPr txBox="1">
              <a:spLocks noChangeAspect="1" noChangeArrowheads="1"/>
            </p:cNvSpPr>
            <p:nvPr/>
          </p:nvSpPr>
          <p:spPr bwMode="auto">
            <a:xfrm>
              <a:off x="3811764" y="6223875"/>
              <a:ext cx="2863124" cy="5631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defPPr>
                <a:defRPr lang="ko-KR"/>
              </a:defPPr>
              <a:lvl1pPr marL="88900" indent="-88900" latinLnBrk="0">
                <a:spcBef>
                  <a:spcPct val="10000"/>
                </a:spcBef>
                <a:spcAft>
                  <a:spcPct val="20000"/>
                </a:spcAft>
                <a:buClr>
                  <a:srgbClr val="858F8B"/>
                </a:buClr>
                <a:buFont typeface="Wingdings" pitchFamily="2" charset="2"/>
                <a:buChar char="§"/>
                <a:defRPr kumimoji="1" sz="1000">
                  <a:solidFill>
                    <a:srgbClr val="000000"/>
                  </a:solidFill>
                  <a:latin typeface="Rix모던고딕 L" pitchFamily="18" charset="-127"/>
                  <a:ea typeface="Rix모던고딕 L" pitchFamily="18" charset="-127"/>
                </a:defRPr>
              </a:lvl1pPr>
              <a:lvl2pPr marL="228600" lvl="1" indent="-131763" latinLnBrk="0">
                <a:spcBef>
                  <a:spcPct val="10000"/>
                </a:spcBef>
                <a:spcAft>
                  <a:spcPct val="20000"/>
                </a:spcAft>
                <a:buClr>
                  <a:srgbClr val="858F8B"/>
                </a:buClr>
                <a:buFont typeface="Yoon 윤고딕 520_TT" pitchFamily="18" charset="-127"/>
                <a:buChar char="－"/>
                <a:defRPr kumimoji="1" sz="1000">
                  <a:solidFill>
                    <a:srgbClr val="000000"/>
                  </a:solidFill>
                  <a:latin typeface="Rix모던고딕 L" pitchFamily="18" charset="-127"/>
                  <a:ea typeface="Rix모던고딕 L" pitchFamily="18" charset="-127"/>
                </a:defRPr>
              </a:lvl2pPr>
              <a:lvl3pPr marL="922338">
                <a:defRPr kumimoji="1">
                  <a:latin typeface="굴림" pitchFamily="50" charset="-127"/>
                  <a:ea typeface="굴림" pitchFamily="50" charset="-127"/>
                </a:defRPr>
              </a:lvl3pPr>
              <a:lvl4pPr>
                <a:defRPr kumimoji="1">
                  <a:latin typeface="굴림" pitchFamily="50" charset="-127"/>
                  <a:ea typeface="굴림" pitchFamily="50" charset="-127"/>
                </a:defRPr>
              </a:lvl4pPr>
              <a:lvl5pPr>
                <a:defRPr kumimoji="1"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9pPr>
            </a:lstStyle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하드웨어 매뉴얼</a:t>
              </a:r>
            </a:p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소프트웨어 매뉴얼</a:t>
              </a:r>
            </a:p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교육용  교보재</a:t>
              </a:r>
            </a:p>
          </p:txBody>
        </p:sp>
        <p:sp>
          <p:nvSpPr>
            <p:cNvPr id="24" name="Rn59"/>
            <p:cNvSpPr txBox="1">
              <a:spLocks noChangeAspect="1" noChangeArrowheads="1"/>
            </p:cNvSpPr>
            <p:nvPr/>
          </p:nvSpPr>
          <p:spPr bwMode="auto">
            <a:xfrm>
              <a:off x="417513" y="6233455"/>
              <a:ext cx="2716213" cy="9698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defPPr>
                <a:defRPr lang="ko-KR"/>
              </a:defPPr>
              <a:lvl1pPr marL="88900" indent="-88900" latinLnBrk="0">
                <a:spcBef>
                  <a:spcPct val="10000"/>
                </a:spcBef>
                <a:spcAft>
                  <a:spcPct val="20000"/>
                </a:spcAft>
                <a:buClr>
                  <a:srgbClr val="858F8B"/>
                </a:buClr>
                <a:buFont typeface="Wingdings" pitchFamily="2" charset="2"/>
                <a:buChar char="§"/>
                <a:defRPr kumimoji="1" sz="1000">
                  <a:solidFill>
                    <a:srgbClr val="000000"/>
                  </a:solidFill>
                  <a:latin typeface="Rix모던고딕 L" pitchFamily="18" charset="-127"/>
                  <a:ea typeface="Rix모던고딕 L" pitchFamily="18" charset="-127"/>
                </a:defRPr>
              </a:lvl1pPr>
              <a:lvl2pPr marL="228600" lvl="1" indent="-131763" latinLnBrk="0">
                <a:spcBef>
                  <a:spcPct val="10000"/>
                </a:spcBef>
                <a:spcAft>
                  <a:spcPct val="20000"/>
                </a:spcAft>
                <a:buClr>
                  <a:srgbClr val="858F8B"/>
                </a:buClr>
                <a:buFont typeface="Yoon 윤고딕 520_TT" pitchFamily="18" charset="-127"/>
                <a:buChar char="－"/>
                <a:defRPr kumimoji="1" sz="1000">
                  <a:solidFill>
                    <a:srgbClr val="000000"/>
                  </a:solidFill>
                  <a:latin typeface="Rix모던고딕 L" pitchFamily="18" charset="-127"/>
                  <a:ea typeface="Rix모던고딕 L" pitchFamily="18" charset="-127"/>
                </a:defRPr>
              </a:lvl2pPr>
              <a:lvl3pPr marL="922338">
                <a:defRPr kumimoji="1">
                  <a:latin typeface="굴림" pitchFamily="50" charset="-127"/>
                  <a:ea typeface="굴림" pitchFamily="50" charset="-127"/>
                </a:defRPr>
              </a:lvl3pPr>
              <a:lvl4pPr>
                <a:defRPr kumimoji="1">
                  <a:latin typeface="굴림" pitchFamily="50" charset="-127"/>
                  <a:ea typeface="굴림" pitchFamily="50" charset="-127"/>
                </a:defRPr>
              </a:lvl4pPr>
              <a:lvl5pPr>
                <a:defRPr kumimoji="1"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9pPr>
            </a:lstStyle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설문조사결과 분석 방안</a:t>
              </a:r>
            </a:p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피교육자 요구사항</a:t>
              </a:r>
            </a:p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교육 문제점 검토</a:t>
              </a:r>
              <a:r>
                <a:rPr lang="en-US" altLang="ko-KR">
                  <a:latin typeface="HY신명조" panose="02030600000101010101" pitchFamily="18" charset="-127"/>
                  <a:ea typeface="HY신명조" panose="02030600000101010101" pitchFamily="18" charset="-127"/>
                </a:rPr>
                <a:t>/</a:t>
              </a:r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보완</a:t>
              </a:r>
            </a:p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시정사항 도출 및 차기 교육에 반영방안</a:t>
              </a:r>
            </a:p>
            <a:p>
              <a:r>
                <a:rPr lang="ko-KR" altLang="en-US">
                  <a:latin typeface="HY신명조" panose="02030600000101010101" pitchFamily="18" charset="-127"/>
                  <a:ea typeface="HY신명조" panose="02030600000101010101" pitchFamily="18" charset="-127"/>
                </a:rPr>
                <a:t>교육결과 보고방안</a:t>
              </a:r>
            </a:p>
          </p:txBody>
        </p:sp>
        <p:sp>
          <p:nvSpPr>
            <p:cNvPr id="25" name="Rn13" descr="티모스 기본 오브젝트(희열작업중)-25"/>
            <p:cNvSpPr>
              <a:spLocks noChangeAspect="1" noChangeArrowheads="1"/>
            </p:cNvSpPr>
            <p:nvPr/>
          </p:nvSpPr>
          <p:spPr bwMode="auto">
            <a:xfrm>
              <a:off x="224012" y="3698835"/>
              <a:ext cx="2959634" cy="273332"/>
            </a:xfrm>
            <a:prstGeom prst="roundRect">
              <a:avLst>
                <a:gd name="adj" fmla="val 8287"/>
              </a:avLst>
            </a:prstGeom>
            <a:blipFill dpi="0" rotWithShape="1">
              <a:blip r:embed="rId3" cstate="print"/>
              <a:srcRect/>
              <a:stretch>
                <a:fillRect/>
              </a:stretch>
            </a:blipFill>
            <a:ln w="6350">
              <a:solidFill>
                <a:srgbClr val="7CB8D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E4E8E6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0"/>
              <a:r>
                <a:rPr lang="ko-KR" altLang="en-US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교육계획 수립</a:t>
              </a:r>
            </a:p>
          </p:txBody>
        </p:sp>
        <p:sp>
          <p:nvSpPr>
            <p:cNvPr id="26" name="Rn13" descr="티모스 기본 오브젝트(희열작업중)-25"/>
            <p:cNvSpPr>
              <a:spLocks noChangeAspect="1" noChangeArrowheads="1"/>
            </p:cNvSpPr>
            <p:nvPr/>
          </p:nvSpPr>
          <p:spPr bwMode="auto">
            <a:xfrm>
              <a:off x="3695923" y="3698835"/>
              <a:ext cx="2959634" cy="273332"/>
            </a:xfrm>
            <a:prstGeom prst="roundRect">
              <a:avLst>
                <a:gd name="adj" fmla="val 8287"/>
              </a:avLst>
            </a:prstGeom>
            <a:blipFill dpi="0" rotWithShape="1">
              <a:blip r:embed="rId3" cstate="print"/>
              <a:srcRect/>
              <a:stretch>
                <a:fillRect/>
              </a:stretch>
            </a:blipFill>
            <a:ln w="6350">
              <a:solidFill>
                <a:srgbClr val="7CB8D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E4E8E6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0"/>
              <a:r>
                <a:rPr lang="ko-KR" altLang="en-US" sz="10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  <a:r>
                <a:rPr lang="ko-KR" altLang="en-US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교육내용</a:t>
              </a:r>
            </a:p>
          </p:txBody>
        </p:sp>
        <p:sp>
          <p:nvSpPr>
            <p:cNvPr id="27" name="Rn13" descr="티모스 기본 오브젝트(희열작업중)-25"/>
            <p:cNvSpPr>
              <a:spLocks noChangeAspect="1" noChangeArrowheads="1"/>
            </p:cNvSpPr>
            <p:nvPr/>
          </p:nvSpPr>
          <p:spPr bwMode="auto">
            <a:xfrm>
              <a:off x="224012" y="7270549"/>
              <a:ext cx="2959634" cy="273332"/>
            </a:xfrm>
            <a:prstGeom prst="roundRect">
              <a:avLst>
                <a:gd name="adj" fmla="val 8287"/>
              </a:avLst>
            </a:prstGeom>
            <a:blipFill dpi="0" rotWithShape="1">
              <a:blip r:embed="rId3" cstate="print"/>
              <a:srcRect/>
              <a:stretch>
                <a:fillRect/>
              </a:stretch>
            </a:blipFill>
            <a:ln w="6350">
              <a:solidFill>
                <a:srgbClr val="7CB8D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E4E8E6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ko-KR" altLang="en-US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교육 결과 분석</a:t>
              </a:r>
              <a:r>
                <a:rPr lang="en-US" altLang="ko-KR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/</a:t>
              </a:r>
              <a:r>
                <a:rPr lang="ko-KR" altLang="en-US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보고</a:t>
              </a:r>
            </a:p>
          </p:txBody>
        </p:sp>
        <p:sp>
          <p:nvSpPr>
            <p:cNvPr id="28" name="Rn13" descr="티모스 기본 오브젝트(희열작업중)-25"/>
            <p:cNvSpPr>
              <a:spLocks noChangeAspect="1" noChangeArrowheads="1"/>
            </p:cNvSpPr>
            <p:nvPr/>
          </p:nvSpPr>
          <p:spPr bwMode="auto">
            <a:xfrm>
              <a:off x="3695923" y="7270549"/>
              <a:ext cx="2959634" cy="273332"/>
            </a:xfrm>
            <a:prstGeom prst="roundRect">
              <a:avLst>
                <a:gd name="adj" fmla="val 8287"/>
              </a:avLst>
            </a:prstGeom>
            <a:blipFill dpi="0" rotWithShape="1">
              <a:blip r:embed="rId3" cstate="print"/>
              <a:srcRect/>
              <a:stretch>
                <a:fillRect/>
              </a:stretch>
            </a:blipFill>
            <a:ln w="6350">
              <a:solidFill>
                <a:srgbClr val="7CB8D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E4E8E6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0"/>
              <a:r>
                <a:rPr lang="ko-KR" altLang="en-US" sz="10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교육자료</a:t>
              </a:r>
            </a:p>
          </p:txBody>
        </p:sp>
        <p:pic>
          <p:nvPicPr>
            <p:cNvPr id="29" name="Picture 39" descr="현대중공업_템플릿-2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2511218" y="4832260"/>
              <a:ext cx="1863190" cy="1899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 Box 124"/>
            <p:cNvSpPr txBox="1">
              <a:spLocks noChangeAspect="1" noChangeArrowheads="1"/>
            </p:cNvSpPr>
            <p:nvPr/>
          </p:nvSpPr>
          <p:spPr bwMode="auto">
            <a:xfrm>
              <a:off x="3094914" y="5423969"/>
              <a:ext cx="70532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defTabSz="893763" eaLnBrk="0" hangingPunct="0">
                <a:defRPr sz="100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defRPr>
              </a:lvl1pPr>
              <a:lvl2pPr marL="742950" indent="-285750" defTabSz="893763" eaLnBrk="0" hangingPunct="0">
                <a:defRPr sz="100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defRPr>
              </a:lvl2pPr>
              <a:lvl3pPr marL="1143000" indent="-228600" defTabSz="893763" eaLnBrk="0" hangingPunct="0">
                <a:defRPr sz="100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defRPr>
              </a:lvl3pPr>
              <a:lvl4pPr marL="1600200" indent="-228600" defTabSz="893763" eaLnBrk="0" hangingPunct="0">
                <a:defRPr sz="100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defRPr>
              </a:lvl4pPr>
              <a:lvl5pPr marL="2057400" indent="-228600" defTabSz="893763" eaLnBrk="0" hangingPunct="0">
                <a:defRPr sz="100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defRPr>
              </a:lvl5pPr>
              <a:lvl6pPr marL="2514600" indent="-228600" algn="ctr" defTabSz="893763" eaLnBrk="0" fontAlgn="ctr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defRPr>
              </a:lvl6pPr>
              <a:lvl7pPr marL="2971800" indent="-228600" algn="ctr" defTabSz="893763" eaLnBrk="0" fontAlgn="ctr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defRPr>
              </a:lvl7pPr>
              <a:lvl8pPr marL="3429000" indent="-228600" algn="ctr" defTabSz="893763" eaLnBrk="0" fontAlgn="ctr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defRPr>
              </a:lvl8pPr>
              <a:lvl9pPr marL="3886200" indent="-228600" algn="ctr" defTabSz="893763" eaLnBrk="0" fontAlgn="ctr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defRPr>
              </a:lvl9pPr>
            </a:lstStyle>
            <a:p>
              <a:pPr algn="ctr" eaLnBrk="1" latinLnBrk="0" hangingPunct="1">
                <a:buClr>
                  <a:srgbClr val="486F9A"/>
                </a:buClr>
                <a:buSzPct val="70000"/>
              </a:pPr>
              <a:r>
                <a:rPr lang="ko-KR" altLang="en-US" sz="1400" b="1">
                  <a:solidFill>
                    <a:schemeClr val="tx1"/>
                  </a:solidFill>
                  <a:latin typeface="HY신명조" panose="02030600000101010101" pitchFamily="18" charset="-127"/>
                  <a:ea typeface="가는각진제목체"/>
                </a:rPr>
                <a:t>체계적인</a:t>
              </a:r>
            </a:p>
            <a:p>
              <a:pPr algn="ctr" eaLnBrk="1" latinLnBrk="0" hangingPunct="1">
                <a:buClr>
                  <a:srgbClr val="486F9A"/>
                </a:buClr>
                <a:buSzPct val="70000"/>
              </a:pPr>
              <a:r>
                <a:rPr lang="ko-KR" altLang="en-US" sz="1400" b="1">
                  <a:solidFill>
                    <a:schemeClr val="tx1"/>
                  </a:solidFill>
                  <a:latin typeface="HY신명조" panose="02030600000101010101" pitchFamily="18" charset="-127"/>
                  <a:ea typeface="가는각진제목체"/>
                </a:rPr>
                <a:t>교육실행</a:t>
              </a:r>
            </a:p>
          </p:txBody>
        </p:sp>
        <p:pic>
          <p:nvPicPr>
            <p:cNvPr id="31" name="Picture 78" descr="8"/>
            <p:cNvPicPr preferRelativeResize="0"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flipH="1">
              <a:off x="5835969" y="4893538"/>
              <a:ext cx="606328" cy="56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" name="Picture 80" descr="13"/>
            <p:cNvPicPr preferRelativeResize="0"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25933" y="4820162"/>
              <a:ext cx="633207" cy="594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3" name="Picture 65" descr="2"/>
            <p:cNvPicPr preferRelativeResize="0"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032181" y="6028968"/>
              <a:ext cx="731318" cy="6868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4" name="Group 384"/>
            <p:cNvGrpSpPr>
              <a:grpSpLocks/>
            </p:cNvGrpSpPr>
            <p:nvPr/>
          </p:nvGrpSpPr>
          <p:grpSpPr bwMode="auto">
            <a:xfrm>
              <a:off x="5692729" y="5811227"/>
              <a:ext cx="831212" cy="668659"/>
              <a:chOff x="5320" y="2092"/>
              <a:chExt cx="606" cy="499"/>
            </a:xfrm>
          </p:grpSpPr>
          <p:pic>
            <p:nvPicPr>
              <p:cNvPr id="35" name="Picture 385" descr="13412413total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 flipH="1">
                <a:off x="5547" y="2092"/>
                <a:ext cx="379" cy="4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36" name="Group 386"/>
              <p:cNvGrpSpPr>
                <a:grpSpLocks/>
              </p:cNvGrpSpPr>
              <p:nvPr/>
            </p:nvGrpSpPr>
            <p:grpSpPr bwMode="auto">
              <a:xfrm>
                <a:off x="5320" y="2238"/>
                <a:ext cx="398" cy="360"/>
                <a:chOff x="5304" y="2246"/>
                <a:chExt cx="398" cy="360"/>
              </a:xfrm>
            </p:grpSpPr>
            <p:grpSp>
              <p:nvGrpSpPr>
                <p:cNvPr id="37" name="Group 387"/>
                <p:cNvGrpSpPr>
                  <a:grpSpLocks/>
                </p:cNvGrpSpPr>
                <p:nvPr/>
              </p:nvGrpSpPr>
              <p:grpSpPr bwMode="auto">
                <a:xfrm>
                  <a:off x="5304" y="2246"/>
                  <a:ext cx="278" cy="328"/>
                  <a:chOff x="5402" y="2215"/>
                  <a:chExt cx="299" cy="352"/>
                </a:xfrm>
              </p:grpSpPr>
              <p:pic>
                <p:nvPicPr>
                  <p:cNvPr id="41" name="Picture 388" descr="business total"/>
                  <p:cNvPicPr>
                    <a:picLocks noChangeAspect="1" noChangeArrowheads="1"/>
                  </p:cNvPicPr>
                  <p:nvPr/>
                </p:nvPicPr>
                <p:blipFill>
                  <a:blip r:embed="rId9" cstate="print"/>
                  <a:srcRect l="3194" t="4520" r="53094" b="1131"/>
                  <a:stretch>
                    <a:fillRect/>
                  </a:stretch>
                </p:blipFill>
                <p:spPr bwMode="auto">
                  <a:xfrm>
                    <a:off x="5503" y="2215"/>
                    <a:ext cx="198" cy="30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42" name="Picture 389" descr="business total"/>
                  <p:cNvPicPr>
                    <a:picLocks noChangeAspect="1" noChangeArrowheads="1"/>
                  </p:cNvPicPr>
                  <p:nvPr/>
                </p:nvPicPr>
                <p:blipFill>
                  <a:blip r:embed="rId9" cstate="print"/>
                  <a:srcRect l="3194" t="4520" r="53094" b="1131"/>
                  <a:stretch>
                    <a:fillRect/>
                  </a:stretch>
                </p:blipFill>
                <p:spPr bwMode="auto">
                  <a:xfrm>
                    <a:off x="5402" y="2265"/>
                    <a:ext cx="198" cy="30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  <p:grpSp>
              <p:nvGrpSpPr>
                <p:cNvPr id="38" name="Group 390"/>
                <p:cNvGrpSpPr>
                  <a:grpSpLocks/>
                </p:cNvGrpSpPr>
                <p:nvPr/>
              </p:nvGrpSpPr>
              <p:grpSpPr bwMode="auto">
                <a:xfrm>
                  <a:off x="5424" y="2278"/>
                  <a:ext cx="278" cy="328"/>
                  <a:chOff x="5402" y="2215"/>
                  <a:chExt cx="299" cy="352"/>
                </a:xfrm>
              </p:grpSpPr>
              <p:pic>
                <p:nvPicPr>
                  <p:cNvPr id="39" name="Picture 391" descr="business total"/>
                  <p:cNvPicPr>
                    <a:picLocks noChangeAspect="1" noChangeArrowheads="1"/>
                  </p:cNvPicPr>
                  <p:nvPr/>
                </p:nvPicPr>
                <p:blipFill>
                  <a:blip r:embed="rId9" cstate="print"/>
                  <a:srcRect l="3194" t="4520" r="53094" b="1131"/>
                  <a:stretch>
                    <a:fillRect/>
                  </a:stretch>
                </p:blipFill>
                <p:spPr bwMode="auto">
                  <a:xfrm>
                    <a:off x="5503" y="2215"/>
                    <a:ext cx="198" cy="30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40" name="Picture 392" descr="business total"/>
                  <p:cNvPicPr>
                    <a:picLocks noChangeAspect="1" noChangeArrowheads="1"/>
                  </p:cNvPicPr>
                  <p:nvPr/>
                </p:nvPicPr>
                <p:blipFill>
                  <a:blip r:embed="rId9" cstate="print"/>
                  <a:srcRect l="3194" t="4520" r="53094" b="1131"/>
                  <a:stretch>
                    <a:fillRect/>
                  </a:stretch>
                </p:blipFill>
                <p:spPr bwMode="auto">
                  <a:xfrm>
                    <a:off x="5402" y="2265"/>
                    <a:ext cx="198" cy="30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</p:grpSp>
        </p:grpSp>
        <p:grpSp>
          <p:nvGrpSpPr>
            <p:cNvPr id="43" name="그룹 42"/>
            <p:cNvGrpSpPr/>
            <p:nvPr/>
          </p:nvGrpSpPr>
          <p:grpSpPr>
            <a:xfrm>
              <a:off x="3369196" y="7566274"/>
              <a:ext cx="162776" cy="251832"/>
              <a:chOff x="3802402" y="8571392"/>
              <a:chExt cx="162776" cy="251832"/>
            </a:xfrm>
          </p:grpSpPr>
          <p:sp>
            <p:nvSpPr>
              <p:cNvPr id="44" name="Freeform 2837"/>
              <p:cNvSpPr>
                <a:spLocks/>
              </p:cNvSpPr>
              <p:nvPr/>
            </p:nvSpPr>
            <p:spPr bwMode="gray">
              <a:xfrm rot="13500000" flipV="1">
                <a:off x="3802907" y="8660953"/>
                <a:ext cx="161766" cy="162776"/>
              </a:xfrm>
              <a:custGeom>
                <a:avLst/>
                <a:gdLst>
                  <a:gd name="T0" fmla="*/ 0 w 318"/>
                  <a:gd name="T1" fmla="*/ 1 h 273"/>
                  <a:gd name="T2" fmla="*/ 318 w 318"/>
                  <a:gd name="T3" fmla="*/ 0 h 273"/>
                  <a:gd name="T4" fmla="*/ 318 w 318"/>
                  <a:gd name="T5" fmla="*/ 27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8" h="273">
                    <a:moveTo>
                      <a:pt x="0" y="1"/>
                    </a:moveTo>
                    <a:lnTo>
                      <a:pt x="318" y="0"/>
                    </a:lnTo>
                    <a:lnTo>
                      <a:pt x="318" y="273"/>
                    </a:lnTo>
                  </a:path>
                </a:pathLst>
              </a:custGeom>
              <a:noFill/>
              <a:ln w="38100" cmpd="sng">
                <a:solidFill>
                  <a:srgbClr val="0079A8"/>
                </a:solidFill>
                <a:round/>
                <a:headEnd/>
                <a:tailEnd/>
              </a:ln>
              <a:effectLst>
                <a:outerShdw dist="25400" dir="5400000" algn="ctr" rotWithShape="0">
                  <a:srgbClr val="D9DDDB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0095BF"/>
                    </a:solidFill>
                  </a14:hiddenFill>
                </a:ext>
              </a:extLst>
            </p:spPr>
            <p:txBody>
              <a:bodyPr/>
              <a:lstStyle/>
              <a:p>
                <a:pPr latinLnBrk="0"/>
                <a:endParaRPr lang="ko-KR" altLang="en-US"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45" name="Freeform 2837"/>
              <p:cNvSpPr>
                <a:spLocks/>
              </p:cNvSpPr>
              <p:nvPr/>
            </p:nvSpPr>
            <p:spPr bwMode="gray">
              <a:xfrm rot="13500000" flipV="1">
                <a:off x="3802907" y="8570887"/>
                <a:ext cx="161766" cy="162776"/>
              </a:xfrm>
              <a:custGeom>
                <a:avLst/>
                <a:gdLst>
                  <a:gd name="T0" fmla="*/ 0 w 318"/>
                  <a:gd name="T1" fmla="*/ 1 h 273"/>
                  <a:gd name="T2" fmla="*/ 318 w 318"/>
                  <a:gd name="T3" fmla="*/ 0 h 273"/>
                  <a:gd name="T4" fmla="*/ 318 w 318"/>
                  <a:gd name="T5" fmla="*/ 27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8" h="273">
                    <a:moveTo>
                      <a:pt x="0" y="1"/>
                    </a:moveTo>
                    <a:lnTo>
                      <a:pt x="318" y="0"/>
                    </a:lnTo>
                    <a:lnTo>
                      <a:pt x="318" y="273"/>
                    </a:lnTo>
                  </a:path>
                </a:pathLst>
              </a:custGeom>
              <a:noFill/>
              <a:ln w="38100" cmpd="sng">
                <a:solidFill>
                  <a:srgbClr val="0079A8"/>
                </a:solidFill>
                <a:round/>
                <a:headEnd/>
                <a:tailEnd/>
              </a:ln>
              <a:effectLst>
                <a:outerShdw dist="25400" dir="5400000" algn="ctr" rotWithShape="0">
                  <a:srgbClr val="D9DDDB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0095BF"/>
                    </a:solidFill>
                  </a14:hiddenFill>
                </a:ext>
              </a:extLst>
            </p:spPr>
            <p:txBody>
              <a:bodyPr/>
              <a:lstStyle/>
              <a:p>
                <a:pPr latinLnBrk="0"/>
                <a:endParaRPr lang="ko-KR" altLang="en-US"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  <p:grpSp>
          <p:nvGrpSpPr>
            <p:cNvPr id="46" name="그룹 45"/>
            <p:cNvGrpSpPr/>
            <p:nvPr/>
          </p:nvGrpSpPr>
          <p:grpSpPr>
            <a:xfrm>
              <a:off x="223317" y="7861197"/>
              <a:ext cx="6454534" cy="1401573"/>
              <a:chOff x="664323" y="8799047"/>
              <a:chExt cx="6454534" cy="1401573"/>
            </a:xfrm>
          </p:grpSpPr>
          <p:grpSp>
            <p:nvGrpSpPr>
              <p:cNvPr id="47" name="그룹 46"/>
              <p:cNvGrpSpPr/>
              <p:nvPr/>
            </p:nvGrpSpPr>
            <p:grpSpPr>
              <a:xfrm>
                <a:off x="664323" y="8799047"/>
                <a:ext cx="6454534" cy="244475"/>
                <a:chOff x="664323" y="9026599"/>
                <a:chExt cx="6454534" cy="244475"/>
              </a:xfrm>
            </p:grpSpPr>
            <p:sp>
              <p:nvSpPr>
                <p:cNvPr id="58" name="AutoShape 5"/>
                <p:cNvSpPr>
                  <a:spLocks noChangeArrowheads="1"/>
                </p:cNvSpPr>
                <p:nvPr/>
              </p:nvSpPr>
              <p:spPr bwMode="auto">
                <a:xfrm>
                  <a:off x="664323" y="9026599"/>
                  <a:ext cx="6454534" cy="244475"/>
                </a:xfrm>
                <a:prstGeom prst="roundRect">
                  <a:avLst>
                    <a:gd name="adj" fmla="val 29546"/>
                  </a:avLst>
                </a:prstGeom>
                <a:solidFill>
                  <a:schemeClr val="bg1"/>
                </a:solidFill>
                <a:ln w="9525">
                  <a:noFill/>
                  <a:round/>
                  <a:headEnd/>
                  <a:tailEnd/>
                </a:ln>
                <a:effectLst>
                  <a:outerShdw dist="38100" dir="16200000" rotWithShape="0">
                    <a:srgbClr val="7CB8D2"/>
                  </a:outerShdw>
                </a:effectLst>
              </p:spPr>
              <p:txBody>
                <a:bodyPr wrap="none" anchor="ctr"/>
                <a:lstStyle/>
                <a:p>
                  <a:pPr latinLnBrk="0"/>
                  <a:endParaRPr lang="ko-KR" altLang="en-US">
                    <a:latin typeface="HY신명조" panose="02030600000101010101" pitchFamily="18" charset="-127"/>
                    <a:ea typeface="HY신명조" panose="02030600000101010101" pitchFamily="18" charset="-127"/>
                  </a:endParaRPr>
                </a:p>
              </p:txBody>
            </p:sp>
            <p:sp>
              <p:nvSpPr>
                <p:cNvPr id="59" name="Rectangle 11"/>
                <p:cNvSpPr>
                  <a:spLocks noChangeArrowheads="1"/>
                </p:cNvSpPr>
                <p:nvPr/>
              </p:nvSpPr>
              <p:spPr bwMode="auto">
                <a:xfrm>
                  <a:off x="1369216" y="9072504"/>
                  <a:ext cx="5107784" cy="1877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algn="ctr" latinLnBrk="0">
                    <a:spcBef>
                      <a:spcPct val="10000"/>
                    </a:spcBef>
                  </a:pPr>
                  <a:r>
                    <a:rPr lang="ko-KR" altLang="en-US" sz="1200"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교육 목표 달성방안 수립에 의한 교육계획 수립 및 실시</a:t>
                  </a:r>
                </a:p>
              </p:txBody>
            </p:sp>
          </p:grpSp>
          <p:sp>
            <p:nvSpPr>
              <p:cNvPr id="48" name="AutoShape 5"/>
              <p:cNvSpPr>
                <a:spLocks noChangeArrowheads="1"/>
              </p:cNvSpPr>
              <p:nvPr/>
            </p:nvSpPr>
            <p:spPr bwMode="auto">
              <a:xfrm>
                <a:off x="664323" y="9956145"/>
                <a:ext cx="6454534" cy="244475"/>
              </a:xfrm>
              <a:prstGeom prst="roundRect">
                <a:avLst>
                  <a:gd name="adj" fmla="val 29546"/>
                </a:avLst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>
                <a:outerShdw dist="12700" dir="5400000" rotWithShape="0">
                  <a:srgbClr val="7CB8D2"/>
                </a:outerShdw>
              </a:effectLst>
            </p:spPr>
            <p:txBody>
              <a:bodyPr wrap="none" anchor="ctr"/>
              <a:lstStyle/>
              <a:p>
                <a:pPr latinLnBrk="0"/>
                <a:endParaRPr lang="ko-KR" altLang="en-US"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grpSp>
            <p:nvGrpSpPr>
              <p:cNvPr id="49" name="그룹 48"/>
              <p:cNvGrpSpPr/>
              <p:nvPr/>
            </p:nvGrpSpPr>
            <p:grpSpPr>
              <a:xfrm>
                <a:off x="769511" y="9114642"/>
                <a:ext cx="6238140" cy="1003074"/>
                <a:chOff x="772260" y="9305528"/>
                <a:chExt cx="6238140" cy="1003074"/>
              </a:xfrm>
            </p:grpSpPr>
            <p:grpSp>
              <p:nvGrpSpPr>
                <p:cNvPr id="52" name="그룹 51"/>
                <p:cNvGrpSpPr/>
                <p:nvPr/>
              </p:nvGrpSpPr>
              <p:grpSpPr>
                <a:xfrm>
                  <a:off x="4020285" y="9305528"/>
                  <a:ext cx="2990115" cy="1003074"/>
                  <a:chOff x="817563" y="7686675"/>
                  <a:chExt cx="1931987" cy="1003074"/>
                </a:xfrm>
              </p:grpSpPr>
              <p:sp>
                <p:nvSpPr>
                  <p:cNvPr id="56" name="AutoShape 95"/>
                  <p:cNvSpPr>
                    <a:spLocks noChangeArrowheads="1"/>
                  </p:cNvSpPr>
                  <p:nvPr/>
                </p:nvSpPr>
                <p:spPr bwMode="gray">
                  <a:xfrm>
                    <a:off x="817563" y="7723188"/>
                    <a:ext cx="1931987" cy="966561"/>
                  </a:xfrm>
                  <a:prstGeom prst="roundRect">
                    <a:avLst>
                      <a:gd name="adj" fmla="val 5356"/>
                    </a:avLst>
                  </a:prstGeom>
                  <a:gradFill rotWithShape="1">
                    <a:gsLst>
                      <a:gs pos="0">
                        <a:srgbClr val="ECECEC"/>
                      </a:gs>
                      <a:gs pos="100000">
                        <a:srgbClr val="FAFAFA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3175" algn="ctr">
                        <a:solidFill>
                          <a:srgbClr val="A3CDDF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latinLnBrk="0"/>
                    <a:endParaRPr lang="ko-KR" altLang="en-US">
                      <a:latin typeface="HY신명조" panose="02030600000101010101" pitchFamily="18" charset="-127"/>
                      <a:ea typeface="HY신명조" panose="02030600000101010101" pitchFamily="18" charset="-127"/>
                    </a:endParaRPr>
                  </a:p>
                </p:txBody>
              </p:sp>
              <p:sp>
                <p:nvSpPr>
                  <p:cNvPr id="57" name="AutoShape 96" descr="현대중공업_템플릿-14"/>
                  <p:cNvSpPr>
                    <a:spLocks noChangeArrowheads="1"/>
                  </p:cNvSpPr>
                  <p:nvPr/>
                </p:nvSpPr>
                <p:spPr bwMode="gray">
                  <a:xfrm>
                    <a:off x="817563" y="7686675"/>
                    <a:ext cx="1931987" cy="252413"/>
                  </a:xfrm>
                  <a:prstGeom prst="roundRect">
                    <a:avLst>
                      <a:gd name="adj" fmla="val 8176"/>
                    </a:avLst>
                  </a:prstGeom>
                  <a:blipFill dpi="0" rotWithShape="1">
                    <a:blip r:embed="rId10" cstate="print"/>
                    <a:srcRect/>
                    <a:stretch>
                      <a:fillRect/>
                    </a:stretch>
                  </a:blipFill>
                  <a:ln w="6350" algn="ctr">
                    <a:solidFill>
                      <a:srgbClr val="D7DBD9"/>
                    </a:solidFill>
                    <a:round/>
                    <a:headEnd/>
                    <a:tailEnd/>
                  </a:ln>
                  <a:effectLst>
                    <a:outerShdw dist="12700" dir="5400000" algn="ctr" rotWithShape="0">
                      <a:srgbClr val="E4E8E6"/>
                    </a:outerShdw>
                  </a:effectLst>
                </p:spPr>
                <p:txBody>
                  <a:bodyPr lIns="0" tIns="0" rIns="0" bIns="0" anchor="ctr"/>
                  <a:lstStyle/>
                  <a:p>
                    <a:pPr algn="ctr"/>
                    <a:r>
                      <a:rPr lang="ko-KR" altLang="en-US" sz="1000" b="1">
                        <a:solidFill>
                          <a:srgbClr val="000000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rPr>
                      <a:t>게이머 및 교관 교육</a:t>
                    </a:r>
                  </a:p>
                </p:txBody>
              </p:sp>
            </p:grpSp>
            <p:grpSp>
              <p:nvGrpSpPr>
                <p:cNvPr id="53" name="그룹 52"/>
                <p:cNvGrpSpPr/>
                <p:nvPr/>
              </p:nvGrpSpPr>
              <p:grpSpPr>
                <a:xfrm>
                  <a:off x="772260" y="9305528"/>
                  <a:ext cx="2990115" cy="1003074"/>
                  <a:chOff x="817563" y="7686675"/>
                  <a:chExt cx="1931987" cy="1003074"/>
                </a:xfrm>
              </p:grpSpPr>
              <p:sp>
                <p:nvSpPr>
                  <p:cNvPr id="54" name="AutoShape 95"/>
                  <p:cNvSpPr>
                    <a:spLocks noChangeArrowheads="1"/>
                  </p:cNvSpPr>
                  <p:nvPr/>
                </p:nvSpPr>
                <p:spPr bwMode="gray">
                  <a:xfrm>
                    <a:off x="817563" y="7723187"/>
                    <a:ext cx="1931987" cy="966562"/>
                  </a:xfrm>
                  <a:prstGeom prst="roundRect">
                    <a:avLst>
                      <a:gd name="adj" fmla="val 5356"/>
                    </a:avLst>
                  </a:prstGeom>
                  <a:gradFill rotWithShape="1">
                    <a:gsLst>
                      <a:gs pos="0">
                        <a:srgbClr val="ECECEC"/>
                      </a:gs>
                      <a:gs pos="100000">
                        <a:srgbClr val="FAFAFA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3175" algn="ctr">
                        <a:solidFill>
                          <a:srgbClr val="A3CDDF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latinLnBrk="0"/>
                    <a:endParaRPr lang="ko-KR" altLang="en-US">
                      <a:latin typeface="HY신명조" panose="02030600000101010101" pitchFamily="18" charset="-127"/>
                      <a:ea typeface="HY신명조" panose="02030600000101010101" pitchFamily="18" charset="-127"/>
                    </a:endParaRPr>
                  </a:p>
                </p:txBody>
              </p:sp>
              <p:sp>
                <p:nvSpPr>
                  <p:cNvPr id="55" name="AutoShape 96" descr="현대중공업_템플릿-14"/>
                  <p:cNvSpPr>
                    <a:spLocks noChangeArrowheads="1"/>
                  </p:cNvSpPr>
                  <p:nvPr/>
                </p:nvSpPr>
                <p:spPr bwMode="gray">
                  <a:xfrm>
                    <a:off x="817563" y="7686675"/>
                    <a:ext cx="1931987" cy="252413"/>
                  </a:xfrm>
                  <a:prstGeom prst="roundRect">
                    <a:avLst>
                      <a:gd name="adj" fmla="val 8176"/>
                    </a:avLst>
                  </a:prstGeom>
                  <a:blipFill dpi="0" rotWithShape="1">
                    <a:blip r:embed="rId10" cstate="print"/>
                    <a:srcRect/>
                    <a:stretch>
                      <a:fillRect/>
                    </a:stretch>
                  </a:blipFill>
                  <a:ln w="6350" algn="ctr">
                    <a:solidFill>
                      <a:srgbClr val="D7DBD9"/>
                    </a:solidFill>
                    <a:round/>
                    <a:headEnd/>
                    <a:tailEnd/>
                  </a:ln>
                  <a:effectLst>
                    <a:outerShdw dist="12700" dir="5400000" algn="ctr" rotWithShape="0">
                      <a:srgbClr val="E4E8E6"/>
                    </a:outerShdw>
                  </a:effectLst>
                </p:spPr>
                <p:txBody>
                  <a:bodyPr lIns="0" tIns="0" rIns="0" bIns="0" anchor="ctr"/>
                  <a:lstStyle/>
                  <a:p>
                    <a:pPr algn="ctr" latinLnBrk="0"/>
                    <a:r>
                      <a:rPr lang="en-US" altLang="ko-KR" sz="1000" b="1">
                        <a:solidFill>
                          <a:srgbClr val="000000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rPr>
                      <a:t>SW </a:t>
                    </a:r>
                    <a:r>
                      <a:rPr lang="ko-KR" altLang="en-US" sz="1000" b="1">
                        <a:solidFill>
                          <a:srgbClr val="000000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rPr>
                      <a:t>유지보수요원 교육</a:t>
                    </a:r>
                  </a:p>
                </p:txBody>
              </p:sp>
            </p:grpSp>
          </p:grpSp>
          <p:sp>
            <p:nvSpPr>
              <p:cNvPr id="50" name="TextBox 12"/>
              <p:cNvSpPr txBox="1"/>
              <p:nvPr/>
            </p:nvSpPr>
            <p:spPr>
              <a:xfrm>
                <a:off x="900249" y="9415090"/>
                <a:ext cx="2791395" cy="5318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spAutoFit/>
              </a:bodyPr>
              <a:lstStyle>
                <a:defPPr>
                  <a:defRPr lang="ko-KR"/>
                </a:defPPr>
                <a:lvl1pPr marL="98425" indent="-98425" fontAlgn="ctr" latinLnBrk="0">
                  <a:spcBef>
                    <a:spcPct val="10000"/>
                  </a:spcBef>
                  <a:spcAft>
                    <a:spcPct val="10000"/>
                  </a:spcAft>
                  <a:buClr>
                    <a:srgbClr val="808080"/>
                  </a:buClr>
                  <a:buFont typeface="Wingdings" pitchFamily="2" charset="2"/>
                  <a:buChar char="§"/>
                  <a:tabLst>
                    <a:tab pos="336550" algn="l"/>
                  </a:tabLst>
                  <a:defRPr kumimoji="1" sz="1000">
                    <a:latin typeface="Rix모던고딕 L" pitchFamily="18" charset="-127"/>
                    <a:ea typeface="Rix모던고딕 L" pitchFamily="18" charset="-127"/>
                  </a:defRPr>
                </a:lvl1pPr>
                <a:lvl2pPr marL="219075" lvl="1" indent="-119063" fontAlgn="ctr" latinLnBrk="0">
                  <a:spcBef>
                    <a:spcPct val="10000"/>
                  </a:spcBef>
                  <a:spcAft>
                    <a:spcPct val="10000"/>
                  </a:spcAft>
                  <a:buClr>
                    <a:srgbClr val="808080"/>
                  </a:buClr>
                  <a:buFont typeface="Rix모던고딕 L" pitchFamily="18" charset="-127"/>
                  <a:buChar char="-"/>
                  <a:tabLst>
                    <a:tab pos="336550" algn="l"/>
                  </a:tabLst>
                  <a:defRPr kumimoji="1" sz="1000">
                    <a:latin typeface="Rix모던고딕 L" pitchFamily="18" charset="-127"/>
                    <a:ea typeface="Rix모던고딕 L" pitchFamily="18" charset="-127"/>
                  </a:defRPr>
                </a:lvl2pPr>
                <a:lvl3pPr marL="336550" lvl="2" indent="-115888" fontAlgn="ctr" latinLnBrk="0">
                  <a:spcBef>
                    <a:spcPct val="10000"/>
                  </a:spcBef>
                  <a:spcAft>
                    <a:spcPct val="10000"/>
                  </a:spcAft>
                  <a:buClr>
                    <a:srgbClr val="808080"/>
                  </a:buClr>
                  <a:buSzPct val="130000"/>
                  <a:buFont typeface="Wingdings 2" pitchFamily="18" charset="2"/>
                  <a:buChar char="­"/>
                  <a:tabLst>
                    <a:tab pos="336550" algn="l"/>
                  </a:tabLst>
                  <a:defRPr kumimoji="1" sz="1000">
                    <a:latin typeface="Rix모던고딕 L" pitchFamily="18" charset="-127"/>
                    <a:ea typeface="Rix모던고딕 L" pitchFamily="18" charset="-127"/>
                  </a:defRPr>
                </a:lvl3pPr>
                <a:lvl4pPr marL="1600200" indent="-228600">
                  <a:tabLst>
                    <a:tab pos="336550" algn="l"/>
                  </a:tabLst>
                  <a:defRPr kumimoji="1"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tabLst>
                    <a:tab pos="336550" algn="l"/>
                  </a:tabLst>
                  <a:defRPr kumimoji="1">
                    <a:latin typeface="굴림" pitchFamily="50" charset="-127"/>
                    <a:ea typeface="굴림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36550" algn="l"/>
                  </a:tabLst>
                  <a:defRPr kumimoji="1">
                    <a:latin typeface="굴림" pitchFamily="50" charset="-127"/>
                    <a:ea typeface="굴림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36550" algn="l"/>
                  </a:tabLst>
                  <a:defRPr kumimoji="1">
                    <a:latin typeface="굴림" pitchFamily="50" charset="-127"/>
                    <a:ea typeface="굴림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36550" algn="l"/>
                  </a:tabLst>
                  <a:defRPr kumimoji="1">
                    <a:latin typeface="굴림" pitchFamily="50" charset="-127"/>
                    <a:ea typeface="굴림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36550" algn="l"/>
                  </a:tabLst>
                  <a:defRPr kumimoji="1"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r>
                  <a:rPr lang="ko-KR" altLang="en-US">
                    <a:solidFill>
                      <a:srgbClr val="00000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교육대상수준 고려 교육목표 및 기준설정 </a:t>
                </a:r>
              </a:p>
              <a:p>
                <a:r>
                  <a:rPr lang="ko-KR" altLang="en-US" err="1">
                    <a:solidFill>
                      <a:srgbClr val="00000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사업일정에</a:t>
                </a:r>
                <a:r>
                  <a:rPr lang="ko-KR" altLang="en-US">
                    <a:solidFill>
                      <a:srgbClr val="00000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 따른 단계적 교육실시</a:t>
                </a:r>
              </a:p>
              <a:p>
                <a:r>
                  <a:rPr lang="ko-KR" altLang="en-US">
                    <a:solidFill>
                      <a:srgbClr val="00000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필요시 전문교육기관에 위탁교육</a:t>
                </a:r>
              </a:p>
            </p:txBody>
          </p:sp>
          <p:sp>
            <p:nvSpPr>
              <p:cNvPr id="51" name="TextBox 12"/>
              <p:cNvSpPr txBox="1"/>
              <p:nvPr/>
            </p:nvSpPr>
            <p:spPr>
              <a:xfrm>
                <a:off x="4133279" y="9415090"/>
                <a:ext cx="2791395" cy="500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spAutoFit/>
              </a:bodyPr>
              <a:lstStyle>
                <a:defPPr>
                  <a:defRPr lang="ko-KR"/>
                </a:defPPr>
                <a:lvl1pPr marL="98425" indent="-98425" fontAlgn="ctr" latinLnBrk="0">
                  <a:spcBef>
                    <a:spcPct val="10000"/>
                  </a:spcBef>
                  <a:spcAft>
                    <a:spcPct val="10000"/>
                  </a:spcAft>
                  <a:buClr>
                    <a:srgbClr val="808080"/>
                  </a:buClr>
                  <a:buFont typeface="Wingdings" pitchFamily="2" charset="2"/>
                  <a:buChar char="§"/>
                  <a:tabLst>
                    <a:tab pos="336550" algn="l"/>
                  </a:tabLst>
                  <a:defRPr kumimoji="1" sz="1000">
                    <a:latin typeface="Rix모던고딕 L" pitchFamily="18" charset="-127"/>
                    <a:ea typeface="Rix모던고딕 L" pitchFamily="18" charset="-127"/>
                  </a:defRPr>
                </a:lvl1pPr>
                <a:lvl2pPr marL="219075" lvl="1" indent="-119063" fontAlgn="ctr" latinLnBrk="0">
                  <a:spcBef>
                    <a:spcPct val="10000"/>
                  </a:spcBef>
                  <a:spcAft>
                    <a:spcPct val="10000"/>
                  </a:spcAft>
                  <a:buClr>
                    <a:srgbClr val="808080"/>
                  </a:buClr>
                  <a:buFont typeface="Rix모던고딕 L" pitchFamily="18" charset="-127"/>
                  <a:buChar char="-"/>
                  <a:tabLst>
                    <a:tab pos="336550" algn="l"/>
                  </a:tabLst>
                  <a:defRPr kumimoji="1" sz="1000">
                    <a:latin typeface="Rix모던고딕 L" pitchFamily="18" charset="-127"/>
                    <a:ea typeface="Rix모던고딕 L" pitchFamily="18" charset="-127"/>
                  </a:defRPr>
                </a:lvl2pPr>
                <a:lvl3pPr marL="336550" lvl="2" indent="-115888" fontAlgn="ctr" latinLnBrk="0">
                  <a:spcBef>
                    <a:spcPct val="10000"/>
                  </a:spcBef>
                  <a:spcAft>
                    <a:spcPct val="10000"/>
                  </a:spcAft>
                  <a:buClr>
                    <a:srgbClr val="808080"/>
                  </a:buClr>
                  <a:buSzPct val="130000"/>
                  <a:buFont typeface="Wingdings 2" pitchFamily="18" charset="2"/>
                  <a:buChar char="­"/>
                  <a:tabLst>
                    <a:tab pos="336550" algn="l"/>
                  </a:tabLst>
                  <a:defRPr kumimoji="1" sz="1000">
                    <a:latin typeface="Rix모던고딕 L" pitchFamily="18" charset="-127"/>
                    <a:ea typeface="Rix모던고딕 L" pitchFamily="18" charset="-127"/>
                  </a:defRPr>
                </a:lvl3pPr>
                <a:lvl4pPr marL="1600200" indent="-228600">
                  <a:tabLst>
                    <a:tab pos="336550" algn="l"/>
                  </a:tabLst>
                  <a:defRPr kumimoji="1"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tabLst>
                    <a:tab pos="336550" algn="l"/>
                  </a:tabLst>
                  <a:defRPr kumimoji="1">
                    <a:latin typeface="굴림" pitchFamily="50" charset="-127"/>
                    <a:ea typeface="굴림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36550" algn="l"/>
                  </a:tabLst>
                  <a:defRPr kumimoji="1">
                    <a:latin typeface="굴림" pitchFamily="50" charset="-127"/>
                    <a:ea typeface="굴림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36550" algn="l"/>
                  </a:tabLst>
                  <a:defRPr kumimoji="1">
                    <a:latin typeface="굴림" pitchFamily="50" charset="-127"/>
                    <a:ea typeface="굴림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36550" algn="l"/>
                  </a:tabLst>
                  <a:defRPr kumimoji="1">
                    <a:latin typeface="굴림" pitchFamily="50" charset="-127"/>
                    <a:ea typeface="굴림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36550" algn="l"/>
                  </a:tabLst>
                  <a:defRPr kumimoji="1"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r>
                  <a:rPr lang="ko-KR" altLang="en-US" dirty="0">
                    <a:solidFill>
                      <a:srgbClr val="00000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운용능력 배양을 위한 실습위주 교육실시 </a:t>
                </a:r>
              </a:p>
              <a:p>
                <a:r>
                  <a:rPr lang="ko-KR" altLang="en-US" dirty="0">
                    <a:solidFill>
                      <a:srgbClr val="00000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실전적 교육훈련을 위한 모의논리 및 장비 활용 교육진행</a:t>
                </a:r>
              </a:p>
            </p:txBody>
          </p:sp>
        </p:grpSp>
        <p:pic>
          <p:nvPicPr>
            <p:cNvPr id="60" name="Picture 88" descr="무제-2-01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2581"/>
            <a:stretch/>
          </p:blipFill>
          <p:spPr bwMode="gray">
            <a:xfrm>
              <a:off x="238535" y="2574641"/>
              <a:ext cx="6418080" cy="10981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직사각형 60"/>
            <p:cNvSpPr/>
            <p:nvPr/>
          </p:nvSpPr>
          <p:spPr>
            <a:xfrm>
              <a:off x="727538" y="2815933"/>
              <a:ext cx="5440074" cy="6155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1001908" latinLnBrk="0">
                <a:lnSpc>
                  <a:spcPct val="125000"/>
                </a:lnSpc>
                <a:defRPr/>
              </a:pPr>
              <a:r>
                <a:rPr lang="ko-KR" altLang="en-US" sz="1400" kern="10">
                  <a:ln w="9525">
                    <a:noFill/>
                    <a:round/>
                    <a:headEnd/>
                    <a:tailEnd/>
                  </a:ln>
                  <a:gradFill>
                    <a:gsLst>
                      <a:gs pos="0">
                        <a:schemeClr val="tx1">
                          <a:lumMod val="50000"/>
                          <a:lumOff val="50000"/>
                        </a:schemeClr>
                      </a:gs>
                      <a:gs pos="100000">
                        <a:schemeClr val="tx1">
                          <a:lumMod val="50000"/>
                          <a:lumOff val="50000"/>
                        </a:schemeClr>
                      </a:gs>
                    </a:gsLst>
                    <a:lin ang="10800000" scaled="0"/>
                  </a:gra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교육훈련을 통한</a:t>
              </a:r>
            </a:p>
            <a:p>
              <a:pPr algn="ctr" defTabSz="1001908" latinLnBrk="0">
                <a:lnSpc>
                  <a:spcPct val="125000"/>
                </a:lnSpc>
                <a:defRPr/>
              </a:pPr>
              <a:r>
                <a:rPr lang="ko-KR" altLang="en-US">
                  <a:solidFill>
                    <a:srgbClr val="0079A8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운용 및 관리 능력 확보</a:t>
              </a:r>
            </a:p>
          </p:txBody>
        </p:sp>
      </p:grpSp>
      <p:grpSp>
        <p:nvGrpSpPr>
          <p:cNvPr id="67" name="Group 5"/>
          <p:cNvGrpSpPr>
            <a:grpSpLocks/>
          </p:cNvGrpSpPr>
          <p:nvPr/>
        </p:nvGrpSpPr>
        <p:grpSpPr bwMode="auto">
          <a:xfrm>
            <a:off x="374650" y="1781114"/>
            <a:ext cx="6116638" cy="357188"/>
            <a:chOff x="236" y="2167"/>
            <a:chExt cx="3853" cy="225"/>
          </a:xfrm>
        </p:grpSpPr>
        <p:grpSp>
          <p:nvGrpSpPr>
            <p:cNvPr id="68" name="Group 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70" name="Picture 7" descr="Magazine temp08_A4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1" name="Picture 8" descr="Magazine temp08_A4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9" name="Text Box 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교육훈련 방안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70677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82"/>
          <p:cNvSpPr txBox="1">
            <a:spLocks noGrp="1" noChangeArrowheads="1"/>
          </p:cNvSpPr>
          <p:nvPr/>
        </p:nvSpPr>
        <p:spPr bwMode="auto">
          <a:xfrm>
            <a:off x="3200400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 dirty="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Ⅵ - 4</a:t>
            </a:r>
          </a:p>
        </p:txBody>
      </p:sp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교육훈련</a:t>
            </a:r>
          </a:p>
        </p:txBody>
      </p:sp>
      <p:sp>
        <p:nvSpPr>
          <p:cNvPr id="6" name="Text Box 81"/>
          <p:cNvSpPr txBox="1">
            <a:spLocks noChangeArrowheads="1"/>
          </p:cNvSpPr>
          <p:nvPr/>
        </p:nvSpPr>
        <p:spPr bwMode="auto">
          <a:xfrm>
            <a:off x="315913" y="870060"/>
            <a:ext cx="6165850" cy="361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다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교육훈련 절차</a:t>
            </a:r>
            <a:endParaRPr lang="ko-KR" altLang="en-US" sz="150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374650" y="1361525"/>
            <a:ext cx="6116638" cy="357188"/>
            <a:chOff x="236" y="2167"/>
            <a:chExt cx="3853" cy="225"/>
          </a:xfrm>
        </p:grpSpPr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10" name="Picture 7" descr="Magazine temp08_A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Picture 8" descr="Magazine temp08_A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교육훈련 세부절차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cxnSp>
        <p:nvCxnSpPr>
          <p:cNvPr id="17" name="AutoShape 554"/>
          <p:cNvCxnSpPr>
            <a:cxnSpLocks noChangeAspect="1" noChangeShapeType="1"/>
          </p:cNvCxnSpPr>
          <p:nvPr/>
        </p:nvCxnSpPr>
        <p:spPr bwMode="auto">
          <a:xfrm>
            <a:off x="2250713" y="5441724"/>
            <a:ext cx="262537" cy="0"/>
          </a:xfrm>
          <a:prstGeom prst="straightConnector1">
            <a:avLst/>
          </a:prstGeom>
          <a:noFill/>
          <a:ln w="12700">
            <a:solidFill>
              <a:srgbClr val="ADADAD"/>
            </a:solidFill>
            <a:round/>
            <a:headEnd type="none" w="med" len="sm"/>
            <a:tailEnd type="triangl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8" name="Picture 79" descr="하늘_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9965" y="3733589"/>
            <a:ext cx="2382356" cy="1853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모서리가 둥근 직사각형 18"/>
          <p:cNvSpPr/>
          <p:nvPr/>
        </p:nvSpPr>
        <p:spPr>
          <a:xfrm>
            <a:off x="5173172" y="3365190"/>
            <a:ext cx="1301552" cy="919652"/>
          </a:xfrm>
          <a:prstGeom prst="roundRect">
            <a:avLst>
              <a:gd name="adj" fmla="val 3319"/>
            </a:avLst>
          </a:prstGeom>
          <a:solidFill>
            <a:schemeClr val="bg1"/>
          </a:solidFill>
          <a:ln w="6350" algn="ctr">
            <a:solidFill>
              <a:srgbClr val="64C8FA"/>
            </a:solidFill>
            <a:round/>
            <a:headEnd/>
            <a:tailEnd/>
          </a:ln>
          <a:effectLst/>
        </p:spPr>
        <p:txBody>
          <a:bodyPr lIns="36000" tIns="0" rIns="36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180975" algn="ct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80000"/>
              <a:buFont typeface="Wingdings" pitchFamily="2" charset="2"/>
              <a:buChar char=""/>
              <a:tabLst>
                <a:tab pos="5648325" algn="l"/>
              </a:tabLst>
              <a:defRPr/>
            </a:pPr>
            <a:endParaRPr kumimoji="1" lang="ko-KR" altLang="en-US" sz="1100" kern="0">
              <a:solidFill>
                <a:schemeClr val="tx1">
                  <a:lumMod val="85000"/>
                  <a:lumOff val="1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20" name="양쪽 모서리가 둥근 사각형 19"/>
          <p:cNvSpPr/>
          <p:nvPr/>
        </p:nvSpPr>
        <p:spPr bwMode="auto">
          <a:xfrm>
            <a:off x="5173172" y="3365190"/>
            <a:ext cx="1301552" cy="309717"/>
          </a:xfrm>
          <a:prstGeom prst="round2Same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 w="6350" algn="ctr">
            <a:solidFill>
              <a:srgbClr val="64C8FA"/>
            </a:solidFill>
            <a:round/>
            <a:headEnd/>
            <a:tailEnd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180975" algn="ct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80000"/>
              <a:tabLst>
                <a:tab pos="5648325" algn="l"/>
              </a:tabLst>
              <a:defRPr/>
            </a:pPr>
            <a:r>
              <a:rPr kumimoji="1" lang="ko-KR" altLang="en-US" sz="10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게이머 </a:t>
            </a:r>
            <a:r>
              <a:rPr kumimoji="1" lang="en-US" altLang="ko-KR" sz="10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/ </a:t>
            </a:r>
            <a:r>
              <a:rPr kumimoji="1" lang="ko-KR" altLang="en-US" sz="10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교관</a:t>
            </a:r>
            <a:endParaRPr kumimoji="1" lang="en-US" altLang="ko-KR" sz="10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5163016" y="4347864"/>
            <a:ext cx="1301552" cy="919652"/>
          </a:xfrm>
          <a:prstGeom prst="roundRect">
            <a:avLst>
              <a:gd name="adj" fmla="val 3319"/>
            </a:avLst>
          </a:prstGeom>
          <a:solidFill>
            <a:schemeClr val="bg1"/>
          </a:solidFill>
          <a:ln w="6350" algn="ctr">
            <a:solidFill>
              <a:srgbClr val="64C8FA"/>
            </a:solidFill>
            <a:round/>
            <a:headEnd/>
            <a:tailEnd/>
          </a:ln>
          <a:effectLst/>
        </p:spPr>
        <p:txBody>
          <a:bodyPr lIns="36000" tIns="0" rIns="36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180975" algn="ct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80000"/>
              <a:buFont typeface="Wingdings" pitchFamily="2" charset="2"/>
              <a:buChar char=""/>
              <a:tabLst>
                <a:tab pos="5648325" algn="l"/>
              </a:tabLst>
              <a:defRPr/>
            </a:pPr>
            <a:endParaRPr kumimoji="1" lang="ko-KR" altLang="en-US" sz="1100" kern="0">
              <a:solidFill>
                <a:schemeClr val="tx1">
                  <a:lumMod val="85000"/>
                  <a:lumOff val="1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22" name="양쪽 모서리가 둥근 사각형 21"/>
          <p:cNvSpPr/>
          <p:nvPr/>
        </p:nvSpPr>
        <p:spPr bwMode="auto">
          <a:xfrm>
            <a:off x="5163016" y="4347864"/>
            <a:ext cx="1301552" cy="309717"/>
          </a:xfrm>
          <a:prstGeom prst="round2Same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 w="6350" algn="ctr">
            <a:solidFill>
              <a:srgbClr val="64C8FA"/>
            </a:solidFill>
            <a:round/>
            <a:headEnd/>
            <a:tailEnd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180975" algn="ct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80000"/>
              <a:tabLst>
                <a:tab pos="5648325" algn="l"/>
              </a:tabLst>
              <a:defRPr/>
            </a:pPr>
            <a:r>
              <a:rPr kumimoji="1" lang="ko-KR" altLang="en-US" sz="10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유지보수요원</a:t>
            </a:r>
            <a:endParaRPr kumimoji="1" lang="en-US" altLang="ko-KR" sz="10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5473530" y="4665523"/>
            <a:ext cx="770145" cy="669030"/>
            <a:chOff x="6598437" y="4594903"/>
            <a:chExt cx="844563" cy="711432"/>
          </a:xfrm>
        </p:grpSpPr>
        <p:pic>
          <p:nvPicPr>
            <p:cNvPr id="24" name="Picture 2" descr="business icon_3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134" r="74155" b="23077"/>
            <a:stretch>
              <a:fillRect/>
            </a:stretch>
          </p:blipFill>
          <p:spPr bwMode="auto">
            <a:xfrm>
              <a:off x="6727273" y="4594903"/>
              <a:ext cx="715727" cy="711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" name="Picture 30" descr="business icon_03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598437" y="4613951"/>
              <a:ext cx="453316" cy="59473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" name="Picture 78" descr="8"/>
          <p:cNvPicPr preferRelativeResize="0"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280" y="3689642"/>
            <a:ext cx="695604" cy="624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AutoShape 96" descr="현대중공업_템플릿-14"/>
          <p:cNvSpPr>
            <a:spLocks noChangeArrowheads="1"/>
          </p:cNvSpPr>
          <p:nvPr/>
        </p:nvSpPr>
        <p:spPr bwMode="gray">
          <a:xfrm>
            <a:off x="411012" y="3592150"/>
            <a:ext cx="826265" cy="693454"/>
          </a:xfrm>
          <a:prstGeom prst="roundRect">
            <a:avLst>
              <a:gd name="adj" fmla="val 8176"/>
            </a:avLst>
          </a:prstGeom>
          <a:blipFill dpi="0" rotWithShape="1">
            <a:blip r:embed="rId9" cstate="print"/>
            <a:srcRect/>
            <a:stretch>
              <a:fillRect/>
            </a:stretch>
          </a:blipFill>
          <a:ln w="6350" algn="ctr">
            <a:solidFill>
              <a:srgbClr val="D7DBD9"/>
            </a:solidFill>
            <a:round/>
            <a:headEnd/>
            <a:tailEnd/>
          </a:ln>
          <a:effectLst>
            <a:outerShdw dist="12700" dir="5400000" algn="ctr" rotWithShape="0">
              <a:srgbClr val="E4E8E6"/>
            </a:outerShdw>
          </a:effectLst>
        </p:spPr>
        <p:txBody>
          <a:bodyPr lIns="0" tIns="0" rIns="0" bIns="0" anchor="ctr"/>
          <a:lstStyle/>
          <a:p>
            <a:pPr algn="ctr" defTabSz="1019175" latinLnBrk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교육</a:t>
            </a:r>
            <a:endParaRPr lang="en-US" altLang="ko-KR" sz="11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defTabSz="1019175" latinLnBrk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대상자</a:t>
            </a:r>
            <a:endParaRPr lang="en-US" altLang="ko-KR" sz="11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28" name="AutoShape 96" descr="현대중공업_템플릿-14"/>
          <p:cNvSpPr>
            <a:spLocks noChangeArrowheads="1"/>
          </p:cNvSpPr>
          <p:nvPr/>
        </p:nvSpPr>
        <p:spPr bwMode="gray">
          <a:xfrm>
            <a:off x="411012" y="5094997"/>
            <a:ext cx="826265" cy="693454"/>
          </a:xfrm>
          <a:prstGeom prst="roundRect">
            <a:avLst>
              <a:gd name="adj" fmla="val 8176"/>
            </a:avLst>
          </a:prstGeom>
          <a:blipFill dpi="0" rotWithShape="1">
            <a:blip r:embed="rId9" cstate="print"/>
            <a:srcRect/>
            <a:stretch>
              <a:fillRect/>
            </a:stretch>
          </a:blipFill>
          <a:ln w="6350" algn="ctr">
            <a:solidFill>
              <a:srgbClr val="D7DBD9"/>
            </a:solidFill>
            <a:round/>
            <a:headEnd/>
            <a:tailEnd/>
          </a:ln>
          <a:effectLst>
            <a:outerShdw dist="12700" dir="5400000" algn="ctr" rotWithShape="0">
              <a:srgbClr val="E4E8E6"/>
            </a:outerShdw>
          </a:effectLst>
        </p:spPr>
        <p:txBody>
          <a:bodyPr lIns="0" tIns="0" rIns="0" bIns="0" anchor="ctr"/>
          <a:lstStyle/>
          <a:p>
            <a:pPr algn="ctr" defTabSz="1019175" latinLnBrk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교육</a:t>
            </a:r>
            <a:endParaRPr lang="en-US" altLang="ko-KR" sz="11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defTabSz="1019175" latinLnBrk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내용</a:t>
            </a:r>
            <a:endParaRPr lang="en-US" altLang="ko-KR" sz="11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29" name="AutoShape 96" descr="현대중공업_템플릿-14"/>
          <p:cNvSpPr>
            <a:spLocks noChangeArrowheads="1"/>
          </p:cNvSpPr>
          <p:nvPr/>
        </p:nvSpPr>
        <p:spPr bwMode="gray">
          <a:xfrm>
            <a:off x="411012" y="6386090"/>
            <a:ext cx="826265" cy="693454"/>
          </a:xfrm>
          <a:prstGeom prst="roundRect">
            <a:avLst>
              <a:gd name="adj" fmla="val 8176"/>
            </a:avLst>
          </a:prstGeom>
          <a:blipFill dpi="0" rotWithShape="1">
            <a:blip r:embed="rId9" cstate="print"/>
            <a:srcRect/>
            <a:stretch>
              <a:fillRect/>
            </a:stretch>
          </a:blipFill>
          <a:ln w="6350" algn="ctr">
            <a:solidFill>
              <a:srgbClr val="D7DBD9"/>
            </a:solidFill>
            <a:round/>
            <a:headEnd/>
            <a:tailEnd/>
          </a:ln>
          <a:effectLst>
            <a:outerShdw dist="12700" dir="5400000" algn="ctr" rotWithShape="0">
              <a:srgbClr val="E4E8E6"/>
            </a:outerShdw>
          </a:effectLst>
        </p:spPr>
        <p:txBody>
          <a:bodyPr lIns="0" tIns="0" rIns="0" bIns="0" anchor="ctr"/>
          <a:lstStyle/>
          <a:p>
            <a:pPr algn="ctr" defTabSz="1019175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교육</a:t>
            </a:r>
            <a:endParaRPr lang="en-US" altLang="ko-KR" sz="11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defTabSz="1019175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시기</a:t>
            </a:r>
            <a:endParaRPr lang="en-US" altLang="ko-KR" sz="11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30" name="AutoShape 96" descr="현대중공업_템플릿-14"/>
          <p:cNvSpPr>
            <a:spLocks noChangeArrowheads="1"/>
          </p:cNvSpPr>
          <p:nvPr/>
        </p:nvSpPr>
        <p:spPr bwMode="gray">
          <a:xfrm>
            <a:off x="1499814" y="5094997"/>
            <a:ext cx="826265" cy="693454"/>
          </a:xfrm>
          <a:prstGeom prst="roundRect">
            <a:avLst>
              <a:gd name="adj" fmla="val 8176"/>
            </a:avLst>
          </a:prstGeom>
          <a:blipFill dpi="0" rotWithShape="1">
            <a:blip r:embed="rId9" cstate="print"/>
            <a:srcRect/>
            <a:stretch>
              <a:fillRect/>
            </a:stretch>
          </a:blipFill>
          <a:ln w="6350" algn="ctr">
            <a:solidFill>
              <a:srgbClr val="D7DBD9"/>
            </a:solidFill>
            <a:round/>
            <a:headEnd/>
            <a:tailEnd/>
          </a:ln>
          <a:effectLst>
            <a:outerShdw dist="12700" dir="5400000" algn="ctr" rotWithShape="0">
              <a:srgbClr val="E4E8E6"/>
            </a:outerShdw>
          </a:effectLst>
        </p:spPr>
        <p:txBody>
          <a:bodyPr lIns="0" tIns="0" rIns="0" bIns="0" anchor="ctr"/>
          <a:lstStyle/>
          <a:p>
            <a:pPr algn="ctr" defTabSz="1019175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교육 계획</a:t>
            </a:r>
            <a:endParaRPr lang="en-US" altLang="ko-KR" sz="11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defTabSz="1019175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수립</a:t>
            </a:r>
            <a:endParaRPr lang="en-US" altLang="ko-KR" sz="11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31" name="AutoShape 96" descr="현대중공업_템플릿-14"/>
          <p:cNvSpPr>
            <a:spLocks noChangeArrowheads="1"/>
          </p:cNvSpPr>
          <p:nvPr/>
        </p:nvSpPr>
        <p:spPr bwMode="gray">
          <a:xfrm>
            <a:off x="4540674" y="5586870"/>
            <a:ext cx="826265" cy="693454"/>
          </a:xfrm>
          <a:prstGeom prst="roundRect">
            <a:avLst>
              <a:gd name="adj" fmla="val 8176"/>
            </a:avLst>
          </a:prstGeom>
          <a:blipFill dpi="0" rotWithShape="1">
            <a:blip r:embed="rId9" cstate="print"/>
            <a:srcRect/>
            <a:stretch>
              <a:fillRect/>
            </a:stretch>
          </a:blipFill>
          <a:ln w="6350" algn="ctr">
            <a:solidFill>
              <a:srgbClr val="D7DBD9"/>
            </a:solidFill>
            <a:round/>
            <a:headEnd/>
            <a:tailEnd/>
          </a:ln>
          <a:effectLst>
            <a:outerShdw dist="12700" dir="5400000" algn="ctr" rotWithShape="0">
              <a:srgbClr val="E4E8E6"/>
            </a:outerShdw>
          </a:effectLst>
        </p:spPr>
        <p:txBody>
          <a:bodyPr lIns="0" tIns="0" rIns="0" bIns="0" anchor="ctr"/>
          <a:lstStyle/>
          <a:p>
            <a:pPr algn="ctr" defTabSz="1019175" latinLnBrk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교육</a:t>
            </a:r>
            <a:endParaRPr lang="en-US" altLang="ko-KR" sz="11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defTabSz="1019175" latinLnBrk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실시</a:t>
            </a:r>
            <a:endParaRPr lang="en-US" altLang="ko-KR" sz="11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32" name="AutoShape 96" descr="현대중공업_템플릿-14"/>
          <p:cNvSpPr>
            <a:spLocks noChangeArrowheads="1"/>
          </p:cNvSpPr>
          <p:nvPr/>
        </p:nvSpPr>
        <p:spPr bwMode="gray">
          <a:xfrm>
            <a:off x="5591932" y="5586870"/>
            <a:ext cx="826265" cy="693454"/>
          </a:xfrm>
          <a:prstGeom prst="roundRect">
            <a:avLst>
              <a:gd name="adj" fmla="val 8176"/>
            </a:avLst>
          </a:prstGeom>
          <a:blipFill dpi="0" rotWithShape="1">
            <a:blip r:embed="rId9" cstate="print"/>
            <a:srcRect/>
            <a:stretch>
              <a:fillRect/>
            </a:stretch>
          </a:blipFill>
          <a:ln w="6350" algn="ctr">
            <a:solidFill>
              <a:srgbClr val="D7DBD9"/>
            </a:solidFill>
            <a:round/>
            <a:headEnd/>
            <a:tailEnd/>
          </a:ln>
          <a:effectLst>
            <a:outerShdw dist="12700" dir="5400000" algn="ctr" rotWithShape="0">
              <a:srgbClr val="E4E8E6"/>
            </a:outerShdw>
          </a:effectLst>
        </p:spPr>
        <p:txBody>
          <a:bodyPr lIns="0" tIns="0" rIns="0" bIns="0" anchor="ctr"/>
          <a:lstStyle/>
          <a:p>
            <a:pPr algn="ctr" defTabSz="1019175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교육 평가</a:t>
            </a:r>
            <a:endParaRPr lang="en-US" altLang="ko-KR" sz="11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defTabSz="1019175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및 보고</a:t>
            </a:r>
            <a:endParaRPr lang="en-US" altLang="ko-KR" sz="1100"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cxnSp>
        <p:nvCxnSpPr>
          <p:cNvPr id="33" name="AutoShape 568"/>
          <p:cNvCxnSpPr>
            <a:cxnSpLocks noChangeAspect="1" noChangeShapeType="1"/>
            <a:stCxn id="32" idx="2"/>
            <a:endCxn id="30" idx="2"/>
          </p:cNvCxnSpPr>
          <p:nvPr/>
        </p:nvCxnSpPr>
        <p:spPr bwMode="auto">
          <a:xfrm rot="5400000" flipH="1">
            <a:off x="3713069" y="3988329"/>
            <a:ext cx="491874" cy="4092117"/>
          </a:xfrm>
          <a:prstGeom prst="bentConnector3">
            <a:avLst>
              <a:gd name="adj1" fmla="val -362311"/>
            </a:avLst>
          </a:prstGeom>
          <a:noFill/>
          <a:ln w="12700">
            <a:solidFill>
              <a:srgbClr val="ADADAD"/>
            </a:solidFill>
            <a:round/>
            <a:headEnd type="none" w="med" len="sm"/>
            <a:tailEnd type="triangl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AutoShape 568"/>
          <p:cNvCxnSpPr>
            <a:cxnSpLocks noChangeAspect="1" noChangeShapeType="1"/>
          </p:cNvCxnSpPr>
          <p:nvPr/>
        </p:nvCxnSpPr>
        <p:spPr bwMode="auto">
          <a:xfrm flipV="1">
            <a:off x="1236915" y="5788451"/>
            <a:ext cx="675670" cy="944366"/>
          </a:xfrm>
          <a:prstGeom prst="bentConnector2">
            <a:avLst/>
          </a:prstGeom>
          <a:noFill/>
          <a:ln w="12700">
            <a:solidFill>
              <a:srgbClr val="ADADAD"/>
            </a:solidFill>
            <a:round/>
            <a:headEnd type="none" w="med" len="sm"/>
            <a:tailEnd type="triangl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AutoShape 568"/>
          <p:cNvCxnSpPr>
            <a:cxnSpLocks noChangeAspect="1" noChangeShapeType="1"/>
            <a:stCxn id="27" idx="3"/>
            <a:endCxn id="30" idx="0"/>
          </p:cNvCxnSpPr>
          <p:nvPr/>
        </p:nvCxnSpPr>
        <p:spPr bwMode="auto">
          <a:xfrm>
            <a:off x="1237278" y="3938878"/>
            <a:ext cx="675670" cy="1156119"/>
          </a:xfrm>
          <a:prstGeom prst="bentConnector2">
            <a:avLst/>
          </a:prstGeom>
          <a:noFill/>
          <a:ln w="12700">
            <a:solidFill>
              <a:srgbClr val="ADADAD"/>
            </a:solidFill>
            <a:round/>
            <a:headEnd type="none" w="med" len="sm"/>
            <a:tailEnd type="triangl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AutoShape 554"/>
          <p:cNvCxnSpPr>
            <a:cxnSpLocks noChangeAspect="1" noChangeShapeType="1"/>
            <a:stCxn id="28" idx="3"/>
            <a:endCxn id="30" idx="1"/>
          </p:cNvCxnSpPr>
          <p:nvPr/>
        </p:nvCxnSpPr>
        <p:spPr bwMode="auto">
          <a:xfrm>
            <a:off x="1237278" y="5441724"/>
            <a:ext cx="262537" cy="0"/>
          </a:xfrm>
          <a:prstGeom prst="straightConnector1">
            <a:avLst/>
          </a:prstGeom>
          <a:noFill/>
          <a:ln w="12700">
            <a:solidFill>
              <a:srgbClr val="ADADAD"/>
            </a:solidFill>
            <a:round/>
            <a:headEnd type="none" w="med" len="sm"/>
            <a:tailEnd type="triangl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AutoShape 554"/>
          <p:cNvCxnSpPr>
            <a:cxnSpLocks noChangeAspect="1" noChangeShapeType="1"/>
            <a:stCxn id="31" idx="3"/>
            <a:endCxn id="32" idx="1"/>
          </p:cNvCxnSpPr>
          <p:nvPr/>
        </p:nvCxnSpPr>
        <p:spPr bwMode="auto">
          <a:xfrm>
            <a:off x="5366940" y="5933598"/>
            <a:ext cx="224992" cy="0"/>
          </a:xfrm>
          <a:prstGeom prst="straightConnector1">
            <a:avLst/>
          </a:prstGeom>
          <a:noFill/>
          <a:ln w="12700">
            <a:solidFill>
              <a:srgbClr val="ADADAD"/>
            </a:solidFill>
            <a:round/>
            <a:headEnd type="none" w="med" len="sm"/>
            <a:tailEnd type="triangl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꺾인 연결선 37"/>
          <p:cNvCxnSpPr/>
          <p:nvPr/>
        </p:nvCxnSpPr>
        <p:spPr>
          <a:xfrm rot="10800000" flipV="1">
            <a:off x="2876091" y="3728006"/>
            <a:ext cx="12700" cy="3817358"/>
          </a:xfrm>
          <a:prstGeom prst="bentConnector3">
            <a:avLst>
              <a:gd name="adj1" fmla="val 1800000"/>
            </a:avLst>
          </a:prstGeom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38"/>
          <p:cNvCxnSpPr/>
          <p:nvPr/>
        </p:nvCxnSpPr>
        <p:spPr>
          <a:xfrm rot="10800000" flipV="1">
            <a:off x="2876091" y="4273341"/>
            <a:ext cx="12700" cy="2726683"/>
          </a:xfrm>
          <a:prstGeom prst="bentConnector3">
            <a:avLst>
              <a:gd name="adj1" fmla="val 1800000"/>
            </a:avLst>
          </a:prstGeom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/>
          <p:nvPr/>
        </p:nvCxnSpPr>
        <p:spPr>
          <a:xfrm rot="10800000" flipV="1">
            <a:off x="2876091" y="4818679"/>
            <a:ext cx="12700" cy="1636010"/>
          </a:xfrm>
          <a:prstGeom prst="bentConnector3">
            <a:avLst>
              <a:gd name="adj1" fmla="val 1800000"/>
            </a:avLst>
          </a:prstGeom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/>
          <p:nvPr/>
        </p:nvCxnSpPr>
        <p:spPr>
          <a:xfrm rot="10800000" flipV="1">
            <a:off x="2876091" y="5364014"/>
            <a:ext cx="12700" cy="545337"/>
          </a:xfrm>
          <a:prstGeom prst="bentConnector3">
            <a:avLst>
              <a:gd name="adj1" fmla="val 1800000"/>
            </a:avLst>
          </a:prstGeom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/>
          <p:nvPr/>
        </p:nvCxnSpPr>
        <p:spPr>
          <a:xfrm>
            <a:off x="3927281" y="3728006"/>
            <a:ext cx="12700" cy="3817358"/>
          </a:xfrm>
          <a:prstGeom prst="bentConnector3">
            <a:avLst>
              <a:gd name="adj1" fmla="val 1800000"/>
            </a:avLst>
          </a:prstGeom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/>
          <p:nvPr/>
        </p:nvCxnSpPr>
        <p:spPr>
          <a:xfrm>
            <a:off x="3927281" y="4273342"/>
            <a:ext cx="12700" cy="2726683"/>
          </a:xfrm>
          <a:prstGeom prst="bentConnector3">
            <a:avLst>
              <a:gd name="adj1" fmla="val 1800000"/>
            </a:avLst>
          </a:prstGeom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/>
          <p:nvPr/>
        </p:nvCxnSpPr>
        <p:spPr>
          <a:xfrm>
            <a:off x="3927281" y="4818679"/>
            <a:ext cx="12700" cy="1636010"/>
          </a:xfrm>
          <a:prstGeom prst="bentConnector3">
            <a:avLst>
              <a:gd name="adj1" fmla="val 1800000"/>
            </a:avLst>
          </a:prstGeom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/>
          <p:nvPr/>
        </p:nvCxnSpPr>
        <p:spPr>
          <a:xfrm>
            <a:off x="3927281" y="5364015"/>
            <a:ext cx="12700" cy="545337"/>
          </a:xfrm>
          <a:prstGeom prst="bentConnector3">
            <a:avLst>
              <a:gd name="adj1" fmla="val 1800000"/>
            </a:avLst>
          </a:prstGeom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AutoShape 554"/>
          <p:cNvCxnSpPr>
            <a:cxnSpLocks noChangeAspect="1" noChangeShapeType="1"/>
          </p:cNvCxnSpPr>
          <p:nvPr/>
        </p:nvCxnSpPr>
        <p:spPr bwMode="auto">
          <a:xfrm>
            <a:off x="3927281" y="5909352"/>
            <a:ext cx="613394" cy="0"/>
          </a:xfrm>
          <a:prstGeom prst="straightConnector1">
            <a:avLst/>
          </a:prstGeom>
          <a:noFill/>
          <a:ln w="12700">
            <a:solidFill>
              <a:srgbClr val="ADADAD"/>
            </a:solidFill>
            <a:round/>
            <a:headEnd type="none" w="med" len="sm"/>
            <a:tailEnd type="triangl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Text Box 533"/>
          <p:cNvSpPr txBox="1">
            <a:spLocks noChangeAspect="1" noChangeArrowheads="1"/>
          </p:cNvSpPr>
          <p:nvPr/>
        </p:nvSpPr>
        <p:spPr bwMode="auto">
          <a:xfrm>
            <a:off x="4984728" y="8134038"/>
            <a:ext cx="538609" cy="138499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latinLnBrk="0">
              <a:spcBef>
                <a:spcPct val="10000"/>
              </a:spcBef>
              <a:spcAft>
                <a:spcPct val="10000"/>
              </a:spcAft>
              <a:defRPr kumimoji="1" sz="800">
                <a:solidFill>
                  <a:srgbClr val="5F5F5F"/>
                </a:solidFill>
                <a:latin typeface="Rix모던고딕 L" pitchFamily="18" charset="-127"/>
                <a:ea typeface="Rix모던고딕 L" pitchFamily="18" charset="-127"/>
              </a:defRPr>
            </a:lvl1pPr>
            <a:lvl2pPr marL="1588">
              <a:defRPr kumimoji="1">
                <a:latin typeface="굴림" pitchFamily="50" charset="-127"/>
                <a:ea typeface="굴림" pitchFamily="50" charset="-127"/>
              </a:defRPr>
            </a:lvl2pPr>
            <a:lvl3pPr marL="922338">
              <a:defRPr kumimoji="1">
                <a:latin typeface="굴림" pitchFamily="50" charset="-127"/>
                <a:ea typeface="굴림" pitchFamily="50" charset="-127"/>
              </a:defRPr>
            </a:lvl3pPr>
            <a:lvl4pPr>
              <a:defRPr kumimoji="1">
                <a:latin typeface="굴림" pitchFamily="50" charset="-127"/>
                <a:ea typeface="굴림" pitchFamily="50" charset="-127"/>
              </a:defRPr>
            </a:lvl4pPr>
            <a:lvl5pPr>
              <a:defRPr kumimoji="1">
                <a:latin typeface="굴림" pitchFamily="50" charset="-127"/>
                <a:ea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900">
                <a:latin typeface="HY신명조" panose="02030600000101010101" pitchFamily="18" charset="-127"/>
                <a:ea typeface="HY신명조" panose="02030600000101010101" pitchFamily="18" charset="-127"/>
              </a:rPr>
              <a:t>Feedback</a:t>
            </a:r>
            <a:endParaRPr lang="ko-KR" altLang="en-US" sz="9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33095" y="1853414"/>
            <a:ext cx="6347280" cy="1360556"/>
            <a:chOff x="233095" y="1853414"/>
            <a:chExt cx="6490112" cy="1360556"/>
          </a:xfrm>
        </p:grpSpPr>
        <p:sp>
          <p:nvSpPr>
            <p:cNvPr id="12" name="사다리꼴 11"/>
            <p:cNvSpPr/>
            <p:nvPr/>
          </p:nvSpPr>
          <p:spPr>
            <a:xfrm>
              <a:off x="233095" y="2835684"/>
              <a:ext cx="6490112" cy="378286"/>
            </a:xfrm>
            <a:prstGeom prst="trapezoid">
              <a:avLst>
                <a:gd name="adj" fmla="val 6022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3" name="AutoShape 5"/>
            <p:cNvSpPr>
              <a:spLocks noChangeArrowheads="1"/>
            </p:cNvSpPr>
            <p:nvPr/>
          </p:nvSpPr>
          <p:spPr bwMode="auto">
            <a:xfrm>
              <a:off x="1645373" y="2326499"/>
              <a:ext cx="1168213" cy="678775"/>
            </a:xfrm>
            <a:prstGeom prst="roundRect">
              <a:avLst>
                <a:gd name="adj" fmla="val 10802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38100" dir="5400000" rotWithShape="0">
                <a:srgbClr val="7CB8D2"/>
              </a:outerShdw>
            </a:effectLst>
          </p:spPr>
          <p:txBody>
            <a:bodyPr wrap="none" anchor="ctr"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4" name="AutoShape 5"/>
            <p:cNvSpPr>
              <a:spLocks noChangeArrowheads="1"/>
            </p:cNvSpPr>
            <p:nvPr/>
          </p:nvSpPr>
          <p:spPr bwMode="auto">
            <a:xfrm>
              <a:off x="2878452" y="2326499"/>
              <a:ext cx="1168213" cy="678775"/>
            </a:xfrm>
            <a:prstGeom prst="roundRect">
              <a:avLst>
                <a:gd name="adj" fmla="val 10802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38100" dir="5400000" rotWithShape="0">
                <a:srgbClr val="7CB8D2"/>
              </a:outerShdw>
            </a:effectLst>
          </p:spPr>
          <p:txBody>
            <a:bodyPr wrap="none" anchor="ctr"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5" name="AutoShape 5"/>
            <p:cNvSpPr>
              <a:spLocks noChangeArrowheads="1"/>
            </p:cNvSpPr>
            <p:nvPr/>
          </p:nvSpPr>
          <p:spPr bwMode="auto">
            <a:xfrm>
              <a:off x="4111532" y="2326499"/>
              <a:ext cx="1168213" cy="678775"/>
            </a:xfrm>
            <a:prstGeom prst="roundRect">
              <a:avLst>
                <a:gd name="adj" fmla="val 10802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38100" dir="5400000" rotWithShape="0">
                <a:srgbClr val="7CB8D2"/>
              </a:outerShdw>
            </a:effectLst>
          </p:spPr>
          <p:txBody>
            <a:bodyPr wrap="none" anchor="ctr"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6" name="AutoShape 5"/>
            <p:cNvSpPr>
              <a:spLocks noChangeArrowheads="1"/>
            </p:cNvSpPr>
            <p:nvPr/>
          </p:nvSpPr>
          <p:spPr bwMode="auto">
            <a:xfrm>
              <a:off x="5344611" y="2326499"/>
              <a:ext cx="1168213" cy="678775"/>
            </a:xfrm>
            <a:prstGeom prst="roundRect">
              <a:avLst>
                <a:gd name="adj" fmla="val 10802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38100" dir="5400000" rotWithShape="0">
                <a:srgbClr val="7CB8D2"/>
              </a:outerShdw>
            </a:effectLst>
          </p:spPr>
          <p:txBody>
            <a:bodyPr wrap="none" anchor="ctr"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48" name="오각형 47"/>
            <p:cNvSpPr/>
            <p:nvPr/>
          </p:nvSpPr>
          <p:spPr>
            <a:xfrm>
              <a:off x="412293" y="1866313"/>
              <a:ext cx="1385962" cy="432266"/>
            </a:xfrm>
            <a:prstGeom prst="homePlate">
              <a:avLst/>
            </a:prstGeom>
            <a:solidFill>
              <a:srgbClr val="C5E0EB"/>
            </a:soli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 fontAlgn="ctr" latinLnBrk="0"/>
              <a:endParaRPr kumimoji="1" lang="ko-KR" altLang="en-US" sz="10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endParaRPr>
            </a:p>
          </p:txBody>
        </p:sp>
        <p:sp>
          <p:nvSpPr>
            <p:cNvPr id="49" name="Text Box 40"/>
            <p:cNvSpPr txBox="1">
              <a:spLocks noChangeArrowheads="1"/>
            </p:cNvSpPr>
            <p:nvPr/>
          </p:nvSpPr>
          <p:spPr bwMode="auto">
            <a:xfrm>
              <a:off x="630271" y="2075216"/>
              <a:ext cx="744141" cy="138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rgbClr val="E4E8E6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ctr">
                <a:lnSpc>
                  <a:spcPct val="90000"/>
                </a:lnSpc>
                <a:defRPr sz="900">
                  <a:latin typeface="Rix모던고딕 M" pitchFamily="18" charset="-127"/>
                  <a:ea typeface="Rix모던고딕 M" pitchFamily="18" charset="-127"/>
                </a:defRPr>
              </a:lvl1pPr>
            </a:lstStyle>
            <a:p>
              <a:pPr latinLnBrk="0"/>
              <a:r>
                <a:rPr lang="ko-KR" altLang="en-US" sz="1000">
                  <a:latin typeface="HY신명조" panose="02030600000101010101" pitchFamily="18" charset="-127"/>
                  <a:ea typeface="HY신명조" panose="02030600000101010101" pitchFamily="18" charset="-127"/>
                </a:rPr>
                <a:t>분석 및 진단</a:t>
              </a:r>
            </a:p>
          </p:txBody>
        </p:sp>
        <p:sp>
          <p:nvSpPr>
            <p:cNvPr id="50" name="갈매기형 수장 49"/>
            <p:cNvSpPr/>
            <p:nvPr/>
          </p:nvSpPr>
          <p:spPr>
            <a:xfrm>
              <a:off x="1653766" y="1866313"/>
              <a:ext cx="1385962" cy="432266"/>
            </a:xfrm>
            <a:prstGeom prst="chevron">
              <a:avLst>
                <a:gd name="adj" fmla="val 52099"/>
              </a:avLst>
            </a:prstGeom>
            <a:solidFill>
              <a:srgbClr val="C5E0EB"/>
            </a:soli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 fontAlgn="ctr" latinLnBrk="0"/>
              <a:endParaRPr kumimoji="1" lang="ko-KR" altLang="en-US" sz="10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endParaRPr>
            </a:p>
          </p:txBody>
        </p:sp>
        <p:sp>
          <p:nvSpPr>
            <p:cNvPr id="51" name="Text Box 40"/>
            <p:cNvSpPr txBox="1">
              <a:spLocks noChangeArrowheads="1"/>
            </p:cNvSpPr>
            <p:nvPr/>
          </p:nvSpPr>
          <p:spPr bwMode="auto">
            <a:xfrm>
              <a:off x="1843552" y="2075217"/>
              <a:ext cx="1006392" cy="138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rgbClr val="E4E8E6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ctr">
                <a:lnSpc>
                  <a:spcPct val="90000"/>
                </a:lnSpc>
                <a:defRPr sz="900">
                  <a:latin typeface="Rix모던고딕 M" pitchFamily="18" charset="-127"/>
                  <a:ea typeface="Rix모던고딕 M" pitchFamily="18" charset="-127"/>
                </a:defRPr>
              </a:lvl1pPr>
            </a:lstStyle>
            <a:p>
              <a:pPr latinLnBrk="0"/>
              <a:r>
                <a:rPr lang="ko-KR" altLang="en-US" sz="1000">
                  <a:latin typeface="HY신명조" panose="02030600000101010101" pitchFamily="18" charset="-127"/>
                  <a:ea typeface="HY신명조" panose="02030600000101010101" pitchFamily="18" charset="-127"/>
                </a:rPr>
                <a:t>교육계획 및 수립</a:t>
              </a:r>
            </a:p>
          </p:txBody>
        </p:sp>
        <p:sp>
          <p:nvSpPr>
            <p:cNvPr id="52" name="갈매기형 수장 51"/>
            <p:cNvSpPr/>
            <p:nvPr/>
          </p:nvSpPr>
          <p:spPr>
            <a:xfrm>
              <a:off x="2871517" y="1866313"/>
              <a:ext cx="1385962" cy="432266"/>
            </a:xfrm>
            <a:prstGeom prst="chevron">
              <a:avLst>
                <a:gd name="adj" fmla="val 52099"/>
              </a:avLst>
            </a:prstGeom>
            <a:solidFill>
              <a:srgbClr val="7CB8D1"/>
            </a:soli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rIns="0" bIns="0" anchor="ctr"/>
            <a:lstStyle/>
            <a:p>
              <a:pPr algn="ctr" fontAlgn="ctr" latinLnBrk="0"/>
              <a:endParaRPr kumimoji="1" lang="ko-KR" altLang="en-US" sz="10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endParaRPr>
            </a:p>
          </p:txBody>
        </p:sp>
        <p:sp>
          <p:nvSpPr>
            <p:cNvPr id="53" name="Text Box 40"/>
            <p:cNvSpPr txBox="1">
              <a:spLocks noChangeArrowheads="1"/>
            </p:cNvSpPr>
            <p:nvPr/>
          </p:nvSpPr>
          <p:spPr bwMode="auto">
            <a:xfrm>
              <a:off x="3302244" y="2075217"/>
              <a:ext cx="524504" cy="138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rgbClr val="E4E8E6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ctr">
                <a:lnSpc>
                  <a:spcPct val="90000"/>
                </a:lnSpc>
                <a:defRPr sz="900">
                  <a:latin typeface="Rix모던고딕 M" pitchFamily="18" charset="-127"/>
                  <a:ea typeface="Rix모던고딕 M" pitchFamily="18" charset="-127"/>
                </a:defRPr>
              </a:lvl1pPr>
            </a:lstStyle>
            <a:p>
              <a:pPr latinLnBrk="0"/>
              <a:r>
                <a:rPr lang="ko-KR" altLang="en-US" sz="1000">
                  <a:latin typeface="HY신명조" panose="02030600000101010101" pitchFamily="18" charset="-127"/>
                  <a:ea typeface="HY신명조" panose="02030600000101010101" pitchFamily="18" charset="-127"/>
                </a:rPr>
                <a:t>교육준비</a:t>
              </a:r>
            </a:p>
          </p:txBody>
        </p:sp>
        <p:sp>
          <p:nvSpPr>
            <p:cNvPr id="54" name="갈매기형 수장 53"/>
            <p:cNvSpPr/>
            <p:nvPr/>
          </p:nvSpPr>
          <p:spPr>
            <a:xfrm>
              <a:off x="4072965" y="1866313"/>
              <a:ext cx="1385962" cy="432266"/>
            </a:xfrm>
            <a:prstGeom prst="chevron">
              <a:avLst>
                <a:gd name="adj" fmla="val 52099"/>
              </a:avLst>
            </a:prstGeom>
            <a:solidFill>
              <a:srgbClr val="7CB8D1"/>
            </a:soli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rIns="0" bIns="0" anchor="ctr"/>
            <a:lstStyle/>
            <a:p>
              <a:pPr algn="ctr" fontAlgn="ctr" latinLnBrk="0"/>
              <a:endParaRPr kumimoji="1" lang="ko-KR" altLang="en-US" sz="10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endParaRPr>
            </a:p>
          </p:txBody>
        </p:sp>
        <p:sp>
          <p:nvSpPr>
            <p:cNvPr id="55" name="Text Box 40"/>
            <p:cNvSpPr txBox="1">
              <a:spLocks noChangeArrowheads="1"/>
            </p:cNvSpPr>
            <p:nvPr/>
          </p:nvSpPr>
          <p:spPr bwMode="auto">
            <a:xfrm>
              <a:off x="4503693" y="2075217"/>
              <a:ext cx="524504" cy="138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rgbClr val="E4E8E6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ctr">
                <a:lnSpc>
                  <a:spcPct val="90000"/>
                </a:lnSpc>
                <a:defRPr sz="900">
                  <a:latin typeface="Rix모던고딕 M" pitchFamily="18" charset="-127"/>
                  <a:ea typeface="Rix모던고딕 M" pitchFamily="18" charset="-127"/>
                </a:defRPr>
              </a:lvl1pPr>
            </a:lstStyle>
            <a:p>
              <a:pPr latinLnBrk="0"/>
              <a:r>
                <a:rPr lang="ko-KR" altLang="en-US" sz="1000">
                  <a:latin typeface="HY신명조" panose="02030600000101010101" pitchFamily="18" charset="-127"/>
                  <a:ea typeface="HY신명조" panose="02030600000101010101" pitchFamily="18" charset="-127"/>
                </a:rPr>
                <a:t>교육실시</a:t>
              </a:r>
            </a:p>
          </p:txBody>
        </p:sp>
        <p:sp>
          <p:nvSpPr>
            <p:cNvPr id="56" name="갈매기형 수장 55"/>
            <p:cNvSpPr/>
            <p:nvPr/>
          </p:nvSpPr>
          <p:spPr>
            <a:xfrm>
              <a:off x="5274413" y="1866313"/>
              <a:ext cx="1385962" cy="432266"/>
            </a:xfrm>
            <a:prstGeom prst="chevron">
              <a:avLst>
                <a:gd name="adj" fmla="val 52099"/>
              </a:avLst>
            </a:prstGeom>
            <a:solidFill>
              <a:srgbClr val="0095BF"/>
            </a:soli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rIns="0" bIns="0" anchor="ctr"/>
            <a:lstStyle/>
            <a:p>
              <a:pPr algn="ctr" fontAlgn="ctr" latinLnBrk="0"/>
              <a:endParaRPr kumimoji="1" lang="ko-KR" altLang="en-US" sz="1000"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endParaRPr>
            </a:p>
          </p:txBody>
        </p:sp>
        <p:sp>
          <p:nvSpPr>
            <p:cNvPr id="57" name="Text Box 40"/>
            <p:cNvSpPr txBox="1">
              <a:spLocks noChangeArrowheads="1"/>
            </p:cNvSpPr>
            <p:nvPr/>
          </p:nvSpPr>
          <p:spPr bwMode="auto">
            <a:xfrm>
              <a:off x="5705141" y="2075217"/>
              <a:ext cx="524504" cy="138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rgbClr val="E4E8E6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ctr">
                <a:lnSpc>
                  <a:spcPct val="90000"/>
                </a:lnSpc>
                <a:defRPr sz="900">
                  <a:latin typeface="Rix모던고딕 M" pitchFamily="18" charset="-127"/>
                  <a:ea typeface="Rix모던고딕 M" pitchFamily="18" charset="-127"/>
                </a:defRPr>
              </a:lvl1pPr>
            </a:lstStyle>
            <a:p>
              <a:pPr latinLnBrk="0"/>
              <a:r>
                <a:rPr lang="ko-KR" altLang="en-US" sz="1000">
                  <a:latin typeface="HY신명조" panose="02030600000101010101" pitchFamily="18" charset="-127"/>
                  <a:ea typeface="HY신명조" panose="02030600000101010101" pitchFamily="18" charset="-127"/>
                </a:rPr>
                <a:t>사후관리</a:t>
              </a:r>
            </a:p>
          </p:txBody>
        </p:sp>
        <p:grpSp>
          <p:nvGrpSpPr>
            <p:cNvPr id="58" name="Group 237"/>
            <p:cNvGrpSpPr>
              <a:grpSpLocks/>
            </p:cNvGrpSpPr>
            <p:nvPr/>
          </p:nvGrpSpPr>
          <p:grpSpPr bwMode="auto">
            <a:xfrm>
              <a:off x="941134" y="1853414"/>
              <a:ext cx="174625" cy="174625"/>
              <a:chOff x="262" y="2857"/>
              <a:chExt cx="140" cy="149"/>
            </a:xfrm>
          </p:grpSpPr>
          <p:pic>
            <p:nvPicPr>
              <p:cNvPr id="59" name="Picture 296" descr="설명회(도식) copy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262" y="2863"/>
                <a:ext cx="140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" name="Text Box 297"/>
              <p:cNvSpPr txBox="1">
                <a:spLocks noChangeArrowheads="1"/>
              </p:cNvSpPr>
              <p:nvPr/>
            </p:nvSpPr>
            <p:spPr bwMode="gray">
              <a:xfrm>
                <a:off x="295" y="2857"/>
                <a:ext cx="72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1100"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1</a:t>
                </a:r>
              </a:p>
            </p:txBody>
          </p:sp>
        </p:grpSp>
        <p:grpSp>
          <p:nvGrpSpPr>
            <p:cNvPr id="61" name="Group 237"/>
            <p:cNvGrpSpPr>
              <a:grpSpLocks/>
            </p:cNvGrpSpPr>
            <p:nvPr/>
          </p:nvGrpSpPr>
          <p:grpSpPr bwMode="auto">
            <a:xfrm>
              <a:off x="2237278" y="1853414"/>
              <a:ext cx="174625" cy="174625"/>
              <a:chOff x="262" y="2857"/>
              <a:chExt cx="140" cy="149"/>
            </a:xfrm>
          </p:grpSpPr>
          <p:pic>
            <p:nvPicPr>
              <p:cNvPr id="62" name="Picture 296" descr="설명회(도식) copy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262" y="2863"/>
                <a:ext cx="140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" name="Text Box 297"/>
              <p:cNvSpPr txBox="1">
                <a:spLocks noChangeArrowheads="1"/>
              </p:cNvSpPr>
              <p:nvPr/>
            </p:nvSpPr>
            <p:spPr bwMode="gray">
              <a:xfrm>
                <a:off x="295" y="2857"/>
                <a:ext cx="72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1100"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2</a:t>
                </a:r>
              </a:p>
            </p:txBody>
          </p:sp>
        </p:grpSp>
        <p:grpSp>
          <p:nvGrpSpPr>
            <p:cNvPr id="64" name="Group 237"/>
            <p:cNvGrpSpPr>
              <a:grpSpLocks/>
            </p:cNvGrpSpPr>
            <p:nvPr/>
          </p:nvGrpSpPr>
          <p:grpSpPr bwMode="auto">
            <a:xfrm>
              <a:off x="3461414" y="1853414"/>
              <a:ext cx="174625" cy="174625"/>
              <a:chOff x="262" y="2857"/>
              <a:chExt cx="140" cy="149"/>
            </a:xfrm>
          </p:grpSpPr>
          <p:pic>
            <p:nvPicPr>
              <p:cNvPr id="65" name="Picture 296" descr="설명회(도식) copy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262" y="2863"/>
                <a:ext cx="140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6" name="Text Box 297"/>
              <p:cNvSpPr txBox="1">
                <a:spLocks noChangeArrowheads="1"/>
              </p:cNvSpPr>
              <p:nvPr/>
            </p:nvSpPr>
            <p:spPr bwMode="gray">
              <a:xfrm>
                <a:off x="295" y="2857"/>
                <a:ext cx="72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1100"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3</a:t>
                </a:r>
              </a:p>
            </p:txBody>
          </p:sp>
        </p:grpSp>
        <p:grpSp>
          <p:nvGrpSpPr>
            <p:cNvPr id="67" name="Group 237"/>
            <p:cNvGrpSpPr>
              <a:grpSpLocks/>
            </p:cNvGrpSpPr>
            <p:nvPr/>
          </p:nvGrpSpPr>
          <p:grpSpPr bwMode="auto">
            <a:xfrm>
              <a:off x="4649546" y="1853414"/>
              <a:ext cx="174625" cy="174625"/>
              <a:chOff x="262" y="2857"/>
              <a:chExt cx="140" cy="149"/>
            </a:xfrm>
          </p:grpSpPr>
          <p:pic>
            <p:nvPicPr>
              <p:cNvPr id="68" name="Picture 296" descr="설명회(도식) copy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262" y="2863"/>
                <a:ext cx="140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9" name="Text Box 297"/>
              <p:cNvSpPr txBox="1">
                <a:spLocks noChangeArrowheads="1"/>
              </p:cNvSpPr>
              <p:nvPr/>
            </p:nvSpPr>
            <p:spPr bwMode="gray">
              <a:xfrm>
                <a:off x="295" y="2857"/>
                <a:ext cx="72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1100"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4</a:t>
                </a:r>
              </a:p>
            </p:txBody>
          </p:sp>
        </p:grpSp>
        <p:grpSp>
          <p:nvGrpSpPr>
            <p:cNvPr id="70" name="Group 237"/>
            <p:cNvGrpSpPr>
              <a:grpSpLocks/>
            </p:cNvGrpSpPr>
            <p:nvPr/>
          </p:nvGrpSpPr>
          <p:grpSpPr bwMode="auto">
            <a:xfrm>
              <a:off x="5873682" y="1853414"/>
              <a:ext cx="174625" cy="174625"/>
              <a:chOff x="262" y="2857"/>
              <a:chExt cx="140" cy="149"/>
            </a:xfrm>
          </p:grpSpPr>
          <p:pic>
            <p:nvPicPr>
              <p:cNvPr id="71" name="Picture 296" descr="설명회(도식) copy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262" y="2863"/>
                <a:ext cx="140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2" name="Text Box 297"/>
              <p:cNvSpPr txBox="1">
                <a:spLocks noChangeArrowheads="1"/>
              </p:cNvSpPr>
              <p:nvPr/>
            </p:nvSpPr>
            <p:spPr bwMode="gray">
              <a:xfrm>
                <a:off x="295" y="2857"/>
                <a:ext cx="72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1100"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5</a:t>
                </a:r>
              </a:p>
            </p:txBody>
          </p:sp>
        </p:grpSp>
        <p:sp>
          <p:nvSpPr>
            <p:cNvPr id="73" name="AutoShape 5"/>
            <p:cNvSpPr>
              <a:spLocks noChangeArrowheads="1"/>
            </p:cNvSpPr>
            <p:nvPr/>
          </p:nvSpPr>
          <p:spPr bwMode="auto">
            <a:xfrm>
              <a:off x="412293" y="2326499"/>
              <a:ext cx="1168213" cy="678775"/>
            </a:xfrm>
            <a:prstGeom prst="roundRect">
              <a:avLst>
                <a:gd name="adj" fmla="val 10802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38100" dir="5400000" rotWithShape="0">
                <a:srgbClr val="7CB8D2"/>
              </a:outerShdw>
            </a:effectLst>
          </p:spPr>
          <p:txBody>
            <a:bodyPr wrap="none" anchor="ctr"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74" name="Line 30"/>
            <p:cNvSpPr>
              <a:spLocks noChangeShapeType="1"/>
            </p:cNvSpPr>
            <p:nvPr/>
          </p:nvSpPr>
          <p:spPr bwMode="gray">
            <a:xfrm>
              <a:off x="1611502" y="2299063"/>
              <a:ext cx="0" cy="684214"/>
            </a:xfrm>
            <a:prstGeom prst="line">
              <a:avLst/>
            </a:prstGeom>
            <a:noFill/>
            <a:ln w="12700">
              <a:solidFill>
                <a:srgbClr val="BABFBD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75" name="Line 30"/>
            <p:cNvSpPr>
              <a:spLocks noChangeShapeType="1"/>
            </p:cNvSpPr>
            <p:nvPr/>
          </p:nvSpPr>
          <p:spPr bwMode="gray">
            <a:xfrm>
              <a:off x="2845722" y="2299063"/>
              <a:ext cx="0" cy="684214"/>
            </a:xfrm>
            <a:prstGeom prst="line">
              <a:avLst/>
            </a:prstGeom>
            <a:noFill/>
            <a:ln w="12700">
              <a:solidFill>
                <a:srgbClr val="BABFBD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76" name="Line 30"/>
            <p:cNvSpPr>
              <a:spLocks noChangeShapeType="1"/>
            </p:cNvSpPr>
            <p:nvPr/>
          </p:nvSpPr>
          <p:spPr bwMode="gray">
            <a:xfrm>
              <a:off x="4076400" y="2299063"/>
              <a:ext cx="0" cy="684214"/>
            </a:xfrm>
            <a:prstGeom prst="line">
              <a:avLst/>
            </a:prstGeom>
            <a:noFill/>
            <a:ln w="12700">
              <a:solidFill>
                <a:srgbClr val="BABFBD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77" name="Line 30"/>
            <p:cNvSpPr>
              <a:spLocks noChangeShapeType="1"/>
            </p:cNvSpPr>
            <p:nvPr/>
          </p:nvSpPr>
          <p:spPr bwMode="gray">
            <a:xfrm>
              <a:off x="5308849" y="2299063"/>
              <a:ext cx="0" cy="684214"/>
            </a:xfrm>
            <a:prstGeom prst="line">
              <a:avLst/>
            </a:prstGeom>
            <a:noFill/>
            <a:ln w="12700">
              <a:solidFill>
                <a:srgbClr val="BABFBD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78" name="Line 30"/>
            <p:cNvSpPr>
              <a:spLocks noChangeShapeType="1"/>
            </p:cNvSpPr>
            <p:nvPr/>
          </p:nvSpPr>
          <p:spPr bwMode="gray">
            <a:xfrm>
              <a:off x="6516359" y="2299063"/>
              <a:ext cx="0" cy="684214"/>
            </a:xfrm>
            <a:prstGeom prst="line">
              <a:avLst/>
            </a:prstGeom>
            <a:noFill/>
            <a:ln w="12700">
              <a:solidFill>
                <a:srgbClr val="BABFBD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79" name="모서리가 둥근 직사각형 78"/>
            <p:cNvSpPr/>
            <p:nvPr/>
          </p:nvSpPr>
          <p:spPr>
            <a:xfrm flipH="1">
              <a:off x="462433" y="2344455"/>
              <a:ext cx="1057738" cy="615553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>
                  <a:latin typeface="HY신명조" panose="02030600000101010101" pitchFamily="18" charset="-127"/>
                  <a:ea typeface="HY신명조" panose="02030600000101010101" pitchFamily="18" charset="-127"/>
                </a:rPr>
                <a:t>주관기관과 협의를 통한 교육실시 및 홍보 방안수립</a:t>
              </a:r>
            </a:p>
          </p:txBody>
        </p:sp>
        <p:sp>
          <p:nvSpPr>
            <p:cNvPr id="80" name="모서리가 둥근 직사각형 79"/>
            <p:cNvSpPr/>
            <p:nvPr/>
          </p:nvSpPr>
          <p:spPr>
            <a:xfrm flipH="1">
              <a:off x="1701248" y="2351822"/>
              <a:ext cx="1083119" cy="615553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ko-KR" altLang="en-US" sz="1000">
                  <a:latin typeface="HY신명조" panose="02030600000101010101" pitchFamily="18" charset="-127"/>
                  <a:ea typeface="HY신명조" panose="02030600000101010101" pitchFamily="18" charset="-127"/>
                </a:rPr>
                <a:t>분석</a:t>
              </a:r>
              <a:r>
                <a:rPr lang="en-US" altLang="ko-KR" sz="1000">
                  <a:latin typeface="HY신명조" panose="02030600000101010101" pitchFamily="18" charset="-127"/>
                  <a:ea typeface="HY신명조" panose="02030600000101010101" pitchFamily="18" charset="-127"/>
                </a:rPr>
                <a:t>/</a:t>
              </a:r>
              <a:r>
                <a:rPr lang="ko-KR" altLang="en-US" sz="1000">
                  <a:latin typeface="HY신명조" panose="02030600000101010101" pitchFamily="18" charset="-127"/>
                  <a:ea typeface="HY신명조" panose="02030600000101010101" pitchFamily="18" charset="-127"/>
                </a:rPr>
                <a:t>진단 후 주관기관과 협의하여 세부과정 및 대상확정</a:t>
              </a:r>
            </a:p>
          </p:txBody>
        </p:sp>
        <p:sp>
          <p:nvSpPr>
            <p:cNvPr id="81" name="모서리가 둥근 직사각형 80"/>
            <p:cNvSpPr/>
            <p:nvPr/>
          </p:nvSpPr>
          <p:spPr>
            <a:xfrm flipH="1">
              <a:off x="2916342" y="2561526"/>
              <a:ext cx="1098701" cy="153888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/>
              <a:r>
                <a:rPr lang="ko-KR" altLang="en-US" sz="1000">
                  <a:latin typeface="HY신명조" panose="02030600000101010101" pitchFamily="18" charset="-127"/>
                  <a:ea typeface="HY신명조" panose="02030600000101010101" pitchFamily="18" charset="-127"/>
                </a:rPr>
                <a:t>단계별 교육실시</a:t>
              </a:r>
            </a:p>
          </p:txBody>
        </p:sp>
        <p:sp>
          <p:nvSpPr>
            <p:cNvPr id="82" name="모서리가 둥근 직사각형 81"/>
            <p:cNvSpPr/>
            <p:nvPr/>
          </p:nvSpPr>
          <p:spPr>
            <a:xfrm flipH="1">
              <a:off x="4123447" y="2561526"/>
              <a:ext cx="1130586" cy="153888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ko-KR" altLang="en-US" sz="1000">
                  <a:latin typeface="HY신명조" panose="02030600000101010101" pitchFamily="18" charset="-127"/>
                  <a:ea typeface="HY신명조" panose="02030600000101010101" pitchFamily="18" charset="-127"/>
                </a:rPr>
                <a:t>맞춤형 교육 실시</a:t>
              </a:r>
            </a:p>
          </p:txBody>
        </p:sp>
        <p:sp>
          <p:nvSpPr>
            <p:cNvPr id="83" name="모서리가 둥근 직사각형 82"/>
            <p:cNvSpPr/>
            <p:nvPr/>
          </p:nvSpPr>
          <p:spPr>
            <a:xfrm flipH="1">
              <a:off x="5380416" y="2344455"/>
              <a:ext cx="1081125" cy="615553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/>
              <a:r>
                <a:rPr lang="ko-KR" altLang="en-US" sz="1000">
                  <a:latin typeface="HY신명조" panose="02030600000101010101" pitchFamily="18" charset="-127"/>
                  <a:ea typeface="HY신명조" panose="02030600000101010101" pitchFamily="18" charset="-127"/>
                </a:rPr>
                <a:t>교육목표가 달성되었는지를 지속적으로 평가실시</a:t>
              </a:r>
            </a:p>
          </p:txBody>
        </p:sp>
      </p:grpSp>
      <p:sp>
        <p:nvSpPr>
          <p:cNvPr id="84" name="AutoShape 71"/>
          <p:cNvSpPr>
            <a:spLocks noChangeArrowheads="1"/>
          </p:cNvSpPr>
          <p:nvPr/>
        </p:nvSpPr>
        <p:spPr bwMode="gray">
          <a:xfrm>
            <a:off x="2891892" y="7352158"/>
            <a:ext cx="1044000" cy="396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9A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defTabSz="1019175"/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교육환경구축</a:t>
            </a:r>
          </a:p>
        </p:txBody>
      </p:sp>
      <p:sp>
        <p:nvSpPr>
          <p:cNvPr id="85" name="AutoShape 71"/>
          <p:cNvSpPr>
            <a:spLocks noChangeArrowheads="1"/>
          </p:cNvSpPr>
          <p:nvPr/>
        </p:nvSpPr>
        <p:spPr bwMode="gray">
          <a:xfrm>
            <a:off x="2891892" y="6807386"/>
            <a:ext cx="1044000" cy="396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9A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defTabSz="1019175" latinLnBrk="0"/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만족도</a:t>
            </a:r>
            <a:endParaRPr lang="en-US" altLang="ko-KR" sz="11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1019175" latinLnBrk="0"/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평가 계획</a:t>
            </a:r>
          </a:p>
        </p:txBody>
      </p:sp>
      <p:sp>
        <p:nvSpPr>
          <p:cNvPr id="86" name="AutoShape 71"/>
          <p:cNvSpPr>
            <a:spLocks noChangeArrowheads="1"/>
          </p:cNvSpPr>
          <p:nvPr/>
        </p:nvSpPr>
        <p:spPr bwMode="gray">
          <a:xfrm>
            <a:off x="2891892" y="6262611"/>
            <a:ext cx="1044000" cy="396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9A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defTabSz="1019175"/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교육 매뉴얼</a:t>
            </a:r>
          </a:p>
        </p:txBody>
      </p:sp>
      <p:sp>
        <p:nvSpPr>
          <p:cNvPr id="87" name="AutoShape 71"/>
          <p:cNvSpPr>
            <a:spLocks noChangeArrowheads="1"/>
          </p:cNvSpPr>
          <p:nvPr/>
        </p:nvSpPr>
        <p:spPr bwMode="gray">
          <a:xfrm>
            <a:off x="2891892" y="5717836"/>
            <a:ext cx="1044000" cy="396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9A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defTabSz="1019175" latinLnBrk="0"/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강사</a:t>
            </a:r>
          </a:p>
        </p:txBody>
      </p:sp>
      <p:sp>
        <p:nvSpPr>
          <p:cNvPr id="88" name="AutoShape 71"/>
          <p:cNvSpPr>
            <a:spLocks noChangeArrowheads="1"/>
          </p:cNvSpPr>
          <p:nvPr/>
        </p:nvSpPr>
        <p:spPr bwMode="gray">
          <a:xfrm>
            <a:off x="2891892" y="5173061"/>
            <a:ext cx="1044000" cy="396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9A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defTabSz="1019175"/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일정</a:t>
            </a:r>
          </a:p>
        </p:txBody>
      </p:sp>
      <p:sp>
        <p:nvSpPr>
          <p:cNvPr id="89" name="AutoShape 71"/>
          <p:cNvSpPr>
            <a:spLocks noChangeArrowheads="1"/>
          </p:cNvSpPr>
          <p:nvPr/>
        </p:nvSpPr>
        <p:spPr bwMode="gray">
          <a:xfrm>
            <a:off x="2891892" y="4628286"/>
            <a:ext cx="1044000" cy="396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9A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defTabSz="1019175" latinLnBrk="0"/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장소</a:t>
            </a:r>
          </a:p>
        </p:txBody>
      </p:sp>
      <p:sp>
        <p:nvSpPr>
          <p:cNvPr id="90" name="AutoShape 71"/>
          <p:cNvSpPr>
            <a:spLocks noChangeArrowheads="1"/>
          </p:cNvSpPr>
          <p:nvPr/>
        </p:nvSpPr>
        <p:spPr bwMode="gray">
          <a:xfrm>
            <a:off x="2891892" y="4083511"/>
            <a:ext cx="1042830" cy="396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9A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defTabSz="1019175"/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교육행정 처리</a:t>
            </a:r>
          </a:p>
        </p:txBody>
      </p:sp>
      <p:sp>
        <p:nvSpPr>
          <p:cNvPr id="91" name="AutoShape 71"/>
          <p:cNvSpPr>
            <a:spLocks noChangeArrowheads="1"/>
          </p:cNvSpPr>
          <p:nvPr/>
        </p:nvSpPr>
        <p:spPr bwMode="gray">
          <a:xfrm>
            <a:off x="2891892" y="3538736"/>
            <a:ext cx="1044000" cy="396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79A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defTabSz="1019175" latinLnBrk="0"/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교육과정 개발</a:t>
            </a:r>
          </a:p>
        </p:txBody>
      </p:sp>
    </p:spTree>
    <p:extLst>
      <p:ext uri="{BB962C8B-B14F-4D97-AF65-F5344CB8AC3E}">
        <p14:creationId xmlns:p14="http://schemas.microsoft.com/office/powerpoint/2010/main" val="19164699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81">
            <a:extLst>
              <a:ext uri="{FF2B5EF4-FFF2-40B4-BE49-F238E27FC236}">
                <a16:creationId xmlns:a16="http://schemas.microsoft.com/office/drawing/2014/main" id="{C9518B1A-3147-3F4C-E88D-068D6A2AB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1180036"/>
            <a:ext cx="6165850" cy="10818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가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하자보수 지원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(PSR-002)</a:t>
            </a:r>
          </a:p>
          <a:p>
            <a:pPr marL="171450" marR="0" lvl="0" indent="-17145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하자보수 발생 시 원인  분석 및 해결 방안을 도출한 후 단계별로 진행 상황을 공유하며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최대한 빠른 시간 내에 해결하겠습니다</a:t>
            </a:r>
            <a:r>
              <a:rPr lang="en-US" altLang="ko-KR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kumimoji="0"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" name="Rectangle 182">
            <a:extLst>
              <a:ext uri="{FF2B5EF4-FFF2-40B4-BE49-F238E27FC236}">
                <a16:creationId xmlns:a16="http://schemas.microsoft.com/office/drawing/2014/main" id="{51A0B50B-B358-435E-801C-55CB88C543C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200400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 dirty="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Ⅵ - 5</a:t>
            </a:r>
          </a:p>
        </p:txBody>
      </p:sp>
      <p:sp>
        <p:nvSpPr>
          <p:cNvPr id="60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3. </a:t>
            </a:r>
            <a:r>
              <a:rPr lang="ko-KR" altLang="en-US"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기술지원</a:t>
            </a:r>
          </a:p>
        </p:txBody>
      </p:sp>
      <p:sp>
        <p:nvSpPr>
          <p:cNvPr id="63" name="Text Box 63"/>
          <p:cNvSpPr txBox="1">
            <a:spLocks noChangeArrowheads="1"/>
          </p:cNvSpPr>
          <p:nvPr/>
        </p:nvSpPr>
        <p:spPr bwMode="auto">
          <a:xfrm>
            <a:off x="290513" y="831850"/>
            <a:ext cx="6242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</a:pPr>
            <a:r>
              <a:rPr kumimoji="0"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kumimoji="0"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기술지원</a:t>
            </a:r>
          </a:p>
        </p:txBody>
      </p:sp>
      <p:graphicFrame>
        <p:nvGraphicFramePr>
          <p:cNvPr id="64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745267"/>
              </p:ext>
            </p:extLst>
          </p:nvPr>
        </p:nvGraphicFramePr>
        <p:xfrm>
          <a:off x="481013" y="2393579"/>
          <a:ext cx="5934582" cy="6164305"/>
        </p:xfrm>
        <a:graphic>
          <a:graphicData uri="http://schemas.openxmlformats.org/drawingml/2006/table">
            <a:tbl>
              <a:tblPr/>
              <a:tblGrid>
                <a:gridCol w="1089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40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요구사항 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상세설명</a:t>
                      </a:r>
                    </a:p>
                  </a:txBody>
                  <a:tcPr marL="35998" marR="35998" marT="35994" marB="35994" anchor="ctr" horzOverflow="overflow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▪ 하자보수는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계약예규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용역계약일반조건 제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49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조 제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호에 따라 하자보수기간 중에 발견한 시스템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개발소프트웨어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응용소프트웨어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상용소프트웨어 및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커스터마이징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등 사업에 따른 산출물 전체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의 결함을 수정하는 것을 의미하며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58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조 제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항의 각 호에 해당하는 내용은 포함하지 않음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▪ 본 사업의 하자담보책임 기간은 용역계약일반조건 제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58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조 제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항에 따라 검사에 의하여 사업의 완성을 확인한 후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년간으로 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▪ 하자보수 발생 시 원인분석 및 복구 등 즉각 조치가 가능하도록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제안사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수행업체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의 기술지원 부서 및 전문인력을 투입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발주기관과 비상연락망 가동 등 하자 또는 장애대응 방안 제시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▪ 하자보수 조치 완료 후 처리사항에 대한 철저한 기록관리를 수행하며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효율적 하자 관리를 위한 세부통제 방안 제시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▪ 개발된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의 안정성 및 신뢰성 확보와 장애 시간을 최소화하기 위한 세부 하자보수 계획 제시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▪ 하자보수 지원방안에 지원범위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지원방법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상주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비상주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등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및 인적자원을 포함하여 제시</a:t>
                      </a: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85725" marR="0" lvl="0" indent="-85725" algn="just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Wingdings" pitchFamily="2" charset="2"/>
                        <a:tabLst/>
                      </a:pP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35998" marR="35998" marT="35994" marB="35994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7515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AutoShape 276"/>
          <p:cNvSpPr>
            <a:spLocks noChangeArrowheads="1"/>
          </p:cNvSpPr>
          <p:nvPr/>
        </p:nvSpPr>
        <p:spPr bwMode="gray">
          <a:xfrm>
            <a:off x="383421" y="2888385"/>
            <a:ext cx="6064626" cy="2178790"/>
          </a:xfrm>
          <a:prstGeom prst="roundRect">
            <a:avLst>
              <a:gd name="adj" fmla="val 2050"/>
            </a:avLst>
          </a:prstGeom>
          <a:solidFill>
            <a:schemeClr val="bg1"/>
          </a:solidFill>
          <a:ln w="12700" algn="ctr">
            <a:solidFill>
              <a:srgbClr val="7CB8D1"/>
            </a:solidFill>
            <a:round/>
            <a:headEnd/>
            <a:tailEnd/>
          </a:ln>
          <a:effectLst>
            <a:outerShdw dist="35921" dir="2700000" algn="ctr" rotWithShape="0">
              <a:srgbClr val="DDDDDD"/>
            </a:outerShdw>
          </a:effectLst>
        </p:spPr>
        <p:txBody>
          <a:bodyPr lIns="90000" tIns="46800" rIns="10800" bIns="46800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9218" name="Rectangle 182"/>
          <p:cNvSpPr txBox="1">
            <a:spLocks noGrp="1" noChangeArrowheads="1"/>
          </p:cNvSpPr>
          <p:nvPr/>
        </p:nvSpPr>
        <p:spPr bwMode="auto">
          <a:xfrm>
            <a:off x="3200400" y="9702800"/>
            <a:ext cx="3606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900" dirty="0">
                <a:solidFill>
                  <a:srgbClr val="2830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Ⅵ - 6</a:t>
            </a:r>
          </a:p>
        </p:txBody>
      </p:sp>
      <p:sp>
        <p:nvSpPr>
          <p:cNvPr id="5126" name="Text Box 81"/>
          <p:cNvSpPr txBox="1">
            <a:spLocks noChangeArrowheads="1"/>
          </p:cNvSpPr>
          <p:nvPr/>
        </p:nvSpPr>
        <p:spPr bwMode="auto">
          <a:xfrm>
            <a:off x="315913" y="811578"/>
            <a:ext cx="6165850" cy="115570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25000"/>
              </a:lnSpc>
              <a:spcAft>
                <a:spcPct val="60000"/>
              </a:spcAft>
              <a:defRPr/>
            </a:pP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나</a:t>
            </a:r>
            <a:r>
              <a:rPr kumimoji="0"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kumimoji="0"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기술지원 방안</a:t>
            </a:r>
            <a:endParaRPr lang="ko-KR" altLang="en-US" sz="140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 eaLnBrk="1" latinLnBrk="1" hangingPunct="1">
              <a:lnSpc>
                <a:spcPct val="120000"/>
              </a:lnSpc>
              <a:defRPr/>
            </a:pPr>
            <a:r>
              <a:rPr lang="ko-KR" altLang="ko-KR" sz="1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 err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z="12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당사에서 유지관리에 투입하는 인원들만으로는 해결하기 어려운 기술적 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난제에 봉착할 시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업무연속성을 보장하기 위하여 전사차원의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기술지원팀을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운용하여 조기에 이슈를 해소하겠습니다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223" name="Text Box 1086"/>
          <p:cNvSpPr txBox="1">
            <a:spLocks noChangeArrowheads="1"/>
          </p:cNvSpPr>
          <p:nvPr/>
        </p:nvSpPr>
        <p:spPr bwMode="auto">
          <a:xfrm>
            <a:off x="4714371" y="407988"/>
            <a:ext cx="20928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lang="en-US" altLang="ko-KR"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3. </a:t>
            </a:r>
            <a:r>
              <a:rPr lang="ko-KR" altLang="en-US"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기술지원</a:t>
            </a:r>
          </a:p>
        </p:txBody>
      </p:sp>
      <p:grpSp>
        <p:nvGrpSpPr>
          <p:cNvPr id="28" name="Group 5"/>
          <p:cNvGrpSpPr>
            <a:grpSpLocks/>
          </p:cNvGrpSpPr>
          <p:nvPr/>
        </p:nvGrpSpPr>
        <p:grpSpPr bwMode="auto">
          <a:xfrm>
            <a:off x="374650" y="1986153"/>
            <a:ext cx="6116638" cy="357188"/>
            <a:chOff x="236" y="2167"/>
            <a:chExt cx="3853" cy="225"/>
          </a:xfrm>
        </p:grpSpPr>
        <p:grpSp>
          <p:nvGrpSpPr>
            <p:cNvPr id="29" name="Group 6"/>
            <p:cNvGrpSpPr>
              <a:grpSpLocks/>
            </p:cNvGrpSpPr>
            <p:nvPr/>
          </p:nvGrpSpPr>
          <p:grpSpPr bwMode="auto">
            <a:xfrm>
              <a:off x="236" y="2167"/>
              <a:ext cx="3853" cy="225"/>
              <a:chOff x="142" y="2031"/>
              <a:chExt cx="4031" cy="225"/>
            </a:xfrm>
          </p:grpSpPr>
          <p:pic>
            <p:nvPicPr>
              <p:cNvPr id="31" name="Picture 7" descr="Magazine temp08_A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" y="2031"/>
                <a:ext cx="3914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" name="Picture 8" descr="Magazine temp08_A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517"/>
              <a:stretch>
                <a:fillRect/>
              </a:stretch>
            </p:blipFill>
            <p:spPr bwMode="auto">
              <a:xfrm>
                <a:off x="1610" y="2031"/>
                <a:ext cx="256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517" y="2218"/>
              <a:ext cx="266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cap="rnd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1281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solidFill>
                    <a:srgbClr val="33333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기술지원 세부방안</a:t>
              </a:r>
              <a:endParaRPr lang="en-US" altLang="ko-KR" sz="1200">
                <a:solidFill>
                  <a:srgbClr val="33333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417777" y="5852216"/>
            <a:ext cx="5953126" cy="2125184"/>
            <a:chOff x="244142" y="6116851"/>
            <a:chExt cx="6450654" cy="1936159"/>
          </a:xfrm>
        </p:grpSpPr>
        <p:sp>
          <p:nvSpPr>
            <p:cNvPr id="33" name="AutoShape 5"/>
            <p:cNvSpPr>
              <a:spLocks noChangeArrowheads="1"/>
            </p:cNvSpPr>
            <p:nvPr/>
          </p:nvSpPr>
          <p:spPr bwMode="auto">
            <a:xfrm>
              <a:off x="1311694" y="7288596"/>
              <a:ext cx="1002641" cy="764414"/>
            </a:xfrm>
            <a:prstGeom prst="roundRect">
              <a:avLst>
                <a:gd name="adj" fmla="val 10855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38100" dir="5400000" rotWithShape="0">
                <a:srgbClr val="7CB8D2"/>
              </a:outerShdw>
            </a:effectLst>
          </p:spPr>
          <p:txBody>
            <a:bodyPr wrap="none" anchor="ctr"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4" name="AutoShape 5"/>
            <p:cNvSpPr>
              <a:spLocks noChangeArrowheads="1"/>
            </p:cNvSpPr>
            <p:nvPr/>
          </p:nvSpPr>
          <p:spPr bwMode="auto">
            <a:xfrm>
              <a:off x="2370008" y="7288596"/>
              <a:ext cx="1002641" cy="764414"/>
            </a:xfrm>
            <a:prstGeom prst="roundRect">
              <a:avLst>
                <a:gd name="adj" fmla="val 10855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38100" dir="5400000" rotWithShape="0">
                <a:srgbClr val="7CB8D2"/>
              </a:outerShdw>
            </a:effectLst>
          </p:spPr>
          <p:txBody>
            <a:bodyPr wrap="none" anchor="ctr"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5" name="AutoShape 5"/>
            <p:cNvSpPr>
              <a:spLocks noChangeArrowheads="1"/>
            </p:cNvSpPr>
            <p:nvPr/>
          </p:nvSpPr>
          <p:spPr bwMode="auto">
            <a:xfrm>
              <a:off x="3428322" y="7288596"/>
              <a:ext cx="1002641" cy="764414"/>
            </a:xfrm>
            <a:prstGeom prst="roundRect">
              <a:avLst>
                <a:gd name="adj" fmla="val 10855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38100" dir="5400000" rotWithShape="0">
                <a:srgbClr val="7CB8D2"/>
              </a:outerShdw>
            </a:effectLst>
          </p:spPr>
          <p:txBody>
            <a:bodyPr wrap="none" anchor="ctr"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6" name="AutoShape 5"/>
            <p:cNvSpPr>
              <a:spLocks noChangeArrowheads="1"/>
            </p:cNvSpPr>
            <p:nvPr/>
          </p:nvSpPr>
          <p:spPr bwMode="auto">
            <a:xfrm>
              <a:off x="4486636" y="7288596"/>
              <a:ext cx="1002641" cy="764414"/>
            </a:xfrm>
            <a:prstGeom prst="roundRect">
              <a:avLst>
                <a:gd name="adj" fmla="val 10855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38100" dir="5400000" rotWithShape="0">
                <a:srgbClr val="7CB8D2"/>
              </a:outerShdw>
            </a:effectLst>
          </p:spPr>
          <p:txBody>
            <a:bodyPr wrap="none" anchor="ctr"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7" name="AutoShape 5"/>
            <p:cNvSpPr>
              <a:spLocks noChangeArrowheads="1"/>
            </p:cNvSpPr>
            <p:nvPr/>
          </p:nvSpPr>
          <p:spPr bwMode="auto">
            <a:xfrm>
              <a:off x="5544951" y="7288596"/>
              <a:ext cx="1002641" cy="764414"/>
            </a:xfrm>
            <a:prstGeom prst="roundRect">
              <a:avLst>
                <a:gd name="adj" fmla="val 10855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38100" dir="5400000" rotWithShape="0">
                <a:srgbClr val="7CB8D2"/>
              </a:outerShdw>
            </a:effectLst>
          </p:spPr>
          <p:txBody>
            <a:bodyPr wrap="none" anchor="ctr"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grpSp>
          <p:nvGrpSpPr>
            <p:cNvPr id="38" name="그룹 37"/>
            <p:cNvGrpSpPr/>
            <p:nvPr/>
          </p:nvGrpSpPr>
          <p:grpSpPr>
            <a:xfrm>
              <a:off x="253380" y="6866755"/>
              <a:ext cx="6441416" cy="360000"/>
              <a:chOff x="654709" y="4302562"/>
              <a:chExt cx="6202974" cy="360000"/>
            </a:xfrm>
          </p:grpSpPr>
          <p:grpSp>
            <p:nvGrpSpPr>
              <p:cNvPr id="39" name="그룹 38"/>
              <p:cNvGrpSpPr/>
              <p:nvPr/>
            </p:nvGrpSpPr>
            <p:grpSpPr>
              <a:xfrm>
                <a:off x="654709" y="4302562"/>
                <a:ext cx="1111531" cy="360000"/>
                <a:chOff x="654709" y="4302562"/>
                <a:chExt cx="1111531" cy="360000"/>
              </a:xfrm>
            </p:grpSpPr>
            <p:sp>
              <p:nvSpPr>
                <p:cNvPr id="55" name="오각형 54"/>
                <p:cNvSpPr/>
                <p:nvPr/>
              </p:nvSpPr>
              <p:spPr>
                <a:xfrm>
                  <a:off x="654709" y="4302562"/>
                  <a:ext cx="1111531" cy="360000"/>
                </a:xfrm>
                <a:prstGeom prst="homePlate">
                  <a:avLst/>
                </a:prstGeom>
                <a:solidFill>
                  <a:srgbClr val="C5E0EB"/>
                </a:solidFill>
                <a:ln>
                  <a:noFill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pPr algn="ctr" fontAlgn="ctr" latinLnBrk="0"/>
                  <a:endParaRPr kumimoji="1" lang="ko-KR" altLang="en-US" sz="1000"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endParaRPr>
                </a:p>
              </p:txBody>
            </p:sp>
            <p:sp>
              <p:nvSpPr>
                <p:cNvPr id="56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746554" y="4511881"/>
                  <a:ext cx="762740" cy="1135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5400" dir="5400000" algn="ctr" rotWithShape="0">
                          <a:srgbClr val="E4E8E6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algn="ctr">
                    <a:lnSpc>
                      <a:spcPct val="90000"/>
                    </a:lnSpc>
                    <a:defRPr sz="900">
                      <a:latin typeface="Rix모던고딕 M" pitchFamily="18" charset="-127"/>
                      <a:ea typeface="Rix모던고딕 M" pitchFamily="18" charset="-127"/>
                    </a:defRPr>
                  </a:lvl1pPr>
                </a:lstStyle>
                <a:p>
                  <a:pPr latinLnBrk="0"/>
                  <a:r>
                    <a:rPr lang="ko-KR" altLang="en-US"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기술지원 요청</a:t>
                  </a:r>
                </a:p>
              </p:txBody>
            </p:sp>
          </p:grpSp>
          <p:grpSp>
            <p:nvGrpSpPr>
              <p:cNvPr id="40" name="그룹 39"/>
              <p:cNvGrpSpPr/>
              <p:nvPr/>
            </p:nvGrpSpPr>
            <p:grpSpPr>
              <a:xfrm>
                <a:off x="1672998" y="4302562"/>
                <a:ext cx="1111531" cy="360000"/>
                <a:chOff x="1686864" y="4302562"/>
                <a:chExt cx="1111531" cy="360000"/>
              </a:xfrm>
            </p:grpSpPr>
            <p:sp>
              <p:nvSpPr>
                <p:cNvPr id="53" name="갈매기형 수장 52"/>
                <p:cNvSpPr/>
                <p:nvPr/>
              </p:nvSpPr>
              <p:spPr>
                <a:xfrm>
                  <a:off x="1686864" y="4302562"/>
                  <a:ext cx="1111531" cy="360000"/>
                </a:xfrm>
                <a:prstGeom prst="chevron">
                  <a:avLst>
                    <a:gd name="adj" fmla="val 52099"/>
                  </a:avLst>
                </a:prstGeom>
                <a:solidFill>
                  <a:srgbClr val="C5E0EB"/>
                </a:solidFill>
                <a:ln>
                  <a:noFill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pPr algn="ctr" fontAlgn="ctr" latinLnBrk="0"/>
                  <a:endParaRPr kumimoji="1" lang="ko-KR" altLang="en-US" sz="1000"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endParaRPr>
                </a:p>
              </p:txBody>
            </p:sp>
            <p:sp>
              <p:nvSpPr>
                <p:cNvPr id="54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1801044" y="4511881"/>
                  <a:ext cx="883173" cy="1135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5400" dir="5400000" algn="ctr" rotWithShape="0">
                          <a:srgbClr val="E4E8E6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algn="ctr">
                    <a:lnSpc>
                      <a:spcPct val="90000"/>
                    </a:lnSpc>
                    <a:defRPr sz="900">
                      <a:latin typeface="Rix모던고딕 M" pitchFamily="18" charset="-127"/>
                      <a:ea typeface="Rix모던고딕 M" pitchFamily="18" charset="-127"/>
                    </a:defRPr>
                  </a:lvl1pPr>
                </a:lstStyle>
                <a:p>
                  <a:r>
                    <a:rPr lang="ko-KR" altLang="en-US" err="1"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기술지원팀</a:t>
                  </a:r>
                  <a:r>
                    <a:rPr lang="ko-KR" altLang="en-US"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 검토</a:t>
                  </a:r>
                </a:p>
              </p:txBody>
            </p:sp>
          </p:grpSp>
          <p:grpSp>
            <p:nvGrpSpPr>
              <p:cNvPr id="41" name="그룹 40"/>
              <p:cNvGrpSpPr/>
              <p:nvPr/>
            </p:nvGrpSpPr>
            <p:grpSpPr>
              <a:xfrm>
                <a:off x="2691287" y="4302562"/>
                <a:ext cx="1111531" cy="360000"/>
                <a:chOff x="2719020" y="4302562"/>
                <a:chExt cx="1111531" cy="360000"/>
              </a:xfrm>
            </p:grpSpPr>
            <p:sp>
              <p:nvSpPr>
                <p:cNvPr id="51" name="갈매기형 수장 50"/>
                <p:cNvSpPr/>
                <p:nvPr/>
              </p:nvSpPr>
              <p:spPr>
                <a:xfrm>
                  <a:off x="2719020" y="4302562"/>
                  <a:ext cx="1111531" cy="360000"/>
                </a:xfrm>
                <a:prstGeom prst="chevron">
                  <a:avLst>
                    <a:gd name="adj" fmla="val 52099"/>
                  </a:avLst>
                </a:prstGeom>
                <a:solidFill>
                  <a:srgbClr val="7CB8D1"/>
                </a:solidFill>
                <a:ln>
                  <a:noFill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tIns="0" rIns="0" bIns="0" anchor="ctr"/>
                <a:lstStyle/>
                <a:p>
                  <a:pPr algn="ctr" fontAlgn="ctr" latinLnBrk="0"/>
                  <a:endParaRPr kumimoji="1" lang="ko-KR" altLang="en-US" sz="1000"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endParaRPr>
                </a:p>
              </p:txBody>
            </p:sp>
            <p:sp>
              <p:nvSpPr>
                <p:cNvPr id="52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2953629" y="4511881"/>
                  <a:ext cx="642308" cy="1135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5400" dir="5400000" algn="ctr" rotWithShape="0">
                          <a:srgbClr val="E4E8E6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algn="ctr">
                    <a:lnSpc>
                      <a:spcPct val="90000"/>
                    </a:lnSpc>
                    <a:defRPr sz="900">
                      <a:latin typeface="Rix모던고딕 M" pitchFamily="18" charset="-127"/>
                      <a:ea typeface="Rix모던고딕 M" pitchFamily="18" charset="-127"/>
                    </a:defRPr>
                  </a:lvl1pPr>
                </a:lstStyle>
                <a:p>
                  <a:pPr latinLnBrk="0"/>
                  <a:r>
                    <a:rPr lang="ko-KR" altLang="en-US"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솔루션 제시</a:t>
                  </a:r>
                </a:p>
              </p:txBody>
            </p:sp>
          </p:grpSp>
          <p:grpSp>
            <p:nvGrpSpPr>
              <p:cNvPr id="42" name="그룹 41"/>
              <p:cNvGrpSpPr/>
              <p:nvPr/>
            </p:nvGrpSpPr>
            <p:grpSpPr>
              <a:xfrm>
                <a:off x="3709576" y="4302562"/>
                <a:ext cx="1111531" cy="360000"/>
                <a:chOff x="3751175" y="4302562"/>
                <a:chExt cx="1111531" cy="360000"/>
              </a:xfrm>
            </p:grpSpPr>
            <p:sp>
              <p:nvSpPr>
                <p:cNvPr id="49" name="갈매기형 수장 48"/>
                <p:cNvSpPr/>
                <p:nvPr/>
              </p:nvSpPr>
              <p:spPr>
                <a:xfrm>
                  <a:off x="3751175" y="4302562"/>
                  <a:ext cx="1111531" cy="360000"/>
                </a:xfrm>
                <a:prstGeom prst="chevron">
                  <a:avLst>
                    <a:gd name="adj" fmla="val 52099"/>
                  </a:avLst>
                </a:prstGeom>
                <a:solidFill>
                  <a:srgbClr val="7CB8D1"/>
                </a:solidFill>
                <a:ln>
                  <a:noFill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tIns="0" rIns="0" bIns="0" anchor="ctr"/>
                <a:lstStyle/>
                <a:p>
                  <a:pPr algn="ctr" fontAlgn="ctr" latinLnBrk="0"/>
                  <a:endParaRPr kumimoji="1" lang="ko-KR" altLang="en-US" sz="1000"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endParaRPr>
                </a:p>
              </p:txBody>
            </p:sp>
            <p:sp>
              <p:nvSpPr>
                <p:cNvPr id="50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3985784" y="4511881"/>
                  <a:ext cx="642308" cy="1135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5400" dir="5400000" algn="ctr" rotWithShape="0">
                          <a:srgbClr val="E4E8E6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algn="ctr">
                    <a:lnSpc>
                      <a:spcPct val="90000"/>
                    </a:lnSpc>
                    <a:defRPr sz="900">
                      <a:latin typeface="Rix모던고딕 M" pitchFamily="18" charset="-127"/>
                      <a:ea typeface="Rix모던고딕 M" pitchFamily="18" charset="-127"/>
                    </a:defRPr>
                  </a:lvl1pPr>
                </a:lstStyle>
                <a:p>
                  <a:pPr latinLnBrk="0"/>
                  <a:r>
                    <a:rPr lang="ko-KR" altLang="en-US"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솔루션 적용</a:t>
                  </a:r>
                </a:p>
              </p:txBody>
            </p:sp>
          </p:grpSp>
          <p:grpSp>
            <p:nvGrpSpPr>
              <p:cNvPr id="43" name="그룹 42"/>
              <p:cNvGrpSpPr/>
              <p:nvPr/>
            </p:nvGrpSpPr>
            <p:grpSpPr>
              <a:xfrm>
                <a:off x="4727865" y="4302562"/>
                <a:ext cx="1111531" cy="360000"/>
                <a:chOff x="4783330" y="4302562"/>
                <a:chExt cx="1111531" cy="360000"/>
              </a:xfrm>
            </p:grpSpPr>
            <p:sp>
              <p:nvSpPr>
                <p:cNvPr id="47" name="갈매기형 수장 46"/>
                <p:cNvSpPr/>
                <p:nvPr/>
              </p:nvSpPr>
              <p:spPr>
                <a:xfrm>
                  <a:off x="4783330" y="4302562"/>
                  <a:ext cx="1111531" cy="360000"/>
                </a:xfrm>
                <a:prstGeom prst="chevron">
                  <a:avLst>
                    <a:gd name="adj" fmla="val 52099"/>
                  </a:avLst>
                </a:prstGeom>
                <a:solidFill>
                  <a:srgbClr val="0095BF"/>
                </a:solidFill>
                <a:ln>
                  <a:noFill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tIns="0" rIns="0" bIns="0" anchor="ctr"/>
                <a:lstStyle/>
                <a:p>
                  <a:pPr algn="ctr" fontAlgn="ctr" latinLnBrk="0"/>
                  <a:endParaRPr kumimoji="1" lang="ko-KR" altLang="en-US" sz="1000"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endParaRPr>
                </a:p>
              </p:txBody>
            </p:sp>
            <p:sp>
              <p:nvSpPr>
                <p:cNvPr id="4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5075650" y="4511881"/>
                  <a:ext cx="526893" cy="1135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5400" dir="5400000" algn="ctr" rotWithShape="0">
                          <a:srgbClr val="E4E8E6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algn="ctr">
                    <a:lnSpc>
                      <a:spcPct val="90000"/>
                    </a:lnSpc>
                    <a:defRPr sz="900">
                      <a:latin typeface="Rix모던고딕 M" pitchFamily="18" charset="-127"/>
                      <a:ea typeface="Rix모던고딕 M" pitchFamily="18" charset="-127"/>
                    </a:defRPr>
                  </a:lvl1pPr>
                </a:lstStyle>
                <a:p>
                  <a:r>
                    <a:rPr lang="ko-KR" altLang="en-US"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검토</a:t>
                  </a:r>
                  <a:r>
                    <a:rPr lang="en-US" altLang="ko-KR"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/</a:t>
                  </a:r>
                  <a:r>
                    <a:rPr lang="ko-KR" altLang="en-US"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승인</a:t>
                  </a:r>
                </a:p>
              </p:txBody>
            </p:sp>
          </p:grpSp>
          <p:grpSp>
            <p:nvGrpSpPr>
              <p:cNvPr id="44" name="그룹 43"/>
              <p:cNvGrpSpPr/>
              <p:nvPr/>
            </p:nvGrpSpPr>
            <p:grpSpPr>
              <a:xfrm>
                <a:off x="5746152" y="4302562"/>
                <a:ext cx="1111531" cy="360000"/>
                <a:chOff x="5815488" y="4302562"/>
                <a:chExt cx="1111531" cy="360000"/>
              </a:xfrm>
            </p:grpSpPr>
            <p:sp>
              <p:nvSpPr>
                <p:cNvPr id="45" name="갈매기형 수장 44"/>
                <p:cNvSpPr/>
                <p:nvPr/>
              </p:nvSpPr>
              <p:spPr>
                <a:xfrm>
                  <a:off x="5815488" y="4302562"/>
                  <a:ext cx="1111531" cy="360000"/>
                </a:xfrm>
                <a:prstGeom prst="chevron">
                  <a:avLst>
                    <a:gd name="adj" fmla="val 52099"/>
                  </a:avLst>
                </a:prstGeom>
                <a:solidFill>
                  <a:srgbClr val="0079A8"/>
                </a:solidFill>
                <a:ln>
                  <a:noFill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tIns="0" rIns="0" bIns="0" anchor="ctr"/>
                <a:lstStyle/>
                <a:p>
                  <a:pPr algn="ctr" fontAlgn="ctr" latinLnBrk="0"/>
                  <a:endParaRPr kumimoji="1" lang="ko-KR" altLang="en-US" sz="1000">
                    <a:solidFill>
                      <a:srgbClr val="FFFFFF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endParaRPr>
                </a:p>
              </p:txBody>
            </p:sp>
            <p:sp>
              <p:nvSpPr>
                <p:cNvPr id="46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6250821" y="4511881"/>
                  <a:ext cx="240866" cy="1135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5400" dir="5400000" algn="ctr" rotWithShape="0">
                          <a:srgbClr val="E4E8E6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algn="ctr">
                    <a:lnSpc>
                      <a:spcPct val="90000"/>
                    </a:lnSpc>
                    <a:defRPr sz="900">
                      <a:latin typeface="Rix모던고딕 M" pitchFamily="18" charset="-127"/>
                      <a:ea typeface="Rix모던고딕 M" pitchFamily="18" charset="-127"/>
                    </a:defRPr>
                  </a:lvl1pPr>
                </a:lstStyle>
                <a:p>
                  <a:pPr latinLnBrk="0"/>
                  <a:r>
                    <a:rPr lang="ko-KR" altLang="en-US"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종결</a:t>
                  </a:r>
                </a:p>
              </p:txBody>
            </p:sp>
          </p:grpSp>
        </p:grpSp>
        <p:grpSp>
          <p:nvGrpSpPr>
            <p:cNvPr id="57" name="Group 237"/>
            <p:cNvGrpSpPr>
              <a:grpSpLocks/>
            </p:cNvGrpSpPr>
            <p:nvPr/>
          </p:nvGrpSpPr>
          <p:grpSpPr bwMode="auto">
            <a:xfrm>
              <a:off x="662296" y="6853856"/>
              <a:ext cx="174625" cy="174625"/>
              <a:chOff x="262" y="2857"/>
              <a:chExt cx="140" cy="149"/>
            </a:xfrm>
          </p:grpSpPr>
          <p:pic>
            <p:nvPicPr>
              <p:cNvPr id="58" name="Picture 296" descr="설명회(도식) copy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262" y="2863"/>
                <a:ext cx="140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" name="Text Box 297"/>
              <p:cNvSpPr txBox="1">
                <a:spLocks noChangeArrowheads="1"/>
              </p:cNvSpPr>
              <p:nvPr/>
            </p:nvSpPr>
            <p:spPr bwMode="gray">
              <a:xfrm>
                <a:off x="296" y="2857"/>
                <a:ext cx="7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1100"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1</a:t>
                </a:r>
              </a:p>
            </p:txBody>
          </p:sp>
        </p:grpSp>
        <p:grpSp>
          <p:nvGrpSpPr>
            <p:cNvPr id="60" name="Group 237"/>
            <p:cNvGrpSpPr>
              <a:grpSpLocks/>
            </p:cNvGrpSpPr>
            <p:nvPr/>
          </p:nvGrpSpPr>
          <p:grpSpPr bwMode="auto">
            <a:xfrm>
              <a:off x="1805296" y="6853856"/>
              <a:ext cx="174625" cy="174625"/>
              <a:chOff x="262" y="2857"/>
              <a:chExt cx="140" cy="149"/>
            </a:xfrm>
          </p:grpSpPr>
          <p:pic>
            <p:nvPicPr>
              <p:cNvPr id="61" name="Picture 296" descr="설명회(도식) copy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262" y="2863"/>
                <a:ext cx="140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" name="Text Box 297"/>
              <p:cNvSpPr txBox="1">
                <a:spLocks noChangeArrowheads="1"/>
              </p:cNvSpPr>
              <p:nvPr/>
            </p:nvSpPr>
            <p:spPr bwMode="gray">
              <a:xfrm>
                <a:off x="296" y="2857"/>
                <a:ext cx="7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1100"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2</a:t>
                </a:r>
              </a:p>
            </p:txBody>
          </p:sp>
        </p:grpSp>
        <p:grpSp>
          <p:nvGrpSpPr>
            <p:cNvPr id="63" name="Group 237"/>
            <p:cNvGrpSpPr>
              <a:grpSpLocks/>
            </p:cNvGrpSpPr>
            <p:nvPr/>
          </p:nvGrpSpPr>
          <p:grpSpPr bwMode="auto">
            <a:xfrm>
              <a:off x="2867333" y="6853856"/>
              <a:ext cx="174625" cy="174625"/>
              <a:chOff x="262" y="2857"/>
              <a:chExt cx="140" cy="149"/>
            </a:xfrm>
          </p:grpSpPr>
          <p:pic>
            <p:nvPicPr>
              <p:cNvPr id="64" name="Picture 296" descr="설명회(도식) copy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262" y="2863"/>
                <a:ext cx="140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5" name="Text Box 297"/>
              <p:cNvSpPr txBox="1">
                <a:spLocks noChangeArrowheads="1"/>
              </p:cNvSpPr>
              <p:nvPr/>
            </p:nvSpPr>
            <p:spPr bwMode="gray">
              <a:xfrm>
                <a:off x="296" y="2857"/>
                <a:ext cx="7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1100"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3</a:t>
                </a:r>
              </a:p>
            </p:txBody>
          </p:sp>
        </p:grpSp>
        <p:grpSp>
          <p:nvGrpSpPr>
            <p:cNvPr id="66" name="Group 237"/>
            <p:cNvGrpSpPr>
              <a:grpSpLocks/>
            </p:cNvGrpSpPr>
            <p:nvPr/>
          </p:nvGrpSpPr>
          <p:grpSpPr bwMode="auto">
            <a:xfrm>
              <a:off x="3896033" y="6853856"/>
              <a:ext cx="174625" cy="174625"/>
              <a:chOff x="262" y="2857"/>
              <a:chExt cx="140" cy="149"/>
            </a:xfrm>
          </p:grpSpPr>
          <p:pic>
            <p:nvPicPr>
              <p:cNvPr id="67" name="Picture 296" descr="설명회(도식) copy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262" y="2863"/>
                <a:ext cx="140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8" name="Text Box 297"/>
              <p:cNvSpPr txBox="1">
                <a:spLocks noChangeArrowheads="1"/>
              </p:cNvSpPr>
              <p:nvPr/>
            </p:nvSpPr>
            <p:spPr bwMode="gray">
              <a:xfrm>
                <a:off x="296" y="2857"/>
                <a:ext cx="7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1100"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4</a:t>
                </a:r>
              </a:p>
            </p:txBody>
          </p:sp>
        </p:grpSp>
        <p:grpSp>
          <p:nvGrpSpPr>
            <p:cNvPr id="69" name="Group 237"/>
            <p:cNvGrpSpPr>
              <a:grpSpLocks/>
            </p:cNvGrpSpPr>
            <p:nvPr/>
          </p:nvGrpSpPr>
          <p:grpSpPr bwMode="auto">
            <a:xfrm>
              <a:off x="4962833" y="6853856"/>
              <a:ext cx="174625" cy="174625"/>
              <a:chOff x="262" y="2857"/>
              <a:chExt cx="140" cy="149"/>
            </a:xfrm>
          </p:grpSpPr>
          <p:pic>
            <p:nvPicPr>
              <p:cNvPr id="70" name="Picture 296" descr="설명회(도식) copy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262" y="2863"/>
                <a:ext cx="140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1" name="Text Box 297"/>
              <p:cNvSpPr txBox="1">
                <a:spLocks noChangeArrowheads="1"/>
              </p:cNvSpPr>
              <p:nvPr/>
            </p:nvSpPr>
            <p:spPr bwMode="gray">
              <a:xfrm>
                <a:off x="296" y="2857"/>
                <a:ext cx="7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1100"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5</a:t>
                </a:r>
              </a:p>
            </p:txBody>
          </p:sp>
        </p:grpSp>
        <p:grpSp>
          <p:nvGrpSpPr>
            <p:cNvPr id="72" name="Group 237"/>
            <p:cNvGrpSpPr>
              <a:grpSpLocks/>
            </p:cNvGrpSpPr>
            <p:nvPr/>
          </p:nvGrpSpPr>
          <p:grpSpPr bwMode="auto">
            <a:xfrm>
              <a:off x="6048683" y="6853856"/>
              <a:ext cx="174625" cy="174625"/>
              <a:chOff x="262" y="2857"/>
              <a:chExt cx="140" cy="149"/>
            </a:xfrm>
          </p:grpSpPr>
          <p:pic>
            <p:nvPicPr>
              <p:cNvPr id="73" name="Picture 296" descr="설명회(도식) copy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262" y="2863"/>
                <a:ext cx="140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4" name="Text Box 297"/>
              <p:cNvSpPr txBox="1">
                <a:spLocks noChangeArrowheads="1"/>
              </p:cNvSpPr>
              <p:nvPr/>
            </p:nvSpPr>
            <p:spPr bwMode="gray">
              <a:xfrm>
                <a:off x="296" y="2857"/>
                <a:ext cx="7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1100"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6</a:t>
                </a:r>
              </a:p>
            </p:txBody>
          </p:sp>
        </p:grpSp>
        <p:sp>
          <p:nvSpPr>
            <p:cNvPr id="75" name="AutoShape 5"/>
            <p:cNvSpPr>
              <a:spLocks noChangeArrowheads="1"/>
            </p:cNvSpPr>
            <p:nvPr/>
          </p:nvSpPr>
          <p:spPr bwMode="auto">
            <a:xfrm>
              <a:off x="253380" y="7288596"/>
              <a:ext cx="1002641" cy="764414"/>
            </a:xfrm>
            <a:prstGeom prst="roundRect">
              <a:avLst>
                <a:gd name="adj" fmla="val 10855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38100" dir="5400000" rotWithShape="0">
                <a:srgbClr val="7CB8D2"/>
              </a:outerShdw>
            </a:effectLst>
          </p:spPr>
          <p:txBody>
            <a:bodyPr wrap="none" anchor="ctr"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76" name="Line 30"/>
            <p:cNvSpPr>
              <a:spLocks noChangeShapeType="1"/>
            </p:cNvSpPr>
            <p:nvPr/>
          </p:nvSpPr>
          <p:spPr bwMode="gray">
            <a:xfrm>
              <a:off x="1276861" y="7276427"/>
              <a:ext cx="0" cy="684214"/>
            </a:xfrm>
            <a:prstGeom prst="line">
              <a:avLst/>
            </a:prstGeom>
            <a:noFill/>
            <a:ln w="12700">
              <a:solidFill>
                <a:srgbClr val="BABFBD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77" name="Line 30"/>
            <p:cNvSpPr>
              <a:spLocks noChangeShapeType="1"/>
            </p:cNvSpPr>
            <p:nvPr/>
          </p:nvSpPr>
          <p:spPr bwMode="gray">
            <a:xfrm>
              <a:off x="2334136" y="7276427"/>
              <a:ext cx="0" cy="684214"/>
            </a:xfrm>
            <a:prstGeom prst="line">
              <a:avLst/>
            </a:prstGeom>
            <a:noFill/>
            <a:ln w="12700">
              <a:solidFill>
                <a:srgbClr val="BABFBD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78" name="Line 30"/>
            <p:cNvSpPr>
              <a:spLocks noChangeShapeType="1"/>
            </p:cNvSpPr>
            <p:nvPr/>
          </p:nvSpPr>
          <p:spPr bwMode="gray">
            <a:xfrm>
              <a:off x="3381886" y="7276427"/>
              <a:ext cx="0" cy="684214"/>
            </a:xfrm>
            <a:prstGeom prst="line">
              <a:avLst/>
            </a:prstGeom>
            <a:noFill/>
            <a:ln w="12700">
              <a:solidFill>
                <a:srgbClr val="BABFBD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79" name="Line 30"/>
            <p:cNvSpPr>
              <a:spLocks noChangeShapeType="1"/>
            </p:cNvSpPr>
            <p:nvPr/>
          </p:nvSpPr>
          <p:spPr bwMode="gray">
            <a:xfrm>
              <a:off x="4439161" y="7276427"/>
              <a:ext cx="0" cy="684214"/>
            </a:xfrm>
            <a:prstGeom prst="line">
              <a:avLst/>
            </a:prstGeom>
            <a:noFill/>
            <a:ln w="12700">
              <a:solidFill>
                <a:srgbClr val="BABFBD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0" name="Line 30"/>
            <p:cNvSpPr>
              <a:spLocks noChangeShapeType="1"/>
            </p:cNvSpPr>
            <p:nvPr/>
          </p:nvSpPr>
          <p:spPr bwMode="gray">
            <a:xfrm>
              <a:off x="5505961" y="7276427"/>
              <a:ext cx="0" cy="684214"/>
            </a:xfrm>
            <a:prstGeom prst="line">
              <a:avLst/>
            </a:prstGeom>
            <a:noFill/>
            <a:ln w="12700">
              <a:solidFill>
                <a:srgbClr val="BABFBD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ko-KR" altLang="en-US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1" name="모서리가 둥근 직사각형 80"/>
            <p:cNvSpPr/>
            <p:nvPr/>
          </p:nvSpPr>
          <p:spPr>
            <a:xfrm flipH="1">
              <a:off x="244142" y="7367286"/>
              <a:ext cx="1009109" cy="504723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>
                  <a:latin typeface="HY신명조" panose="02030600000101010101" pitchFamily="18" charset="-127"/>
                  <a:ea typeface="HY신명조" panose="02030600000101010101" pitchFamily="18" charset="-127"/>
                </a:rPr>
                <a:t>유지관리팀에서 기술지원 요청사항 발생시 기술지원 요청</a:t>
              </a:r>
            </a:p>
          </p:txBody>
        </p:sp>
        <p:sp>
          <p:nvSpPr>
            <p:cNvPr id="82" name="모서리가 둥근 직사각형 81"/>
            <p:cNvSpPr/>
            <p:nvPr/>
          </p:nvSpPr>
          <p:spPr>
            <a:xfrm flipH="1">
              <a:off x="1308119" y="7367286"/>
              <a:ext cx="1009332" cy="378541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ko-KR" altLang="en-US" sz="900">
                  <a:latin typeface="HY신명조" panose="02030600000101010101" pitchFamily="18" charset="-127"/>
                  <a:ea typeface="HY신명조" panose="02030600000101010101" pitchFamily="18" charset="-127"/>
                </a:rPr>
                <a:t>기술지원팀은 요청사항에 대한 솔루션 확인</a:t>
              </a:r>
            </a:p>
          </p:txBody>
        </p:sp>
        <p:sp>
          <p:nvSpPr>
            <p:cNvPr id="83" name="모서리가 둥근 직사각형 82"/>
            <p:cNvSpPr/>
            <p:nvPr/>
          </p:nvSpPr>
          <p:spPr>
            <a:xfrm flipH="1">
              <a:off x="2373124" y="7367286"/>
              <a:ext cx="992076" cy="378541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/>
              <a:r>
                <a:rPr lang="ko-KR" altLang="en-US" sz="900">
                  <a:latin typeface="HY신명조" panose="02030600000101010101" pitchFamily="18" charset="-127"/>
                  <a:ea typeface="HY신명조" panose="02030600000101010101" pitchFamily="18" charset="-127"/>
                </a:rPr>
                <a:t>유지관리팀으로 요청사항에 대한 솔루션 제시</a:t>
              </a:r>
            </a:p>
          </p:txBody>
        </p:sp>
        <p:sp>
          <p:nvSpPr>
            <p:cNvPr id="84" name="모서리가 둥근 직사각형 83"/>
            <p:cNvSpPr/>
            <p:nvPr/>
          </p:nvSpPr>
          <p:spPr>
            <a:xfrm flipH="1">
              <a:off x="3425675" y="7367286"/>
              <a:ext cx="989876" cy="504723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ko-KR" altLang="en-US" sz="900" spc="-100">
                  <a:latin typeface="HY신명조" panose="02030600000101010101" pitchFamily="18" charset="-127"/>
                  <a:ea typeface="HY신명조" panose="02030600000101010101" pitchFamily="18" charset="-127"/>
                </a:rPr>
                <a:t>솔루션을 적용하여 </a:t>
              </a:r>
              <a:r>
                <a:rPr lang="ko-KR" altLang="en-US" sz="900" spc="-120">
                  <a:latin typeface="HY신명조" panose="02030600000101010101" pitchFamily="18" charset="-127"/>
                  <a:ea typeface="HY신명조" panose="02030600000101010101" pitchFamily="18" charset="-127"/>
                </a:rPr>
                <a:t>기술지원 요청사항에 </a:t>
              </a:r>
              <a:r>
                <a:rPr lang="ko-KR" altLang="en-US" sz="900">
                  <a:latin typeface="HY신명조" panose="02030600000101010101" pitchFamily="18" charset="-127"/>
                  <a:ea typeface="HY신명조" panose="02030600000101010101" pitchFamily="18" charset="-127"/>
                </a:rPr>
                <a:t>대한 </a:t>
              </a:r>
              <a:r>
                <a:rPr lang="ko-KR" altLang="en-US" sz="90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트래블</a:t>
              </a:r>
              <a:r>
                <a:rPr lang="ko-KR" altLang="en-US" sz="900">
                  <a:latin typeface="HY신명조" panose="02030600000101010101" pitchFamily="18" charset="-127"/>
                  <a:ea typeface="HY신명조" panose="02030600000101010101" pitchFamily="18" charset="-127"/>
                </a:rPr>
                <a:t> 슈팅</a:t>
              </a:r>
            </a:p>
          </p:txBody>
        </p:sp>
        <p:sp>
          <p:nvSpPr>
            <p:cNvPr id="85" name="모서리가 둥근 직사각형 84"/>
            <p:cNvSpPr/>
            <p:nvPr/>
          </p:nvSpPr>
          <p:spPr>
            <a:xfrm flipH="1">
              <a:off x="4462771" y="7367286"/>
              <a:ext cx="1039616" cy="378541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/>
              <a:r>
                <a:rPr lang="ko-KR" altLang="en-US" sz="900">
                  <a:latin typeface="HY신명조" panose="02030600000101010101" pitchFamily="18" charset="-127"/>
                  <a:ea typeface="HY신명조" panose="02030600000101010101" pitchFamily="18" charset="-127"/>
                </a:rPr>
                <a:t>솔루션이 적용된 사항에 대한 관리자의 승인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>
            <a:xfrm flipH="1">
              <a:off x="5577394" y="7367286"/>
              <a:ext cx="919918" cy="378541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ko-KR" altLang="en-US" sz="90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상황종결</a:t>
              </a:r>
              <a:r>
                <a:rPr lang="ko-KR" altLang="en-US" sz="900">
                  <a:latin typeface="HY신명조" panose="02030600000101010101" pitchFamily="18" charset="-127"/>
                  <a:ea typeface="HY신명조" panose="02030600000101010101" pitchFamily="18" charset="-127"/>
                </a:rPr>
                <a:t> 및 </a:t>
              </a:r>
              <a:r>
                <a:rPr lang="ko-KR" altLang="en-US" sz="90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관련내용에</a:t>
              </a:r>
              <a:r>
                <a:rPr lang="ko-KR" altLang="en-US" sz="900">
                  <a:latin typeface="HY신명조" panose="02030600000101010101" pitchFamily="18" charset="-127"/>
                  <a:ea typeface="HY신명조" panose="02030600000101010101" pitchFamily="18" charset="-127"/>
                </a:rPr>
                <a:t> 대한 문서화</a:t>
              </a:r>
            </a:p>
          </p:txBody>
        </p:sp>
        <p:pic>
          <p:nvPicPr>
            <p:cNvPr id="87" name="Picture 78" descr="8"/>
            <p:cNvPicPr preferRelativeResize="0"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83421" y="6116851"/>
              <a:ext cx="788669" cy="756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8" name="그림 87" descr="대위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29080" y="6163919"/>
              <a:ext cx="546492" cy="631656"/>
            </a:xfrm>
            <a:prstGeom prst="rect">
              <a:avLst/>
            </a:prstGeom>
          </p:spPr>
        </p:pic>
        <p:pic>
          <p:nvPicPr>
            <p:cNvPr id="89" name="Picture 12" descr="C:\Users\woo\Desktop\ser_img05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384416" y="6176428"/>
              <a:ext cx="770688" cy="701744"/>
            </a:xfrm>
            <a:prstGeom prst="rect">
              <a:avLst/>
            </a:prstGeom>
            <a:noFill/>
          </p:spPr>
        </p:pic>
        <p:pic>
          <p:nvPicPr>
            <p:cNvPr id="90" name="Picture 83" descr="18"/>
            <p:cNvPicPr preferRelativeResize="0"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532371" y="6139081"/>
              <a:ext cx="726240" cy="6970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1" name="Picture 3" descr="E:\이미지소스\png\1344926135_Configuration-Settings.png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 flipH="1">
              <a:off x="5823495" y="6205751"/>
              <a:ext cx="624552" cy="624552"/>
            </a:xfrm>
            <a:prstGeom prst="rect">
              <a:avLst/>
            </a:prstGeom>
            <a:noFill/>
          </p:spPr>
        </p:pic>
        <p:pic>
          <p:nvPicPr>
            <p:cNvPr id="92" name="Picture 2" descr="I:\01_프레젠테이션\00_프리02\201211_01 원_코리아퍼스텍\PSD\IMG\icon01.png"/>
            <p:cNvPicPr>
              <a:picLocks noChangeAspect="1" noChangeArrowheads="1"/>
            </p:cNvPicPr>
            <p:nvPr/>
          </p:nvPicPr>
          <p:blipFill>
            <a:blip r:embed="rId10" cstate="print"/>
            <a:srcRect b="7059"/>
            <a:stretch>
              <a:fillRect/>
            </a:stretch>
          </p:blipFill>
          <p:spPr bwMode="auto">
            <a:xfrm>
              <a:off x="3571079" y="6281951"/>
              <a:ext cx="694506" cy="475002"/>
            </a:xfrm>
            <a:prstGeom prst="rect">
              <a:avLst/>
            </a:prstGeom>
            <a:noFill/>
          </p:spPr>
        </p:pic>
      </p:grpSp>
      <p:cxnSp>
        <p:nvCxnSpPr>
          <p:cNvPr id="164" name="꺾인 연결선 2035"/>
          <p:cNvCxnSpPr>
            <a:stCxn id="189" idx="0"/>
            <a:endCxn id="201" idx="2"/>
          </p:cNvCxnSpPr>
          <p:nvPr/>
        </p:nvCxnSpPr>
        <p:spPr>
          <a:xfrm rot="5400000" flipH="1" flipV="1">
            <a:off x="2639587" y="2866168"/>
            <a:ext cx="304718" cy="1252245"/>
          </a:xfrm>
          <a:prstGeom prst="bentConnector3">
            <a:avLst>
              <a:gd name="adj1" fmla="val 50000"/>
            </a:avLst>
          </a:prstGeom>
          <a:ln w="6350" cap="rnd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꺾인 연결선 2035"/>
          <p:cNvCxnSpPr>
            <a:stCxn id="190" idx="0"/>
            <a:endCxn id="201" idx="2"/>
          </p:cNvCxnSpPr>
          <p:nvPr/>
        </p:nvCxnSpPr>
        <p:spPr>
          <a:xfrm rot="16200000" flipV="1">
            <a:off x="3838306" y="2919694"/>
            <a:ext cx="304718" cy="1145191"/>
          </a:xfrm>
          <a:prstGeom prst="bentConnector3">
            <a:avLst>
              <a:gd name="adj1" fmla="val 50000"/>
            </a:avLst>
          </a:prstGeom>
          <a:ln w="6350" cap="rnd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4307640" y="4047026"/>
            <a:ext cx="936000" cy="198000"/>
          </a:xfrm>
          <a:prstGeom prst="rect">
            <a:avLst/>
          </a:prstGeom>
          <a:gradFill rotWithShape="1">
            <a:gsLst>
              <a:gs pos="0">
                <a:srgbClr val="EBEBEB">
                  <a:gamma/>
                  <a:tint val="0"/>
                  <a:invGamma/>
                </a:srgbClr>
              </a:gs>
              <a:gs pos="50000">
                <a:srgbClr val="EBEBEB"/>
              </a:gs>
              <a:gs pos="100000">
                <a:srgbClr val="EBEBEB">
                  <a:gamma/>
                  <a:tint val="0"/>
                  <a:invGamma/>
                </a:srgbClr>
              </a:gs>
            </a:gsLst>
            <a:lin ang="5400000" scaled="1"/>
          </a:gradFill>
          <a:ln w="3175">
            <a:solidFill>
              <a:srgbClr val="D2D2D2"/>
            </a:solidFill>
            <a:round/>
            <a:headEnd/>
            <a:tailEnd/>
          </a:ln>
          <a:effectLst>
            <a:outerShdw dist="35921" dir="2700000" algn="ctr" rotWithShape="0">
              <a:srgbClr val="E6E6E6"/>
            </a:outerShdw>
          </a:effectLst>
        </p:spPr>
        <p:txBody>
          <a:bodyPr wrap="none" lIns="91414" tIns="45706" rIns="91414" bIns="45706" anchor="ctr"/>
          <a:lstStyle>
            <a:defPPr>
              <a:defRPr lang="ko-KR"/>
            </a:defPPr>
            <a:lvl1pPr algn="ctr">
              <a:defRPr sz="1000">
                <a:latin typeface="Rix모던고딕 B" pitchFamily="18" charset="-127"/>
                <a:ea typeface="Rix모던고딕 M" pitchFamily="18" charset="-127"/>
              </a:defRPr>
            </a:lvl1pPr>
          </a:lstStyle>
          <a:p>
            <a:r>
              <a:rPr lang="ko-KR" altLang="en-US" sz="900" err="1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개발솔루션</a:t>
            </a:r>
            <a:r>
              <a:rPr lang="ko-KR" altLang="en-US" sz="900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 제시</a:t>
            </a:r>
            <a:endParaRPr lang="en-US" altLang="ko-KR" sz="900">
              <a:latin typeface="HY신명조" panose="02030600000101010101" pitchFamily="18" charset="-127"/>
              <a:ea typeface="HY신명조" panose="02030600000101010101" pitchFamily="18" charset="-127"/>
              <a:sym typeface="Monotype Sorts" pitchFamily="2" charset="2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4307640" y="4316205"/>
            <a:ext cx="936000" cy="198000"/>
          </a:xfrm>
          <a:prstGeom prst="rect">
            <a:avLst/>
          </a:prstGeom>
          <a:gradFill rotWithShape="1">
            <a:gsLst>
              <a:gs pos="0">
                <a:srgbClr val="EBEBEB">
                  <a:gamma/>
                  <a:tint val="0"/>
                  <a:invGamma/>
                </a:srgbClr>
              </a:gs>
              <a:gs pos="50000">
                <a:srgbClr val="EBEBEB"/>
              </a:gs>
              <a:gs pos="100000">
                <a:srgbClr val="EBEBEB">
                  <a:gamma/>
                  <a:tint val="0"/>
                  <a:invGamma/>
                </a:srgbClr>
              </a:gs>
            </a:gsLst>
            <a:lin ang="5400000" scaled="1"/>
          </a:gradFill>
          <a:ln w="3175">
            <a:solidFill>
              <a:srgbClr val="D2D2D2"/>
            </a:solidFill>
            <a:round/>
            <a:headEnd/>
            <a:tailEnd/>
          </a:ln>
          <a:effectLst>
            <a:outerShdw dist="35921" dir="2700000" algn="ctr" rotWithShape="0">
              <a:srgbClr val="E6E6E6"/>
            </a:outerShdw>
          </a:effectLst>
        </p:spPr>
        <p:txBody>
          <a:bodyPr wrap="none" lIns="91414" tIns="45706" rIns="91414" bIns="45706" anchor="ctr"/>
          <a:lstStyle>
            <a:defPPr>
              <a:defRPr lang="ko-KR"/>
            </a:defPPr>
            <a:lvl1pPr algn="ctr">
              <a:defRPr sz="1000">
                <a:latin typeface="Rix모던고딕 B" pitchFamily="18" charset="-127"/>
                <a:ea typeface="Rix모던고딕 M" pitchFamily="18" charset="-127"/>
              </a:defRPr>
            </a:lvl1pPr>
          </a:lstStyle>
          <a:p>
            <a:r>
              <a:rPr lang="ko-KR" altLang="en-US" sz="900" err="1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운용솔루션</a:t>
            </a:r>
            <a:r>
              <a:rPr lang="ko-KR" altLang="en-US" sz="900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 제시</a:t>
            </a:r>
            <a:endParaRPr lang="en-US" altLang="ko-KR" sz="900">
              <a:latin typeface="HY신명조" panose="02030600000101010101" pitchFamily="18" charset="-127"/>
              <a:ea typeface="HY신명조" panose="02030600000101010101" pitchFamily="18" charset="-127"/>
              <a:sym typeface="Monotype Sorts" pitchFamily="2" charset="2"/>
            </a:endParaRPr>
          </a:p>
        </p:txBody>
      </p:sp>
      <p:cxnSp>
        <p:nvCxnSpPr>
          <p:cNvPr id="168" name="꺾인 연결선 2035"/>
          <p:cNvCxnSpPr>
            <a:stCxn id="166" idx="1"/>
          </p:cNvCxnSpPr>
          <p:nvPr/>
        </p:nvCxnSpPr>
        <p:spPr>
          <a:xfrm rot="10800000">
            <a:off x="4189728" y="4002980"/>
            <a:ext cx="117913" cy="143046"/>
          </a:xfrm>
          <a:prstGeom prst="bentConnector2">
            <a:avLst/>
          </a:prstGeom>
          <a:ln w="6350" cap="rnd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>
            <a:off x="2802258" y="3082498"/>
            <a:ext cx="1231622" cy="257433"/>
          </a:xfrm>
          <a:prstGeom prst="roundRect">
            <a:avLst/>
          </a:prstGeom>
          <a:pattFill prst="dotGrid">
            <a:fgClr>
              <a:srgbClr val="D8E2F4"/>
            </a:fgClr>
            <a:bgClr>
              <a:srgbClr val="FFFFFF"/>
            </a:bgClr>
          </a:pattFill>
          <a:ln w="3175">
            <a:solidFill>
              <a:srgbClr val="A2BFE3"/>
            </a:solidFill>
            <a:round/>
            <a:headEnd/>
            <a:tailEnd/>
          </a:ln>
          <a:effectLst>
            <a:outerShdw dist="35921" dir="2700000" algn="ctr" rotWithShape="0">
              <a:srgbClr val="E6E6E6"/>
            </a:outerShdw>
          </a:effectLst>
        </p:spPr>
        <p:txBody>
          <a:bodyPr wrap="none" lIns="91414" tIns="45706" rIns="91414" bIns="45706" anchor="ctr"/>
          <a:lstStyle>
            <a:defPPr>
              <a:defRPr lang="ko-KR"/>
            </a:defPPr>
            <a:lvl1pPr algn="ctr">
              <a:defRPr sz="1100">
                <a:latin typeface="Rix모던고딕 B" pitchFamily="18" charset="-127"/>
                <a:ea typeface="Rix모던고딕 M" pitchFamily="18" charset="-127"/>
              </a:defRPr>
            </a:lvl1pPr>
          </a:lstStyle>
          <a:p>
            <a:r>
              <a:rPr lang="ko-KR" altLang="en-US" err="1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제안사</a:t>
            </a:r>
            <a:endParaRPr lang="en-US" altLang="ko-KR">
              <a:latin typeface="HY신명조" panose="02030600000101010101" pitchFamily="18" charset="-127"/>
              <a:ea typeface="HY신명조" panose="02030600000101010101" pitchFamily="18" charset="-127"/>
              <a:sym typeface="Monotype Sorts" pitchFamily="2" charset="2"/>
            </a:endParaRPr>
          </a:p>
        </p:txBody>
      </p:sp>
      <p:cxnSp>
        <p:nvCxnSpPr>
          <p:cNvPr id="175" name="꺾인 연결선 2035"/>
          <p:cNvCxnSpPr>
            <a:stCxn id="167" idx="1"/>
          </p:cNvCxnSpPr>
          <p:nvPr/>
        </p:nvCxnSpPr>
        <p:spPr>
          <a:xfrm rot="10800000">
            <a:off x="4189712" y="3821855"/>
            <a:ext cx="117928" cy="593350"/>
          </a:xfrm>
          <a:prstGeom prst="bentConnector2">
            <a:avLst/>
          </a:prstGeom>
          <a:ln w="6350" cap="rnd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2035"/>
          <p:cNvCxnSpPr>
            <a:stCxn id="195" idx="1"/>
          </p:cNvCxnSpPr>
          <p:nvPr/>
        </p:nvCxnSpPr>
        <p:spPr>
          <a:xfrm rot="10800000">
            <a:off x="1771603" y="3896680"/>
            <a:ext cx="144769" cy="249346"/>
          </a:xfrm>
          <a:prstGeom prst="bentConnector2">
            <a:avLst/>
          </a:prstGeom>
          <a:ln w="6350" cap="rnd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2035"/>
          <p:cNvCxnSpPr>
            <a:stCxn id="196" idx="1"/>
          </p:cNvCxnSpPr>
          <p:nvPr/>
        </p:nvCxnSpPr>
        <p:spPr>
          <a:xfrm rot="10800000">
            <a:off x="1771607" y="3835711"/>
            <a:ext cx="144765" cy="579494"/>
          </a:xfrm>
          <a:prstGeom prst="bentConnector2">
            <a:avLst/>
          </a:prstGeom>
          <a:ln w="6350" cap="rnd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2035"/>
          <p:cNvCxnSpPr>
            <a:stCxn id="197" idx="1"/>
          </p:cNvCxnSpPr>
          <p:nvPr/>
        </p:nvCxnSpPr>
        <p:spPr>
          <a:xfrm rot="10800000">
            <a:off x="1771587" y="3749697"/>
            <a:ext cx="144784" cy="934688"/>
          </a:xfrm>
          <a:prstGeom prst="bentConnector2">
            <a:avLst/>
          </a:prstGeom>
          <a:ln w="6350" cap="rnd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1689970" y="3644649"/>
            <a:ext cx="951708" cy="324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0095B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defPPr>
              <a:defRPr lang="ko-KR"/>
            </a:defPPr>
            <a:lvl1pPr algn="ctr" defTabSz="893763" latinLnBrk="0">
              <a:defRPr kumimoji="1" sz="1000"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kumimoji="1">
                <a:latin typeface="굴림" pitchFamily="50" charset="-127"/>
                <a:ea typeface="굴림" pitchFamily="50" charset="-127"/>
              </a:defRPr>
            </a:lvl2pPr>
            <a:lvl3pPr marL="1116013" indent="-222250" defTabSz="893763">
              <a:defRPr kumimoji="1">
                <a:latin typeface="굴림" pitchFamily="50" charset="-127"/>
                <a:ea typeface="굴림" pitchFamily="50" charset="-127"/>
              </a:defRPr>
            </a:lvl3pPr>
            <a:lvl4pPr marL="1563688" indent="-223838" defTabSz="893763">
              <a:defRPr kumimoji="1">
                <a:latin typeface="굴림" pitchFamily="50" charset="-127"/>
                <a:ea typeface="굴림" pitchFamily="50" charset="-127"/>
              </a:defRPr>
            </a:lvl4pPr>
            <a:lvl5pPr marL="2009775" indent="-223838" defTabSz="893763">
              <a:defRPr kumimoji="1">
                <a:latin typeface="굴림" pitchFamily="50" charset="-127"/>
                <a:ea typeface="굴림" pitchFamily="50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태극</a:t>
            </a:r>
            <a:r>
              <a:rPr lang="en-US" altLang="ko-KR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JOS</a:t>
            </a:r>
          </a:p>
          <a:p>
            <a:r>
              <a:rPr lang="ko-KR" altLang="en-US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유지관리요원</a:t>
            </a:r>
            <a:endParaRPr lang="en-US" altLang="ko-KR">
              <a:latin typeface="HY신명조" panose="02030600000101010101" pitchFamily="18" charset="-127"/>
              <a:ea typeface="HY신명조" panose="02030600000101010101" pitchFamily="18" charset="-127"/>
              <a:sym typeface="Monotype Sorts" pitchFamily="2" charset="2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4087406" y="3644649"/>
            <a:ext cx="951708" cy="324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0095B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defPPr>
              <a:defRPr lang="ko-KR"/>
            </a:defPPr>
            <a:lvl1pPr algn="ctr" defTabSz="893763" latinLnBrk="0">
              <a:defRPr kumimoji="1" sz="1000"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kumimoji="1">
                <a:latin typeface="굴림" pitchFamily="50" charset="-127"/>
                <a:ea typeface="굴림" pitchFamily="50" charset="-127"/>
              </a:defRPr>
            </a:lvl2pPr>
            <a:lvl3pPr marL="1116013" indent="-222250" defTabSz="893763">
              <a:defRPr kumimoji="1">
                <a:latin typeface="굴림" pitchFamily="50" charset="-127"/>
                <a:ea typeface="굴림" pitchFamily="50" charset="-127"/>
              </a:defRPr>
            </a:lvl3pPr>
            <a:lvl4pPr marL="1563688" indent="-223838" defTabSz="893763">
              <a:defRPr kumimoji="1">
                <a:latin typeface="굴림" pitchFamily="50" charset="-127"/>
                <a:ea typeface="굴림" pitchFamily="50" charset="-127"/>
              </a:defRPr>
            </a:lvl4pPr>
            <a:lvl5pPr marL="2009775" indent="-223838" defTabSz="893763">
              <a:defRPr kumimoji="1">
                <a:latin typeface="굴림" pitchFamily="50" charset="-127"/>
                <a:ea typeface="굴림" pitchFamily="50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err="1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기술지원팀</a:t>
            </a:r>
            <a:endParaRPr lang="en-US" altLang="ko-KR">
              <a:latin typeface="HY신명조" panose="02030600000101010101" pitchFamily="18" charset="-127"/>
              <a:ea typeface="HY신명조" panose="02030600000101010101" pitchFamily="18" charset="-127"/>
              <a:sym typeface="Monotype Sorts" pitchFamily="2" charset="2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1916371" y="4047026"/>
            <a:ext cx="936000" cy="198000"/>
          </a:xfrm>
          <a:prstGeom prst="rect">
            <a:avLst/>
          </a:prstGeom>
          <a:gradFill rotWithShape="1">
            <a:gsLst>
              <a:gs pos="0">
                <a:srgbClr val="EBEBEB">
                  <a:gamma/>
                  <a:tint val="0"/>
                  <a:invGamma/>
                </a:srgbClr>
              </a:gs>
              <a:gs pos="50000">
                <a:srgbClr val="EBEBEB"/>
              </a:gs>
              <a:gs pos="100000">
                <a:srgbClr val="EBEBEB">
                  <a:gamma/>
                  <a:tint val="0"/>
                  <a:invGamma/>
                </a:srgbClr>
              </a:gs>
            </a:gsLst>
            <a:lin ang="5400000" scaled="1"/>
          </a:gradFill>
          <a:ln w="3175">
            <a:solidFill>
              <a:srgbClr val="D2D2D2"/>
            </a:solidFill>
            <a:round/>
            <a:headEnd/>
            <a:tailEnd/>
          </a:ln>
          <a:effectLst>
            <a:outerShdw dist="35921" dir="2700000" algn="ctr" rotWithShape="0">
              <a:srgbClr val="E6E6E6"/>
            </a:outerShdw>
          </a:effectLst>
        </p:spPr>
        <p:txBody>
          <a:bodyPr wrap="none" lIns="91414" tIns="45706" rIns="91414" bIns="45706" anchor="ctr"/>
          <a:lstStyle>
            <a:defPPr>
              <a:defRPr lang="ko-KR"/>
            </a:defPPr>
            <a:lvl1pPr algn="ctr">
              <a:defRPr sz="1000">
                <a:latin typeface="Rix모던고딕 B" pitchFamily="18" charset="-127"/>
                <a:ea typeface="Rix모던고딕 M" pitchFamily="18" charset="-127"/>
              </a:defRPr>
            </a:lvl1pPr>
          </a:lstStyle>
          <a:p>
            <a:r>
              <a:rPr lang="ko-KR" altLang="en-US" sz="900" err="1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기능개발</a:t>
            </a:r>
            <a:r>
              <a:rPr lang="ko-KR" altLang="en-US" sz="900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 이슈</a:t>
            </a:r>
            <a:endParaRPr lang="en-US" altLang="ko-KR" sz="900">
              <a:latin typeface="HY신명조" panose="02030600000101010101" pitchFamily="18" charset="-127"/>
              <a:ea typeface="HY신명조" panose="02030600000101010101" pitchFamily="18" charset="-127"/>
              <a:sym typeface="Monotype Sorts" pitchFamily="2" charset="2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1916371" y="4316205"/>
            <a:ext cx="936000" cy="198000"/>
          </a:xfrm>
          <a:prstGeom prst="rect">
            <a:avLst/>
          </a:prstGeom>
          <a:gradFill rotWithShape="1">
            <a:gsLst>
              <a:gs pos="0">
                <a:srgbClr val="EBEBEB">
                  <a:gamma/>
                  <a:tint val="0"/>
                  <a:invGamma/>
                </a:srgbClr>
              </a:gs>
              <a:gs pos="50000">
                <a:srgbClr val="EBEBEB"/>
              </a:gs>
              <a:gs pos="100000">
                <a:srgbClr val="EBEBEB">
                  <a:gamma/>
                  <a:tint val="0"/>
                  <a:invGamma/>
                </a:srgbClr>
              </a:gs>
            </a:gsLst>
            <a:lin ang="5400000" scaled="1"/>
          </a:gradFill>
          <a:ln w="3175">
            <a:solidFill>
              <a:srgbClr val="D2D2D2"/>
            </a:solidFill>
            <a:round/>
            <a:headEnd/>
            <a:tailEnd/>
          </a:ln>
          <a:effectLst>
            <a:outerShdw dist="35921" dir="2700000" algn="ctr" rotWithShape="0">
              <a:srgbClr val="E6E6E6"/>
            </a:outerShdw>
          </a:effectLst>
        </p:spPr>
        <p:txBody>
          <a:bodyPr wrap="none" lIns="91414" tIns="45706" rIns="91414" bIns="45706" anchor="ctr"/>
          <a:lstStyle>
            <a:defPPr>
              <a:defRPr lang="ko-KR"/>
            </a:defPPr>
            <a:lvl1pPr algn="ctr">
              <a:defRPr sz="1000">
                <a:latin typeface="Rix모던고딕 B" pitchFamily="18" charset="-127"/>
                <a:ea typeface="Rix모던고딕 M" pitchFamily="18" charset="-127"/>
              </a:defRPr>
            </a:lvl1pPr>
          </a:lstStyle>
          <a:p>
            <a:r>
              <a:rPr lang="ko-KR" altLang="en-US" sz="900" err="1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모델운용</a:t>
            </a:r>
            <a:r>
              <a:rPr lang="ko-KR" altLang="en-US" sz="900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 이슈</a:t>
            </a:r>
            <a:endParaRPr lang="en-US" altLang="ko-KR" sz="900">
              <a:latin typeface="HY신명조" panose="02030600000101010101" pitchFamily="18" charset="-127"/>
              <a:ea typeface="HY신명조" panose="02030600000101010101" pitchFamily="18" charset="-127"/>
              <a:sym typeface="Monotype Sorts" pitchFamily="2" charset="2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916371" y="4585385"/>
            <a:ext cx="936000" cy="198000"/>
          </a:xfrm>
          <a:prstGeom prst="rect">
            <a:avLst/>
          </a:prstGeom>
          <a:gradFill rotWithShape="1">
            <a:gsLst>
              <a:gs pos="0">
                <a:srgbClr val="EBEBEB">
                  <a:gamma/>
                  <a:tint val="0"/>
                  <a:invGamma/>
                </a:srgbClr>
              </a:gs>
              <a:gs pos="50000">
                <a:srgbClr val="EBEBEB"/>
              </a:gs>
              <a:gs pos="100000">
                <a:srgbClr val="EBEBEB">
                  <a:gamma/>
                  <a:tint val="0"/>
                  <a:invGamma/>
                </a:srgbClr>
              </a:gs>
            </a:gsLst>
            <a:lin ang="5400000" scaled="1"/>
          </a:gradFill>
          <a:ln w="3175">
            <a:solidFill>
              <a:srgbClr val="D2D2D2"/>
            </a:solidFill>
            <a:round/>
            <a:headEnd/>
            <a:tailEnd/>
          </a:ln>
          <a:effectLst>
            <a:outerShdw dist="35921" dir="2700000" algn="ctr" rotWithShape="0">
              <a:srgbClr val="E6E6E6"/>
            </a:outerShdw>
          </a:effectLst>
        </p:spPr>
        <p:txBody>
          <a:bodyPr wrap="none" lIns="91414" tIns="45706" rIns="91414" bIns="45706" anchor="ctr"/>
          <a:lstStyle>
            <a:defPPr>
              <a:defRPr lang="ko-KR"/>
            </a:defPPr>
            <a:lvl1pPr algn="ctr">
              <a:defRPr sz="1000">
                <a:latin typeface="Rix모던고딕 B" pitchFamily="18" charset="-127"/>
                <a:ea typeface="Rix모던고딕 M" pitchFamily="18" charset="-127"/>
              </a:defRPr>
            </a:lvl1pPr>
          </a:lstStyle>
          <a:p>
            <a:r>
              <a:rPr lang="ko-KR" altLang="en-US" sz="900">
                <a:latin typeface="HY신명조" panose="02030600000101010101" pitchFamily="18" charset="-127"/>
                <a:ea typeface="HY신명조" panose="02030600000101010101" pitchFamily="18" charset="-127"/>
                <a:sym typeface="Monotype Sorts" pitchFamily="2" charset="2"/>
              </a:rPr>
              <a:t>기타</a:t>
            </a:r>
            <a:endParaRPr lang="en-US" altLang="ko-KR" sz="900">
              <a:latin typeface="HY신명조" panose="02030600000101010101" pitchFamily="18" charset="-127"/>
              <a:ea typeface="HY신명조" panose="02030600000101010101" pitchFamily="18" charset="-127"/>
              <a:sym typeface="Monotype Sorts" pitchFamily="2" charset="2"/>
            </a:endParaRPr>
          </a:p>
        </p:txBody>
      </p:sp>
      <p:grpSp>
        <p:nvGrpSpPr>
          <p:cNvPr id="98" name="Group 4"/>
          <p:cNvGrpSpPr>
            <a:grpSpLocks/>
          </p:cNvGrpSpPr>
          <p:nvPr/>
        </p:nvGrpSpPr>
        <p:grpSpPr bwMode="auto">
          <a:xfrm>
            <a:off x="487363" y="5504312"/>
            <a:ext cx="1878012" cy="204788"/>
            <a:chOff x="326" y="2072"/>
            <a:chExt cx="1182" cy="129"/>
          </a:xfrm>
        </p:grpSpPr>
        <p:sp>
          <p:nvSpPr>
            <p:cNvPr id="103" name="Text Box 5"/>
            <p:cNvSpPr txBox="1">
              <a:spLocks noChangeArrowheads="1"/>
            </p:cNvSpPr>
            <p:nvPr/>
          </p:nvSpPr>
          <p:spPr bwMode="auto">
            <a:xfrm>
              <a:off x="434" y="2072"/>
              <a:ext cx="613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latin typeface="HY신명조" panose="02030600000101010101" pitchFamily="18" charset="-127"/>
                  <a:ea typeface="HY신명조" panose="02030600000101010101" pitchFamily="18" charset="-127"/>
                </a:rPr>
                <a:t>기술지원 절차</a:t>
              </a:r>
            </a:p>
          </p:txBody>
        </p:sp>
        <p:grpSp>
          <p:nvGrpSpPr>
            <p:cNvPr id="104" name="Group 6"/>
            <p:cNvGrpSpPr>
              <a:grpSpLocks/>
            </p:cNvGrpSpPr>
            <p:nvPr/>
          </p:nvGrpSpPr>
          <p:grpSpPr bwMode="auto">
            <a:xfrm>
              <a:off x="326" y="2093"/>
              <a:ext cx="1182" cy="108"/>
              <a:chOff x="397" y="2298"/>
              <a:chExt cx="1182" cy="108"/>
            </a:xfrm>
          </p:grpSpPr>
          <p:sp>
            <p:nvSpPr>
              <p:cNvPr id="105" name="Freeform 7"/>
              <p:cNvSpPr>
                <a:spLocks/>
              </p:cNvSpPr>
              <p:nvPr/>
            </p:nvSpPr>
            <p:spPr bwMode="auto">
              <a:xfrm>
                <a:off x="436" y="2358"/>
                <a:ext cx="1143" cy="48"/>
              </a:xfrm>
              <a:custGeom>
                <a:avLst/>
                <a:gdLst>
                  <a:gd name="T0" fmla="*/ 0 w 1143"/>
                  <a:gd name="T1" fmla="*/ 0 h 48"/>
                  <a:gd name="T2" fmla="*/ 0 w 1143"/>
                  <a:gd name="T3" fmla="*/ 48 h 48"/>
                  <a:gd name="T4" fmla="*/ 1143 w 1143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1143"/>
                  <a:gd name="T10" fmla="*/ 0 h 48"/>
                  <a:gd name="T11" fmla="*/ 1143 w 1143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43" h="48">
                    <a:moveTo>
                      <a:pt x="0" y="0"/>
                    </a:moveTo>
                    <a:lnTo>
                      <a:pt x="0" y="48"/>
                    </a:lnTo>
                    <a:lnTo>
                      <a:pt x="1143" y="48"/>
                    </a:lnTo>
                  </a:path>
                </a:pathLst>
              </a:custGeom>
              <a:noFill/>
              <a:ln w="9525">
                <a:solidFill>
                  <a:srgbClr val="8FC2E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06" name="Oval 8"/>
              <p:cNvSpPr>
                <a:spLocks noChangeArrowheads="1"/>
              </p:cNvSpPr>
              <p:nvPr/>
            </p:nvSpPr>
            <p:spPr bwMode="auto">
              <a:xfrm>
                <a:off x="397" y="2298"/>
                <a:ext cx="72" cy="72"/>
              </a:xfrm>
              <a:prstGeom prst="ellipse">
                <a:avLst/>
              </a:prstGeom>
              <a:solidFill>
                <a:srgbClr val="3385C2"/>
              </a:solidFill>
              <a:ln w="19050" algn="ctr">
                <a:solidFill>
                  <a:srgbClr val="EAEAEA"/>
                </a:solidFill>
                <a:round/>
                <a:headEnd/>
                <a:tailEnd/>
              </a:ln>
              <a:effectLst>
                <a:outerShdw dist="12700" dir="54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1pPr>
                <a:lvl2pPr marL="742950" indent="-28575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2pPr>
                <a:lvl3pPr marL="11430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3pPr>
                <a:lvl4pPr marL="16002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4pPr>
                <a:lvl5pPr marL="20574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9pPr>
              </a:lstStyle>
              <a:p>
                <a:pPr algn="r" latinLnBrk="1"/>
                <a:endParaRPr lang="ko-KR" altLang="ko-KR" sz="1200"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</p:grpSp>
      <p:grpSp>
        <p:nvGrpSpPr>
          <p:cNvPr id="107" name="Group 4"/>
          <p:cNvGrpSpPr>
            <a:grpSpLocks/>
          </p:cNvGrpSpPr>
          <p:nvPr/>
        </p:nvGrpSpPr>
        <p:grpSpPr bwMode="auto">
          <a:xfrm>
            <a:off x="487363" y="2555522"/>
            <a:ext cx="1878012" cy="204788"/>
            <a:chOff x="326" y="2072"/>
            <a:chExt cx="1182" cy="129"/>
          </a:xfrm>
        </p:grpSpPr>
        <p:sp>
          <p:nvSpPr>
            <p:cNvPr id="108" name="Text Box 5"/>
            <p:cNvSpPr txBox="1">
              <a:spLocks noChangeArrowheads="1"/>
            </p:cNvSpPr>
            <p:nvPr/>
          </p:nvSpPr>
          <p:spPr bwMode="auto">
            <a:xfrm>
              <a:off x="434" y="2072"/>
              <a:ext cx="613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eaLnBrk="1" latinLnBrk="1" hangingPunct="1"/>
              <a:r>
                <a:rPr lang="ko-KR" altLang="en-US" sz="1200">
                  <a:latin typeface="HY신명조" panose="02030600000101010101" pitchFamily="18" charset="-127"/>
                  <a:ea typeface="HY신명조" panose="02030600000101010101" pitchFamily="18" charset="-127"/>
                </a:rPr>
                <a:t>기술지원 조직</a:t>
              </a:r>
            </a:p>
          </p:txBody>
        </p:sp>
        <p:grpSp>
          <p:nvGrpSpPr>
            <p:cNvPr id="109" name="Group 6"/>
            <p:cNvGrpSpPr>
              <a:grpSpLocks/>
            </p:cNvGrpSpPr>
            <p:nvPr/>
          </p:nvGrpSpPr>
          <p:grpSpPr bwMode="auto">
            <a:xfrm>
              <a:off x="326" y="2093"/>
              <a:ext cx="1182" cy="108"/>
              <a:chOff x="397" y="2298"/>
              <a:chExt cx="1182" cy="108"/>
            </a:xfrm>
          </p:grpSpPr>
          <p:sp>
            <p:nvSpPr>
              <p:cNvPr id="110" name="Freeform 7"/>
              <p:cNvSpPr>
                <a:spLocks/>
              </p:cNvSpPr>
              <p:nvPr/>
            </p:nvSpPr>
            <p:spPr bwMode="auto">
              <a:xfrm>
                <a:off x="436" y="2358"/>
                <a:ext cx="1143" cy="48"/>
              </a:xfrm>
              <a:custGeom>
                <a:avLst/>
                <a:gdLst>
                  <a:gd name="T0" fmla="*/ 0 w 1143"/>
                  <a:gd name="T1" fmla="*/ 0 h 48"/>
                  <a:gd name="T2" fmla="*/ 0 w 1143"/>
                  <a:gd name="T3" fmla="*/ 48 h 48"/>
                  <a:gd name="T4" fmla="*/ 1143 w 1143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1143"/>
                  <a:gd name="T10" fmla="*/ 0 h 48"/>
                  <a:gd name="T11" fmla="*/ 1143 w 1143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43" h="48">
                    <a:moveTo>
                      <a:pt x="0" y="0"/>
                    </a:moveTo>
                    <a:lnTo>
                      <a:pt x="0" y="48"/>
                    </a:lnTo>
                    <a:lnTo>
                      <a:pt x="1143" y="48"/>
                    </a:lnTo>
                  </a:path>
                </a:pathLst>
              </a:custGeom>
              <a:noFill/>
              <a:ln w="9525">
                <a:solidFill>
                  <a:srgbClr val="8FC2E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11" name="Oval 8"/>
              <p:cNvSpPr>
                <a:spLocks noChangeArrowheads="1"/>
              </p:cNvSpPr>
              <p:nvPr/>
            </p:nvSpPr>
            <p:spPr bwMode="auto">
              <a:xfrm>
                <a:off x="397" y="2298"/>
                <a:ext cx="72" cy="72"/>
              </a:xfrm>
              <a:prstGeom prst="ellipse">
                <a:avLst/>
              </a:prstGeom>
              <a:solidFill>
                <a:srgbClr val="3385C2"/>
              </a:solidFill>
              <a:ln w="19050" algn="ctr">
                <a:solidFill>
                  <a:srgbClr val="EAEAEA"/>
                </a:solidFill>
                <a:round/>
                <a:headEnd/>
                <a:tailEnd/>
              </a:ln>
              <a:effectLst>
                <a:outerShdw dist="12700" dir="54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1pPr>
                <a:lvl2pPr marL="742950" indent="-28575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2pPr>
                <a:lvl3pPr marL="11430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3pPr>
                <a:lvl4pPr marL="16002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4pPr>
                <a:lvl5pPr marL="2057400" indent="-228600"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가는각진제목체" pitchFamily="18" charset="-127"/>
                    <a:ea typeface="가는각진제목체" pitchFamily="18" charset="-127"/>
                  </a:defRPr>
                </a:lvl9pPr>
              </a:lstStyle>
              <a:p>
                <a:pPr algn="r" latinLnBrk="1"/>
                <a:endParaRPr lang="ko-KR" altLang="ko-KR" sz="1200"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9208700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Yoon 윤명조 520_TT"/>
        <a:ea typeface="Yoon 윤명조 520_T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각헤드라인M"/>
        <a:ea typeface="HY각헤드라인M"/>
        <a:cs typeface=""/>
      </a:majorFont>
      <a:minorFont>
        <a:latin typeface="Yoon 윤명조 520_TT"/>
        <a:ea typeface="Yoon 윤명조 520_T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각헤드라인M"/>
        <a:ea typeface="HY각헤드라인M"/>
        <a:cs typeface=""/>
      </a:majorFont>
      <a:minorFont>
        <a:latin typeface="Yoon 윤명조 520_TT"/>
        <a:ea typeface="Yoon 윤명조 520_T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Yoon 윤명조 520_TT"/>
        <a:ea typeface="Yoon 윤명조 520_T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Yoon 윤명조 520_TT"/>
        <a:ea typeface="Yoon 윤명조 520_T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Yoon 윤명조 520_TT"/>
        <a:ea typeface="Yoon 윤명조 520_T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Yoon 윤명조 520_TT"/>
        <a:ea typeface="Yoon 윤명조 520_T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Yoon 윤명조 520_TT"/>
        <a:ea typeface="Yoon 윤명조 520_T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8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Yoon 윤명조 520_TT"/>
        <a:ea typeface="Yoon 윤명조 520_T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12612</TotalTime>
  <Words>10113</Words>
  <Application>Microsoft Office PowerPoint</Application>
  <PresentationFormat>A4 용지(210x297mm)</PresentationFormat>
  <Paragraphs>1608</Paragraphs>
  <Slides>54</Slides>
  <Notes>47</Notes>
  <HiddenSlides>0</HiddenSlides>
  <MMClips>0</MMClips>
  <ScaleCrop>false</ScaleCrop>
  <HeadingPairs>
    <vt:vector size="8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9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83" baseType="lpstr">
      <vt:lpstr>HY각헤드라인M</vt:lpstr>
      <vt:lpstr>HY수평선B</vt:lpstr>
      <vt:lpstr>HY신명조</vt:lpstr>
      <vt:lpstr>HY헤드라인M</vt:lpstr>
      <vt:lpstr>KoPub돋움체 Medium</vt:lpstr>
      <vt:lpstr>Monotype Sorts</vt:lpstr>
      <vt:lpstr>Rix모던고딕 B</vt:lpstr>
      <vt:lpstr>Rix모던고딕 L</vt:lpstr>
      <vt:lpstr>Yoon 윤고딕 520_TT</vt:lpstr>
      <vt:lpstr>Yoon 윤고딕 530_TT</vt:lpstr>
      <vt:lpstr>Yoon 윤명조 520_TT</vt:lpstr>
      <vt:lpstr>Yoon 윤명조 540_TT</vt:lpstr>
      <vt:lpstr>가는각진제목체</vt:lpstr>
      <vt:lpstr>굴림</vt:lpstr>
      <vt:lpstr>굴림체</vt:lpstr>
      <vt:lpstr>산돌고딕 L</vt:lpstr>
      <vt:lpstr>산돌고딕B</vt:lpstr>
      <vt:lpstr>Arial</vt:lpstr>
      <vt:lpstr>Wingdings</vt:lpstr>
      <vt:lpstr>기본 디자인</vt:lpstr>
      <vt:lpstr>1_기본 디자인</vt:lpstr>
      <vt:lpstr>2_기본 디자인</vt:lpstr>
      <vt:lpstr>3_기본 디자인</vt:lpstr>
      <vt:lpstr>4_기본 디자인</vt:lpstr>
      <vt:lpstr>5_기본 디자인</vt:lpstr>
      <vt:lpstr>6_기본 디자인</vt:lpstr>
      <vt:lpstr>7_기본 디자인</vt:lpstr>
      <vt:lpstr>8_기본 디자인</vt:lpstr>
      <vt:lpstr>Image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idvil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박선옥</dc:creator>
  <cp:lastModifiedBy>사용자</cp:lastModifiedBy>
  <cp:revision>925</cp:revision>
  <cp:lastPrinted>2025-02-05T05:54:52Z</cp:lastPrinted>
  <dcterms:created xsi:type="dcterms:W3CDTF">2007-03-27T06:19:21Z</dcterms:created>
  <dcterms:modified xsi:type="dcterms:W3CDTF">2026-06-05T00:35:33Z</dcterms:modified>
</cp:coreProperties>
</file>