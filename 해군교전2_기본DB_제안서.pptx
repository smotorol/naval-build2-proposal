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6000" y="1925999"/>
            <a:ext cx="11580119" cy="288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142000"/>
            <a:ext cx="11472119" cy="720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32A31"/>
                </a:solidFill>
                <a:latin typeface="Malgun Gothic"/>
              </a:defRPr>
            </a:pPr>
            <a:r>
              <a:t>기본DB</a:t>
            </a:r>
            <a:br/>
            <a:r>
              <a:t>체계 개선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3221999"/>
            <a:ext cx="11436119" cy="324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960" b="0">
                <a:solidFill>
                  <a:srgbClr val="004B73"/>
                </a:solidFill>
                <a:latin typeface="Malgun Gothic"/>
              </a:defRPr>
            </a:pPr>
            <a:r>
              <a:t>해군교전분석모델 Build-II | 환경·지형정보 및 제원·파라미터 DB 관리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8000" y="4356000"/>
            <a:ext cx="2206583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요구사항 정제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98983" y="4512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85383" y="4356000"/>
            <a:ext cx="2206583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DB 구조 설계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06367" y="4512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92767" y="4356000"/>
            <a:ext cx="2206583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UI/편집 개선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13751" y="4512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00151" y="4356000"/>
            <a:ext cx="2206583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검증/동기화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21135" y="4512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7535" y="4356000"/>
            <a:ext cx="2206583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운영관리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000" y="6282000"/>
            <a:ext cx="11436119" cy="144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910" b="0">
                <a:solidFill>
                  <a:srgbClr val="666666"/>
                </a:solidFill>
                <a:latin typeface="Malgun Gothic"/>
              </a:defRPr>
            </a:pPr>
            <a:r>
              <a:t>기본DB의 표준화, 최신화, 검증 가능성을 확보하는 체계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340000"/>
            <a:ext cx="1007999" cy="576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004B73"/>
                </a:solidFill>
                <a:latin typeface="Malgun Gothic"/>
              </a:defRPr>
            </a:pPr>
            <a:r>
              <a:t>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2000" y="2466000"/>
            <a:ext cx="10320119" cy="324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32A31"/>
                </a:solidFill>
                <a:latin typeface="Malgun Gothic"/>
              </a:defRPr>
            </a:pPr>
            <a:r>
              <a:t>기본DB 개선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0000" y="2826000"/>
            <a:ext cx="10248119" cy="180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30000" y="2970000"/>
            <a:ext cx="10248119" cy="396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66666"/>
                </a:solidFill>
                <a:latin typeface="Malgun Gothic"/>
              </a:defRPr>
            </a:pPr>
            <a:r>
              <a:t>환경/지형정보 · 제원/파라미터 · DB 검증 · 사용자관리 · 최신화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기본DB 업무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기본DB 대상과 산출물을 환경정보, 제원정보, 검증/운영관리로 구분합니다.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30000"/>
            <a:ext cx="1116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업무영역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0000" y="1530000"/>
            <a:ext cx="2304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주요 개선대상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4000" y="1530000"/>
            <a:ext cx="812411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54000"/>
            <a:ext cx="111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환경/지형정보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1854000"/>
            <a:ext cx="2304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공중/해양정보, 작전/임무구역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4000" y="1854000"/>
            <a:ext cx="8124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표준 테이블, 구역 편집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78000"/>
            <a:ext cx="1116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제원/파라미터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2178000"/>
            <a:ext cx="2304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부대, 플랫폼, 추진체계, 센서, 링크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4000" y="2178000"/>
            <a:ext cx="8124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항목 정의서, 입력/검증 화면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502000"/>
            <a:ext cx="111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무기/전자전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2502000"/>
            <a:ext cx="2304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전자전장비, 화력무기체계, 지휘무장통제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4000" y="2502000"/>
            <a:ext cx="8124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룩업테이블, 파라미터 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2826000"/>
            <a:ext cx="1116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운영관리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40000" y="2826000"/>
            <a:ext cx="2304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DB 검증, 사용자 권한, 최신화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4000" y="2826000"/>
            <a:ext cx="8124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검증규칙, 변경이력, 승인절차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요구분류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588183" y="366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74583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데이터 모델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902767" y="366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89167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화면/편집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17351" y="366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03751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31935" y="366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18335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운영전환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기본DB 담당 범위를 명확화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카테고리별 산출물과 검증 기준 제시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운영 단계 변경 이력까지 포함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기본DB To-Be 관리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원천 DB 연계, 표준 스키마, 편집 UI, 검증 규칙, 운영 DB를 일관된 흐름으로 구성합니다.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30000"/>
            <a:ext cx="2228183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원천 DB/요구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6583" y="1677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2983" y="1530000"/>
            <a:ext cx="2228183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표준 스키마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95567" y="1677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81967" y="1530000"/>
            <a:ext cx="2228183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편집 UI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4551" y="1677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0951" y="1530000"/>
            <a:ext cx="2228183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검증 규칙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53535" y="1677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39935" y="1530000"/>
            <a:ext cx="2228183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운영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304000"/>
            <a:ext cx="1260000" cy="316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환경/지형정보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28000" y="2304000"/>
            <a:ext cx="3279239" cy="316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32A31"/>
                </a:solidFill>
                <a:latin typeface="Malgun Gothic"/>
              </a:defRPr>
            </a:pPr>
            <a:r>
              <a:t>공중/해양정보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2039" y="2304000"/>
            <a:ext cx="3279239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32A31"/>
                </a:solidFill>
                <a:latin typeface="Malgun Gothic"/>
              </a:defRPr>
            </a:pPr>
            <a:r>
              <a:t>작전/임무구역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6079" y="2304000"/>
            <a:ext cx="3279239" cy="316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32A31"/>
                </a:solidFill>
                <a:latin typeface="Malgun Gothic"/>
              </a:defRPr>
            </a:pPr>
            <a:r>
              <a:t>격자/해역 속성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2772000"/>
            <a:ext cx="1260000" cy="316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제원/파라미터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28000" y="2772000"/>
            <a:ext cx="3279239" cy="316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32A31"/>
                </a:solidFill>
                <a:latin typeface="Malgun Gothic"/>
              </a:defRPr>
            </a:pPr>
            <a:r>
              <a:t>부대/플랫폼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2039" y="2772000"/>
            <a:ext cx="3279239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32A31"/>
                </a:solidFill>
                <a:latin typeface="Malgun Gothic"/>
              </a:defRPr>
            </a:pPr>
            <a:r>
              <a:t>추진·센서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6079" y="2772000"/>
            <a:ext cx="3279239" cy="316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32A31"/>
                </a:solidFill>
                <a:latin typeface="Malgun Gothic"/>
              </a:defRPr>
            </a:pPr>
            <a:r>
              <a:t>전자전·무기체계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3240000"/>
            <a:ext cx="1260000" cy="316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품질/운영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28000" y="3240000"/>
            <a:ext cx="3279239" cy="316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32A31"/>
                </a:solidFill>
                <a:latin typeface="Malgun Gothic"/>
              </a:defRPr>
            </a:pPr>
            <a:r>
              <a:t>DB 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2039" y="3240000"/>
            <a:ext cx="3279239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32A31"/>
                </a:solidFill>
                <a:latin typeface="Malgun Gothic"/>
              </a:defRPr>
            </a:pPr>
            <a:r>
              <a:t>권한/이력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6079" y="3240000"/>
            <a:ext cx="3279239" cy="316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60" b="1">
                <a:solidFill>
                  <a:srgbClr val="232A31"/>
                </a:solidFill>
                <a:latin typeface="Malgun Gothic"/>
              </a:defRPr>
            </a:pPr>
            <a:r>
              <a:t>최신화/동기화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원천 DB부터 운영 DB까지 흐름화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편집 UI와 검증 규칙을 함께 설계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확장 가능한 분류체계 기반 구성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기본DB 논리 구조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환경/구역/플랫폼/파라미터 정보를 추적 가능한 테이블 구조로 관리합니다.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12000"/>
            <a:ext cx="2340000" cy="223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ENV_GRID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771200"/>
            <a:ext cx="2340000" cy="81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740" b="0">
                <a:solidFill>
                  <a:srgbClr val="232A31"/>
                </a:solidFill>
                <a:latin typeface="Malgun Gothic"/>
              </a:defRPr>
            </a:pPr>
            <a:r>
              <a:t>grid_id</a:t>
            </a:r>
            <a:br/>
            <a:r>
              <a:t>sea_area</a:t>
            </a:r>
            <a:br/>
            <a:r>
              <a:t>depth</a:t>
            </a:r>
            <a:br/>
            <a:r>
              <a:t>source_ver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1999" y="1512000"/>
            <a:ext cx="2340000" cy="223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MISSION_AREA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1999" y="1771200"/>
            <a:ext cx="2340000" cy="81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740" b="0">
                <a:solidFill>
                  <a:srgbClr val="232A31"/>
                </a:solidFill>
                <a:latin typeface="Malgun Gothic"/>
              </a:defRPr>
            </a:pPr>
            <a:r>
              <a:t>area_id</a:t>
            </a:r>
            <a:br/>
            <a:r>
              <a:t>type</a:t>
            </a:r>
            <a:br/>
            <a:r>
              <a:t>boundary</a:t>
            </a:r>
            <a:br/>
            <a:r>
              <a:t>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988000"/>
            <a:ext cx="2340000" cy="223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PLATFORM_SPEC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247200"/>
            <a:ext cx="2340000" cy="81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740" b="0">
                <a:solidFill>
                  <a:srgbClr val="232A31"/>
                </a:solidFill>
                <a:latin typeface="Malgun Gothic"/>
              </a:defRPr>
            </a:pPr>
            <a:r>
              <a:t>platform_id</a:t>
            </a:r>
            <a:br/>
            <a:r>
              <a:t>class</a:t>
            </a:r>
            <a:br/>
            <a:r>
              <a:t>rcs</a:t>
            </a:r>
            <a:br/>
            <a:r>
              <a:t>safe_depth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1999" y="2988000"/>
            <a:ext cx="2340000" cy="223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PARAM_LOOKUP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1999" y="3247200"/>
            <a:ext cx="2340000" cy="81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740" b="0">
                <a:solidFill>
                  <a:srgbClr val="232A31"/>
                </a:solidFill>
                <a:latin typeface="Malgun Gothic"/>
              </a:defRPr>
            </a:pPr>
            <a:r>
              <a:t>param_id</a:t>
            </a:r>
            <a:br/>
            <a:r>
              <a:t>category</a:t>
            </a:r>
            <a:br/>
            <a:r>
              <a:t>value</a:t>
            </a:r>
            <a:br/>
            <a:r>
              <a:t>valid_rule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00000" y="2070000"/>
            <a:ext cx="611999" cy="0"/>
          </a:xfrm>
          <a:prstGeom prst="line">
            <a:avLst/>
          </a:prstGeom>
          <a:ln w="1524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00000" y="3528000"/>
            <a:ext cx="611999" cy="0"/>
          </a:xfrm>
          <a:prstGeom prst="line">
            <a:avLst/>
          </a:prstGeom>
          <a:ln w="1524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30000" y="2556000"/>
            <a:ext cx="0" cy="432000"/>
          </a:xfrm>
          <a:prstGeom prst="line">
            <a:avLst/>
          </a:prstGeom>
          <a:ln w="1524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환경, 구역, 플랫폼, 파라미터 핵심 구조 제안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식별자와 버전 기반 추적성 확보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참조 무결성 검증 기반 마련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데이터 표준화 및 최신화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코드, 단위, 식별자, 버전 정보를 표준화하여 향후 DB 최신화를 용이하게 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48000"/>
            <a:ext cx="1440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관리 원칙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0000" y="1548000"/>
            <a:ext cx="1003211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적용 방안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872000"/>
            <a:ext cx="1440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표준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0000" y="1872000"/>
            <a:ext cx="10032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공통 코드, 식별자, 단위, 좌표계, 버전 정보를 표준화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196000"/>
            <a:ext cx="1440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최신화 용이성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0" y="2196000"/>
            <a:ext cx="10032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원천 DB 구조와 매핑 규칙을 관리하여 갱신 부담 최소화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520000"/>
            <a:ext cx="1440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추적성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0" y="2520000"/>
            <a:ext cx="10032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입력자, 변경일자, 변경사유, 적용 버전 이력을 보존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844000"/>
            <a:ext cx="1440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검증성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00000" y="2844000"/>
            <a:ext cx="10032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저장 전 형식·범위·참조·업무규칙 검증을 적용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3311999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코드/단위 표준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88183" y="3450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4583" y="3311999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매핑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02767" y="3450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89167" y="3311999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17351" y="3450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03751" y="3311999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승인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31935" y="3450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8335" y="3311999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배포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코드/단위/식별자 표준화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원천-운영 DB 매핑 규칙화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검증 후 승인 반영 절차 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환경/지형정보 관리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공중/해양정보와 해역별 환경 정보를 원천 구조와 연계 가능한 형태로 관리합니다.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12000"/>
            <a:ext cx="1116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0000" y="1512000"/>
            <a:ext cx="2412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개선 내용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2000" y="1512000"/>
            <a:ext cx="801611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관리 방향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36000"/>
            <a:ext cx="111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공중/해양정보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1836000"/>
            <a:ext cx="241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통합해양정보체계 DB와 동일 구조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2000" y="1836000"/>
            <a:ext cx="8016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해역별 격자/수심/환경속성 표준화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60000"/>
            <a:ext cx="1116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최신화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2160000"/>
            <a:ext cx="2412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향후 DB 최신화 용이 목적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2000" y="2160000"/>
            <a:ext cx="8016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원천-운영 DB 매핑 및 이력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484000"/>
            <a:ext cx="111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조위/환경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2484000"/>
            <a:ext cx="241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조위 정보 정렬·평균 기준 변환 기능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52000" y="2484000"/>
            <a:ext cx="8016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자동 산출값과 원천값 병행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3096000"/>
            <a:ext cx="11472119" cy="180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3160800"/>
            <a:ext cx="11292119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환경/지형정보 관리 예시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999" y="3340800"/>
            <a:ext cx="277623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해역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029" y="3340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격자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59" y="3340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수심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1089" y="3340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조위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999" y="3582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4028" y="3582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2058" y="3582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0088" y="3582000"/>
            <a:ext cx="2294423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이력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5999" y="376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해역코드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4028" y="376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2058" y="376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0088" y="3762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5999" y="394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격자수준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4028" y="394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2058" y="394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0088" y="3942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5999" y="412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수심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54028" y="412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2058" y="412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0088" y="4122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5999" y="430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원천버전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54028" y="430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22058" y="430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0088" y="4302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통합해양정보체계 DB 구조 연계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해역별 환경정보 최신화 용이성 확보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조위/수심/격자 속성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작전/임무구역 UI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구역 설정 UI를 참조구역/선 관리와 동일한 편집 경험으로 개선합니다.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30000"/>
            <a:ext cx="1224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84000" y="1530000"/>
            <a:ext cx="2052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현재 개선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6000" y="1530000"/>
            <a:ext cx="819611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제안 방향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854000"/>
            <a:ext cx="1224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작전/임무구역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84000" y="1854000"/>
            <a:ext cx="205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구역설정 UI 개선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6000" y="1854000"/>
            <a:ext cx="8196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참조구역/선 관리와 동일한 편집 패턴 적용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178000"/>
            <a:ext cx="1224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편집 기능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84000" y="2178000"/>
            <a:ext cx="2052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구역 경계, 선, 속성 관리 일관성 부족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2178000"/>
            <a:ext cx="8196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그리기·수정·저장·검증 절차 통합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502000"/>
            <a:ext cx="1224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운영성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84000" y="2502000"/>
            <a:ext cx="205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다수 구역 변경 시 이력 추적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2502000"/>
            <a:ext cx="8196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변경 이력 및 승인 상태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3168000"/>
            <a:ext cx="11472119" cy="180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3232800"/>
            <a:ext cx="11292119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구역 설정 UI 개선 예시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999" y="3412800"/>
            <a:ext cx="371124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참조구역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6039" y="3412800"/>
            <a:ext cx="371124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선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6079" y="3412800"/>
            <a:ext cx="371124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임무구역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5999" y="3654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4028" y="3654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2058" y="3654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0088" y="3654000"/>
            <a:ext cx="2294423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이력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5999" y="3834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구역명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4028" y="3834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2058" y="3834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0088" y="3834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5999" y="4014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좌표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54028" y="4014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2058" y="4014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0088" y="4014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5999" y="4194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임무유형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54028" y="4194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22058" y="4194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0088" y="4194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5999" y="4374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상태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54028" y="4374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2058" y="4374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0088" y="4374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구역 편집 UI 일관성 확보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참조구역/선 관리와 동일한 조작 패턴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변경 이력과 승인 상태 관리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제원/파라미터 관리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부대, 플랫폼, 추진체계, 센서, 링크 등 확장 항목을 분류 기반으로 관리합니다.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12000"/>
            <a:ext cx="972000" cy="295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분류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6000" y="1512000"/>
            <a:ext cx="2268000" cy="295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추가/개선 대상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4000" y="1512000"/>
            <a:ext cx="8304119" cy="295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관리 방식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07200"/>
            <a:ext cx="972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부대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6000" y="1807200"/>
            <a:ext cx="2268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제3국 부대 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4000" y="1807200"/>
            <a:ext cx="8304119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수상함/항공/잠수함 부대 유형화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02400"/>
            <a:ext cx="972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플랫폼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6000" y="2102400"/>
            <a:ext cx="2268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Wave glider, 저궤도 위성 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4000" y="2102400"/>
            <a:ext cx="8304119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플랫폼별 속성/형상/RCS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397600"/>
            <a:ext cx="972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추진체계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6000" y="2397600"/>
            <a:ext cx="2268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무인체계 배터리·엔진, 무인기 배터리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4000" y="2397600"/>
            <a:ext cx="8304119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동력원 및 운용시간 파라미터화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2692800"/>
            <a:ext cx="972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센서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96000" y="2692800"/>
            <a:ext cx="2268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SAR 추가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4000" y="2692800"/>
            <a:ext cx="8304119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센서 유형/성능/제한각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분류체계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588183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74583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속성 정의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902767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89167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룩업 관리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17351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03751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검증 규칙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31935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18335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적용 이력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신규 부대/플랫폼/센서/링크 항목 반영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제원값 입력과 검증 규칙 연계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룩업테이블 기반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플랫폼 DB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Wave glider, 저궤도 위성 등 신규 플랫폼과 형상/RCS/안전항해수심 속성을 반영합니다.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30000"/>
            <a:ext cx="1296000" cy="295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56000" y="1530000"/>
            <a:ext cx="10176120" cy="295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제안 내용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825200"/>
            <a:ext cx="1296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플랫폼 확장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56000" y="1825200"/>
            <a:ext cx="1017612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Wave glider, 저궤도 위성 등 신규 플랫폼 유형 추가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120400"/>
            <a:ext cx="1296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3D 형상/RCS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2120400"/>
            <a:ext cx="1017612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수상함·잠수함·항공기 형상 기반 RCS 산출 항목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415600"/>
            <a:ext cx="1296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안전항해수심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56000" y="2415600"/>
            <a:ext cx="1017612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수상항해/스노클항해/잠항시 조건별 수심 속성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710800"/>
            <a:ext cx="1296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플랫폼 속성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56000" y="2710800"/>
            <a:ext cx="1017612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진영, 운용상태, 탑재체계, 시스템 네트워크 속성 연계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3096000"/>
            <a:ext cx="11472119" cy="180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" y="3160800"/>
            <a:ext cx="11292119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플랫폼 제원 편집 예시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999" y="3340800"/>
            <a:ext cx="277623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기본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029" y="3340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형상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59" y="3340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RCS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1089" y="3340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운용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5999" y="3582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4028" y="3582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058" y="3582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0088" y="3582000"/>
            <a:ext cx="2294423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이력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5999" y="376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플랫폼ID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4028" y="376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2058" y="376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0088" y="3762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5999" y="394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형상모델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54028" y="394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2058" y="394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0088" y="3942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5999" y="412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대표RCS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4028" y="412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2058" y="4122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0088" y="4122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5999" y="430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안전수심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54028" y="430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2058" y="4302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0088" y="4302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신규 플랫폼과 형상/RCS 속성 확장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안전항해수심 등 운용 조건 관리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플랫폼 속성 변경 이력 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추진체계·센서·데이터링크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무인체계 추진체계, SAR, 전송지연 및 데이터 손실률을 제원 DB로 관리합니다.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30000"/>
            <a:ext cx="1152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관리대상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6000" y="1530000"/>
            <a:ext cx="2412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개선 내용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8000" y="1530000"/>
            <a:ext cx="798011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54000"/>
            <a:ext cx="115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추진체계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76000" y="1854000"/>
            <a:ext cx="241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배터리, 엔진 등 무인체계 추진체계 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8000" y="1854000"/>
            <a:ext cx="7980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운용시간/동력원 범위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78000"/>
            <a:ext cx="1152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항공기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6000" y="2178000"/>
            <a:ext cx="2412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무인기 배터리 속성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8000" y="2178000"/>
            <a:ext cx="7980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임무 지속시간 연계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502000"/>
            <a:ext cx="115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데이터링크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76000" y="2502000"/>
            <a:ext cx="241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전송지연, 위성 up/down-link 지연, 손실률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8000" y="2502000"/>
            <a:ext cx="7980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지연/정확도 단위 및 범위 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3420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동력원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588183" y="3558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74583" y="3420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지연시간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02767" y="3558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89167" y="3420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정확도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17351" y="3558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03751" y="3420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손실률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31935" y="3558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18335" y="3420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시뮬레이션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무인체계 추진체계와 배터리 항목 반영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데이터링크 지연/손실률 관리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센서 유형 확장에 대응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전자전장비 DB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EA/EP 방식별 제원값과 룩업테이블을 통해 전자전 관련 기본DB를 관리합니다.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30000"/>
            <a:ext cx="100799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1999" y="1530000"/>
            <a:ext cx="2376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DB 관리 항목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7999" y="1530000"/>
            <a:ext cx="816012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제안 방향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54000"/>
            <a:ext cx="100799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1999" y="1854000"/>
            <a:ext cx="237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레이더/통신체계 교란, 재밍효과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7999" y="1854000"/>
            <a:ext cx="816012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방식별 제원값 또는 모델결과 룩업테이블화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78000"/>
            <a:ext cx="100799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31999" y="2178000"/>
            <a:ext cx="2376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전자공격 저항 방호능력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7999" y="2178000"/>
            <a:ext cx="816012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센서/통신체계별 생존성 평가 파라미터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502000"/>
            <a:ext cx="100799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31999" y="2502000"/>
            <a:ext cx="237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교전급 수준 제원값, 참조 테이블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7999" y="2502000"/>
            <a:ext cx="816012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입력값 범위와 참조 무결성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3150000"/>
            <a:ext cx="11472119" cy="1764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3214800"/>
            <a:ext cx="11292119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전자전장비 룩업테이블 예시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999" y="3394800"/>
            <a:ext cx="277623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EA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029" y="3394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59" y="3394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룩업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1089" y="3394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999" y="3636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4028" y="3636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2058" y="3636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0088" y="3636000"/>
            <a:ext cx="2294423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이력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5999" y="381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방식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4028" y="381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2058" y="381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0088" y="3816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5999" y="399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대상체계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4028" y="399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2058" y="399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0088" y="3996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5999" y="417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효과값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54028" y="417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2058" y="417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0088" y="4176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5999" y="435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적용조건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54028" y="435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22058" y="435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0088" y="4356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EA/EP 방식별 룩업테이블 관리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전자전 제원값과 모델 결과 연계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참조 무결성 및 범위 검증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화력무기체계 및 지휘무장통제 DB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신규 무기체계와 동시교전능력, 복합전 지휘구조를 데이터화합니다.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30000"/>
            <a:ext cx="1152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분류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6000" y="1530000"/>
            <a:ext cx="2412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추가/개선 대상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8000" y="1530000"/>
            <a:ext cx="798011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관리 방향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54000"/>
            <a:ext cx="115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화력무기체계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76000" y="1854000"/>
            <a:ext cx="241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항적추적어뢰, 초공동어뢰, 설정심도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8000" y="1854000"/>
            <a:ext cx="7980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무기별 사거리·심도·센서부 속성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78000"/>
            <a:ext cx="1152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지휘무장통제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6000" y="2178000"/>
            <a:ext cx="2412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다수 TG 운용, DDG I/II 동시교전능력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8000" y="2178000"/>
            <a:ext cx="7980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교전능력 구분 및 복합전 지휘구조 모델링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502000"/>
            <a:ext cx="115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무장통제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76000" y="2502000"/>
            <a:ext cx="2412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대탄도탄/유도탄 교전 개념 반영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8000" y="2502000"/>
            <a:ext cx="7980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232A31"/>
                </a:solidFill>
                <a:latin typeface="Malgun Gothic"/>
              </a:defRPr>
            </a:pPr>
            <a:r>
              <a:t>동시교전 제한 및 할당 기준 데이터화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무기분류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588183" y="3594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74583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운용조건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02767" y="3594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89167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교전제한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17351" y="3594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03751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능력값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31935" y="3594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18335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모의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신규 무기체계와 설정심도 항목 반영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동시교전능력과 지휘구조 데이터화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복합전 분석 기반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손상평가관리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플랫폼 3D/시스템 네트워크 모듈화와 손상평가 DB 연계를 강화합니다.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12000"/>
            <a:ext cx="1152000" cy="295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6000" y="1512000"/>
            <a:ext cx="2412000" cy="295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개선 내용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8000" y="1512000"/>
            <a:ext cx="7980119" cy="2952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제안 방향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07200"/>
            <a:ext cx="1152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표준 플랫폼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76000" y="1807200"/>
            <a:ext cx="2412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함형/톤수/무기체계별 표준 플랫폼 3D 및 네트워크 모듈화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8000" y="1807200"/>
            <a:ext cx="7980119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플랫폼 기준 손상평가 DB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02400"/>
            <a:ext cx="1152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입력 방식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6000" y="2102400"/>
            <a:ext cx="2412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컬럼 입력 중심으로 3D 직관성 부족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8000" y="2102400"/>
            <a:ext cx="7980119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입력값-3D 표현 연계 UI 구성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397600"/>
            <a:ext cx="1152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진영 변경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76000" y="2397600"/>
            <a:ext cx="2412000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플랫폼 진영 변경 시 손상평가 자동 변경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8000" y="2397600"/>
            <a:ext cx="7980119" cy="2952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진영 속성과 평가 기준 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2692800"/>
            <a:ext cx="1152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신규 플랫폼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76000" y="2692800"/>
            <a:ext cx="2412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적 및 신규 플랫폼 손상평가용 3D 렌더링/네트워크 자동생성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8000" y="2692800"/>
            <a:ext cx="7980119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0" b="0">
                <a:solidFill>
                  <a:srgbClr val="232A31"/>
                </a:solidFill>
                <a:latin typeface="Malgun Gothic"/>
              </a:defRPr>
            </a:pPr>
            <a:r>
              <a:t>템플릿 기반 자동 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204000"/>
            <a:ext cx="11472119" cy="1692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" y="3268800"/>
            <a:ext cx="11292119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손상평가 DB 편집 예시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5999" y="3448800"/>
            <a:ext cx="277623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플랫폼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029" y="3448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구조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59" y="3448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평가기준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1089" y="3448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3D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5999" y="3690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4028" y="3690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2058" y="3690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0088" y="3690000"/>
            <a:ext cx="2294423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이력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5999" y="3870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함형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54028" y="3870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2058" y="3870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0088" y="3870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5999" y="4050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톤수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54028" y="4050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22058" y="4050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0088" y="4050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5999" y="4230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무기체계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54028" y="4230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2058" y="4230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0088" y="4230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5999" y="4410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진영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54028" y="4410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22058" y="4410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0088" y="4410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플랫폼 3D/네트워크 모듈화 연계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손상평가 기준 DB화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진영 변경에 따른 평가 기준 연동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DB 검증 및 품질관리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형식, 참조 무결성, 업무규칙, 이력 검증을 저장 전후 단계에 적용합니다.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65999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입력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6583" y="1704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2983" y="1565999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형식 검증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95567" y="1704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81967" y="1565999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참조 무결성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4551" y="1704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0951" y="1565999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업무 규칙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53535" y="1704599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39935" y="1565999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승인/반영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358000"/>
            <a:ext cx="1188000" cy="288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48000" y="2358000"/>
            <a:ext cx="2556000" cy="288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점검 내용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4000" y="2358000"/>
            <a:ext cx="7728119" cy="288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결과 처리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2646000"/>
            <a:ext cx="1188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형식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48000" y="2646000"/>
            <a:ext cx="2556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필수값, 코드값, 단위, 범위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04000" y="2646000"/>
            <a:ext cx="7728119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오류 표시 및 저장 제한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2934000"/>
            <a:ext cx="118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관계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48000" y="2934000"/>
            <a:ext cx="2556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플랫폼-센서-무장 참조 무결성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04000" y="2934000"/>
            <a:ext cx="7728119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누락 참조 보정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3222000"/>
            <a:ext cx="1188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업무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8000" y="3222000"/>
            <a:ext cx="2556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최소/최대값, 운용 조건, 시뮬레이션 사용성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04000" y="3222000"/>
            <a:ext cx="7728119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승인 전 검토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000" y="3510000"/>
            <a:ext cx="118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이력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8000" y="3510000"/>
            <a:ext cx="2556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변경자, 변경사유, 적용일자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04000" y="3510000"/>
            <a:ext cx="7728119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버전별 추적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형식/관계/업무/이력 검증 체계화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저장 전 오류 차단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승인 기반 운영 안정성 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사용자·권한·편집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다수 사용자 권한 조정, 삭제 통제, 편집 기능, 감사이력 관리를 제안합니다.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48000"/>
            <a:ext cx="1296000" cy="306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관리 항목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56000" y="1548000"/>
            <a:ext cx="10176120" cy="306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제안 내용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854000"/>
            <a:ext cx="1296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권한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56000" y="1854000"/>
            <a:ext cx="1017612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다수 사용자에 대해 일괄 권한 조정 기능 제공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160000"/>
            <a:ext cx="12960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삭제/승인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2160000"/>
            <a:ext cx="1017612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삭제 및 반영 권한을 역할별로 통제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466000"/>
            <a:ext cx="1296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편집성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56000" y="2466000"/>
            <a:ext cx="1017612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테이블ID, 메뉴ID 가독성 및 편집 기능 개선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772000"/>
            <a:ext cx="12960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감사이력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56000" y="2772000"/>
            <a:ext cx="1017612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변경자, 변경 전/후 값, 승인자, 적용일자 추적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사용자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88183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4583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역할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02767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89167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권한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17351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03751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승인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31935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8335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감사이력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역할 기반 권한관리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삭제 및 반영 통제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감사이력으로 운영 추적성 강화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데이터 이관 및 동기화 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원천 확인, 매핑, 검증, 승인, 운영 반영 절차로 DB 최신화를 수행합니다.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48000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원천 확인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6583" y="168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2983" y="1548000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매핑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95567" y="168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81967" y="1548000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4551" y="168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0951" y="1548000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승인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53535" y="168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39935" y="1548000"/>
            <a:ext cx="22281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운영 반영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376000"/>
            <a:ext cx="972000" cy="288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단계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32000" y="2376000"/>
            <a:ext cx="2520000" cy="288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주요 내용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52000" y="2376000"/>
            <a:ext cx="7980119" cy="288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2664000"/>
            <a:ext cx="972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원천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32000" y="2664000"/>
            <a:ext cx="2520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통합해양정보체계 및 기존 기본DB 구조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52000" y="2664000"/>
            <a:ext cx="7980119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원천/대상 매핑표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2952000"/>
            <a:ext cx="972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매핑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32000" y="2952000"/>
            <a:ext cx="2520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테이블·컬럼·코드·단위 변환 규칙 정의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52000" y="2952000"/>
            <a:ext cx="7980119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변환 규칙서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3240000"/>
            <a:ext cx="972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32000" y="3240000"/>
            <a:ext cx="2520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건수/참조/범위/업무규칙 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52000" y="3240000"/>
            <a:ext cx="7980119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검증 결과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000" y="3528000"/>
            <a:ext cx="972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반영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32000" y="3528000"/>
            <a:ext cx="2520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승인 후 운영 DB 반영 및 이력 저장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52000" y="3528000"/>
            <a:ext cx="7980119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반영 이력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원천-대상 매핑 절차 명확화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검증 후 승인 반영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최신화 반복 업무 부담 완화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UI/UX 설계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검색, 편집, 검증, 이력 확인을 한 흐름으로 제공하는 기본DB 통합관리 UI를 구성합니다.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530000"/>
            <a:ext cx="11472119" cy="2232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1594800"/>
            <a:ext cx="11292119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기본DB 통합관리 UI 방향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5999" y="1774800"/>
            <a:ext cx="277623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검색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029" y="1774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편집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59" y="1774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1089" y="1774800"/>
            <a:ext cx="2776230" cy="16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004B73"/>
                </a:solidFill>
                <a:latin typeface="Malgun Gothic"/>
              </a:defRPr>
            </a:pPr>
            <a:r>
              <a:t>이력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999" y="2016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4028" y="2016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058" y="2016000"/>
            <a:ext cx="2868029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0088" y="2016000"/>
            <a:ext cx="2294423" cy="18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FFFFFF"/>
                </a:solidFill>
                <a:latin typeface="Malgun Gothic"/>
              </a:defRPr>
            </a:pPr>
            <a:r>
              <a:t>이력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5999" y="219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분류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4028" y="219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058" y="219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0088" y="2196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999" y="237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속성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54028" y="237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2058" y="237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0088" y="2376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999" y="255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검증결과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4028" y="255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2058" y="2556000"/>
            <a:ext cx="2868029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0088" y="2556000"/>
            <a:ext cx="2294423" cy="18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5999" y="273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승인상태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4028" y="273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입력/선택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2058" y="2736000"/>
            <a:ext cx="2868029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정상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0088" y="2736000"/>
            <a:ext cx="2294423" cy="18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10" b="0">
                <a:solidFill>
                  <a:srgbClr val="232A31"/>
                </a:solidFill>
                <a:latin typeface="Malgun Gothic"/>
              </a:defRPr>
            </a:pPr>
            <a:r>
              <a:t>기록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0000" y="3996000"/>
            <a:ext cx="1296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UI 원칙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56000" y="3996000"/>
            <a:ext cx="1017612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적용 방향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0000" y="4276800"/>
            <a:ext cx="1296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동일 패턴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56000" y="4276800"/>
            <a:ext cx="1017612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참조구역/선 관리와 유사한 편집 경험 제공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000" y="4557600"/>
            <a:ext cx="1296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오류 가시화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56000" y="4557600"/>
            <a:ext cx="1017612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입력 즉시 오류 위치와 사유 표시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0000" y="4838400"/>
            <a:ext cx="1296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변경 추적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56000" y="4838400"/>
            <a:ext cx="1017612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변경 전/후 값과 승인 상태를 한 화면에서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검색-편집-검증-이력 흐름 제공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오류 위치와 사유 가시화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기존 관리 화면과 유사한 사용성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개발 및 시험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분석, 설계, 구현, 검증, 전환 단계로 기본DB 개선을 추진합니다.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12000"/>
            <a:ext cx="864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FFFFFF"/>
                </a:solidFill>
                <a:latin typeface="Malgun Gothic"/>
              </a:defRPr>
            </a:pPr>
            <a:r>
              <a:t>단계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000" y="1512000"/>
            <a:ext cx="2700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FFFFFF"/>
                </a:solidFill>
                <a:latin typeface="Malgun Gothic"/>
              </a:defRPr>
            </a:pPr>
            <a:r>
              <a:t>수행 내용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8000" y="1512000"/>
            <a:ext cx="7980119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FFFFFF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792800"/>
            <a:ext cx="864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000" y="1792800"/>
            <a:ext cx="2700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task 및 RFP 기본DB 요구사항 정제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8000" y="1792800"/>
            <a:ext cx="7980119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요구사항 매트릭스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073600"/>
            <a:ext cx="8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000" y="2073600"/>
            <a:ext cx="2700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DB 스키마, 코드, UI, 검증규칙 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8000" y="2073600"/>
            <a:ext cx="7980119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DB/UI 설계서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354400"/>
            <a:ext cx="864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구현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000" y="2354400"/>
            <a:ext cx="2700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환경/제원/무기/전자전/손상평가 관리 화면 구현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8000" y="2354400"/>
            <a:ext cx="7980119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기능 모듈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2635200"/>
            <a:ext cx="8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000" y="2635200"/>
            <a:ext cx="2700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데이터 이관, 정합성, 권한, 이력 시험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8000" y="2635200"/>
            <a:ext cx="7980119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검증 결과서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000" y="2916000"/>
            <a:ext cx="864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전환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000" y="2916000"/>
            <a:ext cx="2700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운영 DB 반영 및 사용자 교육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8000" y="2916000"/>
            <a:ext cx="7980119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전환 계획서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분석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588183" y="3594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74583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설계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902767" y="3594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89167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구현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217351" y="3594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03751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531935" y="3594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18335" y="3456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전환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단계별 산출물 중심 추진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검증과 전환을 별도 단계로 관리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운영자 교육과 전환 계획 포함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위험요소 및 대응방안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원천 DB 구조 차이, 입력항목 증가, 참조 무결성, 권한관리 리스크를 사전에 관리합니다.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48000"/>
            <a:ext cx="1296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FFFFFF"/>
                </a:solidFill>
                <a:latin typeface="Malgun Gothic"/>
              </a:defRPr>
            </a:pPr>
            <a:r>
              <a:t>위험요소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0000" y="1548000"/>
            <a:ext cx="1728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FFFFFF"/>
                </a:solidFill>
                <a:latin typeface="Malgun Gothic"/>
              </a:defRPr>
            </a:pPr>
            <a:r>
              <a:t>영향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8000" y="1548000"/>
            <a:ext cx="852012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FFFFFF"/>
                </a:solidFill>
                <a:latin typeface="Malgun Gothic"/>
              </a:defRPr>
            </a:pPr>
            <a:r>
              <a:t>대응방안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72000"/>
            <a:ext cx="129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원천 DB 구조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0000" y="1872000"/>
            <a:ext cx="1728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최신화 지연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8000" y="1872000"/>
            <a:ext cx="852012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매핑 규칙과 예외 처리 기준 수립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96000"/>
            <a:ext cx="1296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입력항목 증가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0000" y="2196000"/>
            <a:ext cx="1728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사용성 저하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8000" y="2196000"/>
            <a:ext cx="852012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분류별 화면 분리와 일괄 편집 제공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520000"/>
            <a:ext cx="129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참조 무결성 오류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20000" y="2520000"/>
            <a:ext cx="1728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모의 실행 오류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8000" y="2520000"/>
            <a:ext cx="852012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저장 전 검증 및 승인 절차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2844000"/>
            <a:ext cx="1296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권한관리 미흡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20000" y="2844000"/>
            <a:ext cx="1728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오입력/오삭제 위험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8000" y="2844000"/>
            <a:ext cx="852012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69" b="0">
                <a:solidFill>
                  <a:srgbClr val="232A31"/>
                </a:solidFill>
                <a:latin typeface="Malgun Gothic"/>
              </a:defRPr>
            </a:pPr>
            <a:r>
              <a:t>역할 기반 권한과 감사이력 적용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식별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588183" y="366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74583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분석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902767" y="366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89167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대응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17351" y="366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03751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31935" y="3666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18335" y="3528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이력화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구조 차이와 무결성 오류 사전 관리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입력항목 증가에 따른 사용성 보완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권한 및 이력 관리로 오조작 방지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기대효과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기본DB 최신화 용이성, 입력 품질, 운영 추적성, 확장성을 확보합니다.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84000"/>
            <a:ext cx="1260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기대효과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0000" y="1584000"/>
            <a:ext cx="1021211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설명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08000"/>
            <a:ext cx="1260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최신화 용이성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0000" y="1908000"/>
            <a:ext cx="10212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원천 DB 구조와 매핑 규칙 기반으로 갱신 부담 완화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232000"/>
            <a:ext cx="1260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입력 품질 향상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0000" y="2232000"/>
            <a:ext cx="10212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형식·범위·참조 검증으로 오입력 최소화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556000"/>
            <a:ext cx="1260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운영 추적성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0000" y="2556000"/>
            <a:ext cx="10212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변경자, 승인자, 버전, 변경사유 이력 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880000"/>
            <a:ext cx="1260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확장성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20000" y="2880000"/>
            <a:ext cx="10212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신규 플랫폼, 센서, 무장, 전자전 항목 추가에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표준화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88183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4583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02767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89167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이력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17351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03751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확장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31935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8335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운영 안정화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DB 최신화 용이성 향상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입력 품질과 검증성 강화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신규 항목 확장 기반 확보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92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40" b="1">
                <a:solidFill>
                  <a:srgbClr val="004B73"/>
                </a:solidFill>
                <a:latin typeface="Malgun Gothic"/>
              </a:defRPr>
            </a:pPr>
            <a:r>
              <a:t>Ⅱ - 21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11688120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11688120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11544119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69" b="1">
                <a:solidFill>
                  <a:srgbClr val="004B73"/>
                </a:solidFill>
                <a:latin typeface="Malgun Gothic"/>
              </a:defRPr>
            </a:pPr>
            <a:r>
              <a:t>기본DB 표준화와 검증 중심 운영을 통해 Build-II 체계개발 요구사항에 대응합니다.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692000"/>
            <a:ext cx="147599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5999" y="1692000"/>
            <a:ext cx="9996119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최종 제안 메시지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016000"/>
            <a:ext cx="147599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기본DB 표준화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5999" y="2016000"/>
            <a:ext cx="9996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환경/지형정보와 제원/파라미터를 표준 구조로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340000"/>
            <a:ext cx="147599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최신화 체계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5999" y="2340000"/>
            <a:ext cx="9996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통합해양정보체계 등 원천 구조와 연계 가능한 갱신 기반 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664000"/>
            <a:ext cx="147599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검증 중심 운영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35999" y="2664000"/>
            <a:ext cx="9996119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저장 전 검증, 권한, 이력, 승인 절차로 운영 안정성 강화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988000"/>
            <a:ext cx="147599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확장 기반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35999" y="2988000"/>
            <a:ext cx="9996119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90" b="0">
                <a:solidFill>
                  <a:srgbClr val="232A31"/>
                </a:solidFill>
                <a:latin typeface="Malgun Gothic"/>
              </a:defRPr>
            </a:pPr>
            <a:r>
              <a:t>신규 플랫폼·센서·무장·전자전·손상평가 항목 추가에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요구 충족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88183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4583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구조 표준화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02767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89167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품질 검증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17351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03751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운영관리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31935" y="3522600"/>
            <a:ext cx="64800" cy="1008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8335" y="3384000"/>
            <a:ext cx="2213783" cy="37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확장성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" y="5400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9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999" y="5558400"/>
            <a:ext cx="11688120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기본DB 표준화 중심 제안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검증 가능한 운영관리 체계 확보</a:t>
            </a:r>
          </a:p>
          <a:p>
            <a:pPr algn="l">
              <a:spcAft>
                <a:spcPts val="100"/>
              </a:spcAft>
              <a:defRPr sz="819">
                <a:solidFill>
                  <a:srgbClr val="232A31"/>
                </a:solidFill>
                <a:latin typeface="Malgun Gothic"/>
              </a:defRPr>
            </a:pPr>
            <a:r>
              <a:t>• Build-II 확장 요구에 단계적 대응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999" y="6634800"/>
            <a:ext cx="11688120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기본DB 제안서  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