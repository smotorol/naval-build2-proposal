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2160000"/>
            <a:ext cx="6066000" cy="936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2200" b="1">
                <a:solidFill>
                  <a:srgbClr val="1F2933"/>
                </a:solidFill>
                <a:latin typeface="Malgun Gothic"/>
              </a:defRPr>
            </a:pPr>
            <a:r>
              <a:t>해군교전분석모델 Build-II</a:t>
            </a:r>
            <a:br/>
            <a:r>
              <a:t>결과분석 제안서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3999" y="3276000"/>
            <a:ext cx="6030001" cy="360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000" b="0">
                <a:solidFill>
                  <a:srgbClr val="0B6993"/>
                </a:solidFill>
                <a:latin typeface="Malgun Gothic"/>
              </a:defRPr>
            </a:pPr>
            <a:r>
              <a:t>RFP 요구사항 대응 중심 | 결과분석 고도화 수행방안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999" y="9348000"/>
            <a:ext cx="6030001" cy="198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0">
                <a:solidFill>
                  <a:srgbClr val="666666"/>
                </a:solidFill>
                <a:latin typeface="Malgun Gothic"/>
              </a:defRPr>
            </a:pPr>
            <a:r>
              <a:t>결과분석 구조 개선 및 구성 기능 고도화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2412000"/>
            <a:ext cx="108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ctr">
              <a:defRPr sz="3400" b="1">
                <a:solidFill>
                  <a:srgbClr val="0B6993"/>
                </a:solidFill>
                <a:latin typeface="Malgun Gothic"/>
              </a:defRPr>
            </a:pPr>
            <a:r>
              <a:t>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8000" y="2502000"/>
            <a:ext cx="495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800" b="1">
                <a:solidFill>
                  <a:srgbClr val="1F2933"/>
                </a:solidFill>
                <a:latin typeface="Malgun Gothic"/>
              </a:defRPr>
            </a:pPr>
            <a:r>
              <a:t>전략 및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5999" y="2898000"/>
            <a:ext cx="495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000" b="0">
                <a:solidFill>
                  <a:srgbClr val="666666"/>
                </a:solidFill>
                <a:latin typeface="Malgun Gothic"/>
              </a:defRPr>
            </a:pPr>
            <a:r>
              <a:t>사업 이해도 / 추진전략 / 결과분석 수행방안 / 시험평가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5999" y="2844000"/>
            <a:ext cx="4914000" cy="144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사업 이해도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Build-II는 모의결과 해석성, 재현성, 검증성 강화가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나. 사업 이해도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Build-II는 모의결과 해석성, 재현성, 검증성 강화가 핵심.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25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결과분석 업무 중심 체계개발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0000" y="1925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전장/플랫폼/무기체계 상호작용 전시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041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시험평가 대응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결과분석 업무 중심 체계개발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전장/플랫폼/무기체계 상호작용 전시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대응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RFP 핵심 요구사항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결과분석 구조와 구성 요구사항을 추적 가능한 단위로 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다. 핵심 요구사항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결과분석 구조와 구성 요구사항을 추적 가능한 단위로 분해.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745999"/>
            <a:ext cx="1512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4000" y="1745999"/>
            <a:ext cx="2520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대응 방안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000" y="1745999"/>
            <a:ext cx="2484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검증/역할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000" y="21491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3D/자동재생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4000" y="21491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로그 기반 3D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4000" y="21491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시간축·이벤트 재현성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000" y="25523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멀티뷰/수중환경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4000" y="25523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동기화 뷰·환경 레이어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4000" y="25523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입력자료-화면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29555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확률/전자전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4000" y="29555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실시간 차트·효과 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4000" y="29555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산출식·시나리오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000" y="33587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4000" y="33587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요구사항별 검증 및 산출물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4000" y="33587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 결과·검증 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가시화 및 자동 재생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멀티뷰 및 수중환경 표현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탐지·명중·기만·전자전 효과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대응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결과분석 추진전략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데이터-모델-가시화-검증을 단일 흐름으로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라. 결과분석 추진전략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데이터-모델-가시화-검증을 단일 흐름으로 연결.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25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로그 기반 재현성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0000" y="1925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분석모델 산출 근거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041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3D/차트 동기화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00" y="3041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요구사항별 검증 기준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로그 기반 재현성 확보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분석모델 산출 근거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3D/차트 동기화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요구사항별 검증 기준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To-Be 체계 개념도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모의결과를 결과분석 플랫폼에서 통합 가시화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마. To-Be 체계 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모의결과를 결과분석 플랫폼에서 통합 가시화.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3D/차트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모의 로그 수집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분석모델 계산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3D/멀티뷰 재생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증적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결과분석 체계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결과분석 기능을 데이터 처리, 분석모델, 전시, 검증으로 모듈화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바. 결과분석 체계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결과분석 기능을 데이터 처리, 분석모델, 전시, 검증으로 모듈화.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3D/차트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데이터 수집·정제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확률/효과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가시화·재생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 저장·리포팅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3D 가시화 개선방안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전장상황, 플랫폼, 무기체계, 결과분석 데이터를 동일 장면에서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1) 결과분석 데이터 3D 가시화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전장상황, 플랫폼, 무기체계, 결과분석 데이터를 하나의 3D 분석 장면에서 통합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전장 객체</a:t>
            </a:r>
            <a:br/>
            <a:r>
              <a:t>표준화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시간/좌표</a:t>
            </a:r>
            <a:br/>
            <a:r>
              <a:t>동기화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분석결과</a:t>
            </a:r>
            <a:br/>
            <a:r>
              <a:t>오버레이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분석장면</a:t>
            </a:r>
            <a:br/>
            <a:r>
              <a:t>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플랫폼/무기체계 궤적, 교전 이벤트, 결과분석 값을 3D 객체 속성으로 연계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객체 색상·라벨·궤적·이벤트 아이콘으로 상태와 결과를 구분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동일 로그 재생 시 위치, 시간, 이벤트 표시가 반복 재현되는지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전장 객체</a:t>
            </a:r>
            <a:br/>
            <a:r>
              <a:t>표준화</a:t>
            </a:r>
            <a:br/>
            <a:r>
              <a:t>시간/좌표</a:t>
            </a:r>
            <a:br/>
            <a:r>
              <a:t>동기화</a:t>
            </a:r>
            <a:br/>
            <a:r>
              <a:t>분석결과</a:t>
            </a:r>
            <a:br/>
            <a:r>
              <a:t>오버레이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객체 계층 및 속성 조회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전장상황 시간축 동기화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 결과 오버레이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화면 캡처 및 보고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자동 3D 재생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시뮬레이션 로그를 이벤트 타임라인으로 재구성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2) 모의결과 기반 자동 3D 재생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모의 로그와 이벤트를 시간축으로 재구성하여 자동 3D 재생과 구간 분석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로그 수집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이벤트</a:t>
            </a:r>
            <a:br/>
            <a:r>
              <a:t>정렬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상태 복원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자동 재생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재생, 일시정지, 배속, 구간 반복, 이벤트 점프, 장면 북마크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 장면과 이벤트 타임라인을 동기화하여 분석자가 원인 구간을 추적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이벤트 발생 시각과 화면 상태가 로그 기준값과 일치하는지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로그 수집</a:t>
            </a:r>
            <a:br/>
            <a:r>
              <a:t>이벤트</a:t>
            </a:r>
            <a:br/>
            <a:r>
              <a:t>정렬</a:t>
            </a:r>
            <a:br/>
            <a:r>
              <a:t>상태 복원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로그 파싱 및 시간 정렬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이벤트 기반 상태 복원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배속·일시정지·구간 반복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재현성 검증 로그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멀티뷰 기반 전장상황 전시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전장환경과 플랫폼/무기체계 뷰를 연동해 분석 효율 향상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3) 멀티뷰 기반 전장상황 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전장환경, 함정, 항공기, 잠수함, 무기체계를 동시에 관찰하는 멀티뷰 분석 화면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전체 전장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함정/항공기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잠수함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무기체계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뷰 분할, 선택 객체 동기화, 필터, 확대/추적, 이벤트 연동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전체 상황과 개별 플랫폼/무기체계 상세 뷰를 동시에 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한 뷰에서 선택한 객체가 다른 뷰와 차트에 동일하게 반영되는지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전체 전장</a:t>
            </a:r>
            <a:br/>
            <a:r>
              <a:t>함정/항공기</a:t>
            </a:r>
            <a:br/>
            <a:r>
              <a:t>잠수함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전장환경 전체 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함정·항공기·잠수함 추적 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무기체계 이벤트 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선택 객체 동기화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수중환경 3D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수온, 분포, 전달손실, 음선경로를 분석 레이어로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4) 수중환경 3D 가시화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수온, 수중분포, 음파전달손실, 음선경로를 3D 환경 레이어로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환경자료</a:t>
            </a:r>
            <a:br/>
            <a:r>
              <a:t>입력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수중 레이어</a:t>
            </a:r>
            <a:br/>
            <a:r>
              <a:t>생성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음향 경로</a:t>
            </a:r>
            <a:br/>
            <a:r>
              <a:t>표현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무기분석</a:t>
            </a:r>
            <a:br/>
            <a:r>
              <a:t>연계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수온/분포 단면, 전달손실 등고면, 음선경로 곡선, 시간별 환경 변화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수중환경 레이어를 어뢰·기만 분석 화면과 선택적으로 중첩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입력 환경자료와 시각화 레이어 값, 범례, 단위가 일치하는지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환경자료</a:t>
            </a:r>
            <a:br/>
            <a:r>
              <a:t>입력</a:t>
            </a:r>
            <a:br/>
            <a:r>
              <a:t>수중 레이어</a:t>
            </a:r>
            <a:br/>
            <a:r>
              <a:t>생성</a:t>
            </a:r>
            <a:br/>
            <a:r>
              <a:t>음향 경로</a:t>
            </a:r>
            <a:br/>
            <a:r>
              <a:t>표현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수온/수중분포 레이어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음파전달손실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음선경로 3D 표현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어뢰·기만 분석과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계산모델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입력값-계산단계-출력값을 추적 가능한 화면으로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5) 계산모델 가시화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계산모델의 입력값, 계산 흐름, 중간 산출값, 출력값을 추적 가능한 형태로 가시화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입력값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모델 구조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중간 산출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출력/근거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모델별 입력 파라미터, 계산 단계, 산출식 버전, 출력값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계산 흐름도와 입력/출력 표를 연결하여 산출 근거를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산출값이 로그, 모델 버전, 입력 파라미터와 추적되는지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입력값</a:t>
            </a:r>
            <a:br/>
            <a:r>
              <a:t>모델 구조</a:t>
            </a:r>
            <a:br/>
            <a:r>
              <a:t>중간 산출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모델 구조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입력 파라미터 조회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중간 산출값 확인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 근거 리포트화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탐지확률 실시간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탐지 이벤트와 환경/센서 조건을 시간축 차트로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6) 탐지확률 실시간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탐지 이벤트, 센서 조건, 환경 조건에 따른 탐지확률 변화를 실시간 차트로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센서/환경</a:t>
            </a:r>
            <a:br/>
            <a:r>
              <a:t>입력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탐지 이벤트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확률 산출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차트/3D</a:t>
            </a:r>
            <a:br/>
            <a:r>
              <a:t>동기화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탐지확률 시계열, 임계값, 탐지 이벤트 마커, 조건 필터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 객체 선택 시 해당 센서/표적의 탐지확률 차트를 자동 갱신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동일 입력 조건에서 확률 산출과 차트 표시가 일관되는지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센서/환경</a:t>
            </a:r>
            <a:br/>
            <a:r>
              <a:t>입력</a:t>
            </a:r>
            <a:br/>
            <a:r>
              <a:t>탐지 이벤트</a:t>
            </a:r>
            <a:br/>
            <a:r>
              <a:t>확률 산출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탐지확률 추이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임계값 및 이벤트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센서/환경 조건 필터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장면과 동기화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명중확률 실시간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무기체계 상태와 교전 조건을 반영한 명중확률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7) 명중확률 실시간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무기체계 상태, 거리, 교전 조건을 반영하여 명중확률을 시간축으로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교전 조건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무기 상태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명중확률</a:t>
            </a:r>
            <a:br/>
            <a:r>
              <a:t>산출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결과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교전 구간별 명중확률, 사격/유도 이벤트, 조건별 비교 차트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무기 발사-유도-명중/실패 흐름과 확률 변화를 함께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시나리오별 명중 이벤트와 확률 산출 결과의 정합성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교전 조건</a:t>
            </a:r>
            <a:br/>
            <a:r>
              <a:t>무기 상태</a:t>
            </a:r>
            <a:br/>
            <a:r>
              <a:t>명중확률</a:t>
            </a:r>
            <a:br/>
            <a:r>
              <a:t>산출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명중확률 추이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교전 이벤트 연동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입력 조건 비교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검증 시나리오별 리포트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유도탄 기만확률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기만기 운용 조건과 유도탄 상태를 반영한 성공확률 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8) 유도탄 기만확률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유도탄과 기만기 상호작용을 반영하여 기만 성공확률 산출 절차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기만 이벤트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유도탄 상태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기만 효과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성공확률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기만기 투발 시점, 유도탄 탐색/추적 상태, 표적 거리·방위 조건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기만 전후 유도탄 상태 변화와 성공확률을 타임라인으로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대표 시나리오 회귀시험과 입력 조건별 민감도 비교 수행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기만 이벤트</a:t>
            </a:r>
            <a:br/>
            <a:r>
              <a:t>유도탄 상태</a:t>
            </a:r>
            <a:br/>
            <a:r>
              <a:t>기만 효과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기만 이벤트 식별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표적/유도탄 상태 반영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기만 성공확률 산출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민감도 분석 지원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어뢰 기만확률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수중환경과 음향 조건을 포함해 어뢰 기만 효과를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9) 어뢰 기만확률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수중환경과 음향 조건을 반영하여 어뢰 기만 성공확률 산출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어뢰 탐지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기만기 효과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확률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음파전달손실, 음선경로, 어뢰 탐지/추적 상태, 기만기 효과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수중환경 레이어와 어뢰/기만기 궤적, 성공확률 차트를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환경 조건 변화에 따른 산출값 차이를 기준 시나리오로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수중환경</a:t>
            </a:r>
            <a:br/>
            <a:r>
              <a:t>어뢰 탐지</a:t>
            </a:r>
            <a:br/>
            <a:r>
              <a:t>기만기 효과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수중환경 조건 입력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어뢰 탐지/추적 상태 반영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기만기 효과 산출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환경별 결과 비교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전자전 효과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재머, GPS 교란 등 전자전 효과를 교전결과와 연계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10) 전자전 효과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재머, GPS 교란 등 전자전 장비 효과를 탐지·명중·기만 결과와 연계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전자전 이벤트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재머 효과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GPS 교란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교전 영향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재머 영향권, GPS 교란 이벤트, 전자전 효과 지표, 영향 대상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전자전 영향 범위와 확률/교전 결과 변화를 한 화면에서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전자전 이벤트 발생 전후 탐지·명중 결과 변화와 효과 산출값 대조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전자전 이벤트</a:t>
            </a:r>
            <a:br/>
            <a:r>
              <a:t>재머 효과</a:t>
            </a:r>
            <a:br/>
            <a:r>
              <a:t>GPS 교란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전자전 이벤트 수집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재머 효과 산출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GPS 교란 영향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탐지·명중 결과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데이터 처리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모의 로그부터 분석 리포트까지 추적 가능한 파이프라인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가. 데이터 처리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모의 로그부터 분석 리포트까지 추적 가능한 파이프라인 구성.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3D/차트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로그 수집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정합성 검증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분석모델 계산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3D/차트 전시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표준 인터페이스와 모듈화 구조로 확장성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나. 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표준 인터페이스와 모듈화 구조로 확장성 확보.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745999"/>
            <a:ext cx="1080000" cy="432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가시화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0000" y="1745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3D 전장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2000" y="1745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멀티뷰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4000" y="1745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차트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000" y="2303999"/>
            <a:ext cx="1080000" cy="432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300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탐지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65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명중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0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기만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95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전자전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2861999"/>
            <a:ext cx="1080000" cy="432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0000" y="2861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로그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2000" y="2861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이벤트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4000" y="2861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환경자료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419999"/>
            <a:ext cx="1080000" cy="432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30000" y="3419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시험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2000" y="3419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추적성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4000" y="3419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데이터 계층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 서비스 계층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가시화 계층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검증/운영 지원 계층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UI/UX 설계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분석 담당자가 빠르게 상황을 재현하고 근거를 확인하도록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다. UI/UX 설계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분석 담당자가 빠르게 상황을 재현하고 근거를 확인하도록 구성.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25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시나리오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0000" y="1925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3D 재생·멀티뷰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041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확률/효과 차트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00" y="3041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결과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시나리오 선택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재생·멀티뷰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확률/효과 차트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 리포트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개발 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요구사항 추적성과 산출물 검증을 중심으로 개발 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라. 개발 방법론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요구사항 추적성과 산출물 검증을 중심으로 개발 수행.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통합시험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요구사항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반복 설계/구현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통합 시험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검증 증적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시험평가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요구사항별 시험항목과 판정기준을 사전에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마. 시험평가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요구사항별 시험항목과 판정기준을 사전에 정의.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745999"/>
            <a:ext cx="1512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4000" y="1745999"/>
            <a:ext cx="2520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대응 방안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000" y="1745999"/>
            <a:ext cx="2484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검증/역할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000" y="21491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3D/자동재생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4000" y="21491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로그 기반 3D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4000" y="21491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시간축·이벤트 재현성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000" y="25523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멀티뷰/수중환경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4000" y="25523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동기화 뷰·환경 레이어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4000" y="25523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입력자료-화면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29555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확률/전자전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4000" y="29555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실시간 차트·효과 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4000" y="29555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산출식·시나리오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000" y="33587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4000" y="33587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요구사항별 검증 및 산출물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4000" y="33587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 결과·검증 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요구사항-시험항목 매핑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시나리오 기반 기능시험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성능/안정성 확인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결함 조치 추적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품질보증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산출물, 코드, 모델, 시험결과를 기준에 따라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사. 품질보증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산출물, 코드, 모델, 시험결과를 기준에 따라 관리.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리뷰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결함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변경관리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품질 기준 수립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리뷰 및 승인 절차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결함 관리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변경 영향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일정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분석-설계-구현-통합-시험평가를 단계적으로 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아. 일정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분석-설계-구현-통합-시험평가를 단계적으로 수행.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745999"/>
            <a:ext cx="1260000" cy="3888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0000" y="1745999"/>
            <a:ext cx="4878000" cy="3888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주요 수행내용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134799"/>
            <a:ext cx="1260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착수/분석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0000" y="2134799"/>
            <a:ext cx="4878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 정제, RFP 대응 매트릭스 수립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523599"/>
            <a:ext cx="1260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2523599"/>
            <a:ext cx="4878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 가시화, 분석모델, 데이터 흐름 상세설계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912399"/>
            <a:ext cx="1260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20000" y="2912399"/>
            <a:ext cx="4878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스프린트 기반 기능 구현 및 통합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301199"/>
            <a:ext cx="1260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시험평가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0000" y="3301199"/>
            <a:ext cx="4878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요구사항별 검증, 시험 증적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착수 및 요구사항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핵심 기능 설계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반복 구현 및 통합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및 안정화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분석 효율, 재현성, 검증성을 중심으로 기대효과 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자. 기대효과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분석 효율, 재현성, 검증성을 중심으로 기대효과 제시.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해석성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재현성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확장성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모의결과 해석성 강화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자동 재생 기반 분석 효율 향상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확률/전자전 효과 통합 판단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확장 가능한 분석 플랫폼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Build-II 요구사항에 부합하는 단계적 구현 및 검증 중심 접근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차.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Build-II 요구사항에 부합하는 단계적 구현 및 검증 중심 접근.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요구사항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결과분석 고도화를 통해 모의결과의 해석성, 재현성, 검증성을 강화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전장 가시화와 자동 재생을 통해 분석 효율 향상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탐지·명중·기만·전자전 효과를 통합 분석하여 의사결정 지원 능력 강화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Build-II 체계개발 요구사항에 부합하는 단계적 구현 및 검증 중심 접근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