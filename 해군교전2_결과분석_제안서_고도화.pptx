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6858000" cy="990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6000" y="1980000"/>
            <a:ext cx="6246000" cy="288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178000"/>
            <a:ext cx="6138000" cy="7200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232A31"/>
                </a:solidFill>
                <a:latin typeface="Malgun Gothic"/>
              </a:defRPr>
            </a:pPr>
            <a:r>
              <a:t>결과분석 및 전장 가시화</a:t>
            </a:r>
            <a:br/>
            <a:r>
              <a:t>체계 구축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3240000"/>
            <a:ext cx="6102000" cy="3240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004B73"/>
                </a:solidFill>
                <a:latin typeface="Malgun Gothic"/>
              </a:defRPr>
            </a:pPr>
            <a:r>
              <a:t>해군교전분석모델 Build-II | 결과분석 고도화 수행방안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8000" y="4392000"/>
            <a:ext cx="11196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모의결과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522800" y="4552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23599" y="4392000"/>
            <a:ext cx="11196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분석엔진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68400" y="4552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69199" y="4392000"/>
            <a:ext cx="11196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3D Replay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14000" y="4552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799" y="4392000"/>
            <a:ext cx="11196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Dashboard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59600" y="4552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0399" y="4392000"/>
            <a:ext cx="11196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000" y="9330000"/>
            <a:ext cx="6102000" cy="1440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50" b="0">
                <a:solidFill>
                  <a:srgbClr val="666666"/>
                </a:solidFill>
                <a:latin typeface="Malgun Gothic"/>
              </a:defRPr>
            </a:pPr>
            <a:r>
              <a:t>전투 결과를 의사결정 자료로 전환하는 결과분석 플랫폼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340000"/>
            <a:ext cx="1007999" cy="5760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004B73"/>
                </a:solidFill>
                <a:latin typeface="Malgun Gothic"/>
              </a:defRPr>
            </a:pPr>
            <a:r>
              <a:t>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12000" y="2466000"/>
            <a:ext cx="4986000" cy="3240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32A31"/>
                </a:solidFill>
                <a:latin typeface="Malgun Gothic"/>
              </a:defRPr>
            </a:pPr>
            <a:r>
              <a:t>전략 및 방법론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0000" y="2826000"/>
            <a:ext cx="4914000" cy="180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30000" y="2970000"/>
            <a:ext cx="4914000" cy="3960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66666"/>
                </a:solidFill>
                <a:latin typeface="Malgun Gothic"/>
              </a:defRPr>
            </a:pPr>
            <a:r>
              <a:t>사업 이해 / 결과분석 수행방안 / 전장 가시화 / 시험평가 대응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결과분석 업무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결과분석 담당 범위를 데이터, 모델, 가시화, 리포트 산출까지 명확히 정의합니다.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48000"/>
            <a:ext cx="1116000" cy="342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0000" y="1548000"/>
            <a:ext cx="2340000" cy="342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담당 범위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0000" y="1548000"/>
            <a:ext cx="2754000" cy="342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주요 산출물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890000"/>
            <a:ext cx="1116000" cy="342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데이터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1890000"/>
            <a:ext cx="2340000" cy="342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로그 수집, 정제, 객체/시간 매핑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0000" y="1890000"/>
            <a:ext cx="2754000" cy="342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분석 DB, 정합성 점검 결과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232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분석모델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0000" y="2232000"/>
            <a:ext cx="2340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탐지·명중·기만·전자전 산출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0000" y="2232000"/>
            <a:ext cx="2754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확률/효과 분석값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574000"/>
            <a:ext cx="1116000" cy="342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가시화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0000" y="2574000"/>
            <a:ext cx="2340000" cy="342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3D Replay, Multi View, Chart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80000" y="2574000"/>
            <a:ext cx="2754000" cy="342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분석 화면, 캡처, 이벤트 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2916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보고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40000" y="2916000"/>
            <a:ext cx="2340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KPI 및 자동 보고서 구성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0000" y="2916000"/>
            <a:ext cx="2754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보고서 템플릿, 시험 증적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000" y="3474000"/>
            <a:ext cx="621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000" y="3528000"/>
            <a:ext cx="6066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결과분석 업무 산출 흐름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3200" y="3718800"/>
            <a:ext cx="1452600" cy="39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로그 정제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35000" y="3718800"/>
            <a:ext cx="14526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분석값 산출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66800" y="3718800"/>
            <a:ext cx="1452600" cy="39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3D/차트 전시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98600" y="3718800"/>
            <a:ext cx="14526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보고서 증적화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데이터-모델-가시화-보고 범위를 명확화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결과분석 담당 산출물 기준 수립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검증 가능한 산출 흐름 구성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결과분석 체계 개념도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전투 결과를 의사결정 자료로 전환하는 결과분석 플랫폼 구조를 제안합니다.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84000"/>
            <a:ext cx="11412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모의결과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90400" y="1744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91199" y="1584000"/>
            <a:ext cx="11412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분석 DB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57600" y="1744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8399" y="1584000"/>
            <a:ext cx="11412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분석 엔진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4800" y="1744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25599" y="1584000"/>
            <a:ext cx="11412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3D/Chart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92000" y="1744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2799" y="1584000"/>
            <a:ext cx="11412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보고서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286000"/>
            <a:ext cx="1007999" cy="360000"/>
          </a:xfrm>
          <a:prstGeom prst="roundRect">
            <a:avLst/>
          </a:prstGeom>
          <a:solidFill>
            <a:srgbClr val="004B73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전시 계층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0000" y="2286000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3D 전장 가시화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31500" y="2286000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Multi 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000" y="2286000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KPI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14500" y="2286000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자동 보고서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000" y="2808000"/>
            <a:ext cx="1007999" cy="360000"/>
          </a:xfrm>
          <a:prstGeom prst="round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분석 계층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40000" y="2808000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탐지확률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31500" y="2808000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명중확률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000" y="2808000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기만성공확률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14500" y="2808000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전자전 효과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000" y="3330000"/>
            <a:ext cx="1007999" cy="360000"/>
          </a:xfrm>
          <a:prstGeom prst="round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데이터 계층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40000" y="3330000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이벤트 로그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31500" y="3330000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플랫폼 상태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000" y="3330000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무기체계 상태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14500" y="3330000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수중환경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000" y="3852000"/>
            <a:ext cx="1007999" cy="360000"/>
          </a:xfrm>
          <a:prstGeom prst="round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연계/저장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40000" y="3852000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분석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31500" y="3852000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DB 저장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000" y="3852000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파일 저장소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14500" y="3852000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추적 이력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모의결과 저장 후 분석/전시/보고로 연계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전장 가시화와 수치 분석을 통합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분석 리포트 생성까지 일관 처리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전체 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데이터 계층, 분석 계층, 전시 계층을 모듈화하여 확장 가능한 구조를 구성합니다.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65999"/>
            <a:ext cx="1007999" cy="360000"/>
          </a:xfrm>
          <a:prstGeom prst="roundRect">
            <a:avLst/>
          </a:prstGeom>
          <a:solidFill>
            <a:srgbClr val="004B73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전시 계층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0000" y="1565999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3D 전장 가시화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1500" y="1565999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Multi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000" y="1565999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KPI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14500" y="1565999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자동 보고서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" y="2087999"/>
            <a:ext cx="1007999" cy="360000"/>
          </a:xfrm>
          <a:prstGeom prst="round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분석 계층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0000" y="2087999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탐지확률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1500" y="2087999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명중확률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000" y="2087999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기만성공확률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4500" y="2087999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전자전 효과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000" y="2609999"/>
            <a:ext cx="1007999" cy="360000"/>
          </a:xfrm>
          <a:prstGeom prst="round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데이터 계층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40000" y="2609999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이벤트 로그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31500" y="2609999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플랫폼 상태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000" y="2609999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무기체계 상태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4500" y="2609999"/>
            <a:ext cx="12375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수중환경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000" y="3131999"/>
            <a:ext cx="1007999" cy="360000"/>
          </a:xfrm>
          <a:prstGeom prst="round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연계/저장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40000" y="3131999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분석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31500" y="3131999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DB 저장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000" y="3131999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파일 저장소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14500" y="3131999"/>
            <a:ext cx="12375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추적 이력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000" y="3798000"/>
            <a:ext cx="621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6000" y="3852000"/>
            <a:ext cx="6066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아키텍처 연계 예시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3200" y="4042800"/>
            <a:ext cx="1452600" cy="39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모의 로그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35000" y="4042800"/>
            <a:ext cx="14526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분석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66800" y="4042800"/>
            <a:ext cx="1452600" cy="39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결과분석 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98600" y="4042800"/>
            <a:ext cx="14526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전시/보고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계층별 모듈화로 확장성 확보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분석모델과 UI를 분리하여 유지관리성 강화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표준 인터페이스 기반 연계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데이터 수집 및 처리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모의 실행 결과를 표준 처리 흐름으로 정제하여 Replay, Dashboard, Report로 활용합니다.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620000"/>
            <a:ext cx="11412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시뮬레이션 실행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90400" y="1780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91199" y="1620000"/>
            <a:ext cx="11412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이벤트 로그 수집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57600" y="1780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8399" y="1620000"/>
            <a:ext cx="11412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분석 엔진 처리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4800" y="1780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25599" y="1620000"/>
            <a:ext cx="11412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DB 저장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92000" y="1780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2799" y="1620000"/>
            <a:ext cx="11412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3D Replay / Dashboard /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520000"/>
            <a:ext cx="1080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단계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0000" y="2520000"/>
            <a:ext cx="5058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처리 내용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2844000"/>
            <a:ext cx="1080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수집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0000" y="2844000"/>
            <a:ext cx="5058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시나리오, 플랫폼 상태, 무기 이벤트, 환경자료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3168000"/>
            <a:ext cx="1080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정제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0000" y="3168000"/>
            <a:ext cx="5058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시간축 정렬, 객체 식별자 매핑, 누락/오류 검증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3492000"/>
            <a:ext cx="1080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분석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40000" y="3492000"/>
            <a:ext cx="5058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확률모델 계산, 기만/전자전 효과 산출, KPI 집계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000" y="3816000"/>
            <a:ext cx="1080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활용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40000" y="3816000"/>
            <a:ext cx="5058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Replay, 차트, 보고서, 시험평가 증적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4374000"/>
            <a:ext cx="6138000" cy="666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4428000"/>
            <a:ext cx="5994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처리 결과 활용 예시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200" y="4618800"/>
            <a:ext cx="1434600" cy="34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시계열 정렬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53000" y="4618800"/>
            <a:ext cx="14346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이벤트 복원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6800" y="4618800"/>
            <a:ext cx="1434600" cy="34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확률 집계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0600" y="4618800"/>
            <a:ext cx="14346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분석 리포트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로그 수집부터 보고서까지 단일 흐름 구성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시간축 정렬로 Replay 재현성 확보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DB 저장 기반 추적성 확보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결과분석 DB 구조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시뮬레이션 실행, 플랫폼 상태, 무기 이벤트, 분석 결과를 추적 가능한 DB 구조로 관리합니다.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48000"/>
            <a:ext cx="2376000" cy="23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SIM_RUN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1807200"/>
            <a:ext cx="2376000" cy="827999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run_id</a:t>
            </a:r>
            <a:br/>
            <a:r>
              <a:t>scenario_id</a:t>
            </a:r>
            <a:br/>
            <a:r>
              <a:t>start_time</a:t>
            </a:r>
            <a:br/>
            <a:r>
              <a:t>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6000" y="1548000"/>
            <a:ext cx="2376000" cy="23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PLATFORM_STATE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000" y="1807200"/>
            <a:ext cx="2376000" cy="827999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run_id</a:t>
            </a:r>
            <a:br/>
            <a:r>
              <a:t>object_id</a:t>
            </a:r>
            <a:br/>
            <a:r>
              <a:t>time</a:t>
            </a:r>
            <a:br/>
            <a:r>
              <a:t>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3024000"/>
            <a:ext cx="2376000" cy="23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WEAPON_EVENT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" y="3283200"/>
            <a:ext cx="2376000" cy="827999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run_id</a:t>
            </a:r>
            <a:br/>
            <a:r>
              <a:t>weapon_id</a:t>
            </a:r>
            <a:br/>
            <a:r>
              <a:t>event_type</a:t>
            </a:r>
            <a:br/>
            <a:r>
              <a:t>target_id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6000" y="3024000"/>
            <a:ext cx="2376000" cy="23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ANALYSIS_RESULT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6000" y="3283200"/>
            <a:ext cx="2376000" cy="827999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run_id</a:t>
            </a:r>
            <a:br/>
            <a:r>
              <a:t>metric_type</a:t>
            </a:r>
            <a:br/>
            <a:r>
              <a:t>time</a:t>
            </a:r>
            <a:br/>
            <a:r>
              <a:t>value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00000" y="2088000"/>
            <a:ext cx="576000" cy="0"/>
          </a:xfrm>
          <a:prstGeom prst="line">
            <a:avLst/>
          </a:prstGeom>
          <a:ln w="1905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00000" y="3564000"/>
            <a:ext cx="576000" cy="0"/>
          </a:xfrm>
          <a:prstGeom prst="line">
            <a:avLst/>
          </a:prstGeom>
          <a:ln w="1905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12000" y="2628000"/>
            <a:ext cx="0" cy="396000"/>
          </a:xfrm>
          <a:prstGeom prst="line">
            <a:avLst/>
          </a:prstGeom>
          <a:ln w="1905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60000" y="4374000"/>
            <a:ext cx="6138000" cy="63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4428000"/>
            <a:ext cx="5994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DB 저장 후 활용 예시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9200" y="4618800"/>
            <a:ext cx="143460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Replay 재현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53000" y="4618800"/>
            <a:ext cx="143460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KPI 집계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6800" y="4618800"/>
            <a:ext cx="143460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조건별 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0600" y="4618800"/>
            <a:ext cx="143460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보고서 추적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실행 단위 중심 데이터 구조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상태/이벤트/결과 분리 저장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분석 결과 재현을 위한 이력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3D 전장 가시화 개선 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전장상황, 플랫폼, 무기체계, 결과분석 데이터를 동일 장면에서 통합 전시합니다.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48000"/>
            <a:ext cx="14580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객체 표준화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07200" y="1681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07999" y="1548000"/>
            <a:ext cx="14580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좌표/시간 동기화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91200" y="1681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1999" y="1548000"/>
            <a:ext cx="14580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분석값 오버레이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5200" y="1681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75999" y="1548000"/>
            <a:ext cx="14580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3D 장면 저장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2376000"/>
            <a:ext cx="1224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구현 항목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84000" y="2376000"/>
            <a:ext cx="4914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700000"/>
            <a:ext cx="1224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객체 표현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84000" y="2700000"/>
            <a:ext cx="4914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함정, 항공기, 잠수함, 유도탄, 어뢰, 기만기 상태를 3D 객체로 표현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3024000"/>
            <a:ext cx="1224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분석 오버레이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84000" y="3024000"/>
            <a:ext cx="4914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탐지·명중·기만·전자전 결과를 색상, 라벨, 궤적으로 표시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3348000"/>
            <a:ext cx="1224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활용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84000" y="3348000"/>
            <a:ext cx="4914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Replay 캡처, 분석 장면 저장, 보고서 연계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000" y="3851999"/>
            <a:ext cx="6210000" cy="1512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000" y="3916799"/>
            <a:ext cx="603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004B73"/>
                </a:solidFill>
                <a:latin typeface="Malgun Gothic"/>
              </a:defRPr>
            </a:pPr>
            <a:r>
              <a:t>3D 가시화 화면 구성 예시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999" y="4121999"/>
            <a:ext cx="3353400" cy="1098001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288349" y="4186799"/>
            <a:ext cx="0" cy="968401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26699" y="4186799"/>
            <a:ext cx="0" cy="968401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65049" y="4186799"/>
            <a:ext cx="0" cy="968401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799" y="4484339"/>
            <a:ext cx="3223800" cy="0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4799" y="4846679"/>
            <a:ext cx="3223800" cy="0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1999" y="4932000"/>
            <a:ext cx="503999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60" b="1">
                <a:solidFill>
                  <a:srgbClr val="232A31"/>
                </a:solidFill>
                <a:latin typeface="Malgun Gothic"/>
              </a:defRPr>
            </a:pPr>
            <a:r>
              <a:t>플랫폼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83399" y="4319999"/>
            <a:ext cx="503999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B8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60" b="1">
                <a:solidFill>
                  <a:srgbClr val="B85C5C"/>
                </a:solidFill>
                <a:latin typeface="Malgun Gothic"/>
              </a:defRPr>
            </a:pPr>
            <a:r>
              <a:t>표적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115999" y="4402799"/>
            <a:ext cx="1967400" cy="601201"/>
          </a:xfrm>
          <a:prstGeom prst="line">
            <a:avLst/>
          </a:prstGeom>
          <a:ln w="2032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529999" y="4481999"/>
            <a:ext cx="64800" cy="64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79999" y="4625998"/>
            <a:ext cx="64800" cy="64800"/>
          </a:xfrm>
          <a:prstGeom prst="ellipse">
            <a:avLst/>
          </a:prstGeom>
          <a:solidFill>
            <a:srgbClr val="699B7A"/>
          </a:solidFill>
          <a:ln>
            <a:solidFill>
              <a:srgbClr val="699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29999" y="4769999"/>
            <a:ext cx="64800" cy="64800"/>
          </a:xfrm>
          <a:prstGeom prst="ellipse">
            <a:avLst/>
          </a:prstGeom>
          <a:solidFill>
            <a:srgbClr val="B85C5C"/>
          </a:solidFill>
          <a:ln>
            <a:solidFill>
              <a:srgbClr val="B8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050000" y="4157999"/>
            <a:ext cx="2235600" cy="2592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객체</a:t>
            </a:r>
            <a:br/>
            <a:r>
              <a:t>플랫폼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50000" y="4517999"/>
            <a:ext cx="2235600" cy="2592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궤적</a:t>
            </a:r>
            <a:br/>
            <a:r>
              <a:t>시간축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50000" y="4877999"/>
            <a:ext cx="2235600" cy="2592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분석값</a:t>
            </a:r>
            <a:br/>
            <a:r>
              <a:t>오버레이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3D 객체와 분석값을 동시 표현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전장상황과 무기 이벤트를 시간축으로 연계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장면 저장 및 보고서 연계 가능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자동 3D Replay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모의결과 로그를 기반으로 시간축 Replay와 이벤트 구간 분석을 제공합니다.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65999"/>
            <a:ext cx="11412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로그 로딩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90400" y="1699199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91199" y="1565999"/>
            <a:ext cx="11412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타임라인 생성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57600" y="1699199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8399" y="1565999"/>
            <a:ext cx="11412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이벤트 상태 복원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4800" y="1699199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25599" y="1565999"/>
            <a:ext cx="11412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3D 장면 재생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92000" y="1699199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2799" y="1565999"/>
            <a:ext cx="11412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구간 북마크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2376000"/>
            <a:ext cx="6138000" cy="1728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5999" y="2501999"/>
            <a:ext cx="5886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1999" y="2772000"/>
            <a:ext cx="720000" cy="19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1">
                <a:solidFill>
                  <a:srgbClr val="232A31"/>
                </a:solidFill>
                <a:latin typeface="Malgun Gothic"/>
              </a:defRPr>
            </a:pPr>
            <a:r>
              <a:t>함정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18000" y="2970000"/>
            <a:ext cx="720000" cy="198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1">
                <a:solidFill>
                  <a:srgbClr val="232A31"/>
                </a:solidFill>
                <a:latin typeface="Malgun Gothic"/>
              </a:defRPr>
            </a:pPr>
            <a:r>
              <a:t>표적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2000" y="2879999"/>
            <a:ext cx="4086000" cy="187201"/>
          </a:xfrm>
          <a:prstGeom prst="line">
            <a:avLst/>
          </a:prstGeom>
          <a:ln w="254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11999" y="3618000"/>
            <a:ext cx="5634001" cy="43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0000" y="3744000"/>
            <a:ext cx="360000" cy="14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40" b="0">
                <a:solidFill>
                  <a:srgbClr val="232A31"/>
                </a:solidFill>
                <a:latin typeface="Malgun Gothic"/>
              </a:defRPr>
            </a:pPr>
            <a:r>
              <a:t>00:00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0500" y="3744000"/>
            <a:ext cx="360000" cy="14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40" b="0">
                <a:solidFill>
                  <a:srgbClr val="232A31"/>
                </a:solidFill>
                <a:latin typeface="Malgun Gothic"/>
              </a:defRPr>
            </a:pPr>
            <a:r>
              <a:t>탐지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1000" y="3744000"/>
            <a:ext cx="360000" cy="14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40" b="0">
                <a:solidFill>
                  <a:srgbClr val="232A31"/>
                </a:solidFill>
                <a:latin typeface="Malgun Gothic"/>
              </a:defRPr>
            </a:pPr>
            <a:r>
              <a:t>발사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1500" y="3744000"/>
            <a:ext cx="360000" cy="14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40" b="0">
                <a:solidFill>
                  <a:srgbClr val="232A31"/>
                </a:solidFill>
                <a:latin typeface="Malgun Gothic"/>
              </a:defRPr>
            </a:pPr>
            <a:r>
              <a:t>기만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12000" y="3744000"/>
            <a:ext cx="360000" cy="14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40" b="0">
                <a:solidFill>
                  <a:srgbClr val="232A31"/>
                </a:solidFill>
                <a:latin typeface="Malgun Gothic"/>
              </a:defRPr>
            </a:pPr>
            <a:r>
              <a:t>명중/실패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게임 Replay처럼 시간축 기반 재생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이벤트 점프와 구간 반복 지원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동일 로그 기반 재현성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Multi View 화면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전장뷰, 플랫폼뷰, 무장뷰, 이벤트 로그뷰를 4분할 화면으로 연계합니다.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494000"/>
            <a:ext cx="3565799" cy="1738799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232A31"/>
                </a:solidFill>
                <a:latin typeface="Malgun Gothic"/>
              </a:defRPr>
            </a:pPr>
            <a:r>
              <a:t>전장뷰</a:t>
            </a:r>
            <a:br/>
            <a:r>
              <a:t>3D 공간/궤적/이벤트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50000" y="1494000"/>
            <a:ext cx="2448000" cy="82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232A31"/>
                </a:solidFill>
                <a:latin typeface="Malgun Gothic"/>
              </a:defRPr>
            </a:pPr>
            <a:r>
              <a:t>플랫폼뷰</a:t>
            </a:r>
            <a:br/>
            <a:r>
              <a:t>함정·항공기·잠수함 상태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0000" y="2473200"/>
            <a:ext cx="2448000" cy="7596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232A31"/>
                </a:solidFill>
                <a:latin typeface="Malgun Gothic"/>
              </a:defRPr>
            </a:pPr>
            <a:r>
              <a:t>무장뷰</a:t>
            </a:r>
            <a:br/>
            <a:r>
              <a:t>유도탄·어뢰·기만기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3391200"/>
            <a:ext cx="6174000" cy="1126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232A31"/>
                </a:solidFill>
                <a:latin typeface="Malgun Gothic"/>
              </a:defRPr>
            </a:pPr>
            <a:r>
              <a:t>이벤트 로그뷰</a:t>
            </a:r>
            <a:br/>
            <a:r>
              <a:t>시간순 이벤트 및 필터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분석관이 전체-상세-로그를 동시에 확인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객체 선택 시 뷰 간 동기화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플랫폼/무장/이벤트 분석 효율 향상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수중환경 3D 가시화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수온, 분포, 전달손실, 음선경로를 수중환경 레이어로 시각화합니다.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0" y="1512000"/>
            <a:ext cx="6210000" cy="2628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8000" y="1763999"/>
            <a:ext cx="5922000" cy="396000"/>
          </a:xfrm>
          <a:prstGeom prst="rect">
            <a:avLst/>
          </a:prstGeom>
          <a:solidFill>
            <a:srgbClr val="D9F0FF"/>
          </a:solidFill>
          <a:ln>
            <a:solidFill>
              <a:srgbClr val="D9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8000" y="2214000"/>
            <a:ext cx="5922000" cy="396000"/>
          </a:xfrm>
          <a:prstGeom prst="rect">
            <a:avLst/>
          </a:prstGeom>
          <a:solidFill>
            <a:srgbClr val="B7DDEE"/>
          </a:solidFill>
          <a:ln>
            <a:solidFill>
              <a:srgbClr val="B7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000" y="2664000"/>
            <a:ext cx="5922000" cy="396000"/>
          </a:xfrm>
          <a:prstGeom prst="rect">
            <a:avLst/>
          </a:prstGeom>
          <a:solidFill>
            <a:srgbClr val="8BC0D8"/>
          </a:solidFill>
          <a:ln>
            <a:solidFill>
              <a:srgbClr val="8B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8000" y="3114000"/>
            <a:ext cx="5922000" cy="396000"/>
          </a:xfrm>
          <a:prstGeom prst="rect">
            <a:avLst/>
          </a:prstGeom>
          <a:solidFill>
            <a:srgbClr val="5E9FBD"/>
          </a:solidFill>
          <a:ln>
            <a:solidFill>
              <a:srgbClr val="5E9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720000" y="1944000"/>
            <a:ext cx="5454000" cy="1656000"/>
          </a:xfrm>
          <a:prstGeom prst="line">
            <a:avLst/>
          </a:prstGeom>
          <a:ln w="29209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92000" y="2232000"/>
            <a:ext cx="5238001" cy="1152000"/>
          </a:xfrm>
          <a:prstGeom prst="line">
            <a:avLst/>
          </a:prstGeom>
          <a:ln w="22860">
            <a:solidFill>
              <a:srgbClr val="699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0000" y="3870000"/>
            <a:ext cx="1116000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232A31"/>
                </a:solidFill>
                <a:latin typeface="Malgun Gothic"/>
              </a:defRPr>
            </a:pPr>
            <a:r>
              <a:t>수온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07999" y="3870000"/>
            <a:ext cx="1116000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232A31"/>
                </a:solidFill>
                <a:latin typeface="Malgun Gothic"/>
              </a:defRPr>
            </a:pPr>
            <a:r>
              <a:t>수중분포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5999" y="3870000"/>
            <a:ext cx="1116000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232A31"/>
                </a:solidFill>
                <a:latin typeface="Malgun Gothic"/>
              </a:defRPr>
            </a:pPr>
            <a:r>
              <a:t>음파전달손실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3999" y="3870000"/>
            <a:ext cx="1116000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232A31"/>
                </a:solidFill>
                <a:latin typeface="Malgun Gothic"/>
              </a:defRPr>
            </a:pPr>
            <a:r>
              <a:t>음선경로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4608000"/>
            <a:ext cx="621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4662000"/>
            <a:ext cx="6066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수중환경 분석 연계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3200" y="4852800"/>
            <a:ext cx="1452600" cy="39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수온분포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35000" y="4852800"/>
            <a:ext cx="14526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전달손실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6800" y="4852800"/>
            <a:ext cx="1452600" cy="39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음선경로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8600" y="4852800"/>
            <a:ext cx="14526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기만확률 입력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수중환경을 분석 레이어로 구성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음향 정보와 어뢰/기만 분석 연계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환경조건별 비교 분석 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음파전달손실/음선경로 가시화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음향환경 변화가 어뢰 및 기만 분석에 미치는 영향을 직관적으로 표현합니다.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0" y="1512000"/>
            <a:ext cx="6210000" cy="2628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8000" y="1763999"/>
            <a:ext cx="5922000" cy="396000"/>
          </a:xfrm>
          <a:prstGeom prst="rect">
            <a:avLst/>
          </a:prstGeom>
          <a:solidFill>
            <a:srgbClr val="D9F0FF"/>
          </a:solidFill>
          <a:ln>
            <a:solidFill>
              <a:srgbClr val="D9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8000" y="2214000"/>
            <a:ext cx="5922000" cy="396000"/>
          </a:xfrm>
          <a:prstGeom prst="rect">
            <a:avLst/>
          </a:prstGeom>
          <a:solidFill>
            <a:srgbClr val="B7DDEE"/>
          </a:solidFill>
          <a:ln>
            <a:solidFill>
              <a:srgbClr val="B7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000" y="2664000"/>
            <a:ext cx="5922000" cy="396000"/>
          </a:xfrm>
          <a:prstGeom prst="rect">
            <a:avLst/>
          </a:prstGeom>
          <a:solidFill>
            <a:srgbClr val="8BC0D8"/>
          </a:solidFill>
          <a:ln>
            <a:solidFill>
              <a:srgbClr val="8B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8000" y="3114000"/>
            <a:ext cx="5922000" cy="396000"/>
          </a:xfrm>
          <a:prstGeom prst="rect">
            <a:avLst/>
          </a:prstGeom>
          <a:solidFill>
            <a:srgbClr val="5E9FBD"/>
          </a:solidFill>
          <a:ln>
            <a:solidFill>
              <a:srgbClr val="5E9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720000" y="1944000"/>
            <a:ext cx="5454000" cy="1656000"/>
          </a:xfrm>
          <a:prstGeom prst="line">
            <a:avLst/>
          </a:prstGeom>
          <a:ln w="29209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92000" y="2232000"/>
            <a:ext cx="5238001" cy="1152000"/>
          </a:xfrm>
          <a:prstGeom prst="line">
            <a:avLst/>
          </a:prstGeom>
          <a:ln w="22860">
            <a:solidFill>
              <a:srgbClr val="699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0000" y="3870000"/>
            <a:ext cx="1116000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232A31"/>
                </a:solidFill>
                <a:latin typeface="Malgun Gothic"/>
              </a:defRPr>
            </a:pPr>
            <a:r>
              <a:t>수온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07999" y="3870000"/>
            <a:ext cx="1116000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232A31"/>
                </a:solidFill>
                <a:latin typeface="Malgun Gothic"/>
              </a:defRPr>
            </a:pPr>
            <a:r>
              <a:t>수중분포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5999" y="3870000"/>
            <a:ext cx="1116000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232A31"/>
                </a:solidFill>
                <a:latin typeface="Malgun Gothic"/>
              </a:defRPr>
            </a:pPr>
            <a:r>
              <a:t>음파전달손실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3999" y="3870000"/>
            <a:ext cx="1116000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232A31"/>
                </a:solidFill>
                <a:latin typeface="Malgun Gothic"/>
              </a:defRPr>
            </a:pPr>
            <a:r>
              <a:t>음선경로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4284000"/>
            <a:ext cx="1440000" cy="27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분석 항목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00000" y="4284000"/>
            <a:ext cx="4698000" cy="270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가시화 방식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4554000"/>
            <a:ext cx="1440000" cy="27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음파전달손실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00000" y="4554000"/>
            <a:ext cx="4698000" cy="27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거리/심도별 손실 값을 색상 레이어로 표시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4824000"/>
            <a:ext cx="1440000" cy="27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음선경로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00000" y="4824000"/>
            <a:ext cx="4698000" cy="270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음파 굴절 경로를 곡선으로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000" y="5094000"/>
            <a:ext cx="1440000" cy="27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분석 연계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00000" y="5094000"/>
            <a:ext cx="4698000" cy="270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어뢰 탐지 및 기만 성공확률 산출 입력으로 활용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음파전달손실과 음선경로를 직관화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수중 무기체계 분석 입력으로 활용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환경 변화 영향 비교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계산모델 가시화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입력값, 계산 단계, 중간 산출값, 출력값을 추적 가능한 형태로 제시합니다.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84000"/>
            <a:ext cx="1141200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입력값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90400" y="1726199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91199" y="1584000"/>
            <a:ext cx="1141200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모델 구조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57600" y="1726199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8399" y="1584000"/>
            <a:ext cx="1141200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중간 산출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4800" y="1726199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25599" y="1584000"/>
            <a:ext cx="1141200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출력값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92000" y="1726199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2799" y="1584000"/>
            <a:ext cx="1141200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근거 리포트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412000"/>
            <a:ext cx="1296000" cy="306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표시 항목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56000" y="2412000"/>
            <a:ext cx="4842001" cy="306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제안 내용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2718000"/>
            <a:ext cx="129600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입력 파라미터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56000" y="2718000"/>
            <a:ext cx="4842001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거리, 속도, 환경, 센서, 무기체계 상태를 조회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3024000"/>
            <a:ext cx="129600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계산 흐름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56000" y="3024000"/>
            <a:ext cx="4842001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모델별 산출 단계와 중간값을 추적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3330000"/>
            <a:ext cx="129600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결과 근거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56000" y="3330000"/>
            <a:ext cx="4842001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산출식 버전과 입력값을 결과 리포트에 포함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3708000"/>
            <a:ext cx="6138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000" y="3762000"/>
            <a:ext cx="5994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계산모델 추적 예시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200" y="3952800"/>
            <a:ext cx="1434600" cy="39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입력값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53000" y="3952800"/>
            <a:ext cx="14346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계산식/버전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66800" y="3952800"/>
            <a:ext cx="1434600" cy="39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중간값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0600" y="3952800"/>
            <a:ext cx="14346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산출근거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입력값과 산출값의 근거를 추적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계산모델 구조를 분석관에게 공개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결과 리포트 설명력 강화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탐지확률 실시간 차트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거리, 속도, RCS, 전자전 효과 등 입력조건을 기반으로 탐지확률을 시계열로 표시합니다.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" y="14940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거리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000" y="17388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속도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" y="19836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RCS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000" y="22284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재머효과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" y="24732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수중환경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90000" y="1854000"/>
            <a:ext cx="1458000" cy="522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탐지확률 계산 모델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22000" y="1580400"/>
            <a:ext cx="468000" cy="5346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22000" y="1825200"/>
            <a:ext cx="468000" cy="2898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22000" y="2070000"/>
            <a:ext cx="468000" cy="450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22000" y="2115000"/>
            <a:ext cx="468000" cy="1998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22000" y="2115000"/>
            <a:ext cx="468000" cy="4446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70000" y="1602000"/>
            <a:ext cx="17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232A31"/>
                </a:solidFill>
                <a:latin typeface="Malgun Gothic"/>
              </a:defRPr>
            </a:pPr>
            <a:r>
              <a:t>탐지확률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348000" y="1742400"/>
            <a:ext cx="126000" cy="37260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ight Arrow 19"/>
          <p:cNvSpPr/>
          <p:nvPr/>
        </p:nvSpPr>
        <p:spPr>
          <a:xfrm>
            <a:off x="3484800" y="1681200"/>
            <a:ext cx="198000" cy="1224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682800" y="1742400"/>
            <a:ext cx="187200" cy="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70000" y="2026800"/>
            <a:ext cx="17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232A31"/>
                </a:solidFill>
                <a:latin typeface="Malgun Gothic"/>
              </a:defRPr>
            </a:pPr>
            <a:r>
              <a:t>탐지 이벤트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48000" y="2115000"/>
            <a:ext cx="126000" cy="5220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ight Arrow 23"/>
          <p:cNvSpPr/>
          <p:nvPr/>
        </p:nvSpPr>
        <p:spPr>
          <a:xfrm>
            <a:off x="3484800" y="2106000"/>
            <a:ext cx="198000" cy="1224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682800" y="2167200"/>
            <a:ext cx="187200" cy="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0000" y="2451600"/>
            <a:ext cx="17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232A31"/>
                </a:solidFill>
                <a:latin typeface="Malgun Gothic"/>
              </a:defRPr>
            </a:pPr>
            <a:r>
              <a:t>임계값 비교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48000" y="2115000"/>
            <a:ext cx="126000" cy="47700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/>
          <p:cNvSpPr/>
          <p:nvPr/>
        </p:nvSpPr>
        <p:spPr>
          <a:xfrm>
            <a:off x="3484800" y="2530800"/>
            <a:ext cx="198000" cy="1224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682800" y="2592000"/>
            <a:ext cx="187200" cy="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0000" y="3671999"/>
            <a:ext cx="6138000" cy="108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5999" y="3761999"/>
            <a:ext cx="5886001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탐지확률 시계열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00" y="4031999"/>
            <a:ext cx="5742000" cy="3600"/>
          </a:xfrm>
          <a:prstGeom prst="rect">
            <a:avLst/>
          </a:prstGeom>
          <a:solidFill>
            <a:srgbClr val="C8D2D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00" y="4199999"/>
            <a:ext cx="5742000" cy="3600"/>
          </a:xfrm>
          <a:prstGeom prst="rect">
            <a:avLst/>
          </a:prstGeom>
          <a:solidFill>
            <a:srgbClr val="C8D2D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6000" y="4367999"/>
            <a:ext cx="5742000" cy="3600"/>
          </a:xfrm>
          <a:prstGeom prst="rect">
            <a:avLst/>
          </a:prstGeom>
          <a:solidFill>
            <a:srgbClr val="C8D2D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00" y="4535999"/>
            <a:ext cx="5742000" cy="3600"/>
          </a:xfrm>
          <a:prstGeom prst="rect">
            <a:avLst/>
          </a:prstGeom>
          <a:solidFill>
            <a:srgbClr val="C8D2D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1600" y="4380479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480320" y="4325039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576000" y="4339439"/>
            <a:ext cx="918720" cy="5544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2513880" y="4259519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1494720" y="4273919"/>
            <a:ext cx="1033560" cy="6552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719700" y="4299839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528280" y="4273919"/>
            <a:ext cx="1205820" cy="4032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695840" y="4188959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3734100" y="4203359"/>
            <a:ext cx="976140" cy="11088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303600" y="4229279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710240" y="4203359"/>
            <a:ext cx="1607760" cy="4032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60000" y="4932000"/>
            <a:ext cx="6138000" cy="180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0000" y="4996800"/>
            <a:ext cx="5958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004B73"/>
                </a:solidFill>
                <a:latin typeface="Malgun Gothic"/>
              </a:defRPr>
            </a:pPr>
            <a:r>
              <a:t>탐지확률 분석 화면 예시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5999" y="5202000"/>
            <a:ext cx="3314520" cy="1386001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314629" y="5266800"/>
            <a:ext cx="0" cy="1256401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43259" y="5266800"/>
            <a:ext cx="0" cy="1256401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971889" y="5266800"/>
            <a:ext cx="0" cy="1256401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50799" y="5659380"/>
            <a:ext cx="3184920" cy="0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50799" y="6116760"/>
            <a:ext cx="3184920" cy="0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47999" y="6300001"/>
            <a:ext cx="503999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60" b="1">
                <a:solidFill>
                  <a:srgbClr val="232A31"/>
                </a:solidFill>
                <a:latin typeface="Malgun Gothic"/>
              </a:defRPr>
            </a:pPr>
            <a:r>
              <a:t>플랫폼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80519" y="5400000"/>
            <a:ext cx="503999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B8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60" b="1">
                <a:solidFill>
                  <a:srgbClr val="B85C5C"/>
                </a:solidFill>
                <a:latin typeface="Malgun Gothic"/>
              </a:defRPr>
            </a:pPr>
            <a:r>
              <a:t>표적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1151999" y="5482800"/>
            <a:ext cx="1928520" cy="889201"/>
          </a:xfrm>
          <a:prstGeom prst="line">
            <a:avLst/>
          </a:prstGeom>
          <a:ln w="2032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565999" y="5562000"/>
            <a:ext cx="64800" cy="64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015999" y="5705999"/>
            <a:ext cx="64800" cy="64800"/>
          </a:xfrm>
          <a:prstGeom prst="ellipse">
            <a:avLst/>
          </a:prstGeom>
          <a:solidFill>
            <a:srgbClr val="699B7A"/>
          </a:solidFill>
          <a:ln>
            <a:solidFill>
              <a:srgbClr val="699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65999" y="5850000"/>
            <a:ext cx="64800" cy="64800"/>
          </a:xfrm>
          <a:prstGeom prst="ellipse">
            <a:avLst/>
          </a:prstGeom>
          <a:solidFill>
            <a:srgbClr val="B85C5C"/>
          </a:solidFill>
          <a:ln>
            <a:solidFill>
              <a:srgbClr val="B8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042800" y="5238000"/>
            <a:ext cx="2209680" cy="2592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탐지확률</a:t>
            </a:r>
            <a:br/>
            <a:r>
              <a:t>82%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42800" y="5598000"/>
            <a:ext cx="2209680" cy="2592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임계값</a:t>
            </a:r>
            <a:br/>
            <a:r>
              <a:t>70%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42800" y="5958000"/>
            <a:ext cx="2209680" cy="2592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상태</a:t>
            </a:r>
            <a:br/>
            <a:r>
              <a:t>탐지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센서/환경 조건 기반 탐지확률 산출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3D 객체와 차트 동기화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임계값 및 이벤트 표시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명중확률 실시간 차트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교전 조건과 무기체계 상태를 반영하여 명중확률 변화를 실시간 분석합니다.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" y="14940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거리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000" y="17388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속도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" y="19836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RCS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000" y="22284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재머효과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" y="24732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수중환경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90000" y="1854000"/>
            <a:ext cx="1458000" cy="522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명중확률 계산 모델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22000" y="1580400"/>
            <a:ext cx="468000" cy="5346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22000" y="1825200"/>
            <a:ext cx="468000" cy="2898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22000" y="2070000"/>
            <a:ext cx="468000" cy="450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22000" y="2115000"/>
            <a:ext cx="468000" cy="1998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22000" y="2115000"/>
            <a:ext cx="468000" cy="4446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70000" y="1602000"/>
            <a:ext cx="17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232A31"/>
                </a:solidFill>
                <a:latin typeface="Malgun Gothic"/>
              </a:defRPr>
            </a:pPr>
            <a:r>
              <a:t>명중확률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348000" y="1742400"/>
            <a:ext cx="126000" cy="37260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ight Arrow 19"/>
          <p:cNvSpPr/>
          <p:nvPr/>
        </p:nvSpPr>
        <p:spPr>
          <a:xfrm>
            <a:off x="3484800" y="1681200"/>
            <a:ext cx="198000" cy="1224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682800" y="1742400"/>
            <a:ext cx="187200" cy="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70000" y="2026800"/>
            <a:ext cx="17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232A31"/>
                </a:solidFill>
                <a:latin typeface="Malgun Gothic"/>
              </a:defRPr>
            </a:pPr>
            <a:r>
              <a:t>교전 이벤트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48000" y="2115000"/>
            <a:ext cx="126000" cy="5220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ight Arrow 23"/>
          <p:cNvSpPr/>
          <p:nvPr/>
        </p:nvSpPr>
        <p:spPr>
          <a:xfrm>
            <a:off x="3484800" y="2106000"/>
            <a:ext cx="198000" cy="1224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682800" y="2167200"/>
            <a:ext cx="187200" cy="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0000" y="2451600"/>
            <a:ext cx="17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232A31"/>
                </a:solidFill>
                <a:latin typeface="Malgun Gothic"/>
              </a:defRPr>
            </a:pPr>
            <a:r>
              <a:t>조건별 비교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48000" y="2115000"/>
            <a:ext cx="126000" cy="47700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/>
          <p:cNvSpPr/>
          <p:nvPr/>
        </p:nvSpPr>
        <p:spPr>
          <a:xfrm>
            <a:off x="3484800" y="2530800"/>
            <a:ext cx="198000" cy="1224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682800" y="2592000"/>
            <a:ext cx="187200" cy="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0000" y="3671999"/>
            <a:ext cx="6138000" cy="108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5999" y="3761999"/>
            <a:ext cx="5886001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명중확률 시계열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00" y="4031999"/>
            <a:ext cx="5742000" cy="3600"/>
          </a:xfrm>
          <a:prstGeom prst="rect">
            <a:avLst/>
          </a:prstGeom>
          <a:solidFill>
            <a:srgbClr val="C8D2D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00" y="4199999"/>
            <a:ext cx="5742000" cy="3600"/>
          </a:xfrm>
          <a:prstGeom prst="rect">
            <a:avLst/>
          </a:prstGeom>
          <a:solidFill>
            <a:srgbClr val="C8D2D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6000" y="4367999"/>
            <a:ext cx="5742000" cy="3600"/>
          </a:xfrm>
          <a:prstGeom prst="rect">
            <a:avLst/>
          </a:prstGeom>
          <a:solidFill>
            <a:srgbClr val="C8D2D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00" y="4535999"/>
            <a:ext cx="5742000" cy="3600"/>
          </a:xfrm>
          <a:prstGeom prst="rect">
            <a:avLst/>
          </a:prstGeom>
          <a:solidFill>
            <a:srgbClr val="C8D2D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1600" y="4380479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480320" y="4325039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576000" y="4339439"/>
            <a:ext cx="918720" cy="5544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2513880" y="4259519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1494720" y="4273919"/>
            <a:ext cx="1033560" cy="6552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719700" y="4299839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528280" y="4273919"/>
            <a:ext cx="1205820" cy="4032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695840" y="4188959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3734100" y="4203359"/>
            <a:ext cx="976140" cy="11088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303600" y="4229279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710240" y="4203359"/>
            <a:ext cx="1607760" cy="4032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60000" y="4932000"/>
            <a:ext cx="6138000" cy="180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0000" y="4996800"/>
            <a:ext cx="5958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004B73"/>
                </a:solidFill>
                <a:latin typeface="Malgun Gothic"/>
              </a:defRPr>
            </a:pPr>
            <a:r>
              <a:t>명중확률 분석 화면 예시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5999" y="5202000"/>
            <a:ext cx="3314520" cy="1386001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314629" y="5266800"/>
            <a:ext cx="0" cy="1256401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43259" y="5266800"/>
            <a:ext cx="0" cy="1256401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971889" y="5266800"/>
            <a:ext cx="0" cy="1256401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50799" y="5659380"/>
            <a:ext cx="3184920" cy="0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50799" y="6116760"/>
            <a:ext cx="3184920" cy="0"/>
          </a:xfrm>
          <a:prstGeom prst="line">
            <a:avLst/>
          </a:prstGeom>
          <a:ln w="10160">
            <a:solidFill>
              <a:srgbClr val="C8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47999" y="6300001"/>
            <a:ext cx="503999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60" b="1">
                <a:solidFill>
                  <a:srgbClr val="232A31"/>
                </a:solidFill>
                <a:latin typeface="Malgun Gothic"/>
              </a:defRPr>
            </a:pPr>
            <a:r>
              <a:t>플랫폼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80519" y="5400000"/>
            <a:ext cx="503999" cy="162000"/>
          </a:xfrm>
          <a:prstGeom prst="roundRect">
            <a:avLst/>
          </a:prstGeom>
          <a:solidFill>
            <a:srgbClr val="FFFFFF"/>
          </a:solidFill>
          <a:ln>
            <a:solidFill>
              <a:srgbClr val="B8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60" b="1">
                <a:solidFill>
                  <a:srgbClr val="B85C5C"/>
                </a:solidFill>
                <a:latin typeface="Malgun Gothic"/>
              </a:defRPr>
            </a:pPr>
            <a:r>
              <a:t>표적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1151999" y="5482800"/>
            <a:ext cx="1928520" cy="889201"/>
          </a:xfrm>
          <a:prstGeom prst="line">
            <a:avLst/>
          </a:prstGeom>
          <a:ln w="2032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565999" y="5562000"/>
            <a:ext cx="64800" cy="64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015999" y="5705999"/>
            <a:ext cx="64800" cy="64800"/>
          </a:xfrm>
          <a:prstGeom prst="ellipse">
            <a:avLst/>
          </a:prstGeom>
          <a:solidFill>
            <a:srgbClr val="699B7A"/>
          </a:solidFill>
          <a:ln>
            <a:solidFill>
              <a:srgbClr val="699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65999" y="5850000"/>
            <a:ext cx="64800" cy="64800"/>
          </a:xfrm>
          <a:prstGeom prst="ellipse">
            <a:avLst/>
          </a:prstGeom>
          <a:solidFill>
            <a:srgbClr val="B85C5C"/>
          </a:solidFill>
          <a:ln>
            <a:solidFill>
              <a:srgbClr val="B8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042800" y="5238000"/>
            <a:ext cx="2209680" cy="2592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명중확률</a:t>
            </a:r>
            <a:br/>
            <a:r>
              <a:t>64%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42800" y="5598000"/>
            <a:ext cx="2209680" cy="2592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교전단계</a:t>
            </a:r>
            <a:br/>
            <a:r>
              <a:t>중간유도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42800" y="5958000"/>
            <a:ext cx="2209680" cy="2592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40" b="1">
                <a:solidFill>
                  <a:srgbClr val="232A31"/>
                </a:solidFill>
                <a:latin typeface="Malgun Gothic"/>
              </a:defRPr>
            </a:pPr>
            <a:r>
              <a:t>판정</a:t>
            </a:r>
            <a:br/>
            <a:r>
              <a:t>비교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교전조건 기반 명중확률 산출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발사-유도-결과 흐름과 연계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조건별 비교 차트 제공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유도탄-기만기 기만 성공확률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유도탄 추적 상태와 기만기 운용 조건을 반영하여 기만 성공확률을 산출합니다.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" y="14940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거리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000" y="17388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속도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" y="19836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RCS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000" y="22284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재머효과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" y="24732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수중환경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90000" y="1854000"/>
            <a:ext cx="1458000" cy="522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유도탄-기만 효과 모델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22000" y="1580400"/>
            <a:ext cx="468000" cy="5346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22000" y="1825200"/>
            <a:ext cx="468000" cy="2898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22000" y="2070000"/>
            <a:ext cx="468000" cy="450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22000" y="2115000"/>
            <a:ext cx="468000" cy="1998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22000" y="2115000"/>
            <a:ext cx="468000" cy="4446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70000" y="1602000"/>
            <a:ext cx="17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232A31"/>
                </a:solidFill>
                <a:latin typeface="Malgun Gothic"/>
              </a:defRPr>
            </a:pPr>
            <a:r>
              <a:t>기만 성공확률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348000" y="1742400"/>
            <a:ext cx="126000" cy="37260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ight Arrow 19"/>
          <p:cNvSpPr/>
          <p:nvPr/>
        </p:nvSpPr>
        <p:spPr>
          <a:xfrm>
            <a:off x="3484800" y="1681200"/>
            <a:ext cx="198000" cy="1224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682800" y="1742400"/>
            <a:ext cx="187200" cy="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70000" y="2026800"/>
            <a:ext cx="17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232A31"/>
                </a:solidFill>
                <a:latin typeface="Malgun Gothic"/>
              </a:defRPr>
            </a:pPr>
            <a:r>
              <a:t>기만 전/후 비교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48000" y="2115000"/>
            <a:ext cx="126000" cy="5220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ight Arrow 23"/>
          <p:cNvSpPr/>
          <p:nvPr/>
        </p:nvSpPr>
        <p:spPr>
          <a:xfrm>
            <a:off x="3484800" y="2106000"/>
            <a:ext cx="198000" cy="1224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682800" y="2167200"/>
            <a:ext cx="187200" cy="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0000" y="2451600"/>
            <a:ext cx="17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232A31"/>
                </a:solidFill>
                <a:latin typeface="Malgun Gothic"/>
              </a:defRPr>
            </a:pPr>
            <a:r>
              <a:t>민감도 분석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48000" y="2115000"/>
            <a:ext cx="126000" cy="47700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/>
          <p:cNvSpPr/>
          <p:nvPr/>
        </p:nvSpPr>
        <p:spPr>
          <a:xfrm>
            <a:off x="3484800" y="2530800"/>
            <a:ext cx="198000" cy="1224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682800" y="2592000"/>
            <a:ext cx="187200" cy="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0000" y="3456000"/>
            <a:ext cx="6138000" cy="1872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000" y="3520800"/>
            <a:ext cx="5958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004B73"/>
                </a:solidFill>
                <a:latin typeface="Malgun Gothic"/>
              </a:defRPr>
            </a:pPr>
            <a:r>
              <a:t>유도탄 기만효과 비교 예시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999" y="3726000"/>
            <a:ext cx="1395900" cy="1494000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9199" y="3769200"/>
            <a:ext cx="1309500" cy="162000"/>
          </a:xfrm>
          <a:prstGeom prst="roundRect">
            <a:avLst/>
          </a:prstGeom>
          <a:solidFill>
            <a:srgbClr val="004B73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80" b="1">
                <a:solidFill>
                  <a:srgbClr val="FFFFFF"/>
                </a:solidFill>
                <a:latin typeface="Malgun Gothic"/>
              </a:defRPr>
            </a:pPr>
            <a:r>
              <a:t>입력조건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0799" y="40068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유도탄 위치/속도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0799" y="4215599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표적 RCS/기동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0799" y="44244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기만기 운용시점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0799" y="4633199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기만기 조합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0799" y="4841999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전자전 영향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82699" y="3726000"/>
            <a:ext cx="1395900" cy="1494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025899" y="3769200"/>
            <a:ext cx="1309500" cy="162000"/>
          </a:xfrm>
          <a:prstGeom prst="round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80" b="1">
                <a:solidFill>
                  <a:srgbClr val="FFFFFF"/>
                </a:solidFill>
                <a:latin typeface="Malgun Gothic"/>
              </a:defRPr>
            </a:pPr>
            <a:r>
              <a:t>기만 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47499" y="40068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표적 직접 추적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47499" y="4215599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명중확률 기준값 산출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47499" y="44244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위협 경로 유지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9399" y="3726000"/>
            <a:ext cx="1395900" cy="1494000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22599" y="3769200"/>
            <a:ext cx="1309500" cy="162000"/>
          </a:xfrm>
          <a:prstGeom prst="round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80" b="1">
                <a:solidFill>
                  <a:srgbClr val="FFFFFF"/>
                </a:solidFill>
                <a:latin typeface="Malgun Gothic"/>
              </a:defRPr>
            </a:pPr>
            <a:r>
              <a:t>기만 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44199" y="40068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RCS 변화 반영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44199" y="4215599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추적 혼선/오인 가능성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44199" y="44244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기만 전후 확률 비교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76099" y="3726000"/>
            <a:ext cx="1395900" cy="1494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019299" y="3769200"/>
            <a:ext cx="1309500" cy="162000"/>
          </a:xfrm>
          <a:prstGeom prst="roundRect">
            <a:avLst/>
          </a:prstGeom>
          <a:solidFill>
            <a:srgbClr val="004B73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80" b="1">
                <a:solidFill>
                  <a:srgbClr val="FFFFFF"/>
                </a:solidFill>
                <a:latin typeface="Malgun Gothic"/>
              </a:defRPr>
            </a:pPr>
            <a:r>
              <a:t>산출결과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40899" y="40068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기만 성공확률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40899" y="4215599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명중확률 변화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40899" y="44244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조건별 민감도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1899899" y="4415400"/>
            <a:ext cx="79200" cy="1152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ight Arrow 54"/>
          <p:cNvSpPr/>
          <p:nvPr/>
        </p:nvSpPr>
        <p:spPr>
          <a:xfrm>
            <a:off x="3396599" y="4415400"/>
            <a:ext cx="79200" cy="1152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ight Arrow 55"/>
          <p:cNvSpPr/>
          <p:nvPr/>
        </p:nvSpPr>
        <p:spPr>
          <a:xfrm>
            <a:off x="4893299" y="4415400"/>
            <a:ext cx="79200" cy="1152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유도탄 상태와 기만 이벤트 연계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기만 성공확률 산출 절차 개선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기만 전후 결과 비교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어뢰-기만기 기만 성공확률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수중환경과 음향 조건을 반영하여 어뢰 기만 효과를 분석합니다.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" y="14940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거리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000" y="17388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속도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" y="19836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RCS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000" y="22284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재머효과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" y="2473200"/>
            <a:ext cx="1080000" cy="172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30" b="1">
                <a:solidFill>
                  <a:srgbClr val="232A31"/>
                </a:solidFill>
                <a:latin typeface="Malgun Gothic"/>
              </a:defRPr>
            </a:pPr>
            <a:r>
              <a:t>수중환경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90000" y="1854000"/>
            <a:ext cx="1458000" cy="522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어뢰-기만 효과 모델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22000" y="1580400"/>
            <a:ext cx="468000" cy="5346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22000" y="1825200"/>
            <a:ext cx="468000" cy="2898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22000" y="2070000"/>
            <a:ext cx="468000" cy="450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22000" y="2115000"/>
            <a:ext cx="468000" cy="1998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22000" y="2115000"/>
            <a:ext cx="468000" cy="444600"/>
          </a:xfrm>
          <a:prstGeom prst="line">
            <a:avLst/>
          </a:prstGeom>
          <a:ln w="1270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70000" y="1602000"/>
            <a:ext cx="17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232A31"/>
                </a:solidFill>
                <a:latin typeface="Malgun Gothic"/>
              </a:defRPr>
            </a:pPr>
            <a:r>
              <a:t>기만 성공확률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348000" y="1742400"/>
            <a:ext cx="126000" cy="37260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ight Arrow 19"/>
          <p:cNvSpPr/>
          <p:nvPr/>
        </p:nvSpPr>
        <p:spPr>
          <a:xfrm>
            <a:off x="3484800" y="1681200"/>
            <a:ext cx="198000" cy="1224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682800" y="1742400"/>
            <a:ext cx="187200" cy="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70000" y="2026800"/>
            <a:ext cx="17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232A31"/>
                </a:solidFill>
                <a:latin typeface="Malgun Gothic"/>
              </a:defRPr>
            </a:pPr>
            <a:r>
              <a:t>환경별 비교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48000" y="2115000"/>
            <a:ext cx="126000" cy="5220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ight Arrow 23"/>
          <p:cNvSpPr/>
          <p:nvPr/>
        </p:nvSpPr>
        <p:spPr>
          <a:xfrm>
            <a:off x="3484800" y="2106000"/>
            <a:ext cx="198000" cy="1224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682800" y="2167200"/>
            <a:ext cx="187200" cy="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0000" y="2451600"/>
            <a:ext cx="1764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10" b="1">
                <a:solidFill>
                  <a:srgbClr val="232A31"/>
                </a:solidFill>
                <a:latin typeface="Malgun Gothic"/>
              </a:defRPr>
            </a:pPr>
            <a:r>
              <a:t>어뢰 추적 영향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48000" y="2115000"/>
            <a:ext cx="126000" cy="47700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/>
          <p:cNvSpPr/>
          <p:nvPr/>
        </p:nvSpPr>
        <p:spPr>
          <a:xfrm>
            <a:off x="3484800" y="2530800"/>
            <a:ext cx="198000" cy="1224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682800" y="2592000"/>
            <a:ext cx="187200" cy="0"/>
          </a:xfrm>
          <a:prstGeom prst="line">
            <a:avLst/>
          </a:prstGeom>
          <a:ln w="1397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0000" y="3456000"/>
            <a:ext cx="6138000" cy="1872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000" y="3520800"/>
            <a:ext cx="5958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004B73"/>
                </a:solidFill>
                <a:latin typeface="Malgun Gothic"/>
              </a:defRPr>
            </a:pPr>
            <a:r>
              <a:t>어뢰 기만효과 비교 예시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999" y="3726000"/>
            <a:ext cx="1395900" cy="1494000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9199" y="3769200"/>
            <a:ext cx="1309500" cy="162000"/>
          </a:xfrm>
          <a:prstGeom prst="roundRect">
            <a:avLst/>
          </a:prstGeom>
          <a:solidFill>
            <a:srgbClr val="004B73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80" b="1">
                <a:solidFill>
                  <a:srgbClr val="FFFFFF"/>
                </a:solidFill>
                <a:latin typeface="Malgun Gothic"/>
              </a:defRPr>
            </a:pPr>
            <a:r>
              <a:t>입력조건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0799" y="40068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어뢰 위치/속도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0799" y="4215599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표적 기동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0799" y="44244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기만기 운용모드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0799" y="4633199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수온·전달손실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0799" y="4841999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음선경로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82699" y="3726000"/>
            <a:ext cx="1395900" cy="1494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025899" y="3769200"/>
            <a:ext cx="1309500" cy="162000"/>
          </a:xfrm>
          <a:prstGeom prst="round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80" b="1">
                <a:solidFill>
                  <a:srgbClr val="FFFFFF"/>
                </a:solidFill>
                <a:latin typeface="Malgun Gothic"/>
              </a:defRPr>
            </a:pPr>
            <a:r>
              <a:t>기만 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47499" y="40068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표적 추적 지속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47499" y="4215599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재획득 가능성 높음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47499" y="44244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접근 경로 유지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9399" y="3726000"/>
            <a:ext cx="1395900" cy="1494000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22599" y="3769200"/>
            <a:ext cx="1309500" cy="162000"/>
          </a:xfrm>
          <a:prstGeom prst="round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80" b="1">
                <a:solidFill>
                  <a:srgbClr val="FFFFFF"/>
                </a:solidFill>
                <a:latin typeface="Malgun Gothic"/>
              </a:defRPr>
            </a:pPr>
            <a:r>
              <a:t>기만 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44199" y="40068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기만기 반응 반영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44199" y="4215599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추적 이탈/재획득 지연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44199" y="44244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환경조건별 효과 비교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76099" y="3726000"/>
            <a:ext cx="1395900" cy="1494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019299" y="3769200"/>
            <a:ext cx="1309500" cy="162000"/>
          </a:xfrm>
          <a:prstGeom prst="roundRect">
            <a:avLst/>
          </a:prstGeom>
          <a:solidFill>
            <a:srgbClr val="004B73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580" b="1">
                <a:solidFill>
                  <a:srgbClr val="FFFFFF"/>
                </a:solidFill>
                <a:latin typeface="Malgun Gothic"/>
              </a:defRPr>
            </a:pPr>
            <a:r>
              <a:t>산출결과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40899" y="40068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기만 성공확률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40899" y="4215599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어뢰 추적 영향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40899" y="4424400"/>
            <a:ext cx="1266300" cy="1512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509" b="0">
                <a:solidFill>
                  <a:srgbClr val="232A31"/>
                </a:solidFill>
                <a:latin typeface="Malgun Gothic"/>
              </a:defRPr>
            </a:pPr>
            <a:r>
              <a:t>환경별 민감도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1899899" y="4415400"/>
            <a:ext cx="79200" cy="1152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ight Arrow 54"/>
          <p:cNvSpPr/>
          <p:nvPr/>
        </p:nvSpPr>
        <p:spPr>
          <a:xfrm>
            <a:off x="3396599" y="4415400"/>
            <a:ext cx="79200" cy="1152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ight Arrow 55"/>
          <p:cNvSpPr/>
          <p:nvPr/>
        </p:nvSpPr>
        <p:spPr>
          <a:xfrm>
            <a:off x="4893299" y="4415400"/>
            <a:ext cx="79200" cy="1152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수중환경과 어뢰 상태를 함께 반영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기만기 효과를 환경조건별 비교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어뢰 분석 설명력 강화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전자전 장비 효과 산출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재머, GPS 교란 등 전자전 효과를 교전 결과와 연계하여 비교 분석합니다.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584000"/>
            <a:ext cx="2484000" cy="1512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32A31"/>
                </a:solidFill>
                <a:latin typeface="Malgun Gothic"/>
              </a:defRPr>
            </a:pPr>
            <a:r>
              <a:t>전자전 OFF</a:t>
            </a:r>
            <a:br/>
            <a:br/>
            <a:r>
              <a:t>탐지/추적 영향 미반영</a:t>
            </a:r>
            <a:br/>
            <a:r>
              <a:t>명중률 예시: 74%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8000" y="1584000"/>
            <a:ext cx="2484000" cy="151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32A31"/>
                </a:solidFill>
                <a:latin typeface="Malgun Gothic"/>
              </a:defRPr>
            </a:pPr>
            <a:r>
              <a:t>전자전 ON</a:t>
            </a:r>
            <a:br/>
            <a:br/>
            <a:r>
              <a:t>재머·GPS 교란 영향 반영</a:t>
            </a:r>
            <a:br/>
            <a:r>
              <a:t>명중률 예시: 39%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98000" y="2196000"/>
            <a:ext cx="360000" cy="1980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0000" y="3384000"/>
            <a:ext cx="1440000" cy="280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효과 항목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0" y="3384000"/>
            <a:ext cx="4698000" cy="280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분석 반영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3664800"/>
            <a:ext cx="1440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재머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664800"/>
            <a:ext cx="4698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탐지/추적 성능 저하 효과를 이벤트 시간축에 반영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3945600"/>
            <a:ext cx="1440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GPS 교란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00000" y="3945600"/>
            <a:ext cx="4698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항법 오차 및 유도 영향도를 교전결과와 연계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4226400"/>
            <a:ext cx="1440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전자전 효과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000" y="4226400"/>
            <a:ext cx="4698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교전 전후 확률 변화와 영향 대상을 비교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4626000"/>
            <a:ext cx="6138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4680000"/>
            <a:ext cx="5994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전자전 효과 비교 관점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9200" y="4870800"/>
            <a:ext cx="14346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재머 영향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53000" y="4870800"/>
            <a:ext cx="14346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GPS 교란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6800" y="4870800"/>
            <a:ext cx="14346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확률 변화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0600" y="4870800"/>
            <a:ext cx="14346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효과 판정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전자전 OFF/ON 비교 구조 제공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재머와 GPS 교란 효과 산출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교전결과 변화와 연계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KPI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핵심 분석 지표를 요약하여 지휘관/분석관의 신속한 판단을 지원합니다.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512000"/>
            <a:ext cx="1224000" cy="540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32A31"/>
                </a:solidFill>
                <a:latin typeface="Malgun Gothic"/>
              </a:defRPr>
            </a:pPr>
            <a:r>
              <a:t>탐지확률</a:t>
            </a:r>
            <a:br/>
            <a:r>
              <a:t>82%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2000" y="1512000"/>
            <a:ext cx="1224000" cy="54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32A31"/>
                </a:solidFill>
                <a:latin typeface="Malgun Gothic"/>
              </a:defRPr>
            </a:pPr>
            <a:r>
              <a:t>명중확률</a:t>
            </a:r>
            <a:br/>
            <a:r>
              <a:t>64%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4000" y="1512000"/>
            <a:ext cx="1224000" cy="540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32A31"/>
                </a:solidFill>
                <a:latin typeface="Malgun Gothic"/>
              </a:defRPr>
            </a:pPr>
            <a:r>
              <a:t>기만성공</a:t>
            </a:r>
            <a:br/>
            <a:r>
              <a:t>41%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6000" y="1512000"/>
            <a:ext cx="1224000" cy="54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32A31"/>
                </a:solidFill>
                <a:latin typeface="Malgun Gothic"/>
              </a:defRPr>
            </a:pPr>
            <a:r>
              <a:t>전자전효과</a:t>
            </a:r>
            <a:br/>
            <a:r>
              <a:t>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340000"/>
            <a:ext cx="6138000" cy="1872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999" y="2430000"/>
            <a:ext cx="5886001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KPI 추이 및 이벤트 연계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2700000"/>
            <a:ext cx="5742000" cy="3600"/>
          </a:xfrm>
          <a:prstGeom prst="rect">
            <a:avLst/>
          </a:prstGeom>
          <a:solidFill>
            <a:srgbClr val="C8D2D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00" y="3132000"/>
            <a:ext cx="5742000" cy="3600"/>
          </a:xfrm>
          <a:prstGeom prst="rect">
            <a:avLst/>
          </a:prstGeom>
          <a:solidFill>
            <a:srgbClr val="C8D2D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00" y="3564000"/>
            <a:ext cx="5742000" cy="3600"/>
          </a:xfrm>
          <a:prstGeom prst="rect">
            <a:avLst/>
          </a:prstGeom>
          <a:solidFill>
            <a:srgbClr val="C8D2D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00" y="3996000"/>
            <a:ext cx="5742000" cy="3600"/>
          </a:xfrm>
          <a:prstGeom prst="rect">
            <a:avLst/>
          </a:prstGeom>
          <a:solidFill>
            <a:srgbClr val="C8D2D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1600" y="3618720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80320" y="3476160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576000" y="3490560"/>
            <a:ext cx="918720" cy="14256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513880" y="3307680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1494720" y="3322080"/>
            <a:ext cx="1033560" cy="16848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719700" y="3411360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528280" y="3322080"/>
            <a:ext cx="1205820" cy="10368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695840" y="3126240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734100" y="3140640"/>
            <a:ext cx="976140" cy="28512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303600" y="3229920"/>
            <a:ext cx="28800" cy="28800"/>
          </a:xfrm>
          <a:prstGeom prst="ellipse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710240" y="3140640"/>
            <a:ext cx="1607760" cy="103680"/>
          </a:xfrm>
          <a:prstGeom prst="line">
            <a:avLst/>
          </a:prstGeom>
          <a:ln w="21590">
            <a:solidFill>
              <a:srgbClr val="00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핵심 지표를 한 화면에서 확인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이벤트와 지표 변화를 함께 해석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보고서 연계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자동 보고서 생성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Replay, 차트, 이벤트 요약을 자동 보고서로 연계하여 분석 산출물 품질을 높입니다.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84000"/>
            <a:ext cx="11412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이벤트 요약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90400" y="1717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91199" y="1584000"/>
            <a:ext cx="11412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차트 캡처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57600" y="1717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8399" y="1584000"/>
            <a:ext cx="11412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Replay 장면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4800" y="1717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25599" y="1584000"/>
            <a:ext cx="11412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KPI 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92000" y="1717200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2799" y="1584000"/>
            <a:ext cx="11412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보고서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376000"/>
            <a:ext cx="1260000" cy="280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보고서 구성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20000" y="2376000"/>
            <a:ext cx="4878000" cy="280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2656800"/>
            <a:ext cx="1260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분석 개요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20000" y="2656800"/>
            <a:ext cx="4878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시나리오, 모의조건, 분석 대상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2937600"/>
            <a:ext cx="1260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핵심 결과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20000" y="2937600"/>
            <a:ext cx="4878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탐지·명중·기만·전자전 지표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3218400"/>
            <a:ext cx="1260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근거 자료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20000" y="3218400"/>
            <a:ext cx="4878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이벤트 로그, Replay 장면, 차트 캡처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000" y="3499200"/>
            <a:ext cx="1260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시험 증적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20000" y="3499200"/>
            <a:ext cx="4878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요구사항별 확인 결과와 판정 근거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3816000"/>
            <a:ext cx="6138000" cy="666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3870000"/>
            <a:ext cx="5994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자동 보고서 구성 예시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200" y="4060800"/>
            <a:ext cx="1434600" cy="34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요약 표지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53000" y="4060800"/>
            <a:ext cx="14346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확률 차트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6800" y="4060800"/>
            <a:ext cx="1434600" cy="34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Replay 캡처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0600" y="4060800"/>
            <a:ext cx="14346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판정 근거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Replay 장면과 차트를 자동 보고서화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시험평가 증적 정리 시간 단축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분석 결과 표준화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검증 가능한 표준 기술 조합으로 구현 가능성과 운영성을 확보합니다.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584000"/>
            <a:ext cx="1296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영역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56000" y="1584000"/>
            <a:ext cx="4842001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적용 기술 방향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08000"/>
            <a:ext cx="1296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3D/가시화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56000" y="1908000"/>
            <a:ext cx="4842001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3D 엔진 기반 전장 객체, 궤적, 이벤트 오버레이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232000"/>
            <a:ext cx="1296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2232000"/>
            <a:ext cx="4842001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결과분석 DB, 로그 정제/매핑 처리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556000"/>
            <a:ext cx="1296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분석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56000" y="2556000"/>
            <a:ext cx="4842001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확률 계산 모델, 기만/전자전 효과 산출 모듈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880000"/>
            <a:ext cx="1296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56000" y="2880000"/>
            <a:ext cx="4842001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멀티뷰, 차트, 대시보드, 보고서 생성 화면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3276000"/>
            <a:ext cx="6138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3330000"/>
            <a:ext cx="5994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구현 구성 예시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200" y="3520800"/>
            <a:ext cx="1434600" cy="39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3D 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53000" y="3520800"/>
            <a:ext cx="14346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Analysis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6800" y="3520800"/>
            <a:ext cx="1434600" cy="39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Result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0600" y="3520800"/>
            <a:ext cx="14346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구현 가능한 표준 기술 조합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분석모델과 화면 기능 분리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운영 확장성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개발 일정/WBS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분석, 설계, 구현, 통합, 시험평가를 단계적으로 추진합니다.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48000"/>
            <a:ext cx="936000" cy="280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단계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0000" y="1548000"/>
            <a:ext cx="2592000" cy="280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주요 수행 내용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2000" y="1548000"/>
            <a:ext cx="2682000" cy="2808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산출물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828800"/>
            <a:ext cx="936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0000" y="1828800"/>
            <a:ext cx="2592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요구사항 정제, 데이터 항목 정의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2000" y="1828800"/>
            <a:ext cx="2682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요구사항 매트릭스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109600"/>
            <a:ext cx="936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설계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0000" y="2109600"/>
            <a:ext cx="2592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DB, 분석모델, UI/가시화 구조 설계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2000" y="2109600"/>
            <a:ext cx="2682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설계서/화면정의서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390400"/>
            <a:ext cx="936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구현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60000" y="2390400"/>
            <a:ext cx="2592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Replay, Multi View, 확률/효과 분석 구현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52000" y="2390400"/>
            <a:ext cx="2682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구현 모듈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2671200"/>
            <a:ext cx="936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통합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60000" y="2671200"/>
            <a:ext cx="2592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모의 로그 연계, DB 저장, 화면 통합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52000" y="2671200"/>
            <a:ext cx="2682000" cy="2808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통합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000" y="2952000"/>
            <a:ext cx="936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시험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60000" y="2952000"/>
            <a:ext cx="2592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시나리오 기반 기능/정합성 시험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52000" y="2952000"/>
            <a:ext cx="2682000" cy="2808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시험결과서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000" y="3384000"/>
            <a:ext cx="6210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000" y="3438000"/>
            <a:ext cx="6066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단계별 중점 관리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3200" y="3628800"/>
            <a:ext cx="14526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요구 추적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35000" y="3628800"/>
            <a:ext cx="14526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설계 검토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6800" y="3628800"/>
            <a:ext cx="14526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통합 점검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98600" y="3628800"/>
            <a:ext cx="14526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시험 증적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분석-설계-구현-통합-시험 단계화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핵심 기능 우선 구현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시험 기준과 산출물 연계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위험요소 및 대응방안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성능, 데이터 정합성, 가시화 복잡도, 시험평가 리스크를 사전에 관리합니다.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548000"/>
            <a:ext cx="1296000" cy="306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위험요소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0000" y="1548000"/>
            <a:ext cx="1584000" cy="306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영향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4000" y="1548000"/>
            <a:ext cx="3330000" cy="306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대응방안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854000"/>
            <a:ext cx="129600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로그 정합성 부족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0000" y="1854000"/>
            <a:ext cx="158400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Replay 재현성 저하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4000" y="1854000"/>
            <a:ext cx="333000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정합성 점검 규칙과 예외 처리 기준 수립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160000"/>
            <a:ext cx="129600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3D 성능 저하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0000" y="2160000"/>
            <a:ext cx="158400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대용량 시나리오 표시 지연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4000" y="2160000"/>
            <a:ext cx="333000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LOD, 필터링, 구간 로딩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2466000"/>
            <a:ext cx="129600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모델 산출 근거 부족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20000" y="2466000"/>
            <a:ext cx="158400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시험평가 설명력 저하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4000" y="2466000"/>
            <a:ext cx="3330000" cy="306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입력값-산출값 추적 정보 저장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2772000"/>
            <a:ext cx="129600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화면 복잡도 증가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20000" y="2772000"/>
            <a:ext cx="158400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분석관 사용성 저하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4000" y="2772000"/>
            <a:ext cx="3330000" cy="30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멀티뷰 템플릿과 역할별 화면 구성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000" y="3240000"/>
            <a:ext cx="6210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000" y="3294000"/>
            <a:ext cx="6066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리스크 관리 관점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3200" y="3484800"/>
            <a:ext cx="14526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데이터 정합성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35000" y="3484800"/>
            <a:ext cx="14526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성능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66800" y="3484800"/>
            <a:ext cx="1452600" cy="360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설명가능성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98600" y="3484800"/>
            <a:ext cx="14526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사용성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기술/데이터/성능 리스크 사전 식별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구현 단계별 대응방안 수립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시험평가 리스크 완화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기대효과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전술분석 고도화, 무기체계 효과도 검증, 교전결과 이해도 향상을 기대합니다.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692000"/>
            <a:ext cx="1141200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전술분석 고도화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90400" y="1834199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91199" y="1692000"/>
            <a:ext cx="1141200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무기체계 효과도 검증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57600" y="1834199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8399" y="1692000"/>
            <a:ext cx="1141200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교전결과 직관적 이해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4800" y="1834199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25599" y="1692000"/>
            <a:ext cx="1141200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의사결정 지원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92000" y="1834199"/>
            <a:ext cx="79200" cy="129600"/>
          </a:xfrm>
          <a:prstGeom prst="rightArrow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2799" y="1692000"/>
            <a:ext cx="1141200" cy="413999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004B73"/>
                </a:solidFill>
                <a:latin typeface="Malgun Gothic"/>
              </a:defRPr>
            </a:pPr>
            <a:r>
              <a:t>교육/훈련 활용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592000"/>
            <a:ext cx="1224000" cy="288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기대효과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84000" y="2592000"/>
            <a:ext cx="4914000" cy="288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설명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2880000"/>
            <a:ext cx="1224000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해석성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84000" y="2880000"/>
            <a:ext cx="4914000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모의결과를 3D, 차트, 리포트로 다각도 해석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3168000"/>
            <a:ext cx="1224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재현성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84000" y="3168000"/>
            <a:ext cx="4914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동일 로그 기반 Replay로 분석 결과 반복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3456000"/>
            <a:ext cx="1224000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검증성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84000" y="3456000"/>
            <a:ext cx="4914000" cy="288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입력값, 모델, 산출값의 추적 구조 확보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000" y="3744000"/>
            <a:ext cx="1224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운영성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84000" y="3744000"/>
            <a:ext cx="4914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분석관 업무 흐름에 맞춘 대시보드와 보고서 제공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4031999"/>
            <a:ext cx="6138000" cy="666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4085999"/>
            <a:ext cx="5994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활용 장면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200" y="4276799"/>
            <a:ext cx="1434600" cy="34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전술 검토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53000" y="4276799"/>
            <a:ext cx="14346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효과도 비교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6800" y="4276799"/>
            <a:ext cx="1434600" cy="342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시험평가 설명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0600" y="4276799"/>
            <a:ext cx="14346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교육자료 전환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전술분석 고도화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교전결과 직관적 이해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의사결정 및 교육훈련 활용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198000"/>
            <a:ext cx="756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004B73"/>
                </a:solidFill>
                <a:latin typeface="Malgun Gothic"/>
              </a:defRPr>
            </a:pPr>
            <a:r>
              <a:t>Ⅱ - 24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999" y="342000"/>
            <a:ext cx="6354001" cy="223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1250" b="1">
                <a:solidFill>
                  <a:srgbClr val="232A31"/>
                </a:solidFill>
                <a:latin typeface="Malgun Gothic"/>
              </a:defRPr>
            </a:pPr>
            <a:r>
              <a:t>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40800"/>
            <a:ext cx="6354001" cy="10800"/>
          </a:xfrm>
          <a:prstGeom prst="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662400"/>
            <a:ext cx="1548000" cy="25200"/>
          </a:xfrm>
          <a:prstGeom prst="rect">
            <a:avLst/>
          </a:prstGeom>
          <a:solidFill>
            <a:srgbClr val="0079A8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763200"/>
            <a:ext cx="6210000" cy="201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780" b="1">
                <a:solidFill>
                  <a:srgbClr val="004B73"/>
                </a:solidFill>
                <a:latin typeface="Malgun Gothic"/>
              </a:defRPr>
            </a:pPr>
            <a:r>
              <a:t>Build-II 요구사항에 부합하는 결과분석 및 전장 가시화 플랫폼을 단계적으로 구축합니다.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655999"/>
            <a:ext cx="1440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0000" y="1655999"/>
            <a:ext cx="4698000" cy="324000"/>
          </a:xfrm>
          <a:prstGeom prst="roundRect">
            <a:avLst/>
          </a:prstGeom>
          <a:solidFill>
            <a:srgbClr val="004B73"/>
          </a:solidFill>
          <a:ln>
            <a:solidFill>
              <a:srgbClr val="00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90" b="1">
                <a:solidFill>
                  <a:srgbClr val="FFFFFF"/>
                </a:solidFill>
                <a:latin typeface="Malgun Gothic"/>
              </a:defRPr>
            </a:pPr>
            <a:r>
              <a:t>최종 제안 메시지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79999"/>
            <a:ext cx="1440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결과분석 고도화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0000" y="1979999"/>
            <a:ext cx="4698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모의결과의 해석성, 재현성, 검증성을 강화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303999"/>
            <a:ext cx="1440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3D 전장 가시화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0000" y="2303999"/>
            <a:ext cx="4698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자동 Replay와 Multi View로 분석 효율 향상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627999"/>
            <a:ext cx="1440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확률/효과 분석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0000" y="2627999"/>
            <a:ext cx="4698000" cy="324000"/>
          </a:xfrm>
          <a:prstGeom prst="round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탐지·명중·기만·전자전 효과를 통합 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951999"/>
            <a:ext cx="1440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확장 기반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00000" y="2951999"/>
            <a:ext cx="4698000" cy="324000"/>
          </a:xfrm>
          <a:prstGeom prst="round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76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232A31"/>
                </a:solidFill>
                <a:latin typeface="Malgun Gothic"/>
              </a:defRPr>
            </a:pPr>
            <a:r>
              <a:t>향후 분석모델과 화면 기능 확장이 가능한 플랫폼 기반 확보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3401999"/>
            <a:ext cx="6138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3455999"/>
            <a:ext cx="5994000" cy="1152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l">
              <a:spcAft>
                <a:spcPts val="0"/>
              </a:spcAft>
              <a:defRPr sz="680" b="1">
                <a:solidFill>
                  <a:srgbClr val="004B73"/>
                </a:solidFill>
                <a:latin typeface="Malgun Gothic"/>
              </a:defRPr>
            </a:pPr>
            <a:r>
              <a:t>제안 방향 요약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200" y="3646799"/>
            <a:ext cx="1434600" cy="39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요구 충족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53000" y="3646799"/>
            <a:ext cx="14346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구현 가능성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6800" y="3646799"/>
            <a:ext cx="1434600" cy="396000"/>
          </a:xfrm>
          <a:prstGeom prst="roundRect">
            <a:avLst/>
          </a:prstGeom>
          <a:solidFill>
            <a:srgbClr val="F4F8FA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검증 중심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0600" y="3646799"/>
            <a:ext cx="1434600" cy="396000"/>
          </a:xfrm>
          <a:prstGeom prst="roundRect">
            <a:avLst/>
          </a:prstGeom>
          <a:solidFill>
            <a:srgbClr val="FFFFFF"/>
          </a:solidFill>
          <a:ln>
            <a:solidFill>
              <a:srgbClr val="00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>
            <a:normAutofit/>
          </a:bodyPr>
          <a:lstStyle/>
          <a:p>
            <a:pPr algn="ctr">
              <a:spcAft>
                <a:spcPts val="0"/>
              </a:spcAft>
              <a:defRPr sz="610" b="1">
                <a:solidFill>
                  <a:srgbClr val="004B73"/>
                </a:solidFill>
                <a:latin typeface="Malgun Gothic"/>
              </a:defRPr>
            </a:pPr>
            <a:r>
              <a:t>확장 기반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" y="8448000"/>
            <a:ext cx="1080000" cy="125999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4B7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999" y="8606400"/>
            <a:ext cx="6354001" cy="917999"/>
          </a:xfrm>
          <a:prstGeom prst="rect">
            <a:avLst/>
          </a:prstGeom>
          <a:solidFill>
            <a:srgbClr val="F4F8FA"/>
          </a:solidFill>
          <a:ln>
            <a:solidFill>
              <a:srgbClr val="C8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800" rIns="100800" tIns="43200">
            <a:normAutofit/>
          </a:bodyPr>
          <a:lstStyle/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Build-II 요구사항 중심의 구현 접근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분석 효율과 검증성 동시 강화</a:t>
            </a:r>
          </a:p>
          <a:p>
            <a:pPr algn="l">
              <a:spcAft>
                <a:spcPts val="100"/>
              </a:spcAft>
              <a:defRPr sz="720">
                <a:solidFill>
                  <a:srgbClr val="232A31"/>
                </a:solidFill>
                <a:latin typeface="Malgun Gothic"/>
              </a:defRPr>
            </a:pPr>
            <a:r>
              <a:t>• 확장 가능한 결과분석 플랫폼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999" y="9682800"/>
            <a:ext cx="6354001" cy="93600"/>
          </a:xfrm>
          <a:prstGeom prst="rect">
            <a:avLst/>
          </a:prstGeom>
          <a:noFill/>
        </p:spPr>
        <p:txBody>
          <a:bodyPr wrap="square" lIns="43200" rIns="43200" tIns="21600" bIns="21600">
            <a:normAutofit/>
          </a:bodyPr>
          <a:lstStyle/>
          <a:p>
            <a:pPr algn="r">
              <a:spcAft>
                <a:spcPts val="0"/>
              </a:spcAft>
              <a:defRPr sz="58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